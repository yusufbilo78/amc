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24 classes, 512 frames/cell</c:v>
                </c:pt>
              </c:strCache>
            </c:strRef>
          </c:tx>
          <c:spPr>
            <a:solidFill>
              <a:srgbClr val="0B2545"/>
            </a:solidFill>
            <a:ln w="31750" cap="flat">
              <a:solidFill>
                <a:srgbClr val="0B25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B2545"/>
              </a:solidFill>
              <a:ln w="9525" cap="flat">
                <a:solidFill>
                  <a:srgbClr val="0B2545"/>
                </a:solidFill>
                <a:prstDash val="solid"/>
                <a:round/>
              </a:ln>
              <a:effectLst/>
            </c:spPr>
          </c:marker>
          <c:cat>
            <c:multiLvlStrRef>
              <c:f>Sheet1!$A$2:$A$27</c:f>
              <c:multiLvlStrCache>
                <c:ptCount val="26"/>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pt idx="20">
                    <c:v>20</c:v>
                  </c:pt>
                  <c:pt idx="21">
                    <c:v>22</c:v>
                  </c:pt>
                  <c:pt idx="22">
                    <c:v>24</c:v>
                  </c:pt>
                  <c:pt idx="23">
                    <c:v>26</c:v>
                  </c:pt>
                  <c:pt idx="24">
                    <c:v>28</c:v>
                  </c:pt>
                  <c:pt idx="25">
                    <c:v>30</c:v>
                  </c:pt>
                </c:lvl>
              </c:multiLvlStrCache>
            </c:multiLvlStrRef>
          </c:cat>
          <c:val>
            <c:numRef>
              <c:f>Sheet1!$B$2:$B$27</c:f>
              <c:numCache>
                <c:formatCode>General</c:formatCode>
                <c:ptCount val="26"/>
                <c:pt idx="0">
                  <c:v>0.0422</c:v>
                </c:pt>
                <c:pt idx="1">
                  <c:v>0.0506</c:v>
                </c:pt>
                <c:pt idx="2">
                  <c:v>0.0424</c:v>
                </c:pt>
                <c:pt idx="3">
                  <c:v>0.0588</c:v>
                </c:pt>
                <c:pt idx="4">
                  <c:v>0.0906</c:v>
                </c:pt>
                <c:pt idx="5">
                  <c:v>0.1303</c:v>
                </c:pt>
                <c:pt idx="6">
                  <c:v>0.187</c:v>
                </c:pt>
                <c:pt idx="7">
                  <c:v>0.2746</c:v>
                </c:pt>
                <c:pt idx="8">
                  <c:v>0.3314</c:v>
                </c:pt>
                <c:pt idx="9">
                  <c:v>0.4074</c:v>
                </c:pt>
                <c:pt idx="10">
                  <c:v>0.5256</c:v>
                </c:pt>
                <c:pt idx="11">
                  <c:v>0.6325</c:v>
                </c:pt>
                <c:pt idx="12">
                  <c:v>0.7454</c:v>
                </c:pt>
                <c:pt idx="13">
                  <c:v>0.8415</c:v>
                </c:pt>
                <c:pt idx="14">
                  <c:v>0.8705</c:v>
                </c:pt>
                <c:pt idx="15">
                  <c:v>0.8632</c:v>
                </c:pt>
                <c:pt idx="16">
                  <c:v>0.8803</c:v>
                </c:pt>
                <c:pt idx="17">
                  <c:v>0.8745</c:v>
                </c:pt>
                <c:pt idx="18">
                  <c:v>0.8702</c:v>
                </c:pt>
                <c:pt idx="19">
                  <c:v>0.875</c:v>
                </c:pt>
                <c:pt idx="20">
                  <c:v>0.8716</c:v>
                </c:pt>
                <c:pt idx="21">
                  <c:v>0.8754</c:v>
                </c:pt>
                <c:pt idx="22">
                  <c:v>0.8695</c:v>
                </c:pt>
                <c:pt idx="23">
                  <c:v>0.8665</c:v>
                </c:pt>
                <c:pt idx="24">
                  <c:v>0.8695</c:v>
                </c:pt>
                <c:pt idx="25">
                  <c:v>0.8718</c:v>
                </c:pt>
              </c:numCache>
            </c:numRef>
          </c:val>
          <c:smooth val="0"/>
        </c:ser>
        <c:ser>
          <c:idx val="1"/>
          <c:order val="1"/>
          <c:tx>
            <c:strRef>
              <c:f>Sheet1!$C$1</c:f>
              <c:strCache>
                <c:ptCount val="1"/>
                <c:pt idx="0">
                  <c:v>4 classes (BPSK, QPSK, 16QAM, 64QAM), 2,048 frames/cell</c:v>
                </c:pt>
              </c:strCache>
            </c:strRef>
          </c:tx>
          <c:spPr>
            <a:solidFill>
              <a:srgbClr val="F26419"/>
            </a:solidFill>
            <a:ln w="31750" cap="flat">
              <a:solidFill>
                <a:srgbClr val="F2641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26419"/>
              </a:solidFill>
              <a:ln w="9525" cap="flat">
                <a:solidFill>
                  <a:srgbClr val="F26419"/>
                </a:solidFill>
                <a:prstDash val="solid"/>
                <a:round/>
              </a:ln>
              <a:effectLst/>
            </c:spPr>
          </c:marker>
          <c:cat>
            <c:multiLvlStrRef>
              <c:f>Sheet1!$A$2:$A$27</c:f>
              <c:multiLvlStrCache>
                <c:ptCount val="26"/>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pt idx="20">
                    <c:v>20</c:v>
                  </c:pt>
                  <c:pt idx="21">
                    <c:v>22</c:v>
                  </c:pt>
                  <c:pt idx="22">
                    <c:v>24</c:v>
                  </c:pt>
                  <c:pt idx="23">
                    <c:v>26</c:v>
                  </c:pt>
                  <c:pt idx="24">
                    <c:v>28</c:v>
                  </c:pt>
                  <c:pt idx="25">
                    <c:v>30</c:v>
                  </c:pt>
                </c:lvl>
              </c:multiLvlStrCache>
            </c:multiLvlStrRef>
          </c:cat>
          <c:val>
            <c:numRef>
              <c:f>Sheet1!$C$2:$C$27</c:f>
              <c:numCache>
                <c:formatCode>General</c:formatCode>
                <c:ptCount val="26"/>
                <c:pt idx="0">
                  <c:v>0.2497</c:v>
                </c:pt>
                <c:pt idx="1">
                  <c:v>0.2484</c:v>
                </c:pt>
                <c:pt idx="2">
                  <c:v>0.26</c:v>
                </c:pt>
                <c:pt idx="3">
                  <c:v>0.2557</c:v>
                </c:pt>
                <c:pt idx="4">
                  <c:v>0.2595</c:v>
                </c:pt>
                <c:pt idx="5">
                  <c:v>0.2835</c:v>
                </c:pt>
                <c:pt idx="6">
                  <c:v>0.3793</c:v>
                </c:pt>
                <c:pt idx="7">
                  <c:v>0.5016</c:v>
                </c:pt>
                <c:pt idx="8">
                  <c:v>0.5925</c:v>
                </c:pt>
                <c:pt idx="9">
                  <c:v>0.7167</c:v>
                </c:pt>
                <c:pt idx="10">
                  <c:v>0.7944</c:v>
                </c:pt>
                <c:pt idx="11">
                  <c:v>0.891</c:v>
                </c:pt>
                <c:pt idx="12">
                  <c:v>0.9838</c:v>
                </c:pt>
                <c:pt idx="13">
                  <c:v>0.9986</c:v>
                </c:pt>
                <c:pt idx="14">
                  <c:v>0.9997</c:v>
                </c:pt>
                <c:pt idx="15">
                  <c:v>0.9997</c:v>
                </c:pt>
                <c:pt idx="16">
                  <c:v>0.9997</c:v>
                </c:pt>
                <c:pt idx="17">
                  <c:v>1</c:v>
                </c:pt>
                <c:pt idx="18">
                  <c:v>1</c:v>
                </c:pt>
                <c:pt idx="19">
                  <c:v>1</c:v>
                </c:pt>
                <c:pt idx="20">
                  <c:v>1</c:v>
                </c:pt>
                <c:pt idx="21">
                  <c:v>1</c:v>
                </c:pt>
                <c:pt idx="22">
                  <c:v>1</c:v>
                </c:pt>
                <c:pt idx="23">
                  <c:v>1</c:v>
                </c:pt>
                <c:pt idx="24">
                  <c:v>1</c:v>
                </c:pt>
                <c:pt idx="25">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SNR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tickLblSkip val="2"/>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test accuracy</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BPSK</c:v>
                </c:pt>
              </c:strCache>
            </c:strRef>
          </c:tx>
          <c:spPr>
            <a:solidFill>
              <a:srgbClr val="0B2545"/>
            </a:solidFill>
            <a:ln w="31750" cap="flat">
              <a:solidFill>
                <a:srgbClr val="0B25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B2545"/>
              </a:solidFill>
              <a:ln w="9525" cap="flat">
                <a:solidFill>
                  <a:srgbClr val="0B2545"/>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Sheet1!$B$2:$B$14</c:f>
              <c:numCache>
                <c:formatCode>General</c:formatCode>
                <c:ptCount val="13"/>
                <c:pt idx="0">
                  <c:v>0.1038961038961039</c:v>
                </c:pt>
                <c:pt idx="1">
                  <c:v>0.12878787878787878</c:v>
                </c:pt>
                <c:pt idx="2">
                  <c:v>0.275974025974026</c:v>
                </c:pt>
                <c:pt idx="3">
                  <c:v>0.7002164502164502</c:v>
                </c:pt>
                <c:pt idx="4">
                  <c:v>0.9794372294372294</c:v>
                </c:pt>
                <c:pt idx="5">
                  <c:v>1</c:v>
                </c:pt>
                <c:pt idx="6">
                  <c:v>1</c:v>
                </c:pt>
                <c:pt idx="7">
                  <c:v>1</c:v>
                </c:pt>
                <c:pt idx="8">
                  <c:v>1</c:v>
                </c:pt>
                <c:pt idx="9">
                  <c:v>1</c:v>
                </c:pt>
                <c:pt idx="10">
                  <c:v>1</c:v>
                </c:pt>
                <c:pt idx="11">
                  <c:v>1</c:v>
                </c:pt>
                <c:pt idx="12">
                  <c:v>1</c:v>
                </c:pt>
              </c:numCache>
            </c:numRef>
          </c:val>
          <c:smooth val="0"/>
        </c:ser>
        <c:ser>
          <c:idx val="1"/>
          <c:order val="1"/>
          <c:tx>
            <c:strRef>
              <c:f>Sheet1!$C$1</c:f>
              <c:strCache>
                <c:ptCount val="1"/>
                <c:pt idx="0">
                  <c:v>QPSK</c:v>
                </c:pt>
              </c:strCache>
            </c:strRef>
          </c:tx>
          <c:spPr>
            <a:solidFill>
              <a:srgbClr val="1B998B"/>
            </a:solidFill>
            <a:ln w="31750" cap="flat">
              <a:solidFill>
                <a:srgbClr val="1B99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998B"/>
              </a:solidFill>
              <a:ln w="9525" cap="flat">
                <a:solidFill>
                  <a:srgbClr val="1B998B"/>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Sheet1!$C$2:$C$14</c:f>
              <c:numCache>
                <c:formatCode>General</c:formatCode>
                <c:ptCount val="13"/>
                <c:pt idx="0">
                  <c:v>0.8528138528138528</c:v>
                </c:pt>
                <c:pt idx="1">
                  <c:v>0.8441558441558441</c:v>
                </c:pt>
                <c:pt idx="2">
                  <c:v>0.7803030303030303</c:v>
                </c:pt>
                <c:pt idx="3">
                  <c:v>0.6915584415584416</c:v>
                </c:pt>
                <c:pt idx="4">
                  <c:v>0.6363636363636364</c:v>
                </c:pt>
                <c:pt idx="5">
                  <c:v>0.7251082251082251</c:v>
                </c:pt>
                <c:pt idx="6">
                  <c:v>0.9145021645021645</c:v>
                </c:pt>
                <c:pt idx="7">
                  <c:v>1</c:v>
                </c:pt>
                <c:pt idx="8">
                  <c:v>1</c:v>
                </c:pt>
                <c:pt idx="9">
                  <c:v>1</c:v>
                </c:pt>
                <c:pt idx="10">
                  <c:v>1</c:v>
                </c:pt>
                <c:pt idx="11">
                  <c:v>1</c:v>
                </c:pt>
                <c:pt idx="12">
                  <c:v>1</c:v>
                </c:pt>
              </c:numCache>
            </c:numRef>
          </c:val>
          <c:smooth val="0"/>
        </c:ser>
        <c:ser>
          <c:idx val="2"/>
          <c:order val="2"/>
          <c:tx>
            <c:strRef>
              <c:f>Sheet1!$D$1</c:f>
              <c:strCache>
                <c:ptCount val="1"/>
                <c:pt idx="0">
                  <c:v>16QAM</c:v>
                </c:pt>
              </c:strCache>
            </c:strRef>
          </c:tx>
          <c:spPr>
            <a:solidFill>
              <a:srgbClr val="F26419"/>
            </a:solidFill>
            <a:ln w="31750" cap="flat">
              <a:solidFill>
                <a:srgbClr val="F2641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26419"/>
              </a:solidFill>
              <a:ln w="9525" cap="flat">
                <a:solidFill>
                  <a:srgbClr val="F26419"/>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Sheet1!$D$2:$D$14</c:f>
              <c:numCache>
                <c:formatCode>General</c:formatCode>
                <c:ptCount val="13"/>
                <c:pt idx="0">
                  <c:v>0.023809523809523808</c:v>
                </c:pt>
                <c:pt idx="1">
                  <c:v>0.016233766233766232</c:v>
                </c:pt>
                <c:pt idx="2">
                  <c:v>0.03354978354978355</c:v>
                </c:pt>
                <c:pt idx="3">
                  <c:v>0.02813852813852814</c:v>
                </c:pt>
                <c:pt idx="4">
                  <c:v>0.0670995670995671</c:v>
                </c:pt>
                <c:pt idx="5">
                  <c:v>0.15367965367965367</c:v>
                </c:pt>
                <c:pt idx="6">
                  <c:v>0.3971861471861472</c:v>
                </c:pt>
                <c:pt idx="7">
                  <c:v>0.5616883116883117</c:v>
                </c:pt>
                <c:pt idx="8">
                  <c:v>0.7943722943722944</c:v>
                </c:pt>
                <c:pt idx="9">
                  <c:v>0.9751082251082251</c:v>
                </c:pt>
                <c:pt idx="10">
                  <c:v>1</c:v>
                </c:pt>
                <c:pt idx="11">
                  <c:v>1</c:v>
                </c:pt>
                <c:pt idx="12">
                  <c:v>1</c:v>
                </c:pt>
              </c:numCache>
            </c:numRef>
          </c:val>
          <c:smooth val="0"/>
        </c:ser>
        <c:ser>
          <c:idx val="3"/>
          <c:order val="3"/>
          <c:tx>
            <c:strRef>
              <c:f>Sheet1!$E$1</c:f>
              <c:strCache>
                <c:ptCount val="1"/>
                <c:pt idx="0">
                  <c:v>64QAM</c:v>
                </c:pt>
              </c:strCache>
            </c:strRef>
          </c:tx>
          <c:spPr>
            <a:solidFill>
              <a:srgbClr val="C0392B"/>
            </a:solidFill>
            <a:ln w="31750" cap="flat">
              <a:solidFill>
                <a:srgbClr val="C03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0392B"/>
              </a:solidFill>
              <a:ln w="9525" cap="flat">
                <a:solidFill>
                  <a:srgbClr val="C0392B"/>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Sheet1!$E$2:$E$14</c:f>
              <c:numCache>
                <c:formatCode>General</c:formatCode>
                <c:ptCount val="13"/>
                <c:pt idx="0">
                  <c:v>0.04220779220779221</c:v>
                </c:pt>
                <c:pt idx="1">
                  <c:v>0.048701298701298704</c:v>
                </c:pt>
                <c:pt idx="2">
                  <c:v>0.044372294372294376</c:v>
                </c:pt>
                <c:pt idx="3">
                  <c:v>0.09740259740259741</c:v>
                </c:pt>
                <c:pt idx="4">
                  <c:v>0.3235930735930736</c:v>
                </c:pt>
                <c:pt idx="5">
                  <c:v>0.49134199134199136</c:v>
                </c:pt>
                <c:pt idx="6">
                  <c:v>0.5551948051948052</c:v>
                </c:pt>
                <c:pt idx="7">
                  <c:v>0.6158008658008658</c:v>
                </c:pt>
                <c:pt idx="8">
                  <c:v>0.7694805194805194</c:v>
                </c:pt>
                <c:pt idx="9">
                  <c:v>0.95995670995671</c:v>
                </c:pt>
                <c:pt idx="10">
                  <c:v>0.9945887445887446</c:v>
                </c:pt>
                <c:pt idx="11">
                  <c:v>0.9989177489177489</c:v>
                </c:pt>
                <c:pt idx="12">
                  <c:v>0.9989177489177489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SNR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recall per class</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in-domain</c:v>
                </c:pt>
              </c:strCache>
            </c:strRef>
          </c:tx>
          <c:spPr>
            <a:solidFill>
              <a:srgbClr val="DCE6F0"/>
            </a:solidFill>
            <a:effectLst/>
          </c:spPr>
          <c:invertIfNegative val="0"/>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none</c:v>
                  </c:pt>
                  <c:pt idx="1">
                    <c:v>standard augmentation</c:v>
                  </c:pt>
                  <c:pt idx="2">
                    <c:v>whitening α=0.75</c:v>
                  </c:pt>
                  <c:pt idx="3">
                    <c:v>whitening + standard</c:v>
                  </c:pt>
                </c:lvl>
              </c:multiLvlStrCache>
            </c:multiLvlStrRef>
          </c:cat>
          <c:val>
            <c:numRef>
              <c:f>Sheet1!$B$2:$B$5</c:f>
              <c:numCache>
                <c:formatCode>General</c:formatCode>
                <c:ptCount val="4"/>
                <c:pt idx="0">
                  <c:v>0.9985579937304075</c:v>
                </c:pt>
                <c:pt idx="1">
                  <c:v>0.9996865203761756</c:v>
                </c:pt>
                <c:pt idx="2">
                  <c:v>0.9991849529780564</c:v>
                </c:pt>
                <c:pt idx="3">
                  <c:v>0.9995297805642632</c:v>
                </c:pt>
              </c:numCache>
            </c:numRef>
          </c:val>
        </c:ser>
        <c:ser>
          <c:idx val="1"/>
          <c:order val="1"/>
          <c:tx>
            <c:strRef>
              <c:f>Sheet1!$C$1</c:f>
              <c:strCache>
                <c:ptCount val="1"/>
                <c:pt idx="0">
                  <c:v>cross-domain</c:v>
                </c:pt>
              </c:strCache>
            </c:strRef>
          </c:tx>
          <c:spPr>
            <a:solidFill>
              <a:srgbClr val="F26419"/>
            </a:solidFill>
            <a:effectLst/>
          </c:spPr>
          <c:invertIfNegative val="0"/>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none</c:v>
                  </c:pt>
                  <c:pt idx="1">
                    <c:v>standard augmentation</c:v>
                  </c:pt>
                  <c:pt idx="2">
                    <c:v>whitening α=0.75</c:v>
                  </c:pt>
                  <c:pt idx="3">
                    <c:v>whitening + standard</c:v>
                  </c:pt>
                </c:lvl>
              </c:multiLvlStrCache>
            </c:multiLvlStrRef>
          </c:cat>
          <c:val>
            <c:numRef>
              <c:f>Sheet1!$C$2:$C$5</c:f>
              <c:numCache>
                <c:formatCode>General</c:formatCode>
                <c:ptCount val="4"/>
                <c:pt idx="0">
                  <c:v>0.8053363636363639</c:v>
                </c:pt>
                <c:pt idx="1">
                  <c:v>0.8072545454545456</c:v>
                </c:pt>
                <c:pt idx="2">
                  <c:v>0.9886727272727273</c:v>
                </c:pt>
                <c:pt idx="3">
                  <c:v>0.9946454545454546</c:v>
                </c:pt>
              </c:numCache>
            </c:numRef>
          </c:val>
        </c:ser>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training method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7"/>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test accuracy</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cross-domain accuracy</c:v>
                </c:pt>
              </c:strCache>
            </c:strRef>
          </c:tx>
          <c:spPr>
            <a:solidFill>
              <a:srgbClr val="F26419"/>
            </a:solidFill>
            <a:ln w="31750" cap="flat">
              <a:solidFill>
                <a:srgbClr val="F26419"/>
              </a:solidFill>
              <a:prstDash val="solid"/>
              <a:round/>
            </a:ln>
            <a:effectLst/>
          </c:spPr>
          <c:invertIfNegative val="0"/>
          <c:dLbls>
            <c:numFmt formatCode="0.000" sourceLinked="0"/>
            <c:txPr>
              <a:bodyPr/>
              <a:lstStyle/>
              <a:p>
                <a:pPr>
                  <a:defRPr b="0" i="0" strike="noStrike" sz="900" u="none">
                    <a:solidFill>
                      <a:srgbClr val="13315C"/>
                    </a:solidFill>
                    <a:latin typeface="Arial"/>
                  </a:defRPr>
                </a:pPr>
              </a:p>
            </c:txPr>
            <c:dLblPos val="t"/>
            <c:showLegendKey val="0"/>
            <c:showVal val="1"/>
            <c:showCatName val="0"/>
            <c:showSerName val="0"/>
            <c:showPercent val="0"/>
            <c:showBubbleSize val="0"/>
            <c:showLeaderLines val="0"/>
          </c:dLbls>
          <c:marker>
            <c:symbol val="circle"/>
            <c:size val="7"/>
            <c:spPr>
              <a:solidFill>
                <a:srgbClr val="F26419"/>
              </a:solidFill>
              <a:ln w="9525" cap="flat">
                <a:solidFill>
                  <a:srgbClr val="F26419"/>
                </a:solidFill>
                <a:prstDash val="solid"/>
                <a:round/>
              </a:ln>
              <a:effectLst/>
            </c:spPr>
          </c:marker>
          <c:cat>
            <c:multiLvlStrRef>
              <c:f>Sheet1!$A$2:$A$6</c:f>
              <c:multiLvlStrCache>
                <c:ptCount val="5"/>
                <c:lvl>
                  <c:pt idx="0">
                    <c:v>0.00</c:v>
                  </c:pt>
                  <c:pt idx="1">
                    <c:v>0.25</c:v>
                  </c:pt>
                  <c:pt idx="2">
                    <c:v>0.50</c:v>
                  </c:pt>
                  <c:pt idx="3">
                    <c:v>0.75</c:v>
                  </c:pt>
                  <c:pt idx="4">
                    <c:v>1.00</c:v>
                  </c:pt>
                </c:lvl>
              </c:multiLvlStrCache>
            </c:multiLvlStrRef>
          </c:cat>
          <c:val>
            <c:numRef>
              <c:f>Sheet1!$B$2:$B$6</c:f>
              <c:numCache>
                <c:formatCode>General</c:formatCode>
                <c:ptCount val="5"/>
                <c:pt idx="0">
                  <c:v>0.8053363636363639</c:v>
                </c:pt>
                <c:pt idx="1">
                  <c:v>0.8553909090909091</c:v>
                </c:pt>
                <c:pt idx="2">
                  <c:v>0.9396545454545455</c:v>
                </c:pt>
                <c:pt idx="3">
                  <c:v>0.9881272727272729</c:v>
                </c:pt>
                <c:pt idx="4">
                  <c:v>0.9927909090909092</c:v>
                </c:pt>
              </c:numCache>
            </c:numRef>
          </c:val>
          <c:smooth val="0"/>
        </c:ser>
        <c:dLbls>
          <c:numFmt formatCode="0.000" sourceLinked="0"/>
          <c:txPr>
            <a:bodyPr/>
            <a:lstStyle/>
            <a:p>
              <a:pPr>
                <a:defRPr b="0" i="0" strike="noStrike" sz="900" u="none">
                  <a:solidFill>
                    <a:srgbClr val="13315C"/>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16QAM recall</c:v>
                </c:pt>
              </c:strCache>
            </c:strRef>
          </c:tx>
          <c:spPr>
            <a:solidFill>
              <a:srgbClr val="0B2545"/>
            </a:solidFill>
            <a:ln w="31750" cap="flat">
              <a:solidFill>
                <a:srgbClr val="0B2545"/>
              </a:solidFill>
              <a:prstDash val="solid"/>
              <a:round/>
            </a:ln>
            <a:effectLst/>
          </c:spPr>
          <c:invertIfNegative val="0"/>
          <c:dLbls>
            <c:numFmt formatCode="0.000" sourceLinked="0"/>
            <c:txPr>
              <a:bodyPr/>
              <a:lstStyle/>
              <a:p>
                <a:pPr>
                  <a:defRPr b="0" i="0" strike="noStrike" sz="900" u="none">
                    <a:solidFill>
                      <a:srgbClr val="0B2545"/>
                    </a:solidFill>
                    <a:latin typeface="Arial"/>
                  </a:defRPr>
                </a:pPr>
              </a:p>
            </c:txPr>
            <c:dLblPos val="b"/>
            <c:showLegendKey val="0"/>
            <c:showVal val="1"/>
            <c:showCatName val="0"/>
            <c:showSerName val="0"/>
            <c:showPercent val="0"/>
            <c:showBubbleSize val="0"/>
            <c:showLeaderLines val="0"/>
          </c:dLbls>
          <c:marker>
            <c:symbol val="circle"/>
            <c:size val="7"/>
            <c:spPr>
              <a:solidFill>
                <a:srgbClr val="0B2545"/>
              </a:solidFill>
              <a:ln w="9525" cap="flat">
                <a:solidFill>
                  <a:srgbClr val="0B2545"/>
                </a:solidFill>
                <a:prstDash val="solid"/>
                <a:round/>
              </a:ln>
              <a:effectLst/>
            </c:spPr>
          </c:marker>
          <c:cat>
            <c:multiLvlStrRef>
              <c:f>Sheet1!$A$2:$A$6</c:f>
              <c:multiLvlStrCache>
                <c:ptCount val="5"/>
                <c:lvl>
                  <c:pt idx="0">
                    <c:v>0.00</c:v>
                  </c:pt>
                  <c:pt idx="1">
                    <c:v>0.25</c:v>
                  </c:pt>
                  <c:pt idx="2">
                    <c:v>0.50</c:v>
                  </c:pt>
                  <c:pt idx="3">
                    <c:v>0.75</c:v>
                  </c:pt>
                  <c:pt idx="4">
                    <c:v>1.00</c:v>
                  </c:pt>
                </c:lvl>
              </c:multiLvlStrCache>
            </c:multiLvlStrRef>
          </c:cat>
          <c:val>
            <c:numRef>
              <c:f>Sheet1!$C$2:$C$6</c:f>
              <c:numCache>
                <c:formatCode>General</c:formatCode>
                <c:ptCount val="5"/>
                <c:pt idx="0">
                  <c:v>0.056454545454545445</c:v>
                </c:pt>
                <c:pt idx="1">
                  <c:v>0.30454545454545456</c:v>
                </c:pt>
                <c:pt idx="2">
                  <c:v>0.7389545454545454</c:v>
                </c:pt>
                <c:pt idx="3">
                  <c:v>0.9811363636363637</c:v>
                </c:pt>
                <c:pt idx="4">
                  <c:v>0.9846818181818182</c:v>
                </c:pt>
              </c:numCache>
            </c:numRef>
          </c:val>
          <c:smooth val="0"/>
        </c:ser>
        <c:dLbls>
          <c:numFmt formatCode="0.000" sourceLinked="0"/>
          <c:txPr>
            <a:bodyPr/>
            <a:lstStyle/>
            <a:p>
              <a:pPr>
                <a:defRPr b="0" i="0" strike="noStrike" sz="900" u="none">
                  <a:solidFill>
                    <a:srgbClr val="0B2545"/>
                  </a:solidFill>
                  <a:latin typeface="Arial"/>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α (0 = no whitening, 1 = full)</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accuracy, five seeds</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same-family sinks</c:v>
                </c:pt>
              </c:strCache>
            </c:strRef>
          </c:tx>
          <c:spPr>
            <a:solidFill>
              <a:srgbClr val="0B2545"/>
            </a:solidFill>
            <a:effectLst/>
          </c:spPr>
          <c:invertIfNegative val="0"/>
          <c:dLbls>
            <c:numFmt formatCode="#,##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Sheet1!$A$2:$A$6</c:f>
              <c:multiLvlStrCache>
                <c:ptCount val="5"/>
                <c:lvl>
                  <c:pt idx="0">
                    <c:v>IQNet</c:v>
                  </c:pt>
                  <c:pt idx="1">
                    <c:v>ResNet1D</c:v>
                  </c:pt>
                  <c:pt idx="2">
                    <c:v>GRU</c:v>
                  </c:pt>
                  <c:pt idx="3">
                    <c:v>Transformer</c:v>
                  </c:pt>
                  <c:pt idx="4">
                    <c:v>ICRNNA</c:v>
                  </c:pt>
                </c:lvl>
              </c:multiLvlStrCache>
            </c:multiLvlStrRef>
          </c:cat>
          <c:val>
            <c:numRef>
              <c:f>Sheet1!$B$2:$B$6</c:f>
              <c:numCache>
                <c:formatCode>General</c:formatCode>
                <c:ptCount val="5"/>
                <c:pt idx="0">
                  <c:v>5</c:v>
                </c:pt>
                <c:pt idx="1">
                  <c:v>4</c:v>
                </c:pt>
                <c:pt idx="2">
                  <c:v>4</c:v>
                </c:pt>
                <c:pt idx="3">
                  <c:v>3</c:v>
                </c:pt>
                <c:pt idx="4">
                  <c:v>4</c:v>
                </c:pt>
              </c:numCache>
            </c:numRef>
          </c:val>
        </c:ser>
        <c:dLbls>
          <c:numFmt formatCode="#,##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same-family sinks of 6</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majorUnit val="1"/>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progress report on one question: why a modulation classifier that is nearly perfect on its training data fails when the transmitter changes, and what actually fixes it. Everything I show is measured on one dataset and one model, and every number comes from a file in the repository.
Every number in this deck is read from a results file in the repository; nothing is quoted from the earlier backbone.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Train on RadioML. Then test on I/Q from a different transmitter model: same five modulations, same SNRs, same sample rate. In-domain the model is at 0.999. On the other transmitter it drops to 0.805. Almost all of that loss is one class: 16QAM is recognised 5.6 percent of the time, and it is read as 64QAM. The four questions on the right are the project: how large is the drop, what causes it, can it be removed, and where does an unseen modulation go.
The contribution is the attribution method, not an accuracy number. The 0.999 to 0.805 drop is the starting measurement, on five shared classes, five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RadioML 2018.01A. 24 modulation classes, 1,024 I/Q samples per frame, 26 SNR levels from minus 20 to plus 30 dB, 4,096 frames per class and SNR. About 2.5 million frames. We decided last week to work on this one dataset only. The panel on the left shows the mean power spectrum of each class: every class shares the same spectral envelope, and that turns out to be the key to the failure.
Decided with Moshe on 16 September: new work goes on 2018 only. The 2016 results are not retracted.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one frame, 2 by 1,024, normalised to unit power. Model: ICRNNA, a convolutional front end, a bidirectional LSTM and attention, 786 thousand parameters. Output: one of K classes. Protocol: 70-15-15 split stratified over every class and SNR; early stopping reads validation only, the test set is touched once. Three seeds per configuration. And one rule I want to state explicitly: a run counts only if its best epoch plus the patience fits under the ceiling. Otherwise it is a floor, not a measurement. Every result here passes that test.
The backbone is transcribed from a peer's reproduction and differs from the published ICRNNA in five places; it is not called 'the published architecture'. The faithful build is a separate file and does reproduce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about domain shift: does the model classify at all. On 24 classes above 10 dB it is at 87.2 percent. On the four classes we agreed on, BPSK, QPSK, 16QAM, 64QAM, it is at 100 percent above 10 dB. The curve sits at chance below minus 12 dB and saturates from plus 8. This is not the contribution; it is the floor the rest stands on.
Deep residual networks on the whole dataset are reported near 95% above 8 dB; this is 512 of 4096 frames per cell with a 786k recurrent model. Closing that gap is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table you asked for. Rows are what we transmitted, columns are what the model decided. Every row is 10,164 decisions: 308 test frames per class and SNR, 11 SNR levels from 10 to 30 dB, three seeds. Each decision is a different frame, different symbols, different channel, different noise. 40,654 of 40,656 correct. The two errors are both 64QAM decided as 16QAM. All three seeds converged, peaks at epochs 46, 48 and 66 under a ceiling of 150.
This is the table asked for on 15 September. The same table on RML2016 (128-sample frames) still confuses the QAM pair 7–11% at high SNR; at 1,024 samples that confusion is gone. The frame is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perfect table at high SNR says nothing, so here is the same table lower down. At 0 dB: BPSK and QPSK are still perfect. 16QAM and 64QAM are a coin flip against each other, 519 against 396 and 349 against 569. Nine hundred twenty-four decisions per row. There are two thresholds: PSK versus QAM closes between minus 4 and 0 dB, which QAM closes between 0 and plus 6. Below the first threshold the classes do not scatter, they sink: at minus 8 dB, 16QAM is read as QPSK 68 percent of the time.
924 decisions per row at each single level; a 1% cell is nine frames. Both matrices are from the converged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domain gap. Five shared classes, five seeds each, all converged. In-domain never moves: 0.999 or 1.000 in every column. Cross-domain: 0.805 with nothing, 0.807 with the standard augmentation set from the literature, rotation, conjugate flip and additive noise, so plus 0.002. With spectral whitening, 0.989. Whitening plus augmentation, 0.995, but that plus 0.006 is one standard deviation, so I do not call it a difference. Each cross-domain number is 110,000 decisions: 2,000 per SNR level, 11 levels, 5 seeds.
Stopping epochs by method: none 51/41/48/36/38, augmentation 89/48/83/65/82, whitening 26/26/33/43/25, both 66/37/53/37/50. Whitening converges about 2.4× faster than augmentation — it removes a nuisance dimension, augmentation adds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causes it. Four explanations were tested and refuted: occupied bandwidth, constellation density, symbol timing, channel impairments. Each was matched or removed and the prediction did not move. The one thing that moves it is an intervention: take a failing frame, keep its phase spectrum exactly, substitute only the magnitude spectrum of the training domain. The prediction follows the magnitude spectrum. That is a causal claim, because we changed the signal, not the representation. The cause is the transmitter's spectral envelope, mainly the pulse-shaping roll-off.
The working story for most of the project was shortcut learning — the model reads modulation order off the envelope. Two experiments killed it: handing 16QAM frames a 64QAM envelope left the prediction at 16QAM. The envelope does not carry the class; removing it still helps. That is stated as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fix removes the envelope: divide each frame's spectrum by a smoothed estimate of its own magnitude. Alpha is how much of it. Cross-domain accuracy goes 0.805, 0.855, 0.940, 0.988, 0.993 for alpha 0 to 1. The recovery is entirely 16QAM: its recall goes from 0.056 to 0.985. And it costs nothing in-domain, 0.999 stays 0.999.
The middle of the sweep is where seeds disagree: α = 0.5 has a spread of 0.019 on cross-domain accuracy against 0.001–0.007 at either end. Half-removing the envelope leaves a model that sometimes learns to read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a modulation the model never saw go. Train on 23 classes, probe with the 24th, record which class absorbs it. Families were fixed before the run. 16 of 24 land in their own family; chance is 3.5. All 24 runs converged. The eight misses are on the table. Four of them are APSK versus QAM, both amplitude-and-phase constellations; two are FM versus GMSK, both constant envelope. So the misses are structured, but I quote 16, not a rescored 20, because the families were fixed in advance. On the right: the same test on five architectures. Same-family sink survives on all of them.
The ICRNNA column of the control is a bit-identical training to the corresponding rows of the 24-class run: same best epoch, same in-distribution accuracy to every digit. The probe frames are an independent draw and move the shares by at most 0.3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this rerun took away. They are kept in the record. Partial whitening beats full: withdrawn, alpha 1 is at least as good as 0.75. The model reads the class off the envelope: withdrawn, giving 16QAM a 64QAM envelope leaves the prediction at 16QAM, so the mechanism is open. The 60-epoch ceiling was safe: it was not, cells peaked at 82 to 89, and the rerun with room came back bit-identical or within a point.
Negative results are part of the argument. Whitening itself is not novel either: WhiteNet arrived at the same operation on real over-the-air captures; what survives here is the attribution method and the sink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Caveats. Both domains are synthetic; until we have an over-the-air capture this is a study of a mechanism. The model is not the published architecture; a paper-faithful build exists and reproduces the paper's 63.24 to within 0.03, but only trained to convergence. Half of the sink checks are still on the old model. And three seeds is thin on 24 classes: under about 0.03 a difference is not a difference.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just landed is the sink thread. Next is the domain-adversarial baseline, port or drop, and the cumulant classifier on the same four classes at 0 dB, to check whether the QAM coin flip is the signal's limit or the model's. The deck is the running record: new results get appended, withdrawn claims stay.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1188720"/>
            <a:ext cx="7680960" cy="1554480"/>
          </a:xfrm>
          <a:prstGeom prst="rect">
            <a:avLst/>
          </a:prstGeom>
          <a:noFill/>
          <a:ln/>
        </p:spPr>
        <p:txBody>
          <a:bodyPr wrap="square" lIns="0" tIns="0" rIns="0" bIns="0" rtlCol="0" anchor="b"/>
          <a:lstStyle/>
          <a:p>
            <a:pPr indent="0" marL="0">
              <a:buNone/>
            </a:pPr>
            <a:r>
              <a:rPr lang="en-US" sz="3600" b="1" dirty="0">
                <a:solidFill>
                  <a:srgbClr val="FFFFFF"/>
                </a:solidFill>
                <a:latin typeface="Cambria" pitchFamily="34" charset="0"/>
                <a:ea typeface="Cambria" pitchFamily="34" charset="-122"/>
                <a:cs typeface="Cambria" pitchFamily="34" charset="-120"/>
              </a:rPr>
              <a:t>Why a modulation classifier fails across transmitters</a:t>
            </a:r>
            <a:endParaRPr lang="en-US" sz="3600" dirty="0"/>
          </a:p>
        </p:txBody>
      </p:sp>
      <p:sp>
        <p:nvSpPr>
          <p:cNvPr id="3" name="Text 1"/>
          <p:cNvSpPr txBox="1"/>
          <p:nvPr/>
        </p:nvSpPr>
        <p:spPr>
          <a:xfrm>
            <a:off x="548640" y="2788920"/>
            <a:ext cx="7680960" cy="640080"/>
          </a:xfrm>
          <a:prstGeom prst="rect">
            <a:avLst/>
          </a:prstGeom>
          <a:noFill/>
          <a:ln/>
        </p:spPr>
        <p:txBody>
          <a:bodyPr wrap="square" lIns="0" tIns="0" rIns="0" bIns="0" rtlCol="0" anchor="ctr"/>
          <a:lstStyle/>
          <a:p>
            <a:pPr indent="0" marL="0">
              <a:buNone/>
            </a:pPr>
            <a:r>
              <a:rPr lang="en-US" sz="2600" dirty="0">
                <a:solidFill>
                  <a:srgbClr val="F26419"/>
                </a:solidFill>
                <a:latin typeface="Cambria" pitchFamily="34" charset="0"/>
                <a:ea typeface="Cambria" pitchFamily="34" charset="-122"/>
                <a:cs typeface="Cambria" pitchFamily="34" charset="-120"/>
              </a:rPr>
              <a:t>— measured by intervention, and closed</a:t>
            </a:r>
            <a:endParaRPr lang="en-US" sz="2600" dirty="0"/>
          </a:p>
        </p:txBody>
      </p:sp>
      <p:sp>
        <p:nvSpPr>
          <p:cNvPr id="4" name="Text 2"/>
          <p:cNvSpPr txBox="1"/>
          <p:nvPr/>
        </p:nvSpPr>
        <p:spPr>
          <a:xfrm>
            <a:off x="548640" y="3840480"/>
            <a:ext cx="11091672" cy="457200"/>
          </a:xfrm>
          <a:prstGeom prst="rect">
            <a:avLst/>
          </a:prstGeom>
          <a:noFill/>
          <a:ln/>
        </p:spPr>
        <p:txBody>
          <a:bodyPr wrap="square" lIns="0" tIns="0" rIns="0" bIns="0" rtlCol="0" anchor="ctr"/>
          <a:lstStyle/>
          <a:p>
            <a:pPr indent="0" marL="0">
              <a:buNone/>
            </a:pPr>
            <a:r>
              <a:rPr lang="en-US" sz="1600" dirty="0">
                <a:solidFill>
                  <a:srgbClr val="DCE6F0"/>
                </a:solidFill>
                <a:latin typeface="Calibri" pitchFamily="34" charset="0"/>
                <a:ea typeface="Calibri" pitchFamily="34" charset="-122"/>
                <a:cs typeface="Calibri" pitchFamily="34" charset="-120"/>
              </a:rPr>
              <a:t>RadioML 2018.01A · ICRNNA backbone · progress report, September 2026</a:t>
            </a:r>
            <a:endParaRPr lang="en-US" sz="1600" dirty="0"/>
          </a:p>
        </p:txBody>
      </p:sp>
      <p:sp>
        <p:nvSpPr>
          <p:cNvPr id="5" name="Text 3"/>
          <p:cNvSpPr txBox="1"/>
          <p:nvPr/>
        </p:nvSpPr>
        <p:spPr>
          <a:xfrm>
            <a:off x="548640" y="4343400"/>
            <a:ext cx="11091672" cy="4572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Yusuf Bilal Çetinkaya</a:t>
            </a:r>
            <a:endParaRPr lang="en-US" sz="1600" dirty="0"/>
          </a:p>
        </p:txBody>
      </p:sp>
      <p:pic>
        <p:nvPicPr>
          <p:cNvPr id="6" name="Image 0" descr="c64qam.png">    </p:cNvPr>
          <p:cNvPicPr>
            <a:picLocks noChangeAspect="1"/>
          </p:cNvPicPr>
          <p:nvPr/>
        </p:nvPicPr>
        <p:blipFill>
          <a:blip r:embed="rId1">
            <a:alphaModFix amt="85000"/>
          </a:blip>
          <a:stretch>
            <a:fillRect/>
          </a:stretch>
        </p:blipFill>
        <p:spPr>
          <a:xfrm>
            <a:off x="8595360" y="1280160"/>
            <a:ext cx="3017520" cy="3017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problem</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Reproducing the benchmark is solved. What happens when the transmitter changes is not.</a:t>
            </a:r>
            <a:endParaRPr lang="en-US" sz="1500" dirty="0"/>
          </a:p>
        </p:txBody>
      </p:sp>
      <p:sp>
        <p:nvSpPr>
          <p:cNvPr id="4" name="Shape 2"/>
          <p:cNvSpPr/>
          <p:nvPr/>
        </p:nvSpPr>
        <p:spPr>
          <a:xfrm>
            <a:off x="548640" y="1737360"/>
            <a:ext cx="5486400" cy="4206240"/>
          </a:xfrm>
          <a:prstGeom prst="roundRect">
            <a:avLst>
              <a:gd name="adj" fmla="val 1739"/>
            </a:avLst>
          </a:prstGeom>
          <a:solidFill>
            <a:srgbClr val="F3F6F9"/>
          </a:solidFill>
          <a:ln w="12700">
            <a:solidFill>
              <a:srgbClr val="F3F6F9"/>
            </a:solidFill>
            <a:prstDash val="solid"/>
          </a:ln>
        </p:spPr>
      </p:sp>
      <p:sp>
        <p:nvSpPr>
          <p:cNvPr id="5" name="Text 3"/>
          <p:cNvSpPr txBox="1"/>
          <p:nvPr/>
        </p:nvSpPr>
        <p:spPr>
          <a:xfrm>
            <a:off x="822960" y="1874520"/>
            <a:ext cx="4937760" cy="1097280"/>
          </a:xfrm>
          <a:prstGeom prst="rect">
            <a:avLst/>
          </a:prstGeom>
          <a:noFill/>
          <a:ln/>
        </p:spPr>
        <p:txBody>
          <a:bodyPr wrap="square" lIns="0" tIns="0" rIns="0" bIns="0" rtlCol="0" anchor="t"/>
          <a:lstStyle/>
          <a:p>
            <a:pPr indent="0" marL="0">
              <a:buNone/>
            </a:pPr>
            <a:r>
              <a:rPr lang="en-US" sz="1500" dirty="0">
                <a:solidFill>
                  <a:srgbClr val="13315C"/>
                </a:solidFill>
                <a:latin typeface="Calibri" pitchFamily="34" charset="0"/>
                <a:ea typeface="Calibri" pitchFamily="34" charset="-122"/>
                <a:cs typeface="Calibri" pitchFamily="34" charset="-120"/>
              </a:rPr>
              <a:t>Train on RadioML. Test on I/Q generated by an independent transmitter model. Same five modulations, same SNRs, same sample rate.</a:t>
            </a:r>
            <a:endParaRPr lang="en-US" sz="1500" dirty="0"/>
          </a:p>
        </p:txBody>
      </p:sp>
      <p:sp>
        <p:nvSpPr>
          <p:cNvPr id="6" name="Text 4"/>
          <p:cNvSpPr txBox="1"/>
          <p:nvPr/>
        </p:nvSpPr>
        <p:spPr>
          <a:xfrm>
            <a:off x="822960" y="3017520"/>
            <a:ext cx="2286000" cy="868680"/>
          </a:xfrm>
          <a:prstGeom prst="rect">
            <a:avLst/>
          </a:prstGeom>
          <a:noFill/>
          <a:ln/>
        </p:spPr>
        <p:txBody>
          <a:bodyPr wrap="square" lIns="0" tIns="0" rIns="0" bIns="0" rtlCol="0" anchor="b"/>
          <a:lstStyle/>
          <a:p>
            <a:pPr indent="0" marL="0">
              <a:buNone/>
            </a:pPr>
            <a:r>
              <a:rPr lang="en-US" sz="4400" b="1" dirty="0">
                <a:solidFill>
                  <a:srgbClr val="1B998B"/>
                </a:solidFill>
                <a:latin typeface="Cambria" pitchFamily="34" charset="0"/>
                <a:ea typeface="Cambria" pitchFamily="34" charset="-122"/>
                <a:cs typeface="Cambria" pitchFamily="34" charset="-120"/>
              </a:rPr>
              <a:t>0.999</a:t>
            </a:r>
            <a:endParaRPr lang="en-US" sz="4400" dirty="0"/>
          </a:p>
        </p:txBody>
      </p:sp>
      <p:sp>
        <p:nvSpPr>
          <p:cNvPr id="7" name="Text 5"/>
          <p:cNvSpPr txBox="1"/>
          <p:nvPr/>
        </p:nvSpPr>
        <p:spPr>
          <a:xfrm>
            <a:off x="822960" y="3904488"/>
            <a:ext cx="228600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in-domain accuracy</a:t>
            </a:r>
            <a:endParaRPr lang="en-US" sz="1250" dirty="0"/>
          </a:p>
        </p:txBody>
      </p:sp>
      <p:sp>
        <p:nvSpPr>
          <p:cNvPr id="8" name="Text 6"/>
          <p:cNvSpPr txBox="1"/>
          <p:nvPr/>
        </p:nvSpPr>
        <p:spPr>
          <a:xfrm>
            <a:off x="3291840" y="3017520"/>
            <a:ext cx="2286000" cy="868680"/>
          </a:xfrm>
          <a:prstGeom prst="rect">
            <a:avLst/>
          </a:prstGeom>
          <a:noFill/>
          <a:ln/>
        </p:spPr>
        <p:txBody>
          <a:bodyPr wrap="square" lIns="0" tIns="0" rIns="0" bIns="0" rtlCol="0" anchor="b"/>
          <a:lstStyle/>
          <a:p>
            <a:pPr indent="0" marL="0">
              <a:buNone/>
            </a:pPr>
            <a:r>
              <a:rPr lang="en-US" sz="4400" b="1" dirty="0">
                <a:solidFill>
                  <a:srgbClr val="C0392B"/>
                </a:solidFill>
                <a:latin typeface="Cambria" pitchFamily="34" charset="0"/>
                <a:ea typeface="Cambria" pitchFamily="34" charset="-122"/>
                <a:cs typeface="Cambria" pitchFamily="34" charset="-120"/>
              </a:rPr>
              <a:t>0.805</a:t>
            </a:r>
            <a:endParaRPr lang="en-US" sz="4400" dirty="0"/>
          </a:p>
        </p:txBody>
      </p:sp>
      <p:sp>
        <p:nvSpPr>
          <p:cNvPr id="9" name="Text 7"/>
          <p:cNvSpPr txBox="1"/>
          <p:nvPr/>
        </p:nvSpPr>
        <p:spPr>
          <a:xfrm>
            <a:off x="3291840" y="3904488"/>
            <a:ext cx="228600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on the other transmitter</a:t>
            </a:r>
            <a:endParaRPr lang="en-US" sz="1250" dirty="0"/>
          </a:p>
        </p:txBody>
      </p:sp>
      <p:sp>
        <p:nvSpPr>
          <p:cNvPr id="10" name="Text 8"/>
          <p:cNvSpPr txBox="1"/>
          <p:nvPr/>
        </p:nvSpPr>
        <p:spPr>
          <a:xfrm>
            <a:off x="822960" y="4754880"/>
            <a:ext cx="4937760" cy="457200"/>
          </a:xfrm>
          <a:prstGeom prst="rect">
            <a:avLst/>
          </a:prstGeom>
          <a:noFill/>
          <a:ln/>
        </p:spPr>
        <p:txBody>
          <a:bodyPr wrap="square" lIns="0" tIns="0" rIns="0" bIns="0" rtlCol="0" anchor="ctr"/>
          <a:lstStyle/>
          <a:p>
            <a:pPr indent="0" marL="0">
              <a:buNone/>
            </a:pPr>
            <a:r>
              <a:rPr lang="en-US" sz="1400" b="1" dirty="0">
                <a:solidFill>
                  <a:srgbClr val="13315C"/>
                </a:solidFill>
                <a:latin typeface="Calibri" pitchFamily="34" charset="0"/>
                <a:ea typeface="Calibri" pitchFamily="34" charset="-122"/>
                <a:cs typeface="Calibri" pitchFamily="34" charset="-120"/>
              </a:rPr>
              <a:t>16QAM alone: 0.056 — it is read as 64QAM</a:t>
            </a:r>
            <a:endParaRPr lang="en-US" sz="1400" dirty="0"/>
          </a:p>
        </p:txBody>
      </p:sp>
      <p:sp>
        <p:nvSpPr>
          <p:cNvPr id="11" name="Text 9"/>
          <p:cNvSpPr txBox="1"/>
          <p:nvPr/>
        </p:nvSpPr>
        <p:spPr>
          <a:xfrm>
            <a:off x="6583680" y="1783080"/>
            <a:ext cx="5029200" cy="411480"/>
          </a:xfrm>
          <a:prstGeom prst="rect">
            <a:avLst/>
          </a:prstGeom>
          <a:noFill/>
          <a:ln/>
        </p:spPr>
        <p:txBody>
          <a:bodyPr wrap="square" lIns="0" tIns="0" rIns="0" bIns="0" rtlCol="0" anchor="ctr"/>
          <a:lstStyle/>
          <a:p>
            <a:pPr indent="0" marL="0">
              <a:buNone/>
            </a:pPr>
            <a:r>
              <a:rPr lang="en-US" sz="1800" b="1" dirty="0">
                <a:solidFill>
                  <a:srgbClr val="13315C"/>
                </a:solidFill>
                <a:latin typeface="Cambria" pitchFamily="34" charset="0"/>
                <a:ea typeface="Cambria" pitchFamily="34" charset="-122"/>
                <a:cs typeface="Cambria" pitchFamily="34" charset="-120"/>
              </a:rPr>
              <a:t>The questions this project answers</a:t>
            </a:r>
            <a:endParaRPr lang="en-US" sz="1800" dirty="0"/>
          </a:p>
        </p:txBody>
      </p:sp>
      <p:sp>
        <p:nvSpPr>
          <p:cNvPr id="12" name="Shape 10"/>
          <p:cNvSpPr/>
          <p:nvPr/>
        </p:nvSpPr>
        <p:spPr>
          <a:xfrm>
            <a:off x="6583680" y="2377440"/>
            <a:ext cx="457200" cy="457200"/>
          </a:xfrm>
          <a:prstGeom prst="ellipse">
            <a:avLst/>
          </a:prstGeom>
          <a:solidFill>
            <a:srgbClr val="0B2545"/>
          </a:solidFill>
          <a:ln w="12700">
            <a:solidFill>
              <a:srgbClr val="0B2545"/>
            </a:solidFill>
            <a:prstDash val="solid"/>
          </a:ln>
        </p:spPr>
      </p:sp>
      <p:sp>
        <p:nvSpPr>
          <p:cNvPr id="13" name="Text 11"/>
          <p:cNvSpPr txBox="1"/>
          <p:nvPr/>
        </p:nvSpPr>
        <p:spPr>
          <a:xfrm>
            <a:off x="6583680" y="2377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4" name="Text 12"/>
          <p:cNvSpPr txBox="1"/>
          <p:nvPr/>
        </p:nvSpPr>
        <p:spPr>
          <a:xfrm>
            <a:off x="7223760" y="233172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How large is the drop, and where does it land?</a:t>
            </a:r>
            <a:endParaRPr lang="en-US" sz="1400" dirty="0"/>
          </a:p>
        </p:txBody>
      </p:sp>
      <p:sp>
        <p:nvSpPr>
          <p:cNvPr id="15" name="Shape 13"/>
          <p:cNvSpPr/>
          <p:nvPr/>
        </p:nvSpPr>
        <p:spPr>
          <a:xfrm>
            <a:off x="6583680" y="3246120"/>
            <a:ext cx="457200" cy="457200"/>
          </a:xfrm>
          <a:prstGeom prst="ellipse">
            <a:avLst/>
          </a:prstGeom>
          <a:solidFill>
            <a:srgbClr val="0B2545"/>
          </a:solidFill>
          <a:ln w="12700">
            <a:solidFill>
              <a:srgbClr val="0B2545"/>
            </a:solidFill>
            <a:prstDash val="solid"/>
          </a:ln>
        </p:spPr>
      </p:sp>
      <p:sp>
        <p:nvSpPr>
          <p:cNvPr id="16" name="Text 14"/>
          <p:cNvSpPr txBox="1"/>
          <p:nvPr/>
        </p:nvSpPr>
        <p:spPr>
          <a:xfrm>
            <a:off x="6583680" y="32461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7223760" y="320040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What property of the signal causes it — shown by intervention, not correlation?</a:t>
            </a:r>
            <a:endParaRPr lang="en-US" sz="1400" dirty="0"/>
          </a:p>
        </p:txBody>
      </p:sp>
      <p:sp>
        <p:nvSpPr>
          <p:cNvPr id="18" name="Shape 16"/>
          <p:cNvSpPr/>
          <p:nvPr/>
        </p:nvSpPr>
        <p:spPr>
          <a:xfrm>
            <a:off x="6583680" y="4114800"/>
            <a:ext cx="457200" cy="457200"/>
          </a:xfrm>
          <a:prstGeom prst="ellipse">
            <a:avLst/>
          </a:prstGeom>
          <a:solidFill>
            <a:srgbClr val="0B2545"/>
          </a:solidFill>
          <a:ln w="12700">
            <a:solidFill>
              <a:srgbClr val="0B2545"/>
            </a:solidFill>
            <a:prstDash val="solid"/>
          </a:ln>
        </p:spPr>
      </p:sp>
      <p:sp>
        <p:nvSpPr>
          <p:cNvPr id="19" name="Text 17"/>
          <p:cNvSpPr txBox="1"/>
          <p:nvPr/>
        </p:nvSpPr>
        <p:spPr>
          <a:xfrm>
            <a:off x="6583680" y="4114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223760" y="406908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Can it be removed without paying for it in-domain?</a:t>
            </a:r>
            <a:endParaRPr lang="en-US" sz="1400" dirty="0"/>
          </a:p>
        </p:txBody>
      </p:sp>
      <p:sp>
        <p:nvSpPr>
          <p:cNvPr id="21" name="Shape 19"/>
          <p:cNvSpPr/>
          <p:nvPr/>
        </p:nvSpPr>
        <p:spPr>
          <a:xfrm>
            <a:off x="6583680" y="4983480"/>
            <a:ext cx="457200" cy="457200"/>
          </a:xfrm>
          <a:prstGeom prst="ellipse">
            <a:avLst/>
          </a:prstGeom>
          <a:solidFill>
            <a:srgbClr val="F26419"/>
          </a:solidFill>
          <a:ln w="12700">
            <a:solidFill>
              <a:srgbClr val="F26419"/>
            </a:solidFill>
            <a:prstDash val="solid"/>
          </a:ln>
        </p:spPr>
      </p:sp>
      <p:sp>
        <p:nvSpPr>
          <p:cNvPr id="22" name="Text 20"/>
          <p:cNvSpPr txBox="1"/>
          <p:nvPr/>
        </p:nvSpPr>
        <p:spPr>
          <a:xfrm>
            <a:off x="6583680" y="4983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7223760" y="493776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Where does a modulation the model never saw go?</a:t>
            </a:r>
            <a:endParaRPr lang="en-US" sz="1400" dirty="0"/>
          </a:p>
        </p:txBody>
      </p:sp>
      <p:sp>
        <p:nvSpPr>
          <p:cNvPr id="25" name="Text 2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Dataset: RadioML 2018.01A</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One dataset, by decision. Every class shares the same spectral envelope — that turns out to matter.</a:t>
            </a:r>
            <a:endParaRPr lang="en-US" sz="1500" dirty="0"/>
          </a:p>
        </p:txBody>
      </p:sp>
      <p:pic>
        <p:nvPicPr>
          <p:cNvPr id="4" name="Image 0" descr="spectra24.png">    </p:cNvPr>
          <p:cNvPicPr>
            <a:picLocks noChangeAspect="1"/>
          </p:cNvPicPr>
          <p:nvPr/>
        </p:nvPicPr>
        <p:blipFill>
          <a:blip r:embed="rId1"/>
          <a:stretch>
            <a:fillRect/>
          </a:stretch>
        </p:blipFill>
        <p:spPr>
          <a:xfrm>
            <a:off x="548640" y="1645920"/>
            <a:ext cx="7223760" cy="4160520"/>
          </a:xfrm>
          <a:prstGeom prst="rect">
            <a:avLst/>
          </a:prstGeom>
        </p:spPr>
      </p:pic>
      <p:sp>
        <p:nvSpPr>
          <p:cNvPr id="5" name="Text 2"/>
          <p:cNvSpPr txBox="1"/>
          <p:nvPr/>
        </p:nvSpPr>
        <p:spPr>
          <a:xfrm>
            <a:off x="548640" y="5852160"/>
            <a:ext cx="7223760" cy="32004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Mean power spectrum per class at 30 dB. Blue = symmetric, red = single-sideband.</a:t>
            </a:r>
            <a:endParaRPr lang="en-US" sz="1050" dirty="0"/>
          </a:p>
        </p:txBody>
      </p:sp>
      <p:sp>
        <p:nvSpPr>
          <p:cNvPr id="6" name="Text 3"/>
          <p:cNvSpPr txBox="1"/>
          <p:nvPr/>
        </p:nvSpPr>
        <p:spPr>
          <a:xfrm>
            <a:off x="8138160" y="164592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24</a:t>
            </a:r>
            <a:endParaRPr lang="en-US" sz="2600" dirty="0"/>
          </a:p>
        </p:txBody>
      </p:sp>
      <p:sp>
        <p:nvSpPr>
          <p:cNvPr id="7" name="Text 4"/>
          <p:cNvSpPr txBox="1"/>
          <p:nvPr/>
        </p:nvSpPr>
        <p:spPr>
          <a:xfrm>
            <a:off x="9555480" y="164592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modulation classes — ASK, PSK, APSK, QAM, analog</a:t>
            </a:r>
            <a:endParaRPr lang="en-US" sz="1250" dirty="0"/>
          </a:p>
        </p:txBody>
      </p:sp>
      <p:sp>
        <p:nvSpPr>
          <p:cNvPr id="8" name="Text 5"/>
          <p:cNvSpPr txBox="1"/>
          <p:nvPr/>
        </p:nvSpPr>
        <p:spPr>
          <a:xfrm>
            <a:off x="8138160" y="251460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1,024</a:t>
            </a:r>
            <a:endParaRPr lang="en-US" sz="2600" dirty="0"/>
          </a:p>
        </p:txBody>
      </p:sp>
      <p:sp>
        <p:nvSpPr>
          <p:cNvPr id="9" name="Text 6"/>
          <p:cNvSpPr txBox="1"/>
          <p:nvPr/>
        </p:nvSpPr>
        <p:spPr>
          <a:xfrm>
            <a:off x="9555480" y="251460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I/Q samples per frame, used at native length</a:t>
            </a:r>
            <a:endParaRPr lang="en-US" sz="1250" dirty="0"/>
          </a:p>
        </p:txBody>
      </p:sp>
      <p:sp>
        <p:nvSpPr>
          <p:cNvPr id="10" name="Text 7"/>
          <p:cNvSpPr txBox="1"/>
          <p:nvPr/>
        </p:nvSpPr>
        <p:spPr>
          <a:xfrm>
            <a:off x="8138160" y="338328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26</a:t>
            </a:r>
            <a:endParaRPr lang="en-US" sz="2600" dirty="0"/>
          </a:p>
        </p:txBody>
      </p:sp>
      <p:sp>
        <p:nvSpPr>
          <p:cNvPr id="11" name="Text 8"/>
          <p:cNvSpPr txBox="1"/>
          <p:nvPr/>
        </p:nvSpPr>
        <p:spPr>
          <a:xfrm>
            <a:off x="9555480" y="338328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SNR levels, −20 to +30 dB in 2 dB steps</a:t>
            </a:r>
            <a:endParaRPr lang="en-US" sz="1250" dirty="0"/>
          </a:p>
        </p:txBody>
      </p:sp>
      <p:sp>
        <p:nvSpPr>
          <p:cNvPr id="12" name="Text 9"/>
          <p:cNvSpPr txBox="1"/>
          <p:nvPr/>
        </p:nvSpPr>
        <p:spPr>
          <a:xfrm>
            <a:off x="8138160" y="425196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4,096</a:t>
            </a:r>
            <a:endParaRPr lang="en-US" sz="2600" dirty="0"/>
          </a:p>
        </p:txBody>
      </p:sp>
      <p:sp>
        <p:nvSpPr>
          <p:cNvPr id="13" name="Text 10"/>
          <p:cNvSpPr txBox="1"/>
          <p:nvPr/>
        </p:nvSpPr>
        <p:spPr>
          <a:xfrm>
            <a:off x="9555480" y="425196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frames per (class, SNR) cell; 2.5 M frames, 21 GB</a:t>
            </a:r>
            <a:endParaRPr lang="en-US" sz="1250" dirty="0"/>
          </a:p>
        </p:txBody>
      </p:sp>
      <p:sp>
        <p:nvSpPr>
          <p:cNvPr id="14" name="Text 11"/>
          <p:cNvSpPr txBox="1"/>
          <p:nvPr/>
        </p:nvSpPr>
        <p:spPr>
          <a:xfrm>
            <a:off x="8138160" y="5166360"/>
            <a:ext cx="3611880" cy="100584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RML2016.10a stays in the record for one purpose: the paper-faithful build reaches 63.21% against the published 63.24% on it — the pipeline's only tie to a published number.</a:t>
            </a:r>
            <a:endParaRPr lang="en-US" sz="1050" dirty="0"/>
          </a:p>
        </p:txBody>
      </p:sp>
      <p:sp>
        <p:nvSpPr>
          <p:cNvPr id="16" name="Text 1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Input, output, model, protocol</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Defined once here, and unchanged for every result that follows.</a:t>
            </a:r>
            <a:endParaRPr lang="en-US" sz="1500" dirty="0"/>
          </a:p>
        </p:txBody>
      </p:sp>
      <p:sp>
        <p:nvSpPr>
          <p:cNvPr id="4" name="Shape 2"/>
          <p:cNvSpPr/>
          <p:nvPr/>
        </p:nvSpPr>
        <p:spPr>
          <a:xfrm>
            <a:off x="548640" y="1737360"/>
            <a:ext cx="3383280" cy="1737360"/>
          </a:xfrm>
          <a:prstGeom prst="roundRect">
            <a:avLst>
              <a:gd name="adj" fmla="val 4211"/>
            </a:avLst>
          </a:prstGeom>
          <a:solidFill>
            <a:srgbClr val="F3F6F9"/>
          </a:solidFill>
          <a:ln w="12700">
            <a:solidFill>
              <a:srgbClr val="F3F6F9"/>
            </a:solidFill>
            <a:prstDash val="solid"/>
          </a:ln>
        </p:spPr>
      </p:sp>
      <p:sp>
        <p:nvSpPr>
          <p:cNvPr id="5" name="Text 3"/>
          <p:cNvSpPr txBox="1"/>
          <p:nvPr/>
        </p:nvSpPr>
        <p:spPr>
          <a:xfrm>
            <a:off x="777240" y="1828800"/>
            <a:ext cx="2926080" cy="3657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INPUT</a:t>
            </a:r>
            <a:endParaRPr lang="en-US" sz="1400" dirty="0"/>
          </a:p>
        </p:txBody>
      </p:sp>
      <p:sp>
        <p:nvSpPr>
          <p:cNvPr id="6" name="Text 4"/>
          <p:cNvSpPr txBox="1"/>
          <p:nvPr/>
        </p:nvSpPr>
        <p:spPr>
          <a:xfrm>
            <a:off x="77724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one I/Q frame</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2 × 1,024 float32</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unit average power</a:t>
            </a:r>
            <a:endParaRPr lang="en-US" sz="1300" dirty="0"/>
          </a:p>
        </p:txBody>
      </p:sp>
      <p:sp>
        <p:nvSpPr>
          <p:cNvPr id="7" name="Shape 5"/>
          <p:cNvSpPr/>
          <p:nvPr/>
        </p:nvSpPr>
        <p:spPr>
          <a:xfrm>
            <a:off x="4005072" y="2377440"/>
            <a:ext cx="320040" cy="411480"/>
          </a:xfrm>
          <a:prstGeom prst="rightArrow">
            <a:avLst/>
          </a:prstGeom>
          <a:solidFill>
            <a:srgbClr val="5C7A99"/>
          </a:solidFill>
          <a:ln w="12700">
            <a:solidFill>
              <a:srgbClr val="5C7A99"/>
            </a:solidFill>
            <a:prstDash val="solid"/>
          </a:ln>
        </p:spPr>
      </p:sp>
      <p:sp>
        <p:nvSpPr>
          <p:cNvPr id="8" name="Shape 6"/>
          <p:cNvSpPr/>
          <p:nvPr/>
        </p:nvSpPr>
        <p:spPr>
          <a:xfrm>
            <a:off x="4389120" y="1737360"/>
            <a:ext cx="3383280" cy="1737360"/>
          </a:xfrm>
          <a:prstGeom prst="roundRect">
            <a:avLst>
              <a:gd name="adj" fmla="val 4211"/>
            </a:avLst>
          </a:prstGeom>
          <a:solidFill>
            <a:srgbClr val="FDE9DF"/>
          </a:solidFill>
          <a:ln w="12700">
            <a:solidFill>
              <a:srgbClr val="FDE9DF"/>
            </a:solidFill>
            <a:prstDash val="solid"/>
          </a:ln>
        </p:spPr>
      </p:sp>
      <p:sp>
        <p:nvSpPr>
          <p:cNvPr id="9" name="Text 7"/>
          <p:cNvSpPr txBox="1"/>
          <p:nvPr/>
        </p:nvSpPr>
        <p:spPr>
          <a:xfrm>
            <a:off x="4617720" y="1828800"/>
            <a:ext cx="2926080" cy="365760"/>
          </a:xfrm>
          <a:prstGeom prst="rect">
            <a:avLst/>
          </a:prstGeom>
          <a:noFill/>
          <a:ln/>
        </p:spPr>
        <p:txBody>
          <a:bodyPr wrap="square" lIns="0" tIns="0" rIns="0" bIns="0" rtlCol="0" anchor="ctr"/>
          <a:lstStyle/>
          <a:p>
            <a:pPr indent="0" marL="0">
              <a:buNone/>
            </a:pPr>
            <a:r>
              <a:rPr lang="en-US" sz="1400" b="1" dirty="0">
                <a:solidFill>
                  <a:srgbClr val="F26419"/>
                </a:solidFill>
                <a:latin typeface="Cambria" pitchFamily="34" charset="0"/>
                <a:ea typeface="Cambria" pitchFamily="34" charset="-122"/>
                <a:cs typeface="Cambria" pitchFamily="34" charset="-120"/>
              </a:rPr>
              <a:t>MODEL</a:t>
            </a:r>
            <a:endParaRPr lang="en-US" sz="1400" dirty="0"/>
          </a:p>
        </p:txBody>
      </p:sp>
      <p:sp>
        <p:nvSpPr>
          <p:cNvPr id="10" name="Text 8"/>
          <p:cNvSpPr txBox="1"/>
          <p:nvPr/>
        </p:nvSpPr>
        <p:spPr>
          <a:xfrm>
            <a:off x="461772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ICRNNA · 786k params</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conv front end → BiLSTM →</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additive attention</a:t>
            </a:r>
            <a:endParaRPr lang="en-US" sz="1300" dirty="0"/>
          </a:p>
        </p:txBody>
      </p:sp>
      <p:sp>
        <p:nvSpPr>
          <p:cNvPr id="11" name="Shape 9"/>
          <p:cNvSpPr/>
          <p:nvPr/>
        </p:nvSpPr>
        <p:spPr>
          <a:xfrm>
            <a:off x="7845552" y="2377440"/>
            <a:ext cx="320040" cy="411480"/>
          </a:xfrm>
          <a:prstGeom prst="rightArrow">
            <a:avLst/>
          </a:prstGeom>
          <a:solidFill>
            <a:srgbClr val="5C7A99"/>
          </a:solidFill>
          <a:ln w="12700">
            <a:solidFill>
              <a:srgbClr val="5C7A99"/>
            </a:solidFill>
            <a:prstDash val="solid"/>
          </a:ln>
        </p:spPr>
      </p:sp>
      <p:sp>
        <p:nvSpPr>
          <p:cNvPr id="12" name="Shape 10"/>
          <p:cNvSpPr/>
          <p:nvPr/>
        </p:nvSpPr>
        <p:spPr>
          <a:xfrm>
            <a:off x="8229600" y="1737360"/>
            <a:ext cx="3383280" cy="1737360"/>
          </a:xfrm>
          <a:prstGeom prst="roundRect">
            <a:avLst>
              <a:gd name="adj" fmla="val 4211"/>
            </a:avLst>
          </a:prstGeom>
          <a:solidFill>
            <a:srgbClr val="F3F6F9"/>
          </a:solidFill>
          <a:ln w="12700">
            <a:solidFill>
              <a:srgbClr val="F3F6F9"/>
            </a:solidFill>
            <a:prstDash val="solid"/>
          </a:ln>
        </p:spPr>
      </p:sp>
      <p:sp>
        <p:nvSpPr>
          <p:cNvPr id="13" name="Text 11"/>
          <p:cNvSpPr txBox="1"/>
          <p:nvPr/>
        </p:nvSpPr>
        <p:spPr>
          <a:xfrm>
            <a:off x="8458200" y="1828800"/>
            <a:ext cx="2926080" cy="3657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OUTPUT</a:t>
            </a:r>
            <a:endParaRPr lang="en-US" sz="1400" dirty="0"/>
          </a:p>
        </p:txBody>
      </p:sp>
      <p:sp>
        <p:nvSpPr>
          <p:cNvPr id="14" name="Text 12"/>
          <p:cNvSpPr txBox="1"/>
          <p:nvPr/>
        </p:nvSpPr>
        <p:spPr>
          <a:xfrm>
            <a:off x="845820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one of K class labels</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K = 24, or 4 for the</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decision table</a:t>
            </a:r>
            <a:endParaRPr lang="en-US" sz="1300" dirty="0"/>
          </a:p>
        </p:txBody>
      </p:sp>
      <p:sp>
        <p:nvSpPr>
          <p:cNvPr id="15" name="Text 13"/>
          <p:cNvSpPr txBox="1"/>
          <p:nvPr/>
        </p:nvSpPr>
        <p:spPr>
          <a:xfrm>
            <a:off x="548640" y="3749040"/>
            <a:ext cx="5486400" cy="365760"/>
          </a:xfrm>
          <a:prstGeom prst="rect">
            <a:avLst/>
          </a:prstGeom>
          <a:noFill/>
          <a:ln/>
        </p:spPr>
        <p:txBody>
          <a:bodyPr wrap="square" lIns="0" tIns="0" rIns="0" bIns="0" rtlCol="0" anchor="ctr"/>
          <a:lstStyle/>
          <a:p>
            <a:pPr indent="0" marL="0">
              <a:buNone/>
            </a:pPr>
            <a:r>
              <a:rPr lang="en-US" sz="1600" b="1" dirty="0">
                <a:solidFill>
                  <a:srgbClr val="13315C"/>
                </a:solidFill>
                <a:latin typeface="Cambria" pitchFamily="34" charset="0"/>
                <a:ea typeface="Cambria" pitchFamily="34" charset="-122"/>
                <a:cs typeface="Cambria" pitchFamily="34" charset="-120"/>
              </a:rPr>
              <a:t>Protocol</a:t>
            </a:r>
            <a:endParaRPr lang="en-US" sz="1600" dirty="0"/>
          </a:p>
        </p:txBody>
      </p:sp>
      <p:sp>
        <p:nvSpPr>
          <p:cNvPr id="16" name="Text 14"/>
          <p:cNvSpPr txBox="1"/>
          <p:nvPr/>
        </p:nvSpPr>
        <p:spPr>
          <a:xfrm>
            <a:off x="548640" y="4160520"/>
            <a:ext cx="576072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70 / 15 / 15 split, stratified over every (class, SNR) cell</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Early stopping, LR schedule and checkpoint choice read validation only; the test set is touched once</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Batch 256, Adam 1e-3, ReduceLROnPlateau, patience 20 under an epoch ceiling</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Three seeds per configuration; results written after every seed and resumed, never overwritten</a:t>
            </a:r>
            <a:endParaRPr lang="en-US" sz="1250" dirty="0"/>
          </a:p>
        </p:txBody>
      </p:sp>
      <p:sp>
        <p:nvSpPr>
          <p:cNvPr id="17" name="Shape 15"/>
          <p:cNvSpPr/>
          <p:nvPr/>
        </p:nvSpPr>
        <p:spPr>
          <a:xfrm>
            <a:off x="6675120" y="3749040"/>
            <a:ext cx="4983480" cy="2514600"/>
          </a:xfrm>
          <a:prstGeom prst="roundRect">
            <a:avLst>
              <a:gd name="adj" fmla="val 2909"/>
            </a:avLst>
          </a:prstGeom>
          <a:solidFill>
            <a:srgbClr val="FFF4EE"/>
          </a:solidFill>
          <a:ln w="12700">
            <a:solidFill>
              <a:srgbClr val="FFF4EE"/>
            </a:solidFill>
            <a:prstDash val="solid"/>
          </a:ln>
        </p:spPr>
      </p:sp>
      <p:sp>
        <p:nvSpPr>
          <p:cNvPr id="18" name="Text 16"/>
          <p:cNvSpPr txBox="1"/>
          <p:nvPr/>
        </p:nvSpPr>
        <p:spPr>
          <a:xfrm>
            <a:off x="6903720" y="3840480"/>
            <a:ext cx="457200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A run counts as converged only if</a:t>
            </a:r>
            <a:endParaRPr lang="en-US" sz="1400" dirty="0"/>
          </a:p>
        </p:txBody>
      </p:sp>
      <p:sp>
        <p:nvSpPr>
          <p:cNvPr id="19" name="Text 17"/>
          <p:cNvSpPr txBox="1"/>
          <p:nvPr/>
        </p:nvSpPr>
        <p:spPr>
          <a:xfrm>
            <a:off x="6903720" y="4251960"/>
            <a:ext cx="4572000" cy="457200"/>
          </a:xfrm>
          <a:prstGeom prst="rect">
            <a:avLst/>
          </a:prstGeom>
          <a:noFill/>
          <a:ln/>
        </p:spPr>
        <p:txBody>
          <a:bodyPr wrap="square" lIns="0" tIns="0" rIns="0" bIns="0" rtlCol="0" anchor="ctr"/>
          <a:lstStyle/>
          <a:p>
            <a:pPr indent="0" marL="0">
              <a:buNone/>
            </a:pPr>
            <a:r>
              <a:rPr lang="en-US" sz="1600" b="1" dirty="0">
                <a:solidFill>
                  <a:srgbClr val="F26419"/>
                </a:solidFill>
                <a:latin typeface="Courier New" pitchFamily="34" charset="0"/>
                <a:ea typeface="Courier New" pitchFamily="34" charset="-122"/>
                <a:cs typeface="Courier New" pitchFamily="34" charset="-120"/>
              </a:rPr>
              <a:t>best_epoch + patience ≤ ceiling</a:t>
            </a:r>
            <a:endParaRPr lang="en-US" sz="1600" dirty="0"/>
          </a:p>
        </p:txBody>
      </p:sp>
      <p:sp>
        <p:nvSpPr>
          <p:cNvPr id="20" name="Text 18"/>
          <p:cNvSpPr txBox="1"/>
          <p:nvPr/>
        </p:nvSpPr>
        <p:spPr>
          <a:xfrm>
            <a:off x="6903720" y="4754880"/>
            <a:ext cx="4572000" cy="146304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Otherwise the number is a floor, not a measurement. Every result here passes this test; where a first run did not, it was rerun under a higher ceiling and the rerun is what is shown. Convergence turned out to be set by gradient updates, not epochs — and to depend on the method, not only the data.</a:t>
            </a:r>
            <a:endParaRPr lang="en-US" sz="1150" dirty="0"/>
          </a:p>
        </p:txBody>
      </p:sp>
      <p:sp>
        <p:nvSpPr>
          <p:cNvPr id="22" name="Text 1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First, does the backbone classify?</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Not the contribution — but the cross-domain numbers must start from a competent classifier.</a:t>
            </a:r>
            <a:endParaRPr lang="en-US" sz="1500" dirty="0"/>
          </a:p>
        </p:txBody>
      </p:sp>
      <p:graphicFrame>
        <p:nvGraphicFramePr>
          <p:cNvPr id="4" name="Chart 0" descr=""/>
          <p:cNvGraphicFramePr/>
          <p:nvPr/>
        </p:nvGraphicFramePr>
        <p:xfrm>
          <a:off x="548640" y="1600200"/>
          <a:ext cx="72237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138160" y="1645920"/>
            <a:ext cx="3566160" cy="868680"/>
          </a:xfrm>
          <a:prstGeom prst="rect">
            <a:avLst/>
          </a:prstGeom>
          <a:noFill/>
          <a:ln/>
        </p:spPr>
        <p:txBody>
          <a:bodyPr wrap="square" lIns="0" tIns="0" rIns="0" bIns="0" rtlCol="0" anchor="b"/>
          <a:lstStyle/>
          <a:p>
            <a:pPr indent="0" marL="0">
              <a:buNone/>
            </a:pPr>
            <a:r>
              <a:rPr lang="en-US" sz="4400" b="1" dirty="0">
                <a:solidFill>
                  <a:srgbClr val="0B2545"/>
                </a:solidFill>
                <a:latin typeface="Cambria" pitchFamily="34" charset="0"/>
                <a:ea typeface="Cambria" pitchFamily="34" charset="-122"/>
                <a:cs typeface="Cambria" pitchFamily="34" charset="-120"/>
              </a:rPr>
              <a:t>87.2%</a:t>
            </a:r>
            <a:endParaRPr lang="en-US" sz="4400" dirty="0"/>
          </a:p>
        </p:txBody>
      </p:sp>
      <p:sp>
        <p:nvSpPr>
          <p:cNvPr id="6" name="Text 3"/>
          <p:cNvSpPr txBox="1"/>
          <p:nvPr/>
        </p:nvSpPr>
        <p:spPr>
          <a:xfrm>
            <a:off x="8138160" y="253288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24 classes, SNR ≥ 10 dB  (±1.4)</a:t>
            </a:r>
            <a:endParaRPr lang="en-US" sz="1250" dirty="0"/>
          </a:p>
        </p:txBody>
      </p:sp>
      <p:sp>
        <p:nvSpPr>
          <p:cNvPr id="7" name="Text 4"/>
          <p:cNvSpPr txBox="1"/>
          <p:nvPr/>
        </p:nvSpPr>
        <p:spPr>
          <a:xfrm>
            <a:off x="8138160" y="3200400"/>
            <a:ext cx="3566160" cy="868680"/>
          </a:xfrm>
          <a:prstGeom prst="rect">
            <a:avLst/>
          </a:prstGeom>
          <a:noFill/>
          <a:ln/>
        </p:spPr>
        <p:txBody>
          <a:bodyPr wrap="square" lIns="0" tIns="0" rIns="0" bIns="0" rtlCol="0" anchor="b"/>
          <a:lstStyle/>
          <a:p>
            <a:pPr indent="0" marL="0">
              <a:buNone/>
            </a:pPr>
            <a:r>
              <a:rPr lang="en-US" sz="4400" b="1" dirty="0">
                <a:solidFill>
                  <a:srgbClr val="F26419"/>
                </a:solidFill>
                <a:latin typeface="Cambria" pitchFamily="34" charset="0"/>
                <a:ea typeface="Cambria" pitchFamily="34" charset="-122"/>
                <a:cs typeface="Cambria" pitchFamily="34" charset="-120"/>
              </a:rPr>
              <a:t>100.0%</a:t>
            </a:r>
            <a:endParaRPr lang="en-US" sz="4400" dirty="0"/>
          </a:p>
        </p:txBody>
      </p:sp>
      <p:sp>
        <p:nvSpPr>
          <p:cNvPr id="8" name="Text 5"/>
          <p:cNvSpPr txBox="1"/>
          <p:nvPr/>
        </p:nvSpPr>
        <p:spPr>
          <a:xfrm>
            <a:off x="8138160" y="408736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4 classes, SNR ≥ 10 dB</a:t>
            </a:r>
            <a:endParaRPr lang="en-US" sz="1250" dirty="0"/>
          </a:p>
        </p:txBody>
      </p:sp>
      <p:sp>
        <p:nvSpPr>
          <p:cNvPr id="9" name="Text 6"/>
          <p:cNvSpPr txBox="1"/>
          <p:nvPr/>
        </p:nvSpPr>
        <p:spPr>
          <a:xfrm>
            <a:off x="8138160" y="4800600"/>
            <a:ext cx="3566160" cy="128016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Overall across all 26 levels: 0.570 on 24 classes, 0.747 on 4. Chance is 0.042 and 0.25; the curve sits there below −12 dB and saturates from +8.</a:t>
            </a:r>
            <a:endParaRPr lang="en-US" sz="1150" dirty="0"/>
          </a:p>
        </p:txBody>
      </p:sp>
      <p:sp>
        <p:nvSpPr>
          <p:cNvPr id="11"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decision table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modulations in, 40,656 decisions above 10 dB, three seeds pooled — how often did we say what?</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949440" cy="914400"/>
        </p:xfrm>
        <a:graphic>
          <a:graphicData uri="http://schemas.openxmlformats.org/drawingml/2006/table">
            <a:tbl>
              <a:tblPr/>
              <a:tblGrid>
                <a:gridCol w="1417320"/>
                <a:gridCol w="1177290"/>
                <a:gridCol w="1177290"/>
                <a:gridCol w="1177290"/>
                <a:gridCol w="1177290"/>
                <a:gridCol w="822960"/>
              </a:tblGrid>
              <a:tr h="329184">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transmitted \ decided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3456432"/>
            <a:ext cx="6949440" cy="36576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40,654 of 40,656 correct. Both errors are 64QAM decided as 16QAM. Rows sum to 10,164: 308 test frames per (class, SNR) cell × 11 levels × 3 seeds.</a:t>
            </a:r>
            <a:endParaRPr lang="en-US" sz="1050" dirty="0"/>
          </a:p>
        </p:txBody>
      </p:sp>
      <p:pic>
        <p:nvPicPr>
          <p:cNvPr id="6" name="Image 0" descr="c16qam.png">    </p:cNvPr>
          <p:cNvPicPr>
            <a:picLocks noChangeAspect="1"/>
          </p:cNvPicPr>
          <p:nvPr/>
        </p:nvPicPr>
        <p:blipFill>
          <a:blip r:embed="rId1"/>
          <a:stretch>
            <a:fillRect/>
          </a:stretch>
        </p:blipFill>
        <p:spPr>
          <a:xfrm>
            <a:off x="7955280" y="1691640"/>
            <a:ext cx="1828800" cy="1828800"/>
          </a:xfrm>
          <a:prstGeom prst="rect">
            <a:avLst/>
          </a:prstGeom>
        </p:spPr>
      </p:pic>
      <p:pic>
        <p:nvPicPr>
          <p:cNvPr id="7" name="Image 1" descr="c64qam.png">    </p:cNvPr>
          <p:cNvPicPr>
            <a:picLocks noChangeAspect="1"/>
          </p:cNvPicPr>
          <p:nvPr/>
        </p:nvPicPr>
        <p:blipFill>
          <a:blip r:embed="rId2"/>
          <a:stretch>
            <a:fillRect/>
          </a:stretch>
        </p:blipFill>
        <p:spPr>
          <a:xfrm>
            <a:off x="9875520" y="1691640"/>
            <a:ext cx="1828800" cy="1828800"/>
          </a:xfrm>
          <a:prstGeom prst="rect">
            <a:avLst/>
          </a:prstGeom>
        </p:spPr>
      </p:pic>
      <p:sp>
        <p:nvSpPr>
          <p:cNvPr id="8" name="Text 3"/>
          <p:cNvSpPr txBox="1"/>
          <p:nvPr/>
        </p:nvSpPr>
        <p:spPr>
          <a:xfrm>
            <a:off x="7955280" y="3566160"/>
            <a:ext cx="3749040" cy="54864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16QAM and 64QAM at 20 dB: the pair that carries almost every error in this project</a:t>
            </a:r>
            <a:endParaRPr lang="en-US" sz="1050" dirty="0"/>
          </a:p>
        </p:txBody>
      </p:sp>
      <p:sp>
        <p:nvSpPr>
          <p:cNvPr id="9" name="Shape 4"/>
          <p:cNvSpPr/>
          <p:nvPr/>
        </p:nvSpPr>
        <p:spPr>
          <a:xfrm>
            <a:off x="7955280" y="4251960"/>
            <a:ext cx="3749040" cy="1920240"/>
          </a:xfrm>
          <a:prstGeom prst="roundRect">
            <a:avLst>
              <a:gd name="adj" fmla="val 3810"/>
            </a:avLst>
          </a:prstGeom>
          <a:solidFill>
            <a:srgbClr val="FFF4EE"/>
          </a:solidFill>
          <a:ln w="12700">
            <a:solidFill>
              <a:srgbClr val="FFF4EE"/>
            </a:solidFill>
            <a:prstDash val="solid"/>
          </a:ln>
        </p:spPr>
      </p:sp>
      <p:sp>
        <p:nvSpPr>
          <p:cNvPr id="10" name="Text 5"/>
          <p:cNvSpPr txBox="1"/>
          <p:nvPr/>
        </p:nvSpPr>
        <p:spPr>
          <a:xfrm>
            <a:off x="8138160" y="4315968"/>
            <a:ext cx="33832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Converged</a:t>
            </a:r>
            <a:endParaRPr lang="en-US" sz="1300" dirty="0"/>
          </a:p>
        </p:txBody>
      </p:sp>
      <p:sp>
        <p:nvSpPr>
          <p:cNvPr id="11" name="Text 6"/>
          <p:cNvSpPr txBox="1"/>
          <p:nvPr/>
        </p:nvSpPr>
        <p:spPr>
          <a:xfrm>
            <a:off x="8138160" y="4663440"/>
            <a:ext cx="3383280" cy="1463040"/>
          </a:xfrm>
          <a:prstGeom prst="rect">
            <a:avLst/>
          </a:prstGeom>
          <a:noFill/>
          <a:ln/>
        </p:spPr>
        <p:txBody>
          <a:bodyPr wrap="square" lIns="0" tIns="0" rIns="0" bIns="0" rtlCol="0" anchor="t"/>
          <a:lstStyle/>
          <a:p>
            <a:pPr indent="0" marL="0">
              <a:buNone/>
            </a:pPr>
            <a:r>
              <a:rPr lang="en-US" sz="1100" dirty="0">
                <a:solidFill>
                  <a:srgbClr val="13315C"/>
                </a:solidFill>
                <a:latin typeface="Calibri" pitchFamily="34" charset="0"/>
                <a:ea typeface="Calibri" pitchFamily="34" charset="-122"/>
                <a:cs typeface="Calibri" pitchFamily="34" charset="-120"/>
              </a:rPr>
              <a:t>Peaks at epochs 46, 48, 66 under a 150 ceiling. Two of the three seeds are bit-identical to the earlier 60-epoch run — the lower ceiling had only denied them the proof.</a:t>
            </a:r>
            <a:endParaRPr lang="en-US" sz="1100" dirty="0"/>
          </a:p>
        </p:txBody>
      </p:sp>
      <p:sp>
        <p:nvSpPr>
          <p:cNvPr id="13"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the decisions go, by SNR</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A perfect table at high SNR says nothing. The informative tables are lower down.</a:t>
            </a:r>
            <a:endParaRPr lang="en-US" sz="1500" dirty="0"/>
          </a:p>
        </p:txBody>
      </p:sp>
      <p:graphicFrame>
        <p:nvGraphicFramePr>
          <p:cNvPr id="4" name="Chart 0" descr=""/>
          <p:cNvGraphicFramePr/>
          <p:nvPr/>
        </p:nvGraphicFramePr>
        <p:xfrm>
          <a:off x="548640" y="1600200"/>
          <a:ext cx="557784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0" y="1691640"/>
          <a:ext cx="5303520" cy="914400"/>
        </p:xfrm>
        <a:graphic>
          <a:graphicData uri="http://schemas.openxmlformats.org/drawingml/2006/table">
            <a:tbl>
              <a:tblPr/>
              <a:tblGrid>
                <a:gridCol w="1417320"/>
                <a:gridCol w="765810"/>
                <a:gridCol w="765810"/>
                <a:gridCol w="765810"/>
                <a:gridCol w="765810"/>
                <a:gridCol w="822960"/>
              </a:tblGrid>
              <a:tr h="329184">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transmitted \ decided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924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924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519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396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56.2%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349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569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61.6%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2"/>
          <p:cNvSpPr txBox="1"/>
          <p:nvPr/>
        </p:nvSpPr>
        <p:spPr>
          <a:xfrm>
            <a:off x="6400800" y="3410712"/>
            <a:ext cx="5303520" cy="36576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At 0 dB: 2,936 of 3,696 (79.4%). PSK is perfect; the QAM pair is a coin flip against each other.</a:t>
            </a:r>
            <a:endParaRPr lang="en-US" sz="1050" dirty="0"/>
          </a:p>
        </p:txBody>
      </p:sp>
      <p:sp>
        <p:nvSpPr>
          <p:cNvPr id="7" name="Shape 3"/>
          <p:cNvSpPr/>
          <p:nvPr/>
        </p:nvSpPr>
        <p:spPr>
          <a:xfrm>
            <a:off x="6400800" y="3977640"/>
            <a:ext cx="5303520" cy="2194560"/>
          </a:xfrm>
          <a:prstGeom prst="roundRect">
            <a:avLst>
              <a:gd name="adj" fmla="val 3333"/>
            </a:avLst>
          </a:prstGeom>
          <a:solidFill>
            <a:srgbClr val="F3F6F9"/>
          </a:solidFill>
          <a:ln w="12700">
            <a:solidFill>
              <a:srgbClr val="F3F6F9"/>
            </a:solidFill>
            <a:prstDash val="solid"/>
          </a:ln>
        </p:spPr>
      </p:sp>
      <p:sp>
        <p:nvSpPr>
          <p:cNvPr id="8" name="Text 4"/>
          <p:cNvSpPr txBox="1"/>
          <p:nvPr/>
        </p:nvSpPr>
        <p:spPr>
          <a:xfrm>
            <a:off x="6583680" y="4041648"/>
            <a:ext cx="493776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Two stages, two thresholds</a:t>
            </a:r>
            <a:endParaRPr lang="en-US" sz="1300" dirty="0"/>
          </a:p>
        </p:txBody>
      </p:sp>
      <p:sp>
        <p:nvSpPr>
          <p:cNvPr id="9" name="Text 5"/>
          <p:cNvSpPr txBox="1"/>
          <p:nvPr/>
        </p:nvSpPr>
        <p:spPr>
          <a:xfrm>
            <a:off x="6583680" y="4389120"/>
            <a:ext cx="4937760" cy="17373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PSK-versus-QAM closes between −4 and 0 dB; which-QAM closes between 0 and +6</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Below the first threshold the unreadable classes do not scatter — they sink: at −8 dB, 16QAM is read as QPSK 68% of the time and 64QAM 72%; 16QAM's own recall is below chance</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The accuracy curve averages both stages into one number per level</a:t>
            </a:r>
            <a:endParaRPr lang="en-US" sz="1100" dirty="0"/>
          </a:p>
        </p:txBody>
      </p:sp>
      <p:sp>
        <p:nvSpPr>
          <p:cNvPr id="11" name="Text 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gap, and what closes it</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Five shared classes, five seeds each, every cell converged. In-domain never moves; cross-domain does.</a:t>
            </a:r>
            <a:endParaRPr lang="en-US" sz="1500" dirty="0"/>
          </a:p>
        </p:txBody>
      </p:sp>
      <p:graphicFrame>
        <p:nvGraphicFramePr>
          <p:cNvPr id="4" name="Chart 0" descr=""/>
          <p:cNvGraphicFramePr/>
          <p:nvPr/>
        </p:nvGraphicFramePr>
        <p:xfrm>
          <a:off x="548640" y="16002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955280" y="1645920"/>
            <a:ext cx="3749040" cy="868680"/>
          </a:xfrm>
          <a:prstGeom prst="rect">
            <a:avLst/>
          </a:prstGeom>
          <a:noFill/>
          <a:ln/>
        </p:spPr>
        <p:txBody>
          <a:bodyPr wrap="square" lIns="0" tIns="0" rIns="0" bIns="0" rtlCol="0" anchor="b"/>
          <a:lstStyle/>
          <a:p>
            <a:pPr indent="0" marL="0">
              <a:buNone/>
            </a:pPr>
            <a:r>
              <a:rPr lang="en-US" sz="3400" b="1" dirty="0">
                <a:solidFill>
                  <a:srgbClr val="F26419"/>
                </a:solidFill>
                <a:latin typeface="Cambria" pitchFamily="34" charset="0"/>
                <a:ea typeface="Cambria" pitchFamily="34" charset="-122"/>
                <a:cs typeface="Cambria" pitchFamily="34" charset="-120"/>
              </a:rPr>
              <a:t>0.805 → 0.989</a:t>
            </a:r>
            <a:endParaRPr lang="en-US" sz="3400" dirty="0"/>
          </a:p>
        </p:txBody>
      </p:sp>
      <p:sp>
        <p:nvSpPr>
          <p:cNvPr id="6" name="Text 3"/>
          <p:cNvSpPr txBox="1"/>
          <p:nvPr/>
        </p:nvSpPr>
        <p:spPr>
          <a:xfrm>
            <a:off x="7955280" y="2532888"/>
            <a:ext cx="374904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no method → spectral whitening</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955280" y="3200400"/>
          <a:ext cx="3749040" cy="914400"/>
        </p:xfrm>
        <a:graphic>
          <a:graphicData uri="http://schemas.openxmlformats.org/drawingml/2006/table">
            <a:tbl>
              <a:tblPr/>
              <a:tblGrid>
                <a:gridCol w="1783080"/>
                <a:gridCol w="777240"/>
                <a:gridCol w="1188720"/>
              </a:tblGrid>
              <a:tr h="365760">
                <a:tc>
                  <a:txBody>
                    <a:bodyPr/>
                    <a:lstStyle/>
                    <a:p>
                      <a:pPr indent="0" marL="0">
                        <a:buNone/>
                      </a:pPr>
                      <a:r>
                        <a:rPr lang="en-US" sz="950" b="1" dirty="0">
                          <a:solidFill>
                            <a:srgbClr val="13315C"/>
                          </a:solidFill>
                          <a:latin typeface="Calibri" pitchFamily="34" charset="0"/>
                          <a:ea typeface="Calibri" pitchFamily="34" charset="-122"/>
                          <a:cs typeface="Calibri" pitchFamily="34" charset="-120"/>
                        </a:rPr>
                        <a:t>comparison</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Δ cross-domain</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indent="0" marL="0">
                        <a:buNone/>
                      </a:pPr>
                      <a:r>
                        <a:rPr lang="en-US" sz="950" b="1" dirty="0">
                          <a:solidFill>
                            <a:srgbClr val="13315C"/>
                          </a:solidFill>
                          <a:latin typeface="Calibri" pitchFamily="34" charset="0"/>
                          <a:ea typeface="Calibri" pitchFamily="34" charset="-122"/>
                          <a:cs typeface="Calibri" pitchFamily="34" charset="-120"/>
                        </a:rPr>
                        <a:t>verdict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literature augmentation vs none</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0.002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does not address it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whitening vs none</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b="1" dirty="0">
                          <a:solidFill>
                            <a:srgbClr val="F26419"/>
                          </a:solidFill>
                          <a:latin typeface="Calibri" pitchFamily="34" charset="0"/>
                          <a:ea typeface="Calibri" pitchFamily="34" charset="-122"/>
                          <a:cs typeface="Calibri" pitchFamily="34" charset="-120"/>
                        </a:rPr>
                        <a:t>+0.183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closes it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whitening + augmentation vs whitening</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+0.006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not a measurement (1 s.d.)</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8" name="Text 4"/>
          <p:cNvSpPr txBox="1"/>
          <p:nvPr/>
        </p:nvSpPr>
        <p:spPr>
          <a:xfrm>
            <a:off x="7955280" y="5257800"/>
            <a:ext cx="3749040" cy="914400"/>
          </a:xfrm>
          <a:prstGeom prst="rect">
            <a:avLst/>
          </a:prstGeom>
          <a:noFill/>
          <a:ln/>
        </p:spPr>
        <p:txBody>
          <a:bodyPr wrap="square" lIns="0" tIns="0" rIns="0" bIns="0" rtlCol="0" anchor="t"/>
          <a:lstStyle/>
          <a:p>
            <a:pPr indent="0" marL="0">
              <a:buNone/>
            </a:pPr>
            <a:r>
              <a:rPr lang="en-US" sz="1100" dirty="0">
                <a:solidFill>
                  <a:srgbClr val="5C7A99"/>
                </a:solidFill>
                <a:latin typeface="Calibri" pitchFamily="34" charset="0"/>
                <a:ea typeface="Calibri" pitchFamily="34" charset="-122"/>
                <a:cs typeface="Calibri" pitchFamily="34" charset="-120"/>
              </a:rPr>
              <a:t>Rotation, conjugate flip and additive noise — the augmentation set the literature cites — move the gap by 0.002. Whatever they are good for, this failure mode is not it.</a:t>
            </a:r>
            <a:endParaRPr lang="en-US" sz="1100" dirty="0"/>
          </a:p>
        </p:txBody>
      </p:sp>
      <p:sp>
        <p:nvSpPr>
          <p:cNvPr id="10" name="Text 5"/>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What causes it — by intervention, not correlation</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explanations tested and refuted. One intervention that moves the prediction.</a:t>
            </a:r>
            <a:endParaRPr lang="en-US" sz="1500" dirty="0"/>
          </a:p>
        </p:txBody>
      </p:sp>
      <p:sp>
        <p:nvSpPr>
          <p:cNvPr id="4" name="Shape 2"/>
          <p:cNvSpPr/>
          <p:nvPr/>
        </p:nvSpPr>
        <p:spPr>
          <a:xfrm>
            <a:off x="548640" y="1737360"/>
            <a:ext cx="457200" cy="457200"/>
          </a:xfrm>
          <a:prstGeom prst="ellipse">
            <a:avLst/>
          </a:prstGeom>
          <a:solidFill>
            <a:srgbClr val="C0392B"/>
          </a:solidFill>
          <a:ln w="12700">
            <a:solidFill>
              <a:srgbClr val="C0392B"/>
            </a:solidFill>
            <a:prstDash val="solid"/>
          </a:ln>
        </p:spPr>
      </p:sp>
      <p:sp>
        <p:nvSpPr>
          <p:cNvPr id="5" name="Text 3"/>
          <p:cNvSpPr txBox="1"/>
          <p:nvPr/>
        </p:nvSpPr>
        <p:spPr>
          <a:xfrm>
            <a:off x="548640" y="17373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6" name="Text 4"/>
          <p:cNvSpPr txBox="1"/>
          <p:nvPr/>
        </p:nvSpPr>
        <p:spPr>
          <a:xfrm>
            <a:off x="1188720" y="169164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Occupied bandwidth</a:t>
            </a:r>
            <a:endParaRPr lang="en-US" sz="1350" dirty="0"/>
          </a:p>
        </p:txBody>
      </p:sp>
      <p:sp>
        <p:nvSpPr>
          <p:cNvPr id="7" name="Text 5"/>
          <p:cNvSpPr txBox="1"/>
          <p:nvPr/>
        </p:nvSpPr>
        <p:spPr>
          <a:xfrm>
            <a:off x="1188720" y="201168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matching it did not recover 16QAM</a:t>
            </a:r>
            <a:endParaRPr lang="en-US" sz="1150" dirty="0"/>
          </a:p>
        </p:txBody>
      </p:sp>
      <p:sp>
        <p:nvSpPr>
          <p:cNvPr id="8" name="Shape 6"/>
          <p:cNvSpPr/>
          <p:nvPr/>
        </p:nvSpPr>
        <p:spPr>
          <a:xfrm>
            <a:off x="548640" y="2697480"/>
            <a:ext cx="457200" cy="457200"/>
          </a:xfrm>
          <a:prstGeom prst="ellipse">
            <a:avLst/>
          </a:prstGeom>
          <a:solidFill>
            <a:srgbClr val="C0392B"/>
          </a:solidFill>
          <a:ln w="12700">
            <a:solidFill>
              <a:srgbClr val="C0392B"/>
            </a:solidFill>
            <a:prstDash val="solid"/>
          </a:ln>
        </p:spPr>
      </p:sp>
      <p:sp>
        <p:nvSpPr>
          <p:cNvPr id="9" name="Text 7"/>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0" name="Text 8"/>
          <p:cNvSpPr txBox="1"/>
          <p:nvPr/>
        </p:nvSpPr>
        <p:spPr>
          <a:xfrm>
            <a:off x="1188720" y="265176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Constellation density</a:t>
            </a:r>
            <a:endParaRPr lang="en-US" sz="1350" dirty="0"/>
          </a:p>
        </p:txBody>
      </p:sp>
      <p:sp>
        <p:nvSpPr>
          <p:cNvPr id="11" name="Text 9"/>
          <p:cNvSpPr txBox="1"/>
          <p:nvPr/>
        </p:nvSpPr>
        <p:spPr>
          <a:xfrm>
            <a:off x="1188720" y="297180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density is not what the model reads</a:t>
            </a:r>
            <a:endParaRPr lang="en-US" sz="1150" dirty="0"/>
          </a:p>
        </p:txBody>
      </p:sp>
      <p:sp>
        <p:nvSpPr>
          <p:cNvPr id="12" name="Shape 10"/>
          <p:cNvSpPr/>
          <p:nvPr/>
        </p:nvSpPr>
        <p:spPr>
          <a:xfrm>
            <a:off x="548640" y="3657600"/>
            <a:ext cx="457200" cy="457200"/>
          </a:xfrm>
          <a:prstGeom prst="ellipse">
            <a:avLst/>
          </a:prstGeom>
          <a:solidFill>
            <a:srgbClr val="C0392B"/>
          </a:solidFill>
          <a:ln w="12700">
            <a:solidFill>
              <a:srgbClr val="C0392B"/>
            </a:solidFill>
            <a:prstDash val="solid"/>
          </a:ln>
        </p:spPr>
      </p:sp>
      <p:sp>
        <p:nvSpPr>
          <p:cNvPr id="13" name="Text 11"/>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4" name="Text 12"/>
          <p:cNvSpPr txBox="1"/>
          <p:nvPr/>
        </p:nvSpPr>
        <p:spPr>
          <a:xfrm>
            <a:off x="1188720" y="361188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Symbol-timing regularity</a:t>
            </a:r>
            <a:endParaRPr lang="en-US" sz="1350" dirty="0"/>
          </a:p>
        </p:txBody>
      </p:sp>
      <p:sp>
        <p:nvSpPr>
          <p:cNvPr id="15" name="Text 13"/>
          <p:cNvSpPr txBox="1"/>
          <p:nvPr/>
        </p:nvSpPr>
        <p:spPr>
          <a:xfrm>
            <a:off x="1188720" y="393192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RadioML has no symbol-rate spectral line; driving it down changed nothing</a:t>
            </a:r>
            <a:endParaRPr lang="en-US" sz="1150" dirty="0"/>
          </a:p>
        </p:txBody>
      </p:sp>
      <p:sp>
        <p:nvSpPr>
          <p:cNvPr id="16" name="Shape 14"/>
          <p:cNvSpPr/>
          <p:nvPr/>
        </p:nvSpPr>
        <p:spPr>
          <a:xfrm>
            <a:off x="548640" y="4617720"/>
            <a:ext cx="457200" cy="457200"/>
          </a:xfrm>
          <a:prstGeom prst="ellipse">
            <a:avLst/>
          </a:prstGeom>
          <a:solidFill>
            <a:srgbClr val="C0392B"/>
          </a:solidFill>
          <a:ln w="12700">
            <a:solidFill>
              <a:srgbClr val="C0392B"/>
            </a:solidFill>
            <a:prstDash val="solid"/>
          </a:ln>
        </p:spPr>
      </p:sp>
      <p:sp>
        <p:nvSpPr>
          <p:cNvPr id="17" name="Text 15"/>
          <p:cNvSpPr txBox="1"/>
          <p:nvPr/>
        </p:nvSpPr>
        <p:spPr>
          <a:xfrm>
            <a:off x="548640" y="46177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p:cNvSpPr txBox="1"/>
          <p:nvPr/>
        </p:nvSpPr>
        <p:spPr>
          <a:xfrm>
            <a:off x="1188720" y="457200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Channel impairments</a:t>
            </a:r>
            <a:endParaRPr lang="en-US" sz="1350" dirty="0"/>
          </a:p>
        </p:txBody>
      </p:sp>
      <p:sp>
        <p:nvSpPr>
          <p:cNvPr id="19" name="Text 17"/>
          <p:cNvSpPr txBox="1"/>
          <p:nvPr/>
        </p:nvSpPr>
        <p:spPr>
          <a:xfrm>
            <a:off x="1188720" y="489204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CFO, multipath, IQ imbalance removed one at a time — little changed</a:t>
            </a:r>
            <a:endParaRPr lang="en-US" sz="1150" dirty="0"/>
          </a:p>
        </p:txBody>
      </p:sp>
      <p:sp>
        <p:nvSpPr>
          <p:cNvPr id="20" name="Shape 18"/>
          <p:cNvSpPr/>
          <p:nvPr/>
        </p:nvSpPr>
        <p:spPr>
          <a:xfrm>
            <a:off x="6492240" y="1691640"/>
            <a:ext cx="5212080" cy="4480560"/>
          </a:xfrm>
          <a:prstGeom prst="roundRect">
            <a:avLst>
              <a:gd name="adj" fmla="val 1633"/>
            </a:avLst>
          </a:prstGeom>
          <a:solidFill>
            <a:srgbClr val="FFF4EE"/>
          </a:solidFill>
          <a:ln w="12700">
            <a:solidFill>
              <a:srgbClr val="FFF4EE"/>
            </a:solidFill>
            <a:prstDash val="solid"/>
          </a:ln>
        </p:spPr>
      </p:sp>
      <p:sp>
        <p:nvSpPr>
          <p:cNvPr id="21" name="Shape 19"/>
          <p:cNvSpPr/>
          <p:nvPr/>
        </p:nvSpPr>
        <p:spPr>
          <a:xfrm>
            <a:off x="6720840" y="1874520"/>
            <a:ext cx="457200" cy="457200"/>
          </a:xfrm>
          <a:prstGeom prst="ellipse">
            <a:avLst/>
          </a:prstGeom>
          <a:solidFill>
            <a:srgbClr val="1B998B"/>
          </a:solidFill>
          <a:ln w="12700">
            <a:solidFill>
              <a:srgbClr val="1B998B"/>
            </a:solidFill>
            <a:prstDash val="solid"/>
          </a:ln>
        </p:spPr>
      </p:sp>
      <p:sp>
        <p:nvSpPr>
          <p:cNvPr id="22" name="Text 20"/>
          <p:cNvSpPr txBox="1"/>
          <p:nvPr/>
        </p:nvSpPr>
        <p:spPr>
          <a:xfrm>
            <a:off x="6720840" y="18745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p:cNvSpPr txBox="1"/>
          <p:nvPr/>
        </p:nvSpPr>
        <p:spPr>
          <a:xfrm>
            <a:off x="7315200" y="1828800"/>
            <a:ext cx="4206240" cy="548640"/>
          </a:xfrm>
          <a:prstGeom prst="rect">
            <a:avLst/>
          </a:prstGeom>
          <a:noFill/>
          <a:ln/>
        </p:spPr>
        <p:txBody>
          <a:bodyPr wrap="square" lIns="0" tIns="0" rIns="0" bIns="0" rtlCol="0" anchor="ctr"/>
          <a:lstStyle/>
          <a:p>
            <a:pPr indent="0" marL="0">
              <a:buNone/>
            </a:pPr>
            <a:r>
              <a:rPr lang="en-US" sz="1450" b="1" dirty="0">
                <a:solidFill>
                  <a:srgbClr val="13315C"/>
                </a:solidFill>
                <a:latin typeface="Cambria" pitchFamily="34" charset="0"/>
                <a:ea typeface="Cambria" pitchFamily="34" charset="-122"/>
                <a:cs typeface="Cambria" pitchFamily="34" charset="-120"/>
              </a:rPr>
              <a:t>Phase-preserving magnitude substitution</a:t>
            </a:r>
            <a:endParaRPr lang="en-US" sz="1450" dirty="0"/>
          </a:p>
        </p:txBody>
      </p:sp>
      <p:sp>
        <p:nvSpPr>
          <p:cNvPr id="24" name="Text 22"/>
          <p:cNvSpPr txBox="1"/>
          <p:nvPr/>
        </p:nvSpPr>
        <p:spPr>
          <a:xfrm>
            <a:off x="6720840" y="2514600"/>
            <a:ext cx="4754880" cy="118872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Take a frame from the failing domain. Keep its phase spectrum exactly. Substitute only the magnitude spectrum of the training domain. Nothing else changes — not the symbols, not the timing, not the channel.</a:t>
            </a:r>
            <a:endParaRPr lang="en-US" sz="1200" dirty="0"/>
          </a:p>
        </p:txBody>
      </p:sp>
      <p:sp>
        <p:nvSpPr>
          <p:cNvPr id="25" name="Text 23"/>
          <p:cNvSpPr txBox="1"/>
          <p:nvPr/>
        </p:nvSpPr>
        <p:spPr>
          <a:xfrm>
            <a:off x="6720840" y="3749040"/>
            <a:ext cx="4754880" cy="411480"/>
          </a:xfrm>
          <a:prstGeom prst="rect">
            <a:avLst/>
          </a:prstGeom>
          <a:noFill/>
          <a:ln/>
        </p:spPr>
        <p:txBody>
          <a:bodyPr wrap="square" lIns="0" tIns="0" rIns="0" bIns="0" rtlCol="0" anchor="ctr"/>
          <a:lstStyle/>
          <a:p>
            <a:pPr indent="0" marL="0">
              <a:buNone/>
            </a:pPr>
            <a:r>
              <a:rPr lang="en-US" sz="1400" b="1" dirty="0">
                <a:solidFill>
                  <a:srgbClr val="F26419"/>
                </a:solidFill>
                <a:latin typeface="Cambria" pitchFamily="34" charset="0"/>
                <a:ea typeface="Cambria" pitchFamily="34" charset="-122"/>
                <a:cs typeface="Cambria" pitchFamily="34" charset="-120"/>
              </a:rPr>
              <a:t>The prediction follows the magnitude spectrum.</a:t>
            </a:r>
            <a:endParaRPr lang="en-US" sz="1400" dirty="0"/>
          </a:p>
        </p:txBody>
      </p:sp>
      <p:sp>
        <p:nvSpPr>
          <p:cNvPr id="26" name="Text 24"/>
          <p:cNvSpPr txBox="1"/>
          <p:nvPr/>
        </p:nvSpPr>
        <p:spPr>
          <a:xfrm>
            <a:off x="6720840" y="4206240"/>
            <a:ext cx="4754880" cy="109728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That is an intervention on the signal, not an observation of the representation, so it supports a causal claim. The cause is the transmitter's spectral envelope — chiefly its pulse-shaping roll-off.</a:t>
            </a:r>
            <a:endParaRPr lang="en-US" sz="1200" dirty="0"/>
          </a:p>
        </p:txBody>
      </p:sp>
      <p:sp>
        <p:nvSpPr>
          <p:cNvPr id="27" name="Text 25"/>
          <p:cNvSpPr txBox="1"/>
          <p:nvPr/>
        </p:nvSpPr>
        <p:spPr>
          <a:xfrm>
            <a:off x="6720840" y="5394960"/>
            <a:ext cx="4754880" cy="640080"/>
          </a:xfrm>
          <a:prstGeom prst="rect">
            <a:avLst/>
          </a:prstGeom>
          <a:noFill/>
          <a:ln/>
        </p:spPr>
        <p:txBody>
          <a:bodyPr wrap="square" lIns="0" tIns="0" rIns="0" bIns="0" rtlCol="0" anchor="t"/>
          <a:lstStyle/>
          <a:p>
            <a:pPr indent="0" marL="0">
              <a:buNone/>
            </a:pPr>
            <a:r>
              <a:rPr lang="en-US" sz="1000" i="1" dirty="0">
                <a:solidFill>
                  <a:srgbClr val="5C7A99"/>
                </a:solidFill>
                <a:latin typeface="Calibri" pitchFamily="34" charset="0"/>
                <a:ea typeface="Calibri" pitchFamily="34" charset="-122"/>
                <a:cs typeface="Calibri" pitchFamily="34" charset="-120"/>
              </a:rPr>
              <a:t>Signal-level, classifier-independent; the accuracies attached to these interventions are pending re-measurement on the current backbone.</a:t>
            </a:r>
            <a:endParaRPr lang="en-US" sz="1000" dirty="0"/>
          </a:p>
        </p:txBody>
      </p:sp>
      <p:sp>
        <p:nvSpPr>
          <p:cNvPr id="29" name="Text 2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fix: remove the envelope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X / smooth(|X|)^α — divide each frame's spectrum by a smoothed estimate of its own magnitude envelope.</a:t>
            </a:r>
            <a:endParaRPr lang="en-US" sz="1500" dirty="0"/>
          </a:p>
        </p:txBody>
      </p:sp>
      <p:graphicFrame>
        <p:nvGraphicFramePr>
          <p:cNvPr id="4" name="Chart 0" descr=""/>
          <p:cNvGraphicFramePr/>
          <p:nvPr/>
        </p:nvGraphicFramePr>
        <p:xfrm>
          <a:off x="548640" y="16002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91640"/>
            <a:ext cx="4114800" cy="2103120"/>
          </a:xfrm>
          <a:prstGeom prst="roundRect">
            <a:avLst>
              <a:gd name="adj" fmla="val 3478"/>
            </a:avLst>
          </a:prstGeom>
          <a:solidFill>
            <a:srgbClr val="F3F6F9"/>
          </a:solidFill>
          <a:ln w="12700">
            <a:solidFill>
              <a:srgbClr val="F3F6F9"/>
            </a:solidFill>
            <a:prstDash val="solid"/>
          </a:ln>
        </p:spPr>
      </p:sp>
      <p:sp>
        <p:nvSpPr>
          <p:cNvPr id="6" name="Text 3"/>
          <p:cNvSpPr txBox="1"/>
          <p:nvPr/>
        </p:nvSpPr>
        <p:spPr>
          <a:xfrm>
            <a:off x="7772400" y="1783080"/>
            <a:ext cx="374904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Monotone, saturating by 0.75</a:t>
            </a:r>
            <a:endParaRPr lang="en-US" sz="1400" dirty="0"/>
          </a:p>
        </p:txBody>
      </p:sp>
      <p:sp>
        <p:nvSpPr>
          <p:cNvPr id="7" name="Text 4"/>
          <p:cNvSpPr txBox="1"/>
          <p:nvPr/>
        </p:nvSpPr>
        <p:spPr>
          <a:xfrm>
            <a:off x="7772400" y="2194560"/>
            <a:ext cx="3749040" cy="155448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α = 1.0 is at least as good as 0.75 (0.993 vs 0.988) and seven times more stable across seeds (±0.001 vs ±0.007). The recovery is carried by 16QAM at every step: α switches one confusion off rather than lifting everything a little.</a:t>
            </a:r>
            <a:endParaRPr lang="en-US" sz="1150" dirty="0"/>
          </a:p>
        </p:txBody>
      </p:sp>
      <p:sp>
        <p:nvSpPr>
          <p:cNvPr id="8" name="Shape 5"/>
          <p:cNvSpPr/>
          <p:nvPr/>
        </p:nvSpPr>
        <p:spPr>
          <a:xfrm>
            <a:off x="7589520" y="3977640"/>
            <a:ext cx="4114800" cy="2194560"/>
          </a:xfrm>
          <a:prstGeom prst="roundRect">
            <a:avLst>
              <a:gd name="adj" fmla="val 3333"/>
            </a:avLst>
          </a:prstGeom>
          <a:solidFill>
            <a:srgbClr val="FFF4EE"/>
          </a:solidFill>
          <a:ln w="12700">
            <a:solidFill>
              <a:srgbClr val="FFF4EE"/>
            </a:solidFill>
            <a:prstDash val="solid"/>
          </a:ln>
        </p:spPr>
      </p:sp>
      <p:sp>
        <p:nvSpPr>
          <p:cNvPr id="9" name="Text 6"/>
          <p:cNvSpPr txBox="1"/>
          <p:nvPr/>
        </p:nvSpPr>
        <p:spPr>
          <a:xfrm>
            <a:off x="7772400" y="4069080"/>
            <a:ext cx="374904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Costs nothing in-domain</a:t>
            </a:r>
            <a:endParaRPr lang="en-US" sz="1400" dirty="0"/>
          </a:p>
        </p:txBody>
      </p:sp>
      <p:sp>
        <p:nvSpPr>
          <p:cNvPr id="10" name="Text 7"/>
          <p:cNvSpPr txBox="1"/>
          <p:nvPr/>
        </p:nvSpPr>
        <p:spPr>
          <a:xfrm>
            <a:off x="7772400" y="4480560"/>
            <a:ext cx="3749040" cy="16459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In-domain accuracy stays at 0.999 with whitening on. The gap falls from +0.193 to +0.011, so the recovery is not bought by trading away benchmark performance.</a:t>
            </a:r>
            <a:endParaRPr lang="en-US" sz="1150" dirty="0"/>
          </a:p>
        </p:txBody>
      </p:sp>
      <p:sp>
        <p:nvSpPr>
          <p:cNvPr id="12"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an unseen modulation lands</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Train on 23 classes, probe with the 24th. Families fixed before the run; now measured on the current backbone.</a:t>
            </a:r>
            <a:endParaRPr lang="en-US" sz="1500" dirty="0"/>
          </a:p>
        </p:txBody>
      </p:sp>
      <p:sp>
        <p:nvSpPr>
          <p:cNvPr id="4" name="Text 2"/>
          <p:cNvSpPr txBox="1"/>
          <p:nvPr/>
        </p:nvSpPr>
        <p:spPr>
          <a:xfrm>
            <a:off x="548640" y="1600200"/>
            <a:ext cx="3566160" cy="868680"/>
          </a:xfrm>
          <a:prstGeom prst="rect">
            <a:avLst/>
          </a:prstGeom>
          <a:noFill/>
          <a:ln/>
        </p:spPr>
        <p:txBody>
          <a:bodyPr wrap="square" lIns="0" tIns="0" rIns="0" bIns="0" rtlCol="0" anchor="b"/>
          <a:lstStyle/>
          <a:p>
            <a:pPr indent="0" marL="0">
              <a:buNone/>
            </a:pPr>
            <a:r>
              <a:rPr lang="en-US" sz="4000" b="1" dirty="0">
                <a:solidFill>
                  <a:srgbClr val="1B998B"/>
                </a:solidFill>
                <a:latin typeface="Cambria" pitchFamily="34" charset="0"/>
                <a:ea typeface="Cambria" pitchFamily="34" charset="-122"/>
                <a:cs typeface="Cambria" pitchFamily="34" charset="-120"/>
              </a:rPr>
              <a:t>16 of 24</a:t>
            </a:r>
            <a:endParaRPr lang="en-US" sz="4000" dirty="0"/>
          </a:p>
        </p:txBody>
      </p:sp>
      <p:sp>
        <p:nvSpPr>
          <p:cNvPr id="5" name="Text 3"/>
          <p:cNvSpPr txBox="1"/>
          <p:nvPr/>
        </p:nvSpPr>
        <p:spPr>
          <a:xfrm>
            <a:off x="548640" y="248716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held-out classes sink into their own family · chance 3.5</a:t>
            </a:r>
            <a:endParaRPr lang="en-US" sz="1250" dirty="0"/>
          </a:p>
        </p:txBody>
      </p:sp>
      <p:sp>
        <p:nvSpPr>
          <p:cNvPr id="6" name="Shape 4"/>
          <p:cNvSpPr/>
          <p:nvPr/>
        </p:nvSpPr>
        <p:spPr>
          <a:xfrm>
            <a:off x="548640" y="3154680"/>
            <a:ext cx="3566160" cy="1417320"/>
          </a:xfrm>
          <a:prstGeom prst="roundRect">
            <a:avLst>
              <a:gd name="adj" fmla="val 5161"/>
            </a:avLst>
          </a:prstGeom>
          <a:solidFill>
            <a:srgbClr val="F3F6F9"/>
          </a:solidFill>
          <a:ln w="12700">
            <a:solidFill>
              <a:srgbClr val="F3F6F9"/>
            </a:solidFill>
            <a:prstDash val="solid"/>
          </a:ln>
        </p:spPr>
      </p:sp>
      <p:sp>
        <p:nvSpPr>
          <p:cNvPr id="7" name="Text 5"/>
          <p:cNvSpPr txBox="1"/>
          <p:nvPr/>
        </p:nvSpPr>
        <p:spPr>
          <a:xfrm>
            <a:off x="731520" y="3246120"/>
            <a:ext cx="3200400" cy="1234440"/>
          </a:xfrm>
          <a:prstGeom prst="rect">
            <a:avLst/>
          </a:prstGeom>
          <a:noFill/>
          <a:ln/>
        </p:spPr>
        <p:txBody>
          <a:bodyPr wrap="square" lIns="0" tIns="0" rIns="0" bIns="0" rtlCol="0" anchor="t"/>
          <a:lstStyle/>
          <a:p>
            <a:pPr indent="0" marL="0">
              <a:buNone/>
            </a:pPr>
            <a:r>
              <a:rPr lang="en-US" sz="1100" b="1" dirty="0">
                <a:solidFill>
                  <a:srgbClr val="13315C"/>
                </a:solidFill>
                <a:latin typeface="Calibri" pitchFamily="34" charset="0"/>
                <a:ea typeface="Calibri" pitchFamily="34" charset="-122"/>
                <a:cs typeface="Calibri" pitchFamily="34" charset="-120"/>
              </a:rPr>
              <a:t>All 24 runs converged. </a:t>
            </a:r>
            <a:pPr indent="0" marL="0">
              <a:buNone/>
            </a:pPr>
            <a:r>
              <a:rPr lang="en-US" sz="1100" dirty="0">
                <a:solidFill>
                  <a:srgbClr val="13315C"/>
                </a:solidFill>
                <a:latin typeface="Calibri" pitchFamily="34" charset="0"/>
                <a:ea typeface="Calibri" pitchFamily="34" charset="-122"/>
                <a:cs typeface="Calibri" pitchFamily="34" charset="-120"/>
              </a:rPr>
              <a:t>Best epochs 7 to 43 under a 60 ceiling, patience 10. 10 of the 24 sinks take more than 95% of the probes — the model does not scatter, it decides.</a:t>
            </a:r>
            <a:endParaRPr lang="en-US" sz="1100" dirty="0"/>
          </a:p>
        </p:txBody>
      </p:sp>
      <p:sp>
        <p:nvSpPr>
          <p:cNvPr id="8" name="Text 6"/>
          <p:cNvSpPr txBox="1"/>
          <p:nvPr/>
        </p:nvSpPr>
        <p:spPr>
          <a:xfrm>
            <a:off x="548640" y="4754880"/>
            <a:ext cx="3566160" cy="1188720"/>
          </a:xfrm>
          <a:prstGeom prst="rect">
            <a:avLst/>
          </a:prstGeom>
          <a:noFill/>
          <a:ln/>
        </p:spPr>
        <p:txBody>
          <a:bodyPr wrap="square" lIns="0" tIns="0" rIns="0" bIns="0" rtlCol="0" anchor="t"/>
          <a:lstStyle/>
          <a:p>
            <a:pPr indent="0" marL="0">
              <a:buNone/>
            </a:pPr>
            <a:r>
              <a:rPr lang="en-US" sz="1100" i="1" dirty="0">
                <a:solidFill>
                  <a:srgbClr val="5C7A99"/>
                </a:solidFill>
                <a:latin typeface="Calibri" pitchFamily="34" charset="0"/>
                <a:ea typeface="Calibri" pitchFamily="34" charset="-122"/>
                <a:cs typeface="Calibri" pitchFamily="34" charset="-120"/>
              </a:rPr>
              <a:t>Merging APSK with QAM — both amplitude-and-phase constellations — would make it 20 of 24. That reading is post hoc, so the number quoted is 16.</a:t>
            </a:r>
            <a:endParaRPr lang="en-US" sz="1100" dirty="0"/>
          </a:p>
        </p:txBody>
      </p:sp>
      <p:sp>
        <p:nvSpPr>
          <p:cNvPr id="9" name="Text 7"/>
          <p:cNvSpPr txBox="1"/>
          <p:nvPr/>
        </p:nvSpPr>
        <p:spPr>
          <a:xfrm>
            <a:off x="4480560" y="1600200"/>
            <a:ext cx="365760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eight misses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480560" y="1965960"/>
          <a:ext cx="3657600" cy="914400"/>
        </p:xfrm>
        <a:graphic>
          <a:graphicData uri="http://schemas.openxmlformats.org/drawingml/2006/table">
            <a:tbl>
              <a:tblPr/>
              <a:tblGrid>
                <a:gridCol w="914400"/>
                <a:gridCol w="914400"/>
                <a:gridCol w="640080"/>
                <a:gridCol w="1188720"/>
              </a:tblGrid>
              <a:tr h="283464">
                <a:tc>
                  <a:txBody>
                    <a:bodyPr/>
                    <a:lstStyle/>
                    <a:p>
                      <a:pPr algn="l" indent="0" marL="0">
                        <a:buNone/>
                      </a:pPr>
                      <a:r>
                        <a:rPr lang="en-US" sz="1000" b="1" dirty="0">
                          <a:solidFill>
                            <a:srgbClr val="13315C"/>
                          </a:solidFill>
                          <a:latin typeface="Calibri" pitchFamily="34" charset="0"/>
                          <a:ea typeface="Calibri" pitchFamily="34" charset="-122"/>
                          <a:cs typeface="Calibri" pitchFamily="34" charset="-120"/>
                        </a:rPr>
                        <a:t>held out</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l" indent="0" marL="0">
                        <a:buNone/>
                      </a:pPr>
                      <a:r>
                        <a:rPr lang="en-US" sz="1000" b="1" dirty="0">
                          <a:solidFill>
                            <a:srgbClr val="13315C"/>
                          </a:solidFill>
                          <a:latin typeface="Calibri" pitchFamily="34" charset="0"/>
                          <a:ea typeface="Calibri" pitchFamily="34" charset="-122"/>
                          <a:cs typeface="Calibri" pitchFamily="34" charset="-120"/>
                        </a:rPr>
                        <a:t>sink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share</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second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BPSK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OQPSK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QPSK 33%</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32APSK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32QAM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13%</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64APSK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32QAM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37%</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64APSK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42%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31%</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FM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GMSK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GMSK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8PSK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74%</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FM 18%</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OQPSK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75%</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64QAM 10%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11" name="Text 8"/>
          <p:cNvSpPr txBox="1"/>
          <p:nvPr/>
        </p:nvSpPr>
        <p:spPr>
          <a:xfrm>
            <a:off x="4480560" y="4617720"/>
            <a:ext cx="3657600" cy="132588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Orange: an APSK ↔ QAM pair. Four of the eight misses are that pair; two more are FM ↔ GMSK, both constant-envelope. The misses are structured — the hand taxonomy, not the model, is what they disagree with.</a:t>
            </a:r>
            <a:endParaRPr lang="en-US" sz="1050" dirty="0"/>
          </a:p>
        </p:txBody>
      </p:sp>
      <p:sp>
        <p:nvSpPr>
          <p:cNvPr id="12" name="Text 9"/>
          <p:cNvSpPr txBox="1"/>
          <p:nvPr/>
        </p:nvSpPr>
        <p:spPr>
          <a:xfrm>
            <a:off x="8503920" y="1600200"/>
            <a:ext cx="315468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Across five architectures</a:t>
            </a:r>
            <a:endParaRPr lang="en-US" sz="1400" dirty="0"/>
          </a:p>
        </p:txBody>
      </p:sp>
      <p:graphicFrame>
        <p:nvGraphicFramePr>
          <p:cNvPr id="13" name="Chart 0" descr=""/>
          <p:cNvGraphicFramePr/>
          <p:nvPr/>
        </p:nvGraphicFramePr>
        <p:xfrm>
          <a:off x="8412480" y="1920240"/>
          <a:ext cx="3291840" cy="265176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8503920" y="4617720"/>
            <a:ext cx="3154680" cy="132588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Chance is 0.8 of 6. 8ASK, 32PSK, 128APSK sink to the same class on all five; the two misses on every architecture are FM and OQPSK, the two hard cases the rule put in on purpose. 1 of 30 runs unconverged (Transformer | 32PSK) — its sink stands.</a:t>
            </a:r>
            <a:endParaRPr lang="en-US" sz="1050" dirty="0"/>
          </a:p>
        </p:txBody>
      </p:sp>
      <p:sp>
        <p:nvSpPr>
          <p:cNvPr id="16" name="Text 1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Three things this rerun took away</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Kept in the record, not deleted. Each was believed on the earlier backbone and did not survive re-measurement.</a:t>
            </a:r>
            <a:endParaRPr lang="en-US" sz="1500" dirty="0"/>
          </a:p>
        </p:txBody>
      </p:sp>
      <p:sp>
        <p:nvSpPr>
          <p:cNvPr id="4" name="Shape 2"/>
          <p:cNvSpPr/>
          <p:nvPr/>
        </p:nvSpPr>
        <p:spPr>
          <a:xfrm>
            <a:off x="548640" y="1737360"/>
            <a:ext cx="3520440" cy="4297680"/>
          </a:xfrm>
          <a:prstGeom prst="roundRect">
            <a:avLst>
              <a:gd name="adj" fmla="val 2078"/>
            </a:avLst>
          </a:prstGeom>
          <a:solidFill>
            <a:srgbClr val="F3F6F9"/>
          </a:solidFill>
          <a:ln w="12700">
            <a:solidFill>
              <a:srgbClr val="F3F6F9"/>
            </a:solidFill>
            <a:prstDash val="solid"/>
          </a:ln>
        </p:spPr>
      </p:sp>
      <p:sp>
        <p:nvSpPr>
          <p:cNvPr id="5" name="Shape 3"/>
          <p:cNvSpPr/>
          <p:nvPr/>
        </p:nvSpPr>
        <p:spPr>
          <a:xfrm>
            <a:off x="777240" y="1920240"/>
            <a:ext cx="457200" cy="457200"/>
          </a:xfrm>
          <a:prstGeom prst="ellipse">
            <a:avLst/>
          </a:prstGeom>
          <a:solidFill>
            <a:srgbClr val="C0392B"/>
          </a:solidFill>
          <a:ln w="12700">
            <a:solidFill>
              <a:srgbClr val="C0392B"/>
            </a:solidFill>
            <a:prstDash val="solid"/>
          </a:ln>
        </p:spPr>
      </p:sp>
      <p:sp>
        <p:nvSpPr>
          <p:cNvPr id="6" name="Text 4"/>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 name="Text 5"/>
          <p:cNvSpPr txBox="1"/>
          <p:nvPr/>
        </p:nvSpPr>
        <p:spPr>
          <a:xfrm>
            <a:off x="777240"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"Partial whitening beats full"</a:t>
            </a:r>
            <a:endParaRPr lang="en-US" sz="1400" dirty="0"/>
          </a:p>
        </p:txBody>
      </p:sp>
      <p:sp>
        <p:nvSpPr>
          <p:cNvPr id="8" name="Text 6"/>
          <p:cNvSpPr txBox="1"/>
          <p:nvPr/>
        </p:nvSpPr>
        <p:spPr>
          <a:xfrm>
            <a:off x="777240"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Our one concrete disagreement with WhiteNet, from one seed per point on the old backbone. Five seeds on the current one: α = 1.0 ≥ 0.75. Withdrawn; on this task we agree with WhiteNet.</a:t>
            </a:r>
            <a:endParaRPr lang="en-US" sz="1150" dirty="0"/>
          </a:p>
        </p:txBody>
      </p:sp>
      <p:sp>
        <p:nvSpPr>
          <p:cNvPr id="9" name="Shape 7"/>
          <p:cNvSpPr/>
          <p:nvPr/>
        </p:nvSpPr>
        <p:spPr>
          <a:xfrm>
            <a:off x="4325112" y="1737360"/>
            <a:ext cx="3520440" cy="4297680"/>
          </a:xfrm>
          <a:prstGeom prst="roundRect">
            <a:avLst>
              <a:gd name="adj" fmla="val 2078"/>
            </a:avLst>
          </a:prstGeom>
          <a:solidFill>
            <a:srgbClr val="F3F6F9"/>
          </a:solidFill>
          <a:ln w="12700">
            <a:solidFill>
              <a:srgbClr val="F3F6F9"/>
            </a:solidFill>
            <a:prstDash val="solid"/>
          </a:ln>
        </p:spPr>
      </p:sp>
      <p:sp>
        <p:nvSpPr>
          <p:cNvPr id="10" name="Shape 8"/>
          <p:cNvSpPr/>
          <p:nvPr/>
        </p:nvSpPr>
        <p:spPr>
          <a:xfrm>
            <a:off x="4553712" y="1920240"/>
            <a:ext cx="457200" cy="457200"/>
          </a:xfrm>
          <a:prstGeom prst="ellipse">
            <a:avLst/>
          </a:prstGeom>
          <a:solidFill>
            <a:srgbClr val="C0392B"/>
          </a:solidFill>
          <a:ln w="12700">
            <a:solidFill>
              <a:srgbClr val="C0392B"/>
            </a:solidFill>
            <a:prstDash val="solid"/>
          </a:ln>
        </p:spPr>
      </p:sp>
      <p:sp>
        <p:nvSpPr>
          <p:cNvPr id="11" name="Text 9"/>
          <p:cNvSpPr txBox="1"/>
          <p:nvPr/>
        </p:nvSpPr>
        <p:spPr>
          <a:xfrm>
            <a:off x="4553712"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p:cNvSpPr txBox="1"/>
          <p:nvPr/>
        </p:nvSpPr>
        <p:spPr>
          <a:xfrm>
            <a:off x="4553712"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"The model reads the class off the envelope"</a:t>
            </a:r>
            <a:endParaRPr lang="en-US" sz="1400" dirty="0"/>
          </a:p>
        </p:txBody>
      </p:sp>
      <p:sp>
        <p:nvSpPr>
          <p:cNvPr id="13" name="Text 11"/>
          <p:cNvSpPr txBox="1"/>
          <p:nvPr/>
        </p:nvSpPr>
        <p:spPr>
          <a:xfrm>
            <a:off x="4553712"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Handing 16QAM frames a 64QAM envelope left the prediction at 16QAM. The envelope does not carry the class, yet removing it still helps. The mechanism is stated as unresolved.</a:t>
            </a:r>
            <a:endParaRPr lang="en-US" sz="1150" dirty="0"/>
          </a:p>
        </p:txBody>
      </p:sp>
      <p:sp>
        <p:nvSpPr>
          <p:cNvPr id="14" name="Shape 12"/>
          <p:cNvSpPr/>
          <p:nvPr/>
        </p:nvSpPr>
        <p:spPr>
          <a:xfrm>
            <a:off x="8101584" y="1737360"/>
            <a:ext cx="3520440" cy="4297680"/>
          </a:xfrm>
          <a:prstGeom prst="roundRect">
            <a:avLst>
              <a:gd name="adj" fmla="val 2078"/>
            </a:avLst>
          </a:prstGeom>
          <a:solidFill>
            <a:srgbClr val="F3F6F9"/>
          </a:solidFill>
          <a:ln w="12700">
            <a:solidFill>
              <a:srgbClr val="F3F6F9"/>
            </a:solidFill>
            <a:prstDash val="solid"/>
          </a:ln>
        </p:spPr>
      </p:sp>
      <p:sp>
        <p:nvSpPr>
          <p:cNvPr id="15" name="Shape 13"/>
          <p:cNvSpPr/>
          <p:nvPr/>
        </p:nvSpPr>
        <p:spPr>
          <a:xfrm>
            <a:off x="8330184" y="1920240"/>
            <a:ext cx="457200" cy="457200"/>
          </a:xfrm>
          <a:prstGeom prst="ellipse">
            <a:avLst/>
          </a:prstGeom>
          <a:solidFill>
            <a:srgbClr val="F26419"/>
          </a:solidFill>
          <a:ln w="12700">
            <a:solidFill>
              <a:srgbClr val="F26419"/>
            </a:solidFill>
            <a:prstDash val="solid"/>
          </a:ln>
        </p:spPr>
      </p:sp>
      <p:sp>
        <p:nvSpPr>
          <p:cNvPr id="16" name="Text 14"/>
          <p:cNvSpPr txBox="1"/>
          <p:nvPr/>
        </p:nvSpPr>
        <p:spPr>
          <a:xfrm>
            <a:off x="8330184"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7" name="Text 15"/>
          <p:cNvSpPr txBox="1"/>
          <p:nvPr/>
        </p:nvSpPr>
        <p:spPr>
          <a:xfrm>
            <a:off x="8330184"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"The 60-epoch ceiling was safe"</a:t>
            </a:r>
            <a:endParaRPr lang="en-US" sz="1400" dirty="0"/>
          </a:p>
        </p:txBody>
      </p:sp>
      <p:sp>
        <p:nvSpPr>
          <p:cNvPr id="18" name="Text 16"/>
          <p:cNvSpPr txBox="1"/>
          <p:nvPr/>
        </p:nvSpPr>
        <p:spPr>
          <a:xfrm>
            <a:off x="8330184"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It was not: cells peaked at 82–89. Rerun with room, every flagged cell came back bit-identical or within a point — the ceiling had cost nothing, but that could only be shown by paying for the rerun.</a:t>
            </a:r>
            <a:endParaRPr lang="en-US" sz="1150" dirty="0"/>
          </a:p>
        </p:txBody>
      </p:sp>
      <p:sp>
        <p:nvSpPr>
          <p:cNvPr id="20" name="Text 1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Caveats, stated rather than buried</a:t>
            </a:r>
            <a:endParaRPr lang="en-US" sz="3000" dirty="0"/>
          </a:p>
        </p:txBody>
      </p:sp>
      <p:sp>
        <p:nvSpPr>
          <p:cNvPr id="3" name="Shape 1"/>
          <p:cNvSpPr/>
          <p:nvPr/>
        </p:nvSpPr>
        <p:spPr>
          <a:xfrm>
            <a:off x="548640" y="1417320"/>
            <a:ext cx="5440680" cy="2286000"/>
          </a:xfrm>
          <a:prstGeom prst="roundRect">
            <a:avLst>
              <a:gd name="adj" fmla="val 3200"/>
            </a:avLst>
          </a:prstGeom>
          <a:solidFill>
            <a:srgbClr val="F3F6F9"/>
          </a:solidFill>
          <a:ln w="12700">
            <a:solidFill>
              <a:srgbClr val="F3F6F9"/>
            </a:solidFill>
            <a:prstDash val="solid"/>
          </a:ln>
        </p:spPr>
      </p:sp>
      <p:sp>
        <p:nvSpPr>
          <p:cNvPr id="4" name="Shape 2"/>
          <p:cNvSpPr/>
          <p:nvPr/>
        </p:nvSpPr>
        <p:spPr>
          <a:xfrm>
            <a:off x="777240" y="1645920"/>
            <a:ext cx="384048" cy="384048"/>
          </a:xfrm>
          <a:prstGeom prst="ellipse">
            <a:avLst/>
          </a:prstGeom>
          <a:solidFill>
            <a:srgbClr val="C0392B"/>
          </a:solidFill>
          <a:ln w="12700">
            <a:solidFill>
              <a:srgbClr val="C0392B"/>
            </a:solidFill>
            <a:prstDash val="solid"/>
          </a:ln>
        </p:spPr>
      </p:sp>
      <p:sp>
        <p:nvSpPr>
          <p:cNvPr id="5" name="Text 3"/>
          <p:cNvSpPr txBox="1"/>
          <p:nvPr/>
        </p:nvSpPr>
        <p:spPr>
          <a:xfrm>
            <a:off x="777240" y="1645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6" name="Text 4"/>
          <p:cNvSpPr txBox="1"/>
          <p:nvPr/>
        </p:nvSpPr>
        <p:spPr>
          <a:xfrm>
            <a:off x="1325880" y="16002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Both domains are synthetic</a:t>
            </a:r>
            <a:endParaRPr lang="en-US" sz="1400" dirty="0"/>
          </a:p>
        </p:txBody>
      </p:sp>
      <p:sp>
        <p:nvSpPr>
          <p:cNvPr id="7" name="Text 5"/>
          <p:cNvSpPr txBox="1"/>
          <p:nvPr/>
        </p:nvSpPr>
        <p:spPr>
          <a:xfrm>
            <a:off x="777240" y="21945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RadioML is simulated and so is the second transmitter. Until an over-the-air capture exists this is a study of a mechanism, not a measurement of a deployment. The single largest weakness.</a:t>
            </a:r>
            <a:endParaRPr lang="en-US" sz="1150" dirty="0"/>
          </a:p>
        </p:txBody>
      </p:sp>
      <p:sp>
        <p:nvSpPr>
          <p:cNvPr id="8" name="Shape 6"/>
          <p:cNvSpPr/>
          <p:nvPr/>
        </p:nvSpPr>
        <p:spPr>
          <a:xfrm>
            <a:off x="6217920" y="1417320"/>
            <a:ext cx="5440680" cy="2286000"/>
          </a:xfrm>
          <a:prstGeom prst="roundRect">
            <a:avLst>
              <a:gd name="adj" fmla="val 3200"/>
            </a:avLst>
          </a:prstGeom>
          <a:solidFill>
            <a:srgbClr val="F3F6F9"/>
          </a:solidFill>
          <a:ln w="12700">
            <a:solidFill>
              <a:srgbClr val="F3F6F9"/>
            </a:solidFill>
            <a:prstDash val="solid"/>
          </a:ln>
        </p:spPr>
      </p:sp>
      <p:sp>
        <p:nvSpPr>
          <p:cNvPr id="9" name="Shape 7"/>
          <p:cNvSpPr/>
          <p:nvPr/>
        </p:nvSpPr>
        <p:spPr>
          <a:xfrm>
            <a:off x="6446520" y="1645920"/>
            <a:ext cx="384048" cy="384048"/>
          </a:xfrm>
          <a:prstGeom prst="ellipse">
            <a:avLst/>
          </a:prstGeom>
          <a:solidFill>
            <a:srgbClr val="F26419"/>
          </a:solidFill>
          <a:ln w="12700">
            <a:solidFill>
              <a:srgbClr val="F26419"/>
            </a:solidFill>
            <a:prstDash val="solid"/>
          </a:ln>
        </p:spPr>
      </p:sp>
      <p:sp>
        <p:nvSpPr>
          <p:cNvPr id="10" name="Text 8"/>
          <p:cNvSpPr txBox="1"/>
          <p:nvPr/>
        </p:nvSpPr>
        <p:spPr>
          <a:xfrm>
            <a:off x="6446520" y="1645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1" name="Text 9"/>
          <p:cNvSpPr txBox="1"/>
          <p:nvPr/>
        </p:nvSpPr>
        <p:spPr>
          <a:xfrm>
            <a:off x="6995160" y="16002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model is not the published architecture</a:t>
            </a:r>
            <a:endParaRPr lang="en-US" sz="1400" dirty="0"/>
          </a:p>
        </p:txBody>
      </p:sp>
      <p:sp>
        <p:nvSpPr>
          <p:cNvPr id="12" name="Text 10"/>
          <p:cNvSpPr txBox="1"/>
          <p:nvPr/>
        </p:nvSpPr>
        <p:spPr>
          <a:xfrm>
            <a:off x="6446520" y="21945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It is transcribed from a peer's reproduction and differs from the paper in five places. The paper-faithful build is separate — it reproduces the paper's 63.24% (63.21%), but only trained to convergence, 107 epochs against the paper's 58.</a:t>
            </a:r>
            <a:endParaRPr lang="en-US" sz="1150" dirty="0"/>
          </a:p>
        </p:txBody>
      </p:sp>
      <p:sp>
        <p:nvSpPr>
          <p:cNvPr id="13" name="Shape 11"/>
          <p:cNvSpPr/>
          <p:nvPr/>
        </p:nvSpPr>
        <p:spPr>
          <a:xfrm>
            <a:off x="548640" y="3931920"/>
            <a:ext cx="5440680" cy="2286000"/>
          </a:xfrm>
          <a:prstGeom prst="roundRect">
            <a:avLst>
              <a:gd name="adj" fmla="val 3200"/>
            </a:avLst>
          </a:prstGeom>
          <a:solidFill>
            <a:srgbClr val="F3F6F9"/>
          </a:solidFill>
          <a:ln w="12700">
            <a:solidFill>
              <a:srgbClr val="F3F6F9"/>
            </a:solidFill>
            <a:prstDash val="solid"/>
          </a:ln>
        </p:spPr>
      </p:sp>
      <p:sp>
        <p:nvSpPr>
          <p:cNvPr id="14" name="Shape 12"/>
          <p:cNvSpPr/>
          <p:nvPr/>
        </p:nvSpPr>
        <p:spPr>
          <a:xfrm>
            <a:off x="777240" y="4160520"/>
            <a:ext cx="384048" cy="384048"/>
          </a:xfrm>
          <a:prstGeom prst="ellipse">
            <a:avLst/>
          </a:prstGeom>
          <a:solidFill>
            <a:srgbClr val="F26419"/>
          </a:solidFill>
          <a:ln w="12700">
            <a:solidFill>
              <a:srgbClr val="F26419"/>
            </a:solidFill>
            <a:prstDash val="solid"/>
          </a:ln>
        </p:spPr>
      </p:sp>
      <p:sp>
        <p:nvSpPr>
          <p:cNvPr id="15" name="Text 13"/>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6" name="Text 14"/>
          <p:cNvSpPr txBox="1"/>
          <p:nvPr/>
        </p:nvSpPr>
        <p:spPr>
          <a:xfrm>
            <a:off x="1325880" y="41148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Half the sink checks are still on the old backbone</a:t>
            </a:r>
            <a:endParaRPr lang="en-US" sz="1400" dirty="0"/>
          </a:p>
        </p:txBody>
      </p:sp>
      <p:sp>
        <p:nvSpPr>
          <p:cNvPr id="17" name="Text 15"/>
          <p:cNvSpPr txBox="1"/>
          <p:nvPr/>
        </p:nvSpPr>
        <p:spPr>
          <a:xfrm>
            <a:off x="777240" y="47091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The 24-class leave-one-out and the architecture control are re-measured. The embedding check, the discriminating control, label permutation and family recovery are not yet.</a:t>
            </a:r>
            <a:endParaRPr lang="en-US" sz="1150" dirty="0"/>
          </a:p>
        </p:txBody>
      </p:sp>
      <p:sp>
        <p:nvSpPr>
          <p:cNvPr id="18" name="Shape 16"/>
          <p:cNvSpPr/>
          <p:nvPr/>
        </p:nvSpPr>
        <p:spPr>
          <a:xfrm>
            <a:off x="6217920" y="3931920"/>
            <a:ext cx="5440680" cy="2286000"/>
          </a:xfrm>
          <a:prstGeom prst="roundRect">
            <a:avLst>
              <a:gd name="adj" fmla="val 3200"/>
            </a:avLst>
          </a:prstGeom>
          <a:solidFill>
            <a:srgbClr val="F3F6F9"/>
          </a:solidFill>
          <a:ln w="12700">
            <a:solidFill>
              <a:srgbClr val="F3F6F9"/>
            </a:solidFill>
            <a:prstDash val="solid"/>
          </a:ln>
        </p:spPr>
      </p:sp>
      <p:sp>
        <p:nvSpPr>
          <p:cNvPr id="19" name="Shape 17"/>
          <p:cNvSpPr/>
          <p:nvPr/>
        </p:nvSpPr>
        <p:spPr>
          <a:xfrm>
            <a:off x="6446520" y="4160520"/>
            <a:ext cx="384048" cy="384048"/>
          </a:xfrm>
          <a:prstGeom prst="ellipse">
            <a:avLst/>
          </a:prstGeom>
          <a:solidFill>
            <a:srgbClr val="5C7A99"/>
          </a:solidFill>
          <a:ln w="12700">
            <a:solidFill>
              <a:srgbClr val="5C7A99"/>
            </a:solidFill>
            <a:prstDash val="solid"/>
          </a:ln>
        </p:spPr>
      </p:sp>
      <p:sp>
        <p:nvSpPr>
          <p:cNvPr id="20" name="Text 18"/>
          <p:cNvSpPr txBox="1"/>
          <p:nvPr/>
        </p:nvSpPr>
        <p:spPr>
          <a:xfrm>
            <a:off x="6446520" y="41605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21" name="Text 19"/>
          <p:cNvSpPr txBox="1"/>
          <p:nvPr/>
        </p:nvSpPr>
        <p:spPr>
          <a:xfrm>
            <a:off x="6995160" y="41148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Three seeds is thin on 24 classes</a:t>
            </a:r>
            <a:endParaRPr lang="en-US" sz="1400" dirty="0"/>
          </a:p>
        </p:txBody>
      </p:sp>
      <p:sp>
        <p:nvSpPr>
          <p:cNvPr id="22" name="Text 20"/>
          <p:cNvSpPr txBox="1"/>
          <p:nvPr/>
        </p:nvSpPr>
        <p:spPr>
          <a:xfrm>
            <a:off x="6446520" y="47091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Seed spread reaches 0.021; a difference under about 0.03 between two configurations is not yet a difference.</a:t>
            </a:r>
            <a:endParaRPr lang="en-US" sz="1150" dirty="0"/>
          </a:p>
        </p:txBody>
      </p:sp>
      <p:sp>
        <p:nvSpPr>
          <p:cNvPr id="24" name="Text 2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Next</a:t>
            </a:r>
            <a:endParaRPr lang="en-US" sz="3000" dirty="0"/>
          </a:p>
        </p:txBody>
      </p:sp>
      <p:sp>
        <p:nvSpPr>
          <p:cNvPr id="3" name="Text 1"/>
          <p:cNvSpPr txBox="1"/>
          <p:nvPr/>
        </p:nvSpPr>
        <p:spPr>
          <a:xfrm>
            <a:off x="548640" y="146304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Just landed</a:t>
            </a:r>
            <a:endParaRPr lang="en-US" sz="1500" dirty="0"/>
          </a:p>
        </p:txBody>
      </p:sp>
      <p:sp>
        <p:nvSpPr>
          <p:cNvPr id="4" name="Text 2"/>
          <p:cNvSpPr txBox="1"/>
          <p:nvPr/>
        </p:nvSpPr>
        <p:spPr>
          <a:xfrm>
            <a:off x="2651760" y="146304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The sink thread on the current backbone: 16 of 24 held-out classes sink into their own family, and the same-family sink survives on all five architectures. Both runs converged.</a:t>
            </a:r>
            <a:endParaRPr lang="en-US" sz="1250" dirty="0"/>
          </a:p>
        </p:txBody>
      </p:sp>
      <p:sp>
        <p:nvSpPr>
          <p:cNvPr id="5" name="Text 3"/>
          <p:cNvSpPr txBox="1"/>
          <p:nvPr/>
        </p:nvSpPr>
        <p:spPr>
          <a:xfrm>
            <a:off x="548640" y="269748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Next</a:t>
            </a:r>
            <a:endParaRPr lang="en-US" sz="1500" dirty="0"/>
          </a:p>
        </p:txBody>
      </p:sp>
      <p:sp>
        <p:nvSpPr>
          <p:cNvPr id="6" name="Text 4"/>
          <p:cNvSpPr txBox="1"/>
          <p:nvPr/>
        </p:nvSpPr>
        <p:spPr>
          <a:xfrm>
            <a:off x="2651760" y="269748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Port or drop the domain-adversarial baseline (dann.py); then the cumulant classifier on the same four classes at 0 dB as an independent check that the QAM coin flip is the signal's limit, not the model's.</a:t>
            </a:r>
            <a:endParaRPr lang="en-US" sz="1250" dirty="0"/>
          </a:p>
        </p:txBody>
      </p:sp>
      <p:sp>
        <p:nvSpPr>
          <p:cNvPr id="7" name="Text 5"/>
          <p:cNvSpPr txBox="1"/>
          <p:nvPr/>
        </p:nvSpPr>
        <p:spPr>
          <a:xfrm>
            <a:off x="548640" y="393192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Growing</a:t>
            </a:r>
            <a:endParaRPr lang="en-US" sz="1500" dirty="0"/>
          </a:p>
        </p:txBody>
      </p:sp>
      <p:sp>
        <p:nvSpPr>
          <p:cNvPr id="8" name="Text 6"/>
          <p:cNvSpPr txBox="1"/>
          <p:nvPr/>
        </p:nvSpPr>
        <p:spPr>
          <a:xfrm>
            <a:off x="2651760" y="393192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This deck is the running record; new results are appended, withdrawn claims stay.</a:t>
            </a:r>
            <a:endParaRPr lang="en-US" sz="1250" dirty="0"/>
          </a:p>
        </p:txBody>
      </p:sp>
      <p:sp>
        <p:nvSpPr>
          <p:cNvPr id="9" name="Text 7"/>
          <p:cNvSpPr txBox="1"/>
          <p:nvPr/>
        </p:nvSpPr>
        <p:spPr>
          <a:xfrm>
            <a:off x="548640" y="6035040"/>
            <a:ext cx="11091672" cy="365760"/>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Repository: YusufBilo78/amc · every figure regenerates from the committed .npz files</a:t>
            </a:r>
            <a:endParaRPr lang="en-US" sz="1050" dirty="0"/>
          </a:p>
        </p:txBody>
      </p:sp>
      <p:sp>
        <p:nvSpPr>
          <p:cNvPr id="11"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DCE6F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modulation classifiers fail across transmitters</dc:title>
  <dc:subject>PptxGenJS Presentation</dc:subject>
  <dc:creator>Yusuf Bilal Cetinkaya</dc:creator>
  <cp:lastModifiedBy>Yusuf Bilal Cetinkaya</cp:lastModifiedBy>
  <cp:revision>1</cp:revision>
  <dcterms:created xsi:type="dcterms:W3CDTF">2026-09-22T02:54:07Z</dcterms:created>
  <dcterms:modified xsi:type="dcterms:W3CDTF">2026-09-22T02:54:07Z</dcterms:modified>
</cp:coreProperties>
</file>