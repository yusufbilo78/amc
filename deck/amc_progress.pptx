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24 classes, 512 frames/cell</c:v>
                </c:pt>
              </c:strCache>
            </c:strRef>
          </c:tx>
          <c:spPr>
            <a:solidFill>
              <a:srgbClr val="0B2545"/>
            </a:solidFill>
            <a:ln w="31750" cap="flat">
              <a:solidFill>
                <a:srgbClr val="0B254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0B2545"/>
              </a:solidFill>
              <a:ln w="9525" cap="flat">
                <a:solidFill>
                  <a:srgbClr val="0B254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-20</c:v>
                  </c:pt>
                  <c:pt idx="1">
                    <c:v>-18</c:v>
                  </c:pt>
                  <c:pt idx="2">
                    <c:v>-16</c:v>
                  </c:pt>
                  <c:pt idx="3">
                    <c:v>-14</c:v>
                  </c:pt>
                  <c:pt idx="4">
                    <c:v>-12</c:v>
                  </c:pt>
                  <c:pt idx="5">
                    <c:v>-10</c:v>
                  </c:pt>
                  <c:pt idx="6">
                    <c:v>-8</c:v>
                  </c:pt>
                  <c:pt idx="7">
                    <c:v>-6</c:v>
                  </c:pt>
                  <c:pt idx="8">
                    <c:v>-4</c:v>
                  </c:pt>
                  <c:pt idx="9">
                    <c:v>-2</c:v>
                  </c:pt>
                  <c:pt idx="10">
                    <c:v>0</c:v>
                  </c:pt>
                  <c:pt idx="11">
                    <c:v>2</c:v>
                  </c:pt>
                  <c:pt idx="12">
                    <c:v>4</c:v>
                  </c:pt>
                  <c:pt idx="13">
                    <c:v>6</c:v>
                  </c:pt>
                  <c:pt idx="14">
                    <c:v>8</c:v>
                  </c:pt>
                  <c:pt idx="15">
                    <c:v>10</c:v>
                  </c:pt>
                  <c:pt idx="16">
                    <c:v>12</c:v>
                  </c:pt>
                  <c:pt idx="17">
                    <c:v>14</c:v>
                  </c:pt>
                  <c:pt idx="18">
                    <c:v>16</c:v>
                  </c:pt>
                  <c:pt idx="19">
                    <c:v>18</c:v>
                  </c:pt>
                  <c:pt idx="20">
                    <c:v>20</c:v>
                  </c:pt>
                  <c:pt idx="21">
                    <c:v>22</c:v>
                  </c:pt>
                  <c:pt idx="22">
                    <c:v>24</c:v>
                  </c:pt>
                  <c:pt idx="23">
                    <c:v>26</c:v>
                  </c:pt>
                  <c:pt idx="24">
                    <c:v>28</c:v>
                  </c:pt>
                  <c:pt idx="25">
                    <c:v>30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0.0422</c:v>
                </c:pt>
                <c:pt idx="1">
                  <c:v>0.0506</c:v>
                </c:pt>
                <c:pt idx="2">
                  <c:v>0.0424</c:v>
                </c:pt>
                <c:pt idx="3">
                  <c:v>0.0588</c:v>
                </c:pt>
                <c:pt idx="4">
                  <c:v>0.0906</c:v>
                </c:pt>
                <c:pt idx="5">
                  <c:v>0.1303</c:v>
                </c:pt>
                <c:pt idx="6">
                  <c:v>0.187</c:v>
                </c:pt>
                <c:pt idx="7">
                  <c:v>0.2746</c:v>
                </c:pt>
                <c:pt idx="8">
                  <c:v>0.3314</c:v>
                </c:pt>
                <c:pt idx="9">
                  <c:v>0.4074</c:v>
                </c:pt>
                <c:pt idx="10">
                  <c:v>0.5256</c:v>
                </c:pt>
                <c:pt idx="11">
                  <c:v>0.6325</c:v>
                </c:pt>
                <c:pt idx="12">
                  <c:v>0.7454</c:v>
                </c:pt>
                <c:pt idx="13">
                  <c:v>0.8415</c:v>
                </c:pt>
                <c:pt idx="14">
                  <c:v>0.8705</c:v>
                </c:pt>
                <c:pt idx="15">
                  <c:v>0.8632</c:v>
                </c:pt>
                <c:pt idx="16">
                  <c:v>0.8803</c:v>
                </c:pt>
                <c:pt idx="17">
                  <c:v>0.8745</c:v>
                </c:pt>
                <c:pt idx="18">
                  <c:v>0.8702</c:v>
                </c:pt>
                <c:pt idx="19">
                  <c:v>0.875</c:v>
                </c:pt>
                <c:pt idx="20">
                  <c:v>0.8716</c:v>
                </c:pt>
                <c:pt idx="21">
                  <c:v>0.8754</c:v>
                </c:pt>
                <c:pt idx="22">
                  <c:v>0.8695</c:v>
                </c:pt>
                <c:pt idx="23">
                  <c:v>0.8665</c:v>
                </c:pt>
                <c:pt idx="24">
                  <c:v>0.8695</c:v>
                </c:pt>
                <c:pt idx="25">
                  <c:v>0.8718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 classes (BPSK, QPSK, 16QAM, 64QAM), 2,048 frames/cell</c:v>
                </c:pt>
              </c:strCache>
            </c:strRef>
          </c:tx>
          <c:spPr>
            <a:solidFill>
              <a:srgbClr val="F26419"/>
            </a:solidFill>
            <a:ln w="31750" cap="flat">
              <a:solidFill>
                <a:srgbClr val="F2641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F26419"/>
              </a:solidFill>
              <a:ln w="9525" cap="flat">
                <a:solidFill>
                  <a:srgbClr val="F2641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-20</c:v>
                  </c:pt>
                  <c:pt idx="1">
                    <c:v>-18</c:v>
                  </c:pt>
                  <c:pt idx="2">
                    <c:v>-16</c:v>
                  </c:pt>
                  <c:pt idx="3">
                    <c:v>-14</c:v>
                  </c:pt>
                  <c:pt idx="4">
                    <c:v>-12</c:v>
                  </c:pt>
                  <c:pt idx="5">
                    <c:v>-10</c:v>
                  </c:pt>
                  <c:pt idx="6">
                    <c:v>-8</c:v>
                  </c:pt>
                  <c:pt idx="7">
                    <c:v>-6</c:v>
                  </c:pt>
                  <c:pt idx="8">
                    <c:v>-4</c:v>
                  </c:pt>
                  <c:pt idx="9">
                    <c:v>-2</c:v>
                  </c:pt>
                  <c:pt idx="10">
                    <c:v>0</c:v>
                  </c:pt>
                  <c:pt idx="11">
                    <c:v>2</c:v>
                  </c:pt>
                  <c:pt idx="12">
                    <c:v>4</c:v>
                  </c:pt>
                  <c:pt idx="13">
                    <c:v>6</c:v>
                  </c:pt>
                  <c:pt idx="14">
                    <c:v>8</c:v>
                  </c:pt>
                  <c:pt idx="15">
                    <c:v>10</c:v>
                  </c:pt>
                  <c:pt idx="16">
                    <c:v>12</c:v>
                  </c:pt>
                  <c:pt idx="17">
                    <c:v>14</c:v>
                  </c:pt>
                  <c:pt idx="18">
                    <c:v>16</c:v>
                  </c:pt>
                  <c:pt idx="19">
                    <c:v>18</c:v>
                  </c:pt>
                  <c:pt idx="20">
                    <c:v>20</c:v>
                  </c:pt>
                  <c:pt idx="21">
                    <c:v>22</c:v>
                  </c:pt>
                  <c:pt idx="22">
                    <c:v>24</c:v>
                  </c:pt>
                  <c:pt idx="23">
                    <c:v>26</c:v>
                  </c:pt>
                  <c:pt idx="24">
                    <c:v>28</c:v>
                  </c:pt>
                  <c:pt idx="25">
                    <c:v>30</c:v>
                  </c:pt>
                </c:lvl>
              </c:multiLvlStrCache>
            </c:multiLvlStrRef>
          </c:cat>
          <c:val>
            <c:numRef>
              <c:f>Sheet1!$C$2:$C$27</c:f>
              <c:numCache>
                <c:formatCode>General</c:formatCode>
                <c:ptCount val="26"/>
                <c:pt idx="0">
                  <c:v>0.2497</c:v>
                </c:pt>
                <c:pt idx="1">
                  <c:v>0.2484</c:v>
                </c:pt>
                <c:pt idx="2">
                  <c:v>0.26</c:v>
                </c:pt>
                <c:pt idx="3">
                  <c:v>0.2557</c:v>
                </c:pt>
                <c:pt idx="4">
                  <c:v>0.2595</c:v>
                </c:pt>
                <c:pt idx="5">
                  <c:v>0.2835</c:v>
                </c:pt>
                <c:pt idx="6">
                  <c:v>0.3793</c:v>
                </c:pt>
                <c:pt idx="7">
                  <c:v>0.5016</c:v>
                </c:pt>
                <c:pt idx="8">
                  <c:v>0.5925</c:v>
                </c:pt>
                <c:pt idx="9">
                  <c:v>0.7167</c:v>
                </c:pt>
                <c:pt idx="10">
                  <c:v>0.7944</c:v>
                </c:pt>
                <c:pt idx="11">
                  <c:v>0.891</c:v>
                </c:pt>
                <c:pt idx="12">
                  <c:v>0.9838</c:v>
                </c:pt>
                <c:pt idx="13">
                  <c:v>0.9986</c:v>
                </c:pt>
                <c:pt idx="14">
                  <c:v>0.9997</c:v>
                </c:pt>
                <c:pt idx="15">
                  <c:v>0.9997</c:v>
                </c:pt>
                <c:pt idx="16">
                  <c:v>0.9997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C7A99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C7A99"/>
                    </a:solidFill>
                    <a:latin typeface="Arial"/>
                  </a:rPr>
                  <a:t>SNR (dB)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A9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C7A99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C7A99"/>
                    </a:solidFill>
                    <a:latin typeface="Arial"/>
                  </a:rPr>
                  <a:t>test accuracy</a:t>
                </a:r>
              </a:p>
            </c:rich>
          </c:tx>
          <c:layout/>
          <c:overlay val="0"/>
        </c:title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A9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3315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BPSK</c:v>
                </c:pt>
              </c:strCache>
            </c:strRef>
          </c:tx>
          <c:spPr>
            <a:solidFill>
              <a:srgbClr val="0B2545"/>
            </a:solidFill>
            <a:ln w="31750" cap="flat">
              <a:solidFill>
                <a:srgbClr val="0B254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0B2545"/>
              </a:solidFill>
              <a:ln w="9525" cap="flat">
                <a:solidFill>
                  <a:srgbClr val="0B254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-14</c:v>
                  </c:pt>
                  <c:pt idx="1">
                    <c:v>-12</c:v>
                  </c:pt>
                  <c:pt idx="2">
                    <c:v>-10</c:v>
                  </c:pt>
                  <c:pt idx="3">
                    <c:v>-8</c:v>
                  </c:pt>
                  <c:pt idx="4">
                    <c:v>-6</c:v>
                  </c:pt>
                  <c:pt idx="5">
                    <c:v>-4</c:v>
                  </c:pt>
                  <c:pt idx="6">
                    <c:v>-2</c:v>
                  </c:pt>
                  <c:pt idx="7">
                    <c:v>0</c:v>
                  </c:pt>
                  <c:pt idx="8">
                    <c:v>2</c:v>
                  </c:pt>
                  <c:pt idx="9">
                    <c:v>4</c:v>
                  </c:pt>
                  <c:pt idx="10">
                    <c:v>6</c:v>
                  </c:pt>
                  <c:pt idx="11">
                    <c:v>8</c:v>
                  </c:pt>
                  <c:pt idx="12">
                    <c:v>10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0.1038961038961039</c:v>
                </c:pt>
                <c:pt idx="1">
                  <c:v>0.12878787878787878</c:v>
                </c:pt>
                <c:pt idx="2">
                  <c:v>0.275974025974026</c:v>
                </c:pt>
                <c:pt idx="3">
                  <c:v>0.7002164502164502</c:v>
                </c:pt>
                <c:pt idx="4">
                  <c:v>0.9794372294372294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QPSK</c:v>
                </c:pt>
              </c:strCache>
            </c:strRef>
          </c:tx>
          <c:spPr>
            <a:solidFill>
              <a:srgbClr val="1B998B"/>
            </a:solidFill>
            <a:ln w="31750" cap="flat">
              <a:solidFill>
                <a:srgbClr val="1B99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B998B"/>
              </a:solidFill>
              <a:ln w="9525" cap="flat">
                <a:solidFill>
                  <a:srgbClr val="1B99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-14</c:v>
                  </c:pt>
                  <c:pt idx="1">
                    <c:v>-12</c:v>
                  </c:pt>
                  <c:pt idx="2">
                    <c:v>-10</c:v>
                  </c:pt>
                  <c:pt idx="3">
                    <c:v>-8</c:v>
                  </c:pt>
                  <c:pt idx="4">
                    <c:v>-6</c:v>
                  </c:pt>
                  <c:pt idx="5">
                    <c:v>-4</c:v>
                  </c:pt>
                  <c:pt idx="6">
                    <c:v>-2</c:v>
                  </c:pt>
                  <c:pt idx="7">
                    <c:v>0</c:v>
                  </c:pt>
                  <c:pt idx="8">
                    <c:v>2</c:v>
                  </c:pt>
                  <c:pt idx="9">
                    <c:v>4</c:v>
                  </c:pt>
                  <c:pt idx="10">
                    <c:v>6</c:v>
                  </c:pt>
                  <c:pt idx="11">
                    <c:v>8</c:v>
                  </c:pt>
                  <c:pt idx="12">
                    <c:v>10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0.8528138528138528</c:v>
                </c:pt>
                <c:pt idx="1">
                  <c:v>0.8441558441558441</c:v>
                </c:pt>
                <c:pt idx="2">
                  <c:v>0.7803030303030303</c:v>
                </c:pt>
                <c:pt idx="3">
                  <c:v>0.6915584415584416</c:v>
                </c:pt>
                <c:pt idx="4">
                  <c:v>0.6363636363636364</c:v>
                </c:pt>
                <c:pt idx="5">
                  <c:v>0.7251082251082251</c:v>
                </c:pt>
                <c:pt idx="6">
                  <c:v>0.9145021645021645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16QAM</c:v>
                </c:pt>
              </c:strCache>
            </c:strRef>
          </c:tx>
          <c:spPr>
            <a:solidFill>
              <a:srgbClr val="F26419"/>
            </a:solidFill>
            <a:ln w="31750" cap="flat">
              <a:solidFill>
                <a:srgbClr val="F2641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F26419"/>
              </a:solidFill>
              <a:ln w="9525" cap="flat">
                <a:solidFill>
                  <a:srgbClr val="F2641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-14</c:v>
                  </c:pt>
                  <c:pt idx="1">
                    <c:v>-12</c:v>
                  </c:pt>
                  <c:pt idx="2">
                    <c:v>-10</c:v>
                  </c:pt>
                  <c:pt idx="3">
                    <c:v>-8</c:v>
                  </c:pt>
                  <c:pt idx="4">
                    <c:v>-6</c:v>
                  </c:pt>
                  <c:pt idx="5">
                    <c:v>-4</c:v>
                  </c:pt>
                  <c:pt idx="6">
                    <c:v>-2</c:v>
                  </c:pt>
                  <c:pt idx="7">
                    <c:v>0</c:v>
                  </c:pt>
                  <c:pt idx="8">
                    <c:v>2</c:v>
                  </c:pt>
                  <c:pt idx="9">
                    <c:v>4</c:v>
                  </c:pt>
                  <c:pt idx="10">
                    <c:v>6</c:v>
                  </c:pt>
                  <c:pt idx="11">
                    <c:v>8</c:v>
                  </c:pt>
                  <c:pt idx="12">
                    <c:v>10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0.023809523809523808</c:v>
                </c:pt>
                <c:pt idx="1">
                  <c:v>0.016233766233766232</c:v>
                </c:pt>
                <c:pt idx="2">
                  <c:v>0.03354978354978355</c:v>
                </c:pt>
                <c:pt idx="3">
                  <c:v>0.02813852813852814</c:v>
                </c:pt>
                <c:pt idx="4">
                  <c:v>0.0670995670995671</c:v>
                </c:pt>
                <c:pt idx="5">
                  <c:v>0.15367965367965367</c:v>
                </c:pt>
                <c:pt idx="6">
                  <c:v>0.3971861471861472</c:v>
                </c:pt>
                <c:pt idx="7">
                  <c:v>0.5616883116883117</c:v>
                </c:pt>
                <c:pt idx="8">
                  <c:v>0.7943722943722944</c:v>
                </c:pt>
                <c:pt idx="9">
                  <c:v>0.9751082251082251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64QAM</c:v>
                </c:pt>
              </c:strCache>
            </c:strRef>
          </c:tx>
          <c:spPr>
            <a:solidFill>
              <a:srgbClr val="C0392B"/>
            </a:solidFill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-14</c:v>
                  </c:pt>
                  <c:pt idx="1">
                    <c:v>-12</c:v>
                  </c:pt>
                  <c:pt idx="2">
                    <c:v>-10</c:v>
                  </c:pt>
                  <c:pt idx="3">
                    <c:v>-8</c:v>
                  </c:pt>
                  <c:pt idx="4">
                    <c:v>-6</c:v>
                  </c:pt>
                  <c:pt idx="5">
                    <c:v>-4</c:v>
                  </c:pt>
                  <c:pt idx="6">
                    <c:v>-2</c:v>
                  </c:pt>
                  <c:pt idx="7">
                    <c:v>0</c:v>
                  </c:pt>
                  <c:pt idx="8">
                    <c:v>2</c:v>
                  </c:pt>
                  <c:pt idx="9">
                    <c:v>4</c:v>
                  </c:pt>
                  <c:pt idx="10">
                    <c:v>6</c:v>
                  </c:pt>
                  <c:pt idx="11">
                    <c:v>8</c:v>
                  </c:pt>
                  <c:pt idx="12">
                    <c:v>10</c:v>
                  </c:pt>
                </c:lvl>
              </c:multiLvlStrCache>
            </c:multiLvl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0.04220779220779221</c:v>
                </c:pt>
                <c:pt idx="1">
                  <c:v>0.048701298701298704</c:v>
                </c:pt>
                <c:pt idx="2">
                  <c:v>0.044372294372294376</c:v>
                </c:pt>
                <c:pt idx="3">
                  <c:v>0.09740259740259741</c:v>
                </c:pt>
                <c:pt idx="4">
                  <c:v>0.3235930735930736</c:v>
                </c:pt>
                <c:pt idx="5">
                  <c:v>0.49134199134199136</c:v>
                </c:pt>
                <c:pt idx="6">
                  <c:v>0.5551948051948052</c:v>
                </c:pt>
                <c:pt idx="7">
                  <c:v>0.6158008658008658</c:v>
                </c:pt>
                <c:pt idx="8">
                  <c:v>0.7694805194805194</c:v>
                </c:pt>
                <c:pt idx="9">
                  <c:v>0.95995670995671</c:v>
                </c:pt>
                <c:pt idx="10">
                  <c:v>0.9945887445887446</c:v>
                </c:pt>
                <c:pt idx="11">
                  <c:v>0.9989177489177489</c:v>
                </c:pt>
                <c:pt idx="12">
                  <c:v>0.9989177489177489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C7A99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C7A99"/>
                    </a:solidFill>
                    <a:latin typeface="Arial"/>
                  </a:rPr>
                  <a:t>SNR (dB)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A9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C7A99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C7A99"/>
                    </a:solidFill>
                    <a:latin typeface="Arial"/>
                  </a:rPr>
                  <a:t>recall per class</a:t>
                </a:r>
              </a:p>
            </c:rich>
          </c:tx>
          <c:layout/>
          <c:overlay val="0"/>
        </c:title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A9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3315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in-domain</c:v>
                </c:pt>
              </c:strCache>
            </c:strRef>
          </c:tx>
          <c:spPr>
            <a:solidFill>
              <a:srgbClr val="DCE6F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3315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none</c:v>
                  </c:pt>
                  <c:pt idx="1">
                    <c:v>standard augmentation</c:v>
                  </c:pt>
                  <c:pt idx="2">
                    <c:v>whitening α=0.75</c:v>
                  </c:pt>
                  <c:pt idx="3">
                    <c:v>whitening + standard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0.9985579937304075</c:v>
                </c:pt>
                <c:pt idx="1">
                  <c:v>0.9996865203761756</c:v>
                </c:pt>
                <c:pt idx="2">
                  <c:v>0.9991849529780564</c:v>
                </c:pt>
                <c:pt idx="3">
                  <c:v>0.9995297805642632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cross-domain</c:v>
                </c:pt>
              </c:strCache>
            </c:strRef>
          </c:tx>
          <c:spPr>
            <a:solidFill>
              <a:srgbClr val="F26419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3315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none</c:v>
                  </c:pt>
                  <c:pt idx="1">
                    <c:v>standard augmentation</c:v>
                  </c:pt>
                  <c:pt idx="2">
                    <c:v>whitening α=0.75</c:v>
                  </c:pt>
                  <c:pt idx="3">
                    <c:v>whitening + standard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0.8053363636363639</c:v>
                </c:pt>
                <c:pt idx="1">
                  <c:v>0.8072545454545456</c:v>
                </c:pt>
                <c:pt idx="2">
                  <c:v>0.9886727272727273</c:v>
                </c:pt>
                <c:pt idx="3">
                  <c:v>0.9946454545454546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13315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C7A99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C7A99"/>
                    </a:solidFill>
                    <a:latin typeface="Arial"/>
                  </a:rPr>
                  <a:t>training method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A9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7"/>
        </c:scaling>
        <c:delete val="0"/>
        <c:axPos val="l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C7A99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C7A99"/>
                    </a:solidFill>
                    <a:latin typeface="Arial"/>
                  </a:rPr>
                  <a:t>test accuracy</a:t>
                </a:r>
              </a:p>
            </c:rich>
          </c:tx>
          <c:layout/>
          <c:overlay val="0"/>
        </c:title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A9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3315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cross-domain accuracy</c:v>
                </c:pt>
              </c:strCache>
            </c:strRef>
          </c:tx>
          <c:spPr>
            <a:solidFill>
              <a:srgbClr val="F26419"/>
            </a:solidFill>
            <a:ln w="31750" cap="flat">
              <a:solidFill>
                <a:srgbClr val="F26419"/>
              </a:solidFill>
              <a:prstDash val="solid"/>
              <a:round/>
            </a:ln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3315C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26419"/>
              </a:solidFill>
              <a:ln w="9525" cap="flat">
                <a:solidFill>
                  <a:srgbClr val="F2641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0.00</c:v>
                  </c:pt>
                  <c:pt idx="1">
                    <c:v>0.25</c:v>
                  </c:pt>
                  <c:pt idx="2">
                    <c:v>0.50</c:v>
                  </c:pt>
                  <c:pt idx="3">
                    <c:v>0.75</c:v>
                  </c:pt>
                  <c:pt idx="4">
                    <c:v>1.00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0.8053363636363639</c:v>
                </c:pt>
                <c:pt idx="1">
                  <c:v>0.8553909090909091</c:v>
                </c:pt>
                <c:pt idx="2">
                  <c:v>0.9396545454545455</c:v>
                </c:pt>
                <c:pt idx="3">
                  <c:v>0.9881272727272729</c:v>
                </c:pt>
                <c:pt idx="4">
                  <c:v>0.9927909090909092</c:v>
                </c:pt>
              </c:numCache>
            </c:numRef>
          </c:val>
          <c:smooth val="0"/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13315C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16QAM recall</c:v>
                </c:pt>
              </c:strCache>
            </c:strRef>
          </c:tx>
          <c:spPr>
            <a:solidFill>
              <a:srgbClr val="0B2545"/>
            </a:solidFill>
            <a:ln w="31750" cap="flat">
              <a:solidFill>
                <a:srgbClr val="0B2545"/>
              </a:solidFill>
              <a:prstDash val="solid"/>
              <a:round/>
            </a:ln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2545"/>
                    </a:solidFill>
                    <a:latin typeface="Arial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B2545"/>
              </a:solidFill>
              <a:ln w="9525" cap="flat">
                <a:solidFill>
                  <a:srgbClr val="0B254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0.00</c:v>
                  </c:pt>
                  <c:pt idx="1">
                    <c:v>0.25</c:v>
                  </c:pt>
                  <c:pt idx="2">
                    <c:v>0.50</c:v>
                  </c:pt>
                  <c:pt idx="3">
                    <c:v>0.75</c:v>
                  </c:pt>
                  <c:pt idx="4">
                    <c:v>1.00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0.056454545454545445</c:v>
                </c:pt>
                <c:pt idx="1">
                  <c:v>0.30454545454545456</c:v>
                </c:pt>
                <c:pt idx="2">
                  <c:v>0.7389545454545454</c:v>
                </c:pt>
                <c:pt idx="3">
                  <c:v>0.9811363636363637</c:v>
                </c:pt>
                <c:pt idx="4">
                  <c:v>0.9846818181818182</c:v>
                </c:pt>
              </c:numCache>
            </c:numRef>
          </c:val>
          <c:smooth val="0"/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0B2545"/>
                  </a:solidFill>
                  <a:latin typeface="Arial"/>
                </a:defRPr>
              </a:pPr>
            </a:p>
          </c:txPr>
          <c:dLblPos val="b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C7A99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C7A99"/>
                    </a:solidFill>
                    <a:latin typeface="Arial"/>
                  </a:rPr>
                  <a:t>α (0 = no whitening, 1 = full)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A9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C7A99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C7A99"/>
                    </a:solidFill>
                    <a:latin typeface="Arial"/>
                  </a:rPr>
                  <a:t>accuracy, five seeds</a:t>
                </a:r>
              </a:p>
            </c:rich>
          </c:tx>
          <c:layout/>
          <c:overlay val="0"/>
        </c:title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A9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3315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same-family sinks</c:v>
                </c:pt>
              </c:strCache>
            </c:strRef>
          </c:tx>
          <c:spPr>
            <a:solidFill>
              <a:srgbClr val="0B25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3315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IQNet</c:v>
                  </c:pt>
                  <c:pt idx="1">
                    <c:v>ResNet1D</c:v>
                  </c:pt>
                  <c:pt idx="2">
                    <c:v>GRU</c:v>
                  </c:pt>
                  <c:pt idx="3">
                    <c:v>Transformer</c:v>
                  </c:pt>
                  <c:pt idx="4">
                    <c:v>ICRNNA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4</c:v>
                </c:pt>
                <c:pt idx="2">
                  <c:v>4</c:v>
                </c:pt>
                <c:pt idx="3">
                  <c:v>3</c:v>
                </c:pt>
                <c:pt idx="4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3315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A9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0"/>
        </c:scaling>
        <c:delete val="0"/>
        <c:axPos val="l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C7A99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C7A99"/>
                    </a:solidFill>
                    <a:latin typeface="Arial"/>
                  </a:rPr>
                  <a:t>same-family sinks of 6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A9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number in this deck is read from a results file in the repository; nothing is quoted from the earlier backbone.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contribution is the attribution method, not an accuracy number. The 0.999 to 0.805 drop is the starting measurement, on five shared classes, five seeds.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Decided with Moshe on 16 September: new work goes on 2018 only. The 2016 results are not retracted.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backbone is transcribed from a peer's reproduction and differs from the published ICRNNA in five places; it is not called 'the published architecture'. The faithful build is a separate file and does reproduce the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 residual networks on the whole dataset are reported near 95% above 8 dB; this is 512 of 4096 frames per cell with a 786k recurrent model. Closing that gap is not the goal.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table asked for on 15 September. The same table on RML2016 (128-sample frames) still confuses the QAM pair 7–11% at high SNR; at 1,024 samples that confusion is gone. The frame is the difference.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924 decisions per row at each single level; a 1% cell is nine frames. Both matrices are from the converged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Stopping epochs by method: none 51/41/48/36/38, augmentation 89/48/83/65/82, whitening 26/26/33/43/25, both 66/37/53/37/50. Whitening converges about 2.4× faster than augmentation — it removes a nuisance dimension, augmentation adds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working story for most of the project was shortcut learning — the model reads modulation order off the envelope. Two experiments killed it: handing 16QAM frames a 64QAM envelope left the prediction at 16QAM. The envelope does not carry the class; removing it still helps. That is stated as unresolved.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middle of the sweep is where seeds disagree: α = 0.5 has a spread of 0.019 on cross-domain accuracy against 0.001–0.007 at either end. Half-removing the envelope leaves a model that sometimes learns to read through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ICRNNA column of the control is a bit-identical training to the corresponding rows of the 24-class run: same best epoch, same in-distribution accuracy to every digit. The probe frames are an independent draw and move the shares by at most 0.3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Negative results are part of the argument. Whitening itself is not novel either: WhiteNet arrived at the same operation on real over-the-air captures; what survives here is the attribution method and the sink finding.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modulation classifier fails across transmitters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889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26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measured by intervention, and closed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RadioML 2018.01A · ICRNNA backbone · progress report, September 2026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434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Yusuf Bilal Çetinkaya</a:t>
            </a:r>
            <a:endParaRPr lang="en-US" sz="1600" dirty="0"/>
          </a:p>
        </p:txBody>
      </p:sp>
      <p:pic>
        <p:nvPicPr>
          <p:cNvPr id="6" name="Image 0" descr="c64qam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8595360" y="1280160"/>
            <a:ext cx="301752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Reproducing the benchmark is solved. What happens when the transmitter changes is not.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RadioML. Test on I/Q generated by an independent transmitter model. Same five modulations, same SNRs, same sample rate.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175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0.999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9044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in-domain accuracy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30175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0.805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39044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other transmitter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7548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16QAM alone: 0.056 — it is read as 64QAM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17830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questions this project answers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83680" y="2377440"/>
            <a:ext cx="457200" cy="45720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23317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large is the drop, and where does it land?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83680" y="3246120"/>
            <a:ext cx="457200" cy="45720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223760" y="32004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property of the signal causes it — shown by intervention, not correlation?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83680" y="4114800"/>
            <a:ext cx="457200" cy="45720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223760" y="40690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it be removed without paying for it in-domain?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83680" y="4983480"/>
            <a:ext cx="457200" cy="457200"/>
          </a:xfrm>
          <a:prstGeom prst="ellipse">
            <a:avLst/>
          </a:prstGeom>
          <a:solidFill>
            <a:srgbClr val="F26419"/>
          </a:solidFill>
          <a:ln w="12700">
            <a:solidFill>
              <a:srgbClr val="F2641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49377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a modulation the model never saw go?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RadioML 2018.01A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dataset, by decision. Every class shares the same spectral envelope — that turns out to matter.</a:t>
            </a:r>
            <a:endParaRPr lang="en-US" sz="1500" dirty="0"/>
          </a:p>
        </p:txBody>
      </p:sp>
      <p:pic>
        <p:nvPicPr>
          <p:cNvPr id="4" name="Image 0" descr="spectra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7223760" cy="4160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85216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power spectrum per class at 30 dB. Blue = symmetric, red = single-sideband.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1645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6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555480" y="1645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modulation classes — ASK, PSK, APSK, QAM, analog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2514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6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1,024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9555480" y="2514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I/Q samples per frame, used at native length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33832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6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9555480" y="33832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SNR levels, −20 to +30 dB in 2 dB steps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8138160" y="4251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6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4,096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9555480" y="4251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per (class, SNR) cell; 2.5 M frames, 21 GB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8138160" y="516636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RML2016.10a stays in the record for one purpose: the paper-faithful build reaches 63.21% against the published 63.24% on it — the pipeline's only tie to a published number.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Input, output, model, protocol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once here, and unchanged for every result that follows.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I/Q frame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1,024 float32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average power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005072" y="2377440"/>
            <a:ext cx="320040" cy="411480"/>
          </a:xfrm>
          <a:prstGeom prst="rightArrow">
            <a:avLst/>
          </a:prstGeom>
          <a:solidFill>
            <a:srgbClr val="5C7A99"/>
          </a:solidFill>
          <a:ln w="12700">
            <a:solidFill>
              <a:srgbClr val="5C7A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173736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FDE9DF"/>
          </a:solidFill>
          <a:ln w="12700">
            <a:solidFill>
              <a:srgbClr val="FDE9D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7720" y="1828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6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24028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ICRNNA · 786k params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front end → BiLSTM →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attention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845552" y="2377440"/>
            <a:ext cx="320040" cy="411480"/>
          </a:xfrm>
          <a:prstGeom prst="rightArrow">
            <a:avLst/>
          </a:prstGeom>
          <a:solidFill>
            <a:srgbClr val="5C7A99"/>
          </a:solidFill>
          <a:ln w="12700">
            <a:solidFill>
              <a:srgbClr val="5C7A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173736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58200" y="1828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458200" y="224028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K class labels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24, or 4 for the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table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749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160520"/>
            <a:ext cx="5760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/ 15 / 15 split, stratified over every (class, SNR) cell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stopping, LR schedule and checkpoint choice read validation only; the test set is touched once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256, Adam 1e-3, ReduceLROnPlateau, patience 20 under an epoch ceiling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seeds per configuration; results written after every seed and resumed, never overwritten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75120" y="3749040"/>
            <a:ext cx="4983480" cy="2514600"/>
          </a:xfrm>
          <a:prstGeom prst="roundRect">
            <a:avLst>
              <a:gd name="adj" fmla="val 2909"/>
            </a:avLst>
          </a:prstGeom>
          <a:solidFill>
            <a:srgbClr val="FFF4EE"/>
          </a:solidFill>
          <a:ln w="12700">
            <a:solidFill>
              <a:srgbClr val="FFF4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0372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run counts as converged only if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4251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64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best_epoch + patience ≤ ceiling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47548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the number is a floor, not a measurement. Every result here passes this test; where a first run did not, it was rerun under a higher ceiling and the rerun is what is shown. Convergence turned out to be set by gradient updates, not epochs — and to depend on the method, not only the data.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First, does the backbone classify?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contribution — but the cross-domain numbers must start from a competent classifier.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72237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38160" y="16459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87.2%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25328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classes, SNR ≥ 10 dB  (±1.4)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32004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26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100.0%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40873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classes, SNR ≥ 10 dB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480060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across all 26 levels: 0.570 on 24 classes, 0.747 on 4. Chance is 0.042 and 0.25; the curve sits there below −12 dB and saturates from +8.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 table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modulations in, 40,656 decisions above 10 dB, three seeds pooled — how often did we say what?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69494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177290"/>
                <a:gridCol w="1177290"/>
                <a:gridCol w="1177290"/>
                <a:gridCol w="1177290"/>
                <a:gridCol w="8229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transmitted \ decided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QPSK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16QAM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64QAM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10,164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9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A99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A99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A99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QPSK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A99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10,164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9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A99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A99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16QAM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A99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A99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10,164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9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A99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64QAM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A99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A99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10,162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9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45643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40,654 of 40,656 correct. Both errors are 64QAM decided as 16QAM. Rows sum to 10,164: 308 test frames per (class, SNR) cell × 11 levels × 3 seeds.</a:t>
            </a:r>
            <a:endParaRPr lang="en-US" sz="1050" dirty="0"/>
          </a:p>
        </p:txBody>
      </p:sp>
      <p:pic>
        <p:nvPicPr>
          <p:cNvPr id="6" name="Image 0" descr="c16q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691640"/>
            <a:ext cx="1828800" cy="1828800"/>
          </a:xfrm>
          <a:prstGeom prst="rect">
            <a:avLst/>
          </a:prstGeom>
        </p:spPr>
      </p:pic>
      <p:pic>
        <p:nvPicPr>
          <p:cNvPr id="7" name="Image 1" descr="c64q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691640"/>
            <a:ext cx="1828800" cy="18288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7955280" y="35661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16QAM and 64QAM at 20 dB: the pair that carries almost every error in this project</a:t>
            </a:r>
            <a:endParaRPr lang="en-US" sz="1050" dirty="0"/>
          </a:p>
        </p:txBody>
      </p:sp>
      <p:sp>
        <p:nvSpPr>
          <p:cNvPr id="9" name="Shape 4"/>
          <p:cNvSpPr/>
          <p:nvPr/>
        </p:nvSpPr>
        <p:spPr>
          <a:xfrm>
            <a:off x="7955280" y="4251960"/>
            <a:ext cx="3749040" cy="1920240"/>
          </a:xfrm>
          <a:prstGeom prst="roundRect">
            <a:avLst>
              <a:gd name="adj" fmla="val 3810"/>
            </a:avLst>
          </a:prstGeom>
          <a:solidFill>
            <a:srgbClr val="FFF4EE"/>
          </a:solidFill>
          <a:ln w="12700">
            <a:solidFill>
              <a:srgbClr val="FFF4EE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8138160" y="43159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Converged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8138160" y="466344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Peaks at epochs 46, 48, 66 under a 150 ceiling. Two of the three seeds are bit-identical to the earlier 60-epoch run — the lower ceiling had only denied them the proof.</a:t>
            </a:r>
            <a:endParaRPr lang="en-US" sz="1100" dirty="0"/>
          </a:p>
        </p:txBody>
      </p:sp>
      <p:sp>
        <p:nvSpPr>
          <p:cNvPr id="12" name="Text 7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decisions go, by SNR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perfect table at high SNR says nothing. The informative tables are lower down.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55778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691640"/>
          <a:ext cx="530352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65810"/>
                <a:gridCol w="765810"/>
                <a:gridCol w="765810"/>
                <a:gridCol w="765810"/>
                <a:gridCol w="8229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transmitted \ decided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QPSK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16QAM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64QAM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9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A99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A99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A99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QPSK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A99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9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A99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A99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16QAM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A99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9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64QAM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A99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9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400800" y="34107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0 dB: 2,936 of 3,696 (79.4%). PSK is perfect; the QAM pair is a coin flip against each other.</a:t>
            </a:r>
            <a:endParaRPr lang="en-US" sz="1050" dirty="0"/>
          </a:p>
        </p:txBody>
      </p:sp>
      <p:sp>
        <p:nvSpPr>
          <p:cNvPr id="7" name="Shape 3"/>
          <p:cNvSpPr/>
          <p:nvPr/>
        </p:nvSpPr>
        <p:spPr>
          <a:xfrm>
            <a:off x="6400800" y="3977640"/>
            <a:ext cx="5303520" cy="2194560"/>
          </a:xfrm>
          <a:prstGeom prst="roundRect">
            <a:avLst>
              <a:gd name="adj" fmla="val 3333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583680" y="404164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stages, two thresholds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6583680" y="438912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PSK-versus-QAM closes between −4 and 0 dB; which-QAM closes between 0 and +6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first threshold the unreadable classes do not scatter — they sink: at −8 dB, 16QAM is read as QPSK 68% of the time and 64QAM 72%; 16QAM's own recall is below chance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accuracy curve averages both stages into one number per level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gap, and what closes 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shared classes, five seeds each, every cell converged. In-domain never moves; cross-domain does.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955280" y="16459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26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0.805 → 0.989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7955280" y="25328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method → spectral whitening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0" y="3200400"/>
          <a:ext cx="374904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777240"/>
                <a:gridCol w="11887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cross-domain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literature augmentation vs none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not address 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whitening vs none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26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+0.183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closes 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whitening + augmentation vs whitening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 measurement (1 s.d.)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7955280" y="52578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Rotation, conjugate flip and additive noise — the augmentation set the literature cites — move the gap by 0.002. Whatever they are good for, this failure mode is not it.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causes it — by intervention, not correlation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explanations tested and refuted. One intervention that moves the prediction.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6916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Occupied bandwidth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011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it did not recover 16QAM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651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Constellation density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971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is not what the model reads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6118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Symbol-timing regularity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931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RadioML has no symbol-rate spectral line; driving it down changed nothing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572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 impairments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8920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CFO, multipath, IQ imbalance removed one at a time — little changed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92240" y="169164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FFF4EE"/>
          </a:solidFill>
          <a:ln w="12700">
            <a:solidFill>
              <a:srgbClr val="FFF4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20840" y="1874520"/>
            <a:ext cx="457200" cy="45720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208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18288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Phase-preserving magnitude substitution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6720840" y="25146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frame from the failing domain. Keep its phase spectrum exactly. Substitute only the magnitude spectrum of the training domain. Nothing else changes — not the symbols, not the timing, not the channel.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720840" y="37490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6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prediction follows the magnitude spectrum.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720840" y="42062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an intervention on the signal, not an observation of the representation, so it supports a causal claim. The cause is the transmitter's spectral envelope — chiefly its pulse-shaping roll-off.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720840" y="53949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Signal-level, classifier-independent; the accuracies attached to these interventions are pending re-measurement on the current backbone.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fix: remove the envelope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/ smooth(|X|)^α — divide each frame's spectrum by a smoothed estimate of its own magnitude envelope.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5836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691640"/>
            <a:ext cx="411480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0" y="1783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Monotone, saturating by 0.75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219456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1.0 is at least as good as 0.75 (0.993 vs 0.988) and seven times more stable across seeds (±0.001 vs ±0.007). The recovery is carried by 16QAM at every step: α switches one confusion off rather than lifting everything a little.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589520" y="3977640"/>
            <a:ext cx="4114800" cy="2194560"/>
          </a:xfrm>
          <a:prstGeom prst="roundRect">
            <a:avLst>
              <a:gd name="adj" fmla="val 3333"/>
            </a:avLst>
          </a:prstGeom>
          <a:solidFill>
            <a:srgbClr val="FFF4EE"/>
          </a:solidFill>
          <a:ln w="12700">
            <a:solidFill>
              <a:srgbClr val="FFF4E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0" y="4069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Costs nothing in-domain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448056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In-domain accuracy stays at 0.999 with whitening on. The gap falls from +0.193 to +0.011, so the recovery is not bought by trading away benchmark performance.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an unseen modulation lands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23 classes, probe with the 24th. Families fixed before the run; now measured on the current backbone.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of 24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871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classes sink into their own family · chance 3.5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315468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324612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24 runs converged. </a:t>
            </a:r>
            <a:pPr indent="0" marL="0">
              <a:buNone/>
            </a:pPr>
            <a:r>
              <a:rPr lang="en-US" sz="11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epochs 7 to 43 under a 60 ceiling, patience 10. 10 of the 24 sinks take more than 95% of the probes — the model does not scatter, it decides.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7548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APSK with QAM — both amplitude-and-phase constellations — would make it 20 of 24. That reading is post hoc, so the number quoted is 16.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eight misses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1965960"/>
          <a:ext cx="3657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640080"/>
                <a:gridCol w="1188720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held 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0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OQPSK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99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QPSK 33%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16APSK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6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16QAM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99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32APSK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6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32QAM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99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128APSK 13%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64APSK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6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32QAM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99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128APSK 37%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16QAM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64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64APSK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99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128APSK 31%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99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8PSK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99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 18%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OQPSK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16QAM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99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64QAM 10%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4480560" y="4617720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Orange: an APSK ↔ QAM pair. Four of the eight misses are that pair; two more are FM ↔ GMSK, both constant-envelope. The misses are structured — the hand taxonomy, not the model, is what they disagree with.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8503920" y="16002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 five architectures</a:t>
            </a:r>
            <a:endParaRPr lang="en-US" sz="14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8412480" y="1920240"/>
          <a:ext cx="329184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8503920" y="461772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is 0.8 of 6. 8ASK, 32PSK, 128APSK sink to the same class on all five; the two misses on every architecture are FM and OQPSK, the two hard cases the rule put in on purpose. 1 of 30 runs unconverged (Transformer | 32PSK) — its sink stands.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this rerun took away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in the record, not deleted. Each was believed on the earlier backbone and did not survive re-measurement.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146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"Partial whitening beats full"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37560"/>
            <a:ext cx="3063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one concrete disagreement with WhiteNet, from one seed per point on the old backbone. Five seeds on the current one: α = 1.0 ≥ 0.75. Withdrawn; on this task we agree with WhiteNet.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5112" y="173736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3712" y="1920240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53712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53712" y="25146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model reads the class off the envelope"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53712" y="3337560"/>
            <a:ext cx="3063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Handing 16QAM frames a 64QAM envelope left the prediction at 16QAM. The envelope does not carry the class, yet removing it still helps. The mechanism is stated as unresolved.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1584" y="173736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30184" y="1920240"/>
            <a:ext cx="457200" cy="457200"/>
          </a:xfrm>
          <a:prstGeom prst="ellipse">
            <a:avLst/>
          </a:prstGeom>
          <a:solidFill>
            <a:srgbClr val="F26419"/>
          </a:solidFill>
          <a:ln w="12700">
            <a:solidFill>
              <a:srgbClr val="F2641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30184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330184" y="25146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60-epoch ceiling was safe"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30184" y="3337560"/>
            <a:ext cx="3063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not: cells peaked at 82–89. Rerun with room, every flagged cell came back bit-identical or within a point — the ceiling had cost nothing, but that could only be shown by paying for the rerun.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Caveats, stated rather than buried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45920"/>
            <a:ext cx="384048" cy="38404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92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002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domains are synthetic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4983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RadioML is simulated and so is the second transmitter. Until an over-the-air capture exists this is a study of a mechanism, not a measurement of a deployment. The single largest weakness.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417320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0" y="1645920"/>
            <a:ext cx="384048" cy="384048"/>
          </a:xfrm>
          <a:prstGeom prst="ellipse">
            <a:avLst/>
          </a:prstGeom>
          <a:solidFill>
            <a:srgbClr val="F26419"/>
          </a:solidFill>
          <a:ln w="12700">
            <a:solidFill>
              <a:srgbClr val="F2641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92" dirty="0"/>
          </a:p>
        </p:txBody>
      </p:sp>
      <p:sp>
        <p:nvSpPr>
          <p:cNvPr id="11" name="Text 9"/>
          <p:cNvSpPr txBox="1"/>
          <p:nvPr/>
        </p:nvSpPr>
        <p:spPr>
          <a:xfrm>
            <a:off x="6995160" y="16002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is not the published architecture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194560"/>
            <a:ext cx="4983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transcribed from a peer's reproduction and differs from the paper in five places. The paper-faithful build is separate — it reproduces the paper's 63.24% (63.21%), but only trained to convergence, 107 epochs against the paper's 58.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160520"/>
            <a:ext cx="384048" cy="384048"/>
          </a:xfrm>
          <a:prstGeom prst="ellipse">
            <a:avLst/>
          </a:prstGeom>
          <a:solidFill>
            <a:srgbClr val="F26419"/>
          </a:solidFill>
          <a:ln w="12700">
            <a:solidFill>
              <a:srgbClr val="F2641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92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1148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 the sink checks are still on the old backbone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709160"/>
            <a:ext cx="4983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24-class leave-one-out and the architecture control are re-measured. The embedding check, the discriminating control, label permutation and family recovery are not yet.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3931920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4160520"/>
            <a:ext cx="384048" cy="384048"/>
          </a:xfrm>
          <a:prstGeom prst="ellipse">
            <a:avLst/>
          </a:prstGeom>
          <a:solidFill>
            <a:srgbClr val="5C7A99"/>
          </a:solidFill>
          <a:ln w="12700">
            <a:solidFill>
              <a:srgbClr val="5C7A9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465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92" dirty="0"/>
          </a:p>
        </p:txBody>
      </p:sp>
      <p:sp>
        <p:nvSpPr>
          <p:cNvPr id="21" name="Text 19"/>
          <p:cNvSpPr txBox="1"/>
          <p:nvPr/>
        </p:nvSpPr>
        <p:spPr>
          <a:xfrm>
            <a:off x="6995160" y="41148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seeds is thin on 24 classes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4709160"/>
            <a:ext cx="4983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spread reaches 0.021; a difference under about 0.03 between two configurations is not yet a difference.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6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 landed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2651760" y="1463040"/>
            <a:ext cx="8988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sink thread on the current backbone: 16 of 24 held-out classes sink into their own family, and the same-family sink survives on all five architectures. Both runs converged.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6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651760" y="2697480"/>
            <a:ext cx="8988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or drop the domain-adversarial baseline (dann.py); then the cumulant classifier on the same four classes at 0 dB as an independent check that the QAM coin flip is the signal's limit, not the model's.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6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3931920"/>
            <a:ext cx="8988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is the running record; new results are appended, withdrawn claims stay.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035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YusufBilo78/amc · every figure regenerates from the committed .npz files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modulation classifiers fail across transmitters</dc:title>
  <dc:subject>PptxGenJS Presentation</dc:subject>
  <dc:creator>Yusuf Bilal Cetinkaya</dc:creator>
  <cp:lastModifiedBy>Yusuf Bilal Cetinkaya</cp:lastModifiedBy>
  <cp:revision>1</cp:revision>
  <dcterms:created xsi:type="dcterms:W3CDTF">2026-09-21T03:20:38Z</dcterms:created>
  <dcterms:modified xsi:type="dcterms:W3CDTF">2026-09-21T03:20:38Z</dcterms:modified>
</cp:coreProperties>
</file>