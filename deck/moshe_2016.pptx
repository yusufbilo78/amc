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BPSK</c:v>
                </c:pt>
              </c:strCache>
            </c:strRef>
          </c:tx>
          <c:spPr>
            <a:solidFill>
              <a:srgbClr val="0B2545"/>
            </a:solidFill>
            <a:effectLst/>
          </c:spPr>
          <c:invertIfNegative val="0"/>
          <c:dLbls>
            <c:numFmt formatCode="0" sourceLinked="0"/>
            <c:txPr>
              <a:bodyPr/>
              <a:lstStyle/>
              <a:p>
                <a:pPr>
                  <a:defRPr b="0" i="0" strike="noStrike" sz="900" u="none">
                    <a:solidFill>
                      <a:srgbClr val="13315C"/>
                    </a:solidFill>
                    <a:latin typeface="Arial"/>
                  </a:defRPr>
                </a:pPr>
              </a:p>
            </c:txPr>
            <c:showLegendKey val="0"/>
            <c:showVal val="1"/>
            <c:showCatName val="0"/>
            <c:showSerName val="0"/>
            <c:showPercent val="0"/>
            <c:showBubbleSize val="0"/>
            <c:showLeaderLines val="0"/>
          </c:dLbls>
          <c:cat>
            <c:multiLvlStrRef>
              <c:f>Sheet1!$A$2:$A$4</c:f>
              <c:multiLvlStrCache>
                <c:ptCount val="3"/>
                <c:lvl>
                  <c:pt idx="0">
                    <c:v>128 samples (16 symbols)</c:v>
                  </c:pt>
                  <c:pt idx="1">
                    <c:v>64 samples (8 symbols)</c:v>
                  </c:pt>
                  <c:pt idx="2">
                    <c:v>32 samples (4 symbols)</c:v>
                  </c:pt>
                </c:lvl>
              </c:multiLvlStrCache>
            </c:multiLvlStrRef>
          </c:cat>
          <c:val>
            <c:numRef>
              <c:f>Sheet1!$B$2:$B$4</c:f>
              <c:numCache>
                <c:formatCode>General</c:formatCode>
                <c:ptCount val="3"/>
                <c:pt idx="0">
                  <c:v>99.3</c:v>
                </c:pt>
                <c:pt idx="1">
                  <c:v>99.4</c:v>
                </c:pt>
                <c:pt idx="2">
                  <c:v>99.4</c:v>
                </c:pt>
              </c:numCache>
            </c:numRef>
          </c:val>
        </c:ser>
        <c:ser>
          <c:idx val="1"/>
          <c:order val="1"/>
          <c:tx>
            <c:strRef>
              <c:f>Sheet1!$C$1</c:f>
              <c:strCache>
                <c:ptCount val="1"/>
                <c:pt idx="0">
                  <c:v>QPSK</c:v>
                </c:pt>
              </c:strCache>
            </c:strRef>
          </c:tx>
          <c:spPr>
            <a:solidFill>
              <a:srgbClr val="5C9EAD"/>
            </a:solidFill>
            <a:effectLst/>
          </c:spPr>
          <c:invertIfNegative val="0"/>
          <c:dLbls>
            <c:numFmt formatCode="0" sourceLinked="0"/>
            <c:txPr>
              <a:bodyPr/>
              <a:lstStyle/>
              <a:p>
                <a:pPr>
                  <a:defRPr b="0" i="0" strike="noStrike" sz="900" u="none">
                    <a:solidFill>
                      <a:srgbClr val="13315C"/>
                    </a:solidFill>
                    <a:latin typeface="Arial"/>
                  </a:defRPr>
                </a:pPr>
              </a:p>
            </c:txPr>
            <c:showLegendKey val="0"/>
            <c:showVal val="1"/>
            <c:showCatName val="0"/>
            <c:showSerName val="0"/>
            <c:showPercent val="0"/>
            <c:showBubbleSize val="0"/>
            <c:showLeaderLines val="0"/>
          </c:dLbls>
          <c:cat>
            <c:multiLvlStrRef>
              <c:f>Sheet1!$A$2:$A$4</c:f>
              <c:multiLvlStrCache>
                <c:ptCount val="3"/>
                <c:lvl>
                  <c:pt idx="0">
                    <c:v>128 samples (16 symbols)</c:v>
                  </c:pt>
                  <c:pt idx="1">
                    <c:v>64 samples (8 symbols)</c:v>
                  </c:pt>
                  <c:pt idx="2">
                    <c:v>32 samples (4 symbols)</c:v>
                  </c:pt>
                </c:lvl>
              </c:multiLvlStrCache>
            </c:multiLvlStrRef>
          </c:cat>
          <c:val>
            <c:numRef>
              <c:f>Sheet1!$C$2:$C$4</c:f>
              <c:numCache>
                <c:formatCode>General</c:formatCode>
                <c:ptCount val="3"/>
                <c:pt idx="0">
                  <c:v>98.9</c:v>
                </c:pt>
                <c:pt idx="1">
                  <c:v>98.5</c:v>
                </c:pt>
                <c:pt idx="2">
                  <c:v>92</c:v>
                </c:pt>
              </c:numCache>
            </c:numRef>
          </c:val>
        </c:ser>
        <c:ser>
          <c:idx val="2"/>
          <c:order val="2"/>
          <c:tx>
            <c:strRef>
              <c:f>Sheet1!$D$1</c:f>
              <c:strCache>
                <c:ptCount val="1"/>
                <c:pt idx="0">
                  <c:v>QAM16</c:v>
                </c:pt>
              </c:strCache>
            </c:strRef>
          </c:tx>
          <c:spPr>
            <a:solidFill>
              <a:srgbClr val="F26419"/>
            </a:solidFill>
            <a:effectLst/>
          </c:spPr>
          <c:invertIfNegative val="0"/>
          <c:dLbls>
            <c:numFmt formatCode="0" sourceLinked="0"/>
            <c:txPr>
              <a:bodyPr/>
              <a:lstStyle/>
              <a:p>
                <a:pPr>
                  <a:defRPr b="0" i="0" strike="noStrike" sz="900" u="none">
                    <a:solidFill>
                      <a:srgbClr val="13315C"/>
                    </a:solidFill>
                    <a:latin typeface="Arial"/>
                  </a:defRPr>
                </a:pPr>
              </a:p>
            </c:txPr>
            <c:showLegendKey val="0"/>
            <c:showVal val="1"/>
            <c:showCatName val="0"/>
            <c:showSerName val="0"/>
            <c:showPercent val="0"/>
            <c:showBubbleSize val="0"/>
            <c:showLeaderLines val="0"/>
          </c:dLbls>
          <c:cat>
            <c:multiLvlStrRef>
              <c:f>Sheet1!$A$2:$A$4</c:f>
              <c:multiLvlStrCache>
                <c:ptCount val="3"/>
                <c:lvl>
                  <c:pt idx="0">
                    <c:v>128 samples (16 symbols)</c:v>
                  </c:pt>
                  <c:pt idx="1">
                    <c:v>64 samples (8 symbols)</c:v>
                  </c:pt>
                  <c:pt idx="2">
                    <c:v>32 samples (4 symbols)</c:v>
                  </c:pt>
                </c:lvl>
              </c:multiLvlStrCache>
            </c:multiLvlStrRef>
          </c:cat>
          <c:val>
            <c:numRef>
              <c:f>Sheet1!$D$2:$D$4</c:f>
              <c:numCache>
                <c:formatCode>General</c:formatCode>
                <c:ptCount val="3"/>
                <c:pt idx="0">
                  <c:v>86.7</c:v>
                </c:pt>
                <c:pt idx="1">
                  <c:v>65.9</c:v>
                </c:pt>
                <c:pt idx="2">
                  <c:v>46.3</c:v>
                </c:pt>
              </c:numCache>
            </c:numRef>
          </c:val>
        </c:ser>
        <c:ser>
          <c:idx val="3"/>
          <c:order val="3"/>
          <c:tx>
            <c:strRef>
              <c:f>Sheet1!$E$1</c:f>
              <c:strCache>
                <c:ptCount val="1"/>
                <c:pt idx="0">
                  <c:v>QAM64</c:v>
                </c:pt>
              </c:strCache>
            </c:strRef>
          </c:tx>
          <c:spPr>
            <a:solidFill>
              <a:srgbClr val="1B998B"/>
            </a:solidFill>
            <a:effectLst/>
          </c:spPr>
          <c:invertIfNegative val="0"/>
          <c:dLbls>
            <c:numFmt formatCode="0" sourceLinked="0"/>
            <c:txPr>
              <a:bodyPr/>
              <a:lstStyle/>
              <a:p>
                <a:pPr>
                  <a:defRPr b="0" i="0" strike="noStrike" sz="900" u="none">
                    <a:solidFill>
                      <a:srgbClr val="13315C"/>
                    </a:solidFill>
                    <a:latin typeface="Arial"/>
                  </a:defRPr>
                </a:pPr>
              </a:p>
            </c:txPr>
            <c:showLegendKey val="0"/>
            <c:showVal val="1"/>
            <c:showCatName val="0"/>
            <c:showSerName val="0"/>
            <c:showPercent val="0"/>
            <c:showBubbleSize val="0"/>
            <c:showLeaderLines val="0"/>
          </c:dLbls>
          <c:cat>
            <c:multiLvlStrRef>
              <c:f>Sheet1!$A$2:$A$4</c:f>
              <c:multiLvlStrCache>
                <c:ptCount val="3"/>
                <c:lvl>
                  <c:pt idx="0">
                    <c:v>128 samples (16 symbols)</c:v>
                  </c:pt>
                  <c:pt idx="1">
                    <c:v>64 samples (8 symbols)</c:v>
                  </c:pt>
                  <c:pt idx="2">
                    <c:v>32 samples (4 symbols)</c:v>
                  </c:pt>
                </c:lvl>
              </c:multiLvlStrCache>
            </c:multiLvlStrRef>
          </c:cat>
          <c:val>
            <c:numRef>
              <c:f>Sheet1!$E$2:$E$4</c:f>
              <c:numCache>
                <c:formatCode>General</c:formatCode>
                <c:ptCount val="3"/>
                <c:pt idx="0">
                  <c:v>91.9</c:v>
                </c:pt>
                <c:pt idx="1">
                  <c:v>74.9</c:v>
                </c:pt>
                <c:pt idx="2">
                  <c:v>62.9</c:v>
                </c:pt>
              </c:numCache>
            </c:numRef>
          </c:val>
        </c:ser>
        <c:dLbls>
          <c:numFmt formatCode="0" sourceLinked="0"/>
          <c:txPr>
            <a:bodyPr/>
            <a:lstStyle/>
            <a:p>
              <a:pPr>
                <a:defRPr b="0" i="0" strike="noStrike" sz="900" u="none">
                  <a:solidFill>
                    <a:srgbClr val="13315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7A99"/>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3E8EE"/>
              </a:solidFill>
              <a:prstDash val="solid"/>
              <a:round/>
            </a:ln>
          </c:spPr>
        </c:majorGridlines>
        <c:title>
          <c:tx>
            <c:rich>
              <a:bodyPr/>
              <a:lstStyle/>
              <a:p>
                <a:pPr>
                  <a:defRPr sz="1100" b="0" i="0" u="none" strike="noStrike">
                    <a:solidFill>
                      <a:srgbClr val="5C7A99"/>
                    </a:solidFill>
                    <a:latin typeface="Arial"/>
                  </a:defRPr>
                </a:pPr>
                <a:r>
                  <a:rPr sz="1100" b="0" i="0" u="none" strike="noStrike">
                    <a:solidFill>
                      <a:srgbClr val="5C7A99"/>
                    </a:solidFill>
                    <a:latin typeface="Arial"/>
                  </a:rPr>
                  <a:t>recall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A99"/>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3315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you asked me to open the box, define the noise, and go one SNR at a time on the four-class problem, and not to make it more complicated than that. This is that, on RML2016.10a, the dataset the group works on. Everything is measured on one model, and every number comes from a file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things you asked for, and the slide where each is answered. Items one to five are done. The sixth, don't make it more complicated, is how the deck is built: four classes, one model, one dataset. There is one slide near the end on the domain-gap work, because it contradicted 2018 and I want you to know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end to end. In: one frame, 128 complex samples, as a 2 by 128 array of I and Q. On this dataset that is 16 symbols. Each frame is scaled to unit power first, so the model cannot read the level. Two convolution layers turn it into 32 short feature vectors, each describing about one and a half symbols. A two-layer bidirectional LSTM reads those 32 forwards and backwards, so each one knows about the whole frame. Attention takes a learned weighted average of the 32, which gives one vector for the frame. A small classifier turns that into four scores, and the decision is the largest score. 785 thousand numbers are learned; 84 percent of them are in the LSTM. The same weights work at 64 and 32 samples, only the number of LSTM steps changes, and that is what makes the frame-length test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came from. The architecture is ICRNNA, El-Haryqy and colleagues, Results in Engineering 2025. Our code is not written from the paper; it is transcribed from a colleague's reproduction, and it differs from the paper in five places, listed. So I never call it the published architecture. To check the paper independently I built a faithful version from the paper itself. At the paper's own 58 epochs it reaches 61.75 against 63.24. Trained until early stopping ends it, which is epoch 107, it reaches 63.21. So the paper's number is real and our pipeline reads the data correctly. And you asked who wrote what. The code, the tools, this deck and most of the write-up were written with Claude Code, Anthropic's coding assistant. Every commit it wrote is marked in git. The dataset, the architecture, the numbers and the decisions did not come from it: the numbers come from running the code on a GPU, and several were rerun and came back bit-identical. [Say here, in your own words, how the work before 9 September was done and who the colleague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was trained, and how it decides. The split is per class and per SNR: 70 percent train, 15 validation, 15 test. Early stopping, the learning-rate schedule and the choice of checkpoint read only validation; the test set is touched once. 14 seeds, and every one of them stopped by early stopping, not by the ceiling. On the decision: the model is deterministic. The same frame 10,000 times gives the same answer 10,000 times. So the meaningful test is 10,000 different frames, and every table in this deck counts exactly that. And there is no 'I don't know': every frame gets one of the four labels, even at minus 20 dB. That is where the sink on slide 12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made the noise. DeepSig, in GNU Radio, entirely synthetic. The paper names the channel block and gives no parameters at all, so these come from the generator code they published. The important point is on the right: noise is only one of five impairments. Carrier offset, clock offset, Rician fading and three-path multipath are there at every SNR, including plus 18. And the SNR label sets exactly one number: the noise amplitude, 10 to the minus label over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10 dB the ratio of? Because that setting is an amplitude, the label moves the noise twice as fast as its name. I did not want to take the code's word for it, so I measured the SNR in the frames of the file itself, from the noise level outside the signal's band. For PSK the measured SNR rises 1.9 dB per dB of label. Confirmed. The second finding I did not expect: the classes do not share an SNR. At the same label, QAM16 frames have 9.5 dB more SNR than PSK and QAM64 15 dB more. That is exactly what you get if the constellations went out unscaled, with the noise the same for all. So at a label of minus 6, a QAM64 frame is at about plus 9 dB and a QPSK frame at about minus 6. The answer to your question: 10 dB in this dataset is a setting, not a ratio, and it means a different ratio for each class. The method reads between about minus 13 and plus 18 dB; outside that, the flat parts are the method's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at one SNR: 10 dB label. 8,400 decisions: 14 seeds, 150 test frames per class. Rows are what was sent, columns what was decided. Recall is the row: of the frames that were this class, how many were called it. Precision is the column: of the frames called this class, how many were it. BPSK and QPSK are at 99.6 percent. Almost every error is QAM16 against QAM64: 395 of the 448.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lower, as you asked: 10, 6, 4, 2. The counts are 448, 473, 453, 486 wrong out of 8,400. Nothing changes. The box does not start to break until the label goes under 0 dB: 609 at 0, 1,042 at minus 2, 2,174 at minus 4. Below that, QPSK leaks into both QAMs first and QAM16 drains into QAM64; BPSK holds longest.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rate against SNR, and against frame length, which you also asked for. 8,400 decisions behind every point; the band is the best and worst of 14 seeds. SNR decides where the curve falls. Frame length decides how low it can go: from plus 2 dB up, the error rate is flat at 5.7 percent with 128 samples, 15.5 with 64 and 25.2 with 32. As you predicted: shorter frames, more errors, and more SNR does not buy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shorter frames break. At 128 samples, 16 symbols, QAM16 recall is 87 percent. At 8 symbols, 66. At 4 symbols, 46: a coin flip. BPSK does not move. QPSK only drops at 4 symbols, and it drops into BPSK, which is what four symbols predict: if all four fall on one diagonal of the QPSK constellation, the frame looks like BPSK. With the SNR measurement from slide 7, the QAM frames here are above 17 dB. So these errors are not noise; they are the number of symbols in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graph now says how many decisions are behind each point, and shows precision next to recall. This is why. At minus 20 dB, BPSK and QPSK recall are near 50 percent, which looks like recognition. It is not: 98.8 percent of all decisions go to those two, and their precision is 25 percent, which is chance with four classes. The model sends frames with no information to the PSK classes, and which of the two is arbitrary: from seed to seed the BPSK share runs from 12 to 86 percent. That is the rising curve you pointed at last week. It is the sink, and precision is what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beyond the box, because it changes what I told you about 2018. On 2018 spectral whitening closed the domain gap. On 2016 it does not. The gap is small to start with, 0.028, and the standard augmentation set closes it. Whitening at first cost 8 points in-domain. I measured why: at 128 samples the spectral envelope is estimated from too few bins. Smoothing over more bins removes the cost entirely, and at 33 bins it is even 1.3 points better than nothing, but it still does not close the cross-domain gap. So the 2018 claim holds only for 2018,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caveats. Both domains are synthetic. The model is not the published architecture. The SNR label means a different SNR per class, so no comparison across classes at one label. And the four-class results are 14 seeds on one dataset and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keeping to the four-class box, and breaking it one knob at a time. Frame length and SNR are done. The generator is in our hands, so the next knobs are the other four impairments: turn off carrier offset, fading and multipath one by one, at the same frame length, and see which one the high-SNR QAM errors belong to. Then the same box on a real capture, when lab access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1371600"/>
            <a:ext cx="7863840" cy="109728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Opening the four-class box</a:t>
            </a:r>
            <a:endParaRPr lang="en-US" sz="4000" dirty="0"/>
          </a:p>
        </p:txBody>
      </p:sp>
      <p:sp>
        <p:nvSpPr>
          <p:cNvPr id="3" name="Text 1"/>
          <p:cNvSpPr txBox="1"/>
          <p:nvPr/>
        </p:nvSpPr>
        <p:spPr>
          <a:xfrm>
            <a:off x="548640" y="2560320"/>
            <a:ext cx="7863840" cy="640080"/>
          </a:xfrm>
          <a:prstGeom prst="rect">
            <a:avLst/>
          </a:prstGeom>
          <a:noFill/>
          <a:ln/>
        </p:spPr>
        <p:txBody>
          <a:bodyPr wrap="square" lIns="0" tIns="0" rIns="0" bIns="0" rtlCol="0" anchor="ctr"/>
          <a:lstStyle/>
          <a:p>
            <a:pPr indent="0" marL="0">
              <a:buNone/>
            </a:pPr>
            <a:r>
              <a:rPr lang="en-US" sz="2200" dirty="0">
                <a:solidFill>
                  <a:srgbClr val="F26419"/>
                </a:solidFill>
                <a:latin typeface="Cambria" pitchFamily="34" charset="0"/>
                <a:ea typeface="Cambria" pitchFamily="34" charset="-122"/>
                <a:cs typeface="Cambria" pitchFamily="34" charset="-120"/>
              </a:rPr>
              <a:t>What you asked on 22 September, answered on RML2016.10a</a:t>
            </a:r>
            <a:endParaRPr lang="en-US" sz="2200" dirty="0"/>
          </a:p>
        </p:txBody>
      </p:sp>
      <p:sp>
        <p:nvSpPr>
          <p:cNvPr id="4" name="Text 2"/>
          <p:cNvSpPr txBox="1"/>
          <p:nvPr/>
        </p:nvSpPr>
        <p:spPr>
          <a:xfrm>
            <a:off x="548640" y="3657600"/>
            <a:ext cx="11091672" cy="457200"/>
          </a:xfrm>
          <a:prstGeom prst="rect">
            <a:avLst/>
          </a:prstGeom>
          <a:noFill/>
          <a:ln/>
        </p:spPr>
        <p:txBody>
          <a:bodyPr wrap="square" lIns="0" tIns="0" rIns="0" bIns="0" rtlCol="0" anchor="ctr"/>
          <a:lstStyle/>
          <a:p>
            <a:pPr indent="0" marL="0">
              <a:buNone/>
            </a:pPr>
            <a:r>
              <a:rPr lang="en-US" sz="1600" dirty="0">
                <a:solidFill>
                  <a:srgbClr val="DCE6F0"/>
                </a:solidFill>
                <a:latin typeface="Calibri" pitchFamily="34" charset="0"/>
                <a:ea typeface="Calibri" pitchFamily="34" charset="-122"/>
                <a:cs typeface="Calibri" pitchFamily="34" charset="-120"/>
              </a:rPr>
              <a:t>BPSK · QPSK · QAM16 · QAM64 · 128-sample frames · ICRNNA · 14 seeds</a:t>
            </a:r>
            <a:endParaRPr lang="en-US" sz="1600" dirty="0"/>
          </a:p>
        </p:txBody>
      </p:sp>
      <p:sp>
        <p:nvSpPr>
          <p:cNvPr id="5" name="Text 3"/>
          <p:cNvSpPr txBox="1"/>
          <p:nvPr/>
        </p:nvSpPr>
        <p:spPr>
          <a:xfrm>
            <a:off x="548640" y="4160520"/>
            <a:ext cx="11091672"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Yusuf Bilal Çetinkaya · September 2026</a:t>
            </a:r>
            <a:endParaRPr lang="en-US" sz="1600" dirty="0"/>
          </a:p>
        </p:txBody>
      </p:sp>
      <p:pic>
        <p:nvPicPr>
          <p:cNvPr id="6" name="Image 0" descr="c16qam.png">    </p:cNvPr>
          <p:cNvPicPr>
            <a:picLocks noChangeAspect="1"/>
          </p:cNvPicPr>
          <p:nvPr/>
        </p:nvPicPr>
        <p:blipFill>
          <a:blip r:embed="rId1">
            <a:alphaModFix amt="85000"/>
          </a:blip>
          <a:stretch>
            <a:fillRect/>
          </a:stretch>
        </p:blipFill>
        <p:spPr>
          <a:xfrm>
            <a:off x="8686800" y="1280160"/>
            <a:ext cx="2926080" cy="2926080"/>
          </a:xfrm>
          <a:prstGeom prst="rect">
            <a:avLst/>
          </a:prstGeom>
        </p:spPr>
      </p:pic>
      <p:sp>
        <p:nvSpPr>
          <p:cNvPr id="8" name="Text 4"/>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DCE6F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What you asked for last week</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Six items, one slide each. Everything on 2016, so it compares with the group's work.</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8348472"/>
                <a:gridCol w="1371600"/>
                <a:gridCol w="1371600"/>
              </a:tblGrid>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you asked</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566928">
                <a:tc>
                  <a:txBody>
                    <a:bodyPr/>
                    <a:lstStyle/>
                    <a:p>
                      <a:pPr indent="0" marL="0">
                        <a:buNone/>
                      </a:pPr>
                      <a:r>
                        <a:rPr lang="en-US" sz="1400" dirty="0">
                          <a:solidFill>
                            <a:srgbClr val="13315C"/>
                          </a:solidFill>
                          <a:latin typeface="Calibri" pitchFamily="34" charset="0"/>
                          <a:ea typeface="Calibri" pitchFamily="34" charset="-122"/>
                          <a:cs typeface="Calibri" pitchFamily="34" charset="-120"/>
                        </a:rPr>
                        <a:t>Open the box: what the detector is, where it came from, who wrote it</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13315C"/>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r>
              <a:tr h="566928">
                <a:tc>
                  <a:txBody>
                    <a:bodyPr/>
                    <a:lstStyle/>
                    <a:p>
                      <a:pPr indent="0" marL="0">
                        <a:buNone/>
                      </a:pPr>
                      <a:r>
                        <a:rPr lang="en-US" sz="1400" dirty="0">
                          <a:solidFill>
                            <a:srgbClr val="13315C"/>
                          </a:solidFill>
                          <a:latin typeface="Calibri" pitchFamily="34" charset="0"/>
                          <a:ea typeface="Calibri" pitchFamily="34" charset="-122"/>
                          <a:cs typeface="Calibri" pitchFamily="34" charset="-120"/>
                        </a:rPr>
                        <a:t>Define the noise: what “10 dB” is the ratio of, who made it</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13315C"/>
                          </a:solidFill>
                          <a:latin typeface="Calibri" pitchFamily="34" charset="0"/>
                          <a:ea typeface="Calibri" pitchFamily="34" charset="-122"/>
                          <a:cs typeface="Calibri" pitchFamily="34" charset="-120"/>
                        </a:rPr>
                        <a:t>6–7</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r>
              <a:tr h="566928">
                <a:tc>
                  <a:txBody>
                    <a:bodyPr/>
                    <a:lstStyle/>
                    <a:p>
                      <a:pPr indent="0" marL="0">
                        <a:buNone/>
                      </a:pPr>
                      <a:r>
                        <a:rPr lang="en-US" sz="1400" dirty="0">
                          <a:solidFill>
                            <a:srgbClr val="13315C"/>
                          </a:solidFill>
                          <a:latin typeface="Calibri" pitchFamily="34" charset="0"/>
                          <a:ea typeface="Calibri" pitchFamily="34" charset="-122"/>
                          <a:cs typeface="Calibri" pitchFamily="34" charset="-120"/>
                        </a:rPr>
                        <a:t>One SNR at a time: the matrix at 10, then 6, then about 3 dB</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13315C"/>
                          </a:solidFill>
                          <a:latin typeface="Calibri" pitchFamily="34" charset="0"/>
                          <a:ea typeface="Calibri" pitchFamily="34" charset="-122"/>
                          <a:cs typeface="Calibri" pitchFamily="34" charset="-120"/>
                        </a:rPr>
                        <a:t>8–9</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r>
              <a:tr h="566928">
                <a:tc>
                  <a:txBody>
                    <a:bodyPr/>
                    <a:lstStyle/>
                    <a:p>
                      <a:pPr indent="0" marL="0">
                        <a:buNone/>
                      </a:pPr>
                      <a:r>
                        <a:rPr lang="en-US" sz="1400" dirty="0">
                          <a:solidFill>
                            <a:srgbClr val="13315C"/>
                          </a:solidFill>
                          <a:latin typeface="Calibri" pitchFamily="34" charset="0"/>
                          <a:ea typeface="Calibri" pitchFamily="34" charset="-122"/>
                          <a:cs typeface="Calibri" pitchFamily="34" charset="-120"/>
                        </a:rPr>
                        <a:t>State the frame length, then shorten it</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13315C"/>
                          </a:solidFill>
                          <a:latin typeface="Calibri" pitchFamily="34" charset="0"/>
                          <a:ea typeface="Calibri" pitchFamily="34" charset="-122"/>
                          <a:cs typeface="Calibri" pitchFamily="34" charset="-120"/>
                        </a:rPr>
                        <a:t>10–11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r>
              <a:tr h="566928">
                <a:tc>
                  <a:txBody>
                    <a:bodyPr/>
                    <a:lstStyle/>
                    <a:p>
                      <a:pPr indent="0" marL="0">
                        <a:buNone/>
                      </a:pPr>
                      <a:r>
                        <a:rPr lang="en-US" sz="1400" dirty="0">
                          <a:solidFill>
                            <a:srgbClr val="13315C"/>
                          </a:solidFill>
                          <a:latin typeface="Calibri" pitchFamily="34" charset="0"/>
                          <a:ea typeface="Calibri" pitchFamily="34" charset="-122"/>
                          <a:cs typeface="Calibri" pitchFamily="34" charset="-120"/>
                        </a:rPr>
                        <a:t>Every graph says how many decisions are behind each point; recall defined, precision shown</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13315C"/>
                          </a:solidFill>
                          <a:latin typeface="Calibri" pitchFamily="34" charset="0"/>
                          <a:ea typeface="Calibri" pitchFamily="34" charset="-122"/>
                          <a:cs typeface="Calibri" pitchFamily="34" charset="-120"/>
                        </a:rPr>
                        <a:t>8, 12</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r>
              <a:tr h="566928">
                <a:tc>
                  <a:txBody>
                    <a:bodyPr/>
                    <a:lstStyle/>
                    <a:p>
                      <a:pPr indent="0" marL="0">
                        <a:buNone/>
                      </a:pPr>
                      <a:r>
                        <a:rPr lang="en-US" sz="1400" dirty="0">
                          <a:solidFill>
                            <a:srgbClr val="13315C"/>
                          </a:solidFill>
                          <a:latin typeface="Calibri" pitchFamily="34" charset="0"/>
                          <a:ea typeface="Calibri" pitchFamily="34" charset="-122"/>
                          <a:cs typeface="Calibri" pitchFamily="34" charset="-120"/>
                        </a:rPr>
                        <a:t>Don't make it more complicated than the four-class box — break it</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13315C"/>
                          </a:solidFill>
                          <a:latin typeface="Calibri" pitchFamily="34" charset="0"/>
                          <a:ea typeface="Calibri" pitchFamily="34" charset="-122"/>
                          <a:cs typeface="Calibri" pitchFamily="34" charset="-120"/>
                        </a:rPr>
                        <a:t>all</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r>
            </a:tbl>
          </a:graphicData>
        </a:graphic>
      </p:graphicFrame>
      <p:sp>
        <p:nvSpPr>
          <p:cNvPr id="6" name="Text 2"/>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The box, end to end</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One frame in, one of four labels out. Every block, its output shape and how many numbers it learns.</a:t>
            </a:r>
            <a:endParaRPr lang="en-US" sz="1500" dirty="0"/>
          </a:p>
        </p:txBody>
      </p:sp>
      <p:sp>
        <p:nvSpPr>
          <p:cNvPr id="4" name="Shape 2"/>
          <p:cNvSpPr/>
          <p:nvPr/>
        </p:nvSpPr>
        <p:spPr>
          <a:xfrm>
            <a:off x="548640" y="1920240"/>
            <a:ext cx="1417320" cy="566928"/>
          </a:xfrm>
          <a:prstGeom prst="roundRect">
            <a:avLst>
              <a:gd name="adj" fmla="val 12903"/>
            </a:avLst>
          </a:prstGeom>
          <a:solidFill>
            <a:srgbClr val="5C7A99"/>
          </a:solidFill>
          <a:ln w="12700">
            <a:solidFill>
              <a:srgbClr val="5C7A99"/>
            </a:solidFill>
            <a:prstDash val="solid"/>
          </a:ln>
        </p:spPr>
      </p:sp>
      <p:sp>
        <p:nvSpPr>
          <p:cNvPr id="5" name="Text 3"/>
          <p:cNvSpPr txBox="1"/>
          <p:nvPr/>
        </p:nvSpPr>
        <p:spPr>
          <a:xfrm>
            <a:off x="5486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input</a:t>
            </a:r>
            <a:endParaRPr lang="en-US" sz="1500" dirty="0"/>
          </a:p>
        </p:txBody>
      </p:sp>
      <p:sp>
        <p:nvSpPr>
          <p:cNvPr id="6" name="Shape 4"/>
          <p:cNvSpPr/>
          <p:nvPr/>
        </p:nvSpPr>
        <p:spPr>
          <a:xfrm>
            <a:off x="548640" y="2578608"/>
            <a:ext cx="1417320" cy="1234440"/>
          </a:xfrm>
          <a:prstGeom prst="roundRect">
            <a:avLst>
              <a:gd name="adj" fmla="val 5926"/>
            </a:avLst>
          </a:prstGeom>
          <a:solidFill>
            <a:srgbClr val="F3F6F9"/>
          </a:solidFill>
          <a:ln w="12700">
            <a:solidFill>
              <a:srgbClr val="F3F6F9"/>
            </a:solidFill>
            <a:prstDash val="solid"/>
          </a:ln>
        </p:spPr>
      </p:sp>
      <p:sp>
        <p:nvSpPr>
          <p:cNvPr id="7" name="Text 5"/>
          <p:cNvSpPr txBox="1"/>
          <p:nvPr/>
        </p:nvSpPr>
        <p:spPr>
          <a:xfrm>
            <a:off x="6217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I and Q,</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128 samples</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 16 symbols</a:t>
            </a:r>
            <a:endParaRPr lang="en-US" sz="1100" dirty="0"/>
          </a:p>
        </p:txBody>
      </p:sp>
      <p:sp>
        <p:nvSpPr>
          <p:cNvPr id="8" name="Text 6"/>
          <p:cNvSpPr txBox="1"/>
          <p:nvPr/>
        </p:nvSpPr>
        <p:spPr>
          <a:xfrm>
            <a:off x="5486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2 × 128</a:t>
            </a:r>
            <a:endParaRPr lang="en-US" sz="1300" dirty="0"/>
          </a:p>
        </p:txBody>
      </p:sp>
      <p:sp>
        <p:nvSpPr>
          <p:cNvPr id="9" name="Text 7"/>
          <p:cNvSpPr txBox="1"/>
          <p:nvPr/>
        </p:nvSpPr>
        <p:spPr>
          <a:xfrm>
            <a:off x="5486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no weights</a:t>
            </a:r>
            <a:endParaRPr lang="en-US" sz="1050" dirty="0"/>
          </a:p>
        </p:txBody>
      </p:sp>
      <p:sp>
        <p:nvSpPr>
          <p:cNvPr id="10" name="Shape 8"/>
          <p:cNvSpPr/>
          <p:nvPr/>
        </p:nvSpPr>
        <p:spPr>
          <a:xfrm>
            <a:off x="1993392" y="2103120"/>
            <a:ext cx="128016" cy="201168"/>
          </a:xfrm>
          <a:prstGeom prst="rightArrow">
            <a:avLst/>
          </a:prstGeom>
          <a:solidFill>
            <a:srgbClr val="8A99A8"/>
          </a:solidFill>
          <a:ln w="12700">
            <a:solidFill>
              <a:srgbClr val="8A99A8"/>
            </a:solidFill>
            <a:prstDash val="solid"/>
          </a:ln>
        </p:spPr>
      </p:sp>
      <p:sp>
        <p:nvSpPr>
          <p:cNvPr id="11" name="Shape 9"/>
          <p:cNvSpPr/>
          <p:nvPr/>
        </p:nvSpPr>
        <p:spPr>
          <a:xfrm>
            <a:off x="2148840" y="1920240"/>
            <a:ext cx="1417320" cy="566928"/>
          </a:xfrm>
          <a:prstGeom prst="roundRect">
            <a:avLst>
              <a:gd name="adj" fmla="val 12903"/>
            </a:avLst>
          </a:prstGeom>
          <a:solidFill>
            <a:srgbClr val="0B2545"/>
          </a:solidFill>
          <a:ln w="12700">
            <a:solidFill>
              <a:srgbClr val="0B2545"/>
            </a:solidFill>
            <a:prstDash val="solid"/>
          </a:ln>
        </p:spPr>
      </p:sp>
      <p:sp>
        <p:nvSpPr>
          <p:cNvPr id="12" name="Text 10"/>
          <p:cNvSpPr txBox="1"/>
          <p:nvPr/>
        </p:nvSpPr>
        <p:spPr>
          <a:xfrm>
            <a:off x="21488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conv 1</a:t>
            </a:r>
            <a:endParaRPr lang="en-US" sz="1500" dirty="0"/>
          </a:p>
        </p:txBody>
      </p:sp>
      <p:sp>
        <p:nvSpPr>
          <p:cNvPr id="13" name="Shape 11"/>
          <p:cNvSpPr/>
          <p:nvPr/>
        </p:nvSpPr>
        <p:spPr>
          <a:xfrm>
            <a:off x="2148840" y="2578608"/>
            <a:ext cx="1417320" cy="1234440"/>
          </a:xfrm>
          <a:prstGeom prst="roundRect">
            <a:avLst>
              <a:gd name="adj" fmla="val 5926"/>
            </a:avLst>
          </a:prstGeom>
          <a:solidFill>
            <a:srgbClr val="F3F6F9"/>
          </a:solidFill>
          <a:ln w="12700">
            <a:solidFill>
              <a:srgbClr val="F3F6F9"/>
            </a:solidFill>
            <a:prstDash val="solid"/>
          </a:ln>
        </p:spPr>
      </p:sp>
      <p:sp>
        <p:nvSpPr>
          <p:cNvPr id="14" name="Text 12"/>
          <p:cNvSpPr txBox="1"/>
          <p:nvPr/>
        </p:nvSpPr>
        <p:spPr>
          <a:xfrm>
            <a:off x="22219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64 filters × 5 samples</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 max-pool 2</a:t>
            </a:r>
            <a:endParaRPr lang="en-US" sz="1100" dirty="0"/>
          </a:p>
        </p:txBody>
      </p:sp>
      <p:sp>
        <p:nvSpPr>
          <p:cNvPr id="15" name="Text 13"/>
          <p:cNvSpPr txBox="1"/>
          <p:nvPr/>
        </p:nvSpPr>
        <p:spPr>
          <a:xfrm>
            <a:off x="21488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64 × 64</a:t>
            </a:r>
            <a:endParaRPr lang="en-US" sz="1300" dirty="0"/>
          </a:p>
        </p:txBody>
      </p:sp>
      <p:sp>
        <p:nvSpPr>
          <p:cNvPr id="16" name="Text 14"/>
          <p:cNvSpPr txBox="1"/>
          <p:nvPr/>
        </p:nvSpPr>
        <p:spPr>
          <a:xfrm>
            <a:off x="21488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832 weights</a:t>
            </a:r>
            <a:endParaRPr lang="en-US" sz="1050" dirty="0"/>
          </a:p>
        </p:txBody>
      </p:sp>
      <p:sp>
        <p:nvSpPr>
          <p:cNvPr id="17" name="Shape 15"/>
          <p:cNvSpPr/>
          <p:nvPr/>
        </p:nvSpPr>
        <p:spPr>
          <a:xfrm>
            <a:off x="3593592" y="2103120"/>
            <a:ext cx="128016" cy="201168"/>
          </a:xfrm>
          <a:prstGeom prst="rightArrow">
            <a:avLst/>
          </a:prstGeom>
          <a:solidFill>
            <a:srgbClr val="8A99A8"/>
          </a:solidFill>
          <a:ln w="12700">
            <a:solidFill>
              <a:srgbClr val="8A99A8"/>
            </a:solidFill>
            <a:prstDash val="solid"/>
          </a:ln>
        </p:spPr>
      </p:sp>
      <p:sp>
        <p:nvSpPr>
          <p:cNvPr id="18" name="Shape 16"/>
          <p:cNvSpPr/>
          <p:nvPr/>
        </p:nvSpPr>
        <p:spPr>
          <a:xfrm>
            <a:off x="3749040" y="1920240"/>
            <a:ext cx="1417320" cy="566928"/>
          </a:xfrm>
          <a:prstGeom prst="roundRect">
            <a:avLst>
              <a:gd name="adj" fmla="val 12903"/>
            </a:avLst>
          </a:prstGeom>
          <a:solidFill>
            <a:srgbClr val="0B2545"/>
          </a:solidFill>
          <a:ln w="12700">
            <a:solidFill>
              <a:srgbClr val="0B2545"/>
            </a:solidFill>
            <a:prstDash val="solid"/>
          </a:ln>
        </p:spPr>
      </p:sp>
      <p:sp>
        <p:nvSpPr>
          <p:cNvPr id="19" name="Text 17"/>
          <p:cNvSpPr txBox="1"/>
          <p:nvPr/>
        </p:nvSpPr>
        <p:spPr>
          <a:xfrm>
            <a:off x="37490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conv 2</a:t>
            </a:r>
            <a:endParaRPr lang="en-US" sz="1500" dirty="0"/>
          </a:p>
        </p:txBody>
      </p:sp>
      <p:sp>
        <p:nvSpPr>
          <p:cNvPr id="20" name="Shape 18"/>
          <p:cNvSpPr/>
          <p:nvPr/>
        </p:nvSpPr>
        <p:spPr>
          <a:xfrm>
            <a:off x="3749040" y="2578608"/>
            <a:ext cx="1417320" cy="1234440"/>
          </a:xfrm>
          <a:prstGeom prst="roundRect">
            <a:avLst>
              <a:gd name="adj" fmla="val 5926"/>
            </a:avLst>
          </a:prstGeom>
          <a:solidFill>
            <a:srgbClr val="F3F6F9"/>
          </a:solidFill>
          <a:ln w="12700">
            <a:solidFill>
              <a:srgbClr val="F3F6F9"/>
            </a:solidFill>
            <a:prstDash val="solid"/>
          </a:ln>
        </p:spPr>
      </p:sp>
      <p:sp>
        <p:nvSpPr>
          <p:cNvPr id="21" name="Text 19"/>
          <p:cNvSpPr txBox="1"/>
          <p:nvPr/>
        </p:nvSpPr>
        <p:spPr>
          <a:xfrm>
            <a:off x="38221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128 filters × 3</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 max-pool 2</a:t>
            </a:r>
            <a:endParaRPr lang="en-US" sz="1100" dirty="0"/>
          </a:p>
        </p:txBody>
      </p:sp>
      <p:sp>
        <p:nvSpPr>
          <p:cNvPr id="22" name="Text 20"/>
          <p:cNvSpPr txBox="1"/>
          <p:nvPr/>
        </p:nvSpPr>
        <p:spPr>
          <a:xfrm>
            <a:off x="37490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128 × 32</a:t>
            </a:r>
            <a:endParaRPr lang="en-US" sz="1300" dirty="0"/>
          </a:p>
        </p:txBody>
      </p:sp>
      <p:sp>
        <p:nvSpPr>
          <p:cNvPr id="23" name="Text 21"/>
          <p:cNvSpPr txBox="1"/>
          <p:nvPr/>
        </p:nvSpPr>
        <p:spPr>
          <a:xfrm>
            <a:off x="37490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24,960 weights</a:t>
            </a:r>
            <a:endParaRPr lang="en-US" sz="1050" dirty="0"/>
          </a:p>
        </p:txBody>
      </p:sp>
      <p:sp>
        <p:nvSpPr>
          <p:cNvPr id="24" name="Shape 22"/>
          <p:cNvSpPr/>
          <p:nvPr/>
        </p:nvSpPr>
        <p:spPr>
          <a:xfrm>
            <a:off x="5193792" y="2103120"/>
            <a:ext cx="128016" cy="201168"/>
          </a:xfrm>
          <a:prstGeom prst="rightArrow">
            <a:avLst/>
          </a:prstGeom>
          <a:solidFill>
            <a:srgbClr val="8A99A8"/>
          </a:solidFill>
          <a:ln w="12700">
            <a:solidFill>
              <a:srgbClr val="8A99A8"/>
            </a:solidFill>
            <a:prstDash val="solid"/>
          </a:ln>
        </p:spPr>
      </p:sp>
      <p:sp>
        <p:nvSpPr>
          <p:cNvPr id="25" name="Shape 23"/>
          <p:cNvSpPr/>
          <p:nvPr/>
        </p:nvSpPr>
        <p:spPr>
          <a:xfrm>
            <a:off x="5349240" y="1920240"/>
            <a:ext cx="1417320" cy="566928"/>
          </a:xfrm>
          <a:prstGeom prst="roundRect">
            <a:avLst>
              <a:gd name="adj" fmla="val 12903"/>
            </a:avLst>
          </a:prstGeom>
          <a:solidFill>
            <a:srgbClr val="F26419"/>
          </a:solidFill>
          <a:ln w="12700">
            <a:solidFill>
              <a:srgbClr val="F26419"/>
            </a:solidFill>
            <a:prstDash val="solid"/>
          </a:ln>
        </p:spPr>
      </p:sp>
      <p:sp>
        <p:nvSpPr>
          <p:cNvPr id="26" name="Text 24"/>
          <p:cNvSpPr txBox="1"/>
          <p:nvPr/>
        </p:nvSpPr>
        <p:spPr>
          <a:xfrm>
            <a:off x="53492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BiLSTM</a:t>
            </a:r>
            <a:endParaRPr lang="en-US" sz="1500" dirty="0"/>
          </a:p>
        </p:txBody>
      </p:sp>
      <p:sp>
        <p:nvSpPr>
          <p:cNvPr id="27" name="Shape 25"/>
          <p:cNvSpPr/>
          <p:nvPr/>
        </p:nvSpPr>
        <p:spPr>
          <a:xfrm>
            <a:off x="5349240" y="2578608"/>
            <a:ext cx="1417320" cy="1234440"/>
          </a:xfrm>
          <a:prstGeom prst="roundRect">
            <a:avLst>
              <a:gd name="adj" fmla="val 5926"/>
            </a:avLst>
          </a:prstGeom>
          <a:solidFill>
            <a:srgbClr val="F3F6F9"/>
          </a:solidFill>
          <a:ln w="12700">
            <a:solidFill>
              <a:srgbClr val="F3F6F9"/>
            </a:solidFill>
            <a:prstDash val="solid"/>
          </a:ln>
        </p:spPr>
      </p:sp>
      <p:sp>
        <p:nvSpPr>
          <p:cNvPr id="28" name="Text 26"/>
          <p:cNvSpPr txBox="1"/>
          <p:nvPr/>
        </p:nvSpPr>
        <p:spPr>
          <a:xfrm>
            <a:off x="54223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2 layers, 128 per</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direction, reads the</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32 steps both ways</a:t>
            </a:r>
            <a:endParaRPr lang="en-US" sz="1100" dirty="0"/>
          </a:p>
        </p:txBody>
      </p:sp>
      <p:sp>
        <p:nvSpPr>
          <p:cNvPr id="29" name="Text 27"/>
          <p:cNvSpPr txBox="1"/>
          <p:nvPr/>
        </p:nvSpPr>
        <p:spPr>
          <a:xfrm>
            <a:off x="53492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32 × 256</a:t>
            </a:r>
            <a:endParaRPr lang="en-US" sz="1300" dirty="0"/>
          </a:p>
        </p:txBody>
      </p:sp>
      <p:sp>
        <p:nvSpPr>
          <p:cNvPr id="30" name="Text 28"/>
          <p:cNvSpPr txBox="1"/>
          <p:nvPr/>
        </p:nvSpPr>
        <p:spPr>
          <a:xfrm>
            <a:off x="53492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659,968 weights</a:t>
            </a:r>
            <a:endParaRPr lang="en-US" sz="1050" dirty="0"/>
          </a:p>
        </p:txBody>
      </p:sp>
      <p:sp>
        <p:nvSpPr>
          <p:cNvPr id="31" name="Shape 29"/>
          <p:cNvSpPr/>
          <p:nvPr/>
        </p:nvSpPr>
        <p:spPr>
          <a:xfrm>
            <a:off x="6793992" y="2103120"/>
            <a:ext cx="128016" cy="201168"/>
          </a:xfrm>
          <a:prstGeom prst="rightArrow">
            <a:avLst/>
          </a:prstGeom>
          <a:solidFill>
            <a:srgbClr val="8A99A8"/>
          </a:solidFill>
          <a:ln w="12700">
            <a:solidFill>
              <a:srgbClr val="8A99A8"/>
            </a:solidFill>
            <a:prstDash val="solid"/>
          </a:ln>
        </p:spPr>
      </p:sp>
      <p:sp>
        <p:nvSpPr>
          <p:cNvPr id="32" name="Shape 30"/>
          <p:cNvSpPr/>
          <p:nvPr/>
        </p:nvSpPr>
        <p:spPr>
          <a:xfrm>
            <a:off x="6949440" y="1920240"/>
            <a:ext cx="1417320" cy="566928"/>
          </a:xfrm>
          <a:prstGeom prst="roundRect">
            <a:avLst>
              <a:gd name="adj" fmla="val 12903"/>
            </a:avLst>
          </a:prstGeom>
          <a:solidFill>
            <a:srgbClr val="0B2545"/>
          </a:solidFill>
          <a:ln w="12700">
            <a:solidFill>
              <a:srgbClr val="0B2545"/>
            </a:solidFill>
            <a:prstDash val="solid"/>
          </a:ln>
        </p:spPr>
      </p:sp>
      <p:sp>
        <p:nvSpPr>
          <p:cNvPr id="33" name="Text 31"/>
          <p:cNvSpPr txBox="1"/>
          <p:nvPr/>
        </p:nvSpPr>
        <p:spPr>
          <a:xfrm>
            <a:off x="69494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attention</a:t>
            </a:r>
            <a:endParaRPr lang="en-US" sz="1500" dirty="0"/>
          </a:p>
        </p:txBody>
      </p:sp>
      <p:sp>
        <p:nvSpPr>
          <p:cNvPr id="34" name="Shape 32"/>
          <p:cNvSpPr/>
          <p:nvPr/>
        </p:nvSpPr>
        <p:spPr>
          <a:xfrm>
            <a:off x="6949440" y="2578608"/>
            <a:ext cx="1417320" cy="1234440"/>
          </a:xfrm>
          <a:prstGeom prst="roundRect">
            <a:avLst>
              <a:gd name="adj" fmla="val 5926"/>
            </a:avLst>
          </a:prstGeom>
          <a:solidFill>
            <a:srgbClr val="F3F6F9"/>
          </a:solidFill>
          <a:ln w="12700">
            <a:solidFill>
              <a:srgbClr val="F3F6F9"/>
            </a:solidFill>
            <a:prstDash val="solid"/>
          </a:ln>
        </p:spPr>
      </p:sp>
      <p:sp>
        <p:nvSpPr>
          <p:cNvPr id="35" name="Text 33"/>
          <p:cNvSpPr txBox="1"/>
          <p:nvPr/>
        </p:nvSpPr>
        <p:spPr>
          <a:xfrm>
            <a:off x="70225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weighted average</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of the 32 steps</a:t>
            </a:r>
            <a:endParaRPr lang="en-US" sz="1100" dirty="0"/>
          </a:p>
        </p:txBody>
      </p:sp>
      <p:sp>
        <p:nvSpPr>
          <p:cNvPr id="36" name="Text 34"/>
          <p:cNvSpPr txBox="1"/>
          <p:nvPr/>
        </p:nvSpPr>
        <p:spPr>
          <a:xfrm>
            <a:off x="69494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256</a:t>
            </a:r>
            <a:endParaRPr lang="en-US" sz="1300" dirty="0"/>
          </a:p>
        </p:txBody>
      </p:sp>
      <p:sp>
        <p:nvSpPr>
          <p:cNvPr id="37" name="Text 35"/>
          <p:cNvSpPr txBox="1"/>
          <p:nvPr/>
        </p:nvSpPr>
        <p:spPr>
          <a:xfrm>
            <a:off x="69494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66,048 weights</a:t>
            </a:r>
            <a:endParaRPr lang="en-US" sz="1050" dirty="0"/>
          </a:p>
        </p:txBody>
      </p:sp>
      <p:sp>
        <p:nvSpPr>
          <p:cNvPr id="38" name="Shape 36"/>
          <p:cNvSpPr/>
          <p:nvPr/>
        </p:nvSpPr>
        <p:spPr>
          <a:xfrm>
            <a:off x="8394192" y="2103120"/>
            <a:ext cx="128016" cy="201168"/>
          </a:xfrm>
          <a:prstGeom prst="rightArrow">
            <a:avLst/>
          </a:prstGeom>
          <a:solidFill>
            <a:srgbClr val="8A99A8"/>
          </a:solidFill>
          <a:ln w="12700">
            <a:solidFill>
              <a:srgbClr val="8A99A8"/>
            </a:solidFill>
            <a:prstDash val="solid"/>
          </a:ln>
        </p:spPr>
      </p:sp>
      <p:sp>
        <p:nvSpPr>
          <p:cNvPr id="39" name="Shape 37"/>
          <p:cNvSpPr/>
          <p:nvPr/>
        </p:nvSpPr>
        <p:spPr>
          <a:xfrm>
            <a:off x="8549640" y="1920240"/>
            <a:ext cx="1417320" cy="566928"/>
          </a:xfrm>
          <a:prstGeom prst="roundRect">
            <a:avLst>
              <a:gd name="adj" fmla="val 12903"/>
            </a:avLst>
          </a:prstGeom>
          <a:solidFill>
            <a:srgbClr val="0B2545"/>
          </a:solidFill>
          <a:ln w="12700">
            <a:solidFill>
              <a:srgbClr val="0B2545"/>
            </a:solidFill>
            <a:prstDash val="solid"/>
          </a:ln>
        </p:spPr>
      </p:sp>
      <p:sp>
        <p:nvSpPr>
          <p:cNvPr id="40" name="Text 38"/>
          <p:cNvSpPr txBox="1"/>
          <p:nvPr/>
        </p:nvSpPr>
        <p:spPr>
          <a:xfrm>
            <a:off x="85496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classifier</a:t>
            </a:r>
            <a:endParaRPr lang="en-US" sz="1500" dirty="0"/>
          </a:p>
        </p:txBody>
      </p:sp>
      <p:sp>
        <p:nvSpPr>
          <p:cNvPr id="41" name="Shape 39"/>
          <p:cNvSpPr/>
          <p:nvPr/>
        </p:nvSpPr>
        <p:spPr>
          <a:xfrm>
            <a:off x="8549640" y="2578608"/>
            <a:ext cx="1417320" cy="1234440"/>
          </a:xfrm>
          <a:prstGeom prst="roundRect">
            <a:avLst>
              <a:gd name="adj" fmla="val 5926"/>
            </a:avLst>
          </a:prstGeom>
          <a:solidFill>
            <a:srgbClr val="F3F6F9"/>
          </a:solidFill>
          <a:ln w="12700">
            <a:solidFill>
              <a:srgbClr val="F3F6F9"/>
            </a:solidFill>
            <a:prstDash val="solid"/>
          </a:ln>
        </p:spPr>
      </p:sp>
      <p:sp>
        <p:nvSpPr>
          <p:cNvPr id="42" name="Text 40"/>
          <p:cNvSpPr txBox="1"/>
          <p:nvPr/>
        </p:nvSpPr>
        <p:spPr>
          <a:xfrm>
            <a:off x="86227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dense 128</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 dense 4</a:t>
            </a:r>
            <a:endParaRPr lang="en-US" sz="1100" dirty="0"/>
          </a:p>
        </p:txBody>
      </p:sp>
      <p:sp>
        <p:nvSpPr>
          <p:cNvPr id="43" name="Text 41"/>
          <p:cNvSpPr txBox="1"/>
          <p:nvPr/>
        </p:nvSpPr>
        <p:spPr>
          <a:xfrm>
            <a:off x="85496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4 scores</a:t>
            </a:r>
            <a:endParaRPr lang="en-US" sz="1300" dirty="0"/>
          </a:p>
        </p:txBody>
      </p:sp>
      <p:sp>
        <p:nvSpPr>
          <p:cNvPr id="44" name="Text 42"/>
          <p:cNvSpPr txBox="1"/>
          <p:nvPr/>
        </p:nvSpPr>
        <p:spPr>
          <a:xfrm>
            <a:off x="85496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33,668 weights</a:t>
            </a:r>
            <a:endParaRPr lang="en-US" sz="1050" dirty="0"/>
          </a:p>
        </p:txBody>
      </p:sp>
      <p:sp>
        <p:nvSpPr>
          <p:cNvPr id="45" name="Shape 43"/>
          <p:cNvSpPr/>
          <p:nvPr/>
        </p:nvSpPr>
        <p:spPr>
          <a:xfrm>
            <a:off x="9994392" y="2103120"/>
            <a:ext cx="128016" cy="201168"/>
          </a:xfrm>
          <a:prstGeom prst="rightArrow">
            <a:avLst/>
          </a:prstGeom>
          <a:solidFill>
            <a:srgbClr val="8A99A8"/>
          </a:solidFill>
          <a:ln w="12700">
            <a:solidFill>
              <a:srgbClr val="8A99A8"/>
            </a:solidFill>
            <a:prstDash val="solid"/>
          </a:ln>
        </p:spPr>
      </p:sp>
      <p:sp>
        <p:nvSpPr>
          <p:cNvPr id="46" name="Shape 44"/>
          <p:cNvSpPr/>
          <p:nvPr/>
        </p:nvSpPr>
        <p:spPr>
          <a:xfrm>
            <a:off x="10149840" y="1920240"/>
            <a:ext cx="1417320" cy="566928"/>
          </a:xfrm>
          <a:prstGeom prst="roundRect">
            <a:avLst>
              <a:gd name="adj" fmla="val 12903"/>
            </a:avLst>
          </a:prstGeom>
          <a:solidFill>
            <a:srgbClr val="1B998B"/>
          </a:solidFill>
          <a:ln w="12700">
            <a:solidFill>
              <a:srgbClr val="1B998B"/>
            </a:solidFill>
            <a:prstDash val="solid"/>
          </a:ln>
        </p:spPr>
      </p:sp>
      <p:sp>
        <p:nvSpPr>
          <p:cNvPr id="47" name="Text 45"/>
          <p:cNvSpPr txBox="1"/>
          <p:nvPr/>
        </p:nvSpPr>
        <p:spPr>
          <a:xfrm>
            <a:off x="10149840" y="1920240"/>
            <a:ext cx="141732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decision</a:t>
            </a:r>
            <a:endParaRPr lang="en-US" sz="1500" dirty="0"/>
          </a:p>
        </p:txBody>
      </p:sp>
      <p:sp>
        <p:nvSpPr>
          <p:cNvPr id="48" name="Shape 46"/>
          <p:cNvSpPr/>
          <p:nvPr/>
        </p:nvSpPr>
        <p:spPr>
          <a:xfrm>
            <a:off x="10149840" y="2578608"/>
            <a:ext cx="1417320" cy="1234440"/>
          </a:xfrm>
          <a:prstGeom prst="roundRect">
            <a:avLst>
              <a:gd name="adj" fmla="val 5926"/>
            </a:avLst>
          </a:prstGeom>
          <a:solidFill>
            <a:srgbClr val="F3F6F9"/>
          </a:solidFill>
          <a:ln w="12700">
            <a:solidFill>
              <a:srgbClr val="F3F6F9"/>
            </a:solidFill>
            <a:prstDash val="solid"/>
          </a:ln>
        </p:spPr>
      </p:sp>
      <p:sp>
        <p:nvSpPr>
          <p:cNvPr id="49" name="Text 47"/>
          <p:cNvSpPr txBox="1"/>
          <p:nvPr/>
        </p:nvSpPr>
        <p:spPr>
          <a:xfrm>
            <a:off x="10222992" y="2651760"/>
            <a:ext cx="1271016" cy="1097280"/>
          </a:xfrm>
          <a:prstGeom prst="rect">
            <a:avLst/>
          </a:prstGeom>
          <a:noFill/>
          <a:ln/>
        </p:spPr>
        <p:txBody>
          <a:bodyPr wrap="square" lIns="0" tIns="0" rIns="0" bIns="0" rtlCol="0" anchor="t"/>
          <a:lstStyle/>
          <a:p>
            <a:pPr algn="ctr" indent="0" marL="0">
              <a:buNone/>
            </a:pPr>
            <a:r>
              <a:rPr lang="en-US" sz="1100" dirty="0">
                <a:solidFill>
                  <a:srgbClr val="13315C"/>
                </a:solidFill>
                <a:latin typeface="Calibri" pitchFamily="34" charset="0"/>
                <a:ea typeface="Calibri" pitchFamily="34" charset="-122"/>
                <a:cs typeface="Calibri" pitchFamily="34" charset="-120"/>
              </a:rPr>
              <a:t>largest score</a:t>
            </a:r>
            <a:endParaRPr lang="en-US" sz="1100" dirty="0"/>
          </a:p>
          <a:p>
            <a:pPr algn="ctr" indent="0" marL="0">
              <a:buNone/>
            </a:pPr>
            <a:r>
              <a:rPr lang="en-US" sz="1100" dirty="0">
                <a:solidFill>
                  <a:srgbClr val="13315C"/>
                </a:solidFill>
                <a:latin typeface="Calibri" pitchFamily="34" charset="0"/>
                <a:ea typeface="Calibri" pitchFamily="34" charset="-122"/>
                <a:cs typeface="Calibri" pitchFamily="34" charset="-120"/>
              </a:rPr>
              <a:t>wins</a:t>
            </a:r>
            <a:endParaRPr lang="en-US" sz="1100" dirty="0"/>
          </a:p>
        </p:txBody>
      </p:sp>
      <p:sp>
        <p:nvSpPr>
          <p:cNvPr id="50" name="Text 48"/>
          <p:cNvSpPr txBox="1"/>
          <p:nvPr/>
        </p:nvSpPr>
        <p:spPr>
          <a:xfrm>
            <a:off x="10149840" y="3886200"/>
            <a:ext cx="1417320" cy="320040"/>
          </a:xfrm>
          <a:prstGeom prst="rect">
            <a:avLst/>
          </a:prstGeom>
          <a:noFill/>
          <a:ln/>
        </p:spPr>
        <p:txBody>
          <a:bodyPr wrap="square" lIns="0" tIns="0" rIns="0" bIns="0" rtlCol="0" anchor="t"/>
          <a:lstStyle/>
          <a:p>
            <a:pPr algn="ctr" indent="0" marL="0">
              <a:buNone/>
            </a:pPr>
            <a:r>
              <a:rPr lang="en-US" sz="1300" b="1" dirty="0">
                <a:solidFill>
                  <a:srgbClr val="13315C"/>
                </a:solidFill>
                <a:latin typeface="Calibri" pitchFamily="34" charset="0"/>
                <a:ea typeface="Calibri" pitchFamily="34" charset="-122"/>
                <a:cs typeface="Calibri" pitchFamily="34" charset="-120"/>
              </a:rPr>
              <a:t>1 label</a:t>
            </a:r>
            <a:endParaRPr lang="en-US" sz="1300" dirty="0"/>
          </a:p>
        </p:txBody>
      </p:sp>
      <p:sp>
        <p:nvSpPr>
          <p:cNvPr id="51" name="Text 49"/>
          <p:cNvSpPr txBox="1"/>
          <p:nvPr/>
        </p:nvSpPr>
        <p:spPr>
          <a:xfrm>
            <a:off x="10149840" y="4206240"/>
            <a:ext cx="1417320" cy="274320"/>
          </a:xfrm>
          <a:prstGeom prst="rect">
            <a:avLst/>
          </a:prstGeom>
          <a:noFill/>
          <a:ln/>
        </p:spPr>
        <p:txBody>
          <a:bodyPr wrap="square" lIns="0" tIns="0" rIns="0" bIns="0" rtlCol="0" anchor="t"/>
          <a:lstStyle/>
          <a:p>
            <a:pPr algn="ctr" indent="0" marL="0">
              <a:buNone/>
            </a:pPr>
            <a:r>
              <a:rPr lang="en-US" sz="1050" dirty="0">
                <a:solidFill>
                  <a:srgbClr val="5C7A99"/>
                </a:solidFill>
                <a:latin typeface="Calibri" pitchFamily="34" charset="0"/>
                <a:ea typeface="Calibri" pitchFamily="34" charset="-122"/>
                <a:cs typeface="Calibri" pitchFamily="34" charset="-120"/>
              </a:rPr>
              <a:t>no weights</a:t>
            </a:r>
            <a:endParaRPr lang="en-US" sz="1050" dirty="0"/>
          </a:p>
        </p:txBody>
      </p:sp>
      <p:sp>
        <p:nvSpPr>
          <p:cNvPr id="52" name="Text 50"/>
          <p:cNvSpPr txBox="1"/>
          <p:nvPr/>
        </p:nvSpPr>
        <p:spPr>
          <a:xfrm>
            <a:off x="548640" y="4709160"/>
            <a:ext cx="2926080" cy="777240"/>
          </a:xfrm>
          <a:prstGeom prst="rect">
            <a:avLst/>
          </a:prstGeom>
          <a:noFill/>
          <a:ln/>
        </p:spPr>
        <p:txBody>
          <a:bodyPr wrap="square" lIns="0" tIns="0" rIns="0" bIns="0" rtlCol="0" anchor="b"/>
          <a:lstStyle/>
          <a:p>
            <a:pPr indent="0" marL="0">
              <a:buNone/>
            </a:pPr>
            <a:r>
              <a:rPr lang="en-US" sz="3600" b="1" dirty="0">
                <a:solidFill>
                  <a:srgbClr val="F26419"/>
                </a:solidFill>
                <a:latin typeface="Cambria" pitchFamily="34" charset="0"/>
                <a:ea typeface="Cambria" pitchFamily="34" charset="-122"/>
                <a:cs typeface="Cambria" pitchFamily="34" charset="-120"/>
              </a:rPr>
              <a:t>785,476</a:t>
            </a:r>
            <a:endParaRPr lang="en-US" sz="3600" dirty="0"/>
          </a:p>
        </p:txBody>
      </p:sp>
      <p:sp>
        <p:nvSpPr>
          <p:cNvPr id="53" name="Text 51"/>
          <p:cNvSpPr txBox="1"/>
          <p:nvPr/>
        </p:nvSpPr>
        <p:spPr>
          <a:xfrm>
            <a:off x="548640" y="5513832"/>
            <a:ext cx="2926080"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numbers learned in total</a:t>
            </a:r>
            <a:endParaRPr lang="en-US" sz="1200" dirty="0"/>
          </a:p>
        </p:txBody>
      </p:sp>
      <p:sp>
        <p:nvSpPr>
          <p:cNvPr id="54" name="Text 52"/>
          <p:cNvSpPr txBox="1"/>
          <p:nvPr/>
        </p:nvSpPr>
        <p:spPr>
          <a:xfrm>
            <a:off x="3749040" y="4709160"/>
            <a:ext cx="2926080" cy="777240"/>
          </a:xfrm>
          <a:prstGeom prst="rect">
            <a:avLst/>
          </a:prstGeom>
          <a:noFill/>
          <a:ln/>
        </p:spPr>
        <p:txBody>
          <a:bodyPr wrap="square" lIns="0" tIns="0" rIns="0" bIns="0" rtlCol="0" anchor="b"/>
          <a:lstStyle/>
          <a:p>
            <a:pPr indent="0" marL="0">
              <a:buNone/>
            </a:pPr>
            <a:r>
              <a:rPr lang="en-US" sz="3600" b="1" dirty="0">
                <a:solidFill>
                  <a:srgbClr val="0B2545"/>
                </a:solidFill>
                <a:latin typeface="Cambria" pitchFamily="34" charset="0"/>
                <a:ea typeface="Cambria" pitchFamily="34" charset="-122"/>
                <a:cs typeface="Cambria" pitchFamily="34" charset="-120"/>
              </a:rPr>
              <a:t>84%</a:t>
            </a:r>
            <a:endParaRPr lang="en-US" sz="3600" dirty="0"/>
          </a:p>
        </p:txBody>
      </p:sp>
      <p:sp>
        <p:nvSpPr>
          <p:cNvPr id="55" name="Text 53"/>
          <p:cNvSpPr txBox="1"/>
          <p:nvPr/>
        </p:nvSpPr>
        <p:spPr>
          <a:xfrm>
            <a:off x="3749040" y="5513832"/>
            <a:ext cx="2926080"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of them in the LSTM: this is mostly a recurrent network</a:t>
            </a:r>
            <a:endParaRPr lang="en-US" sz="1200" dirty="0"/>
          </a:p>
        </p:txBody>
      </p:sp>
      <p:sp>
        <p:nvSpPr>
          <p:cNvPr id="56" name="Text 54"/>
          <p:cNvSpPr txBox="1"/>
          <p:nvPr/>
        </p:nvSpPr>
        <p:spPr>
          <a:xfrm>
            <a:off x="7040880" y="4800600"/>
            <a:ext cx="4599432" cy="128016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Each of the 32 LSTM steps sees 12 input samples, 1.5 symbols. The same weights run at 64 and 32 samples; only the number of steps changes (16, 8). Each frame is scaled to unit power before it goes in, so the level carries nothing.</a:t>
            </a:r>
            <a:endParaRPr lang="en-US" sz="1200" dirty="0"/>
          </a:p>
        </p:txBody>
      </p:sp>
      <p:sp>
        <p:nvSpPr>
          <p:cNvPr id="58" name="Text 55"/>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Where it came from, and who wrote what</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The model is a colleague's reproduction of a paper. The code around it was written with an AI assistant.</a:t>
            </a:r>
            <a:endParaRPr lang="en-US" sz="1500" dirty="0"/>
          </a:p>
        </p:txBody>
      </p:sp>
      <p:sp>
        <p:nvSpPr>
          <p:cNvPr id="4" name="Shape 2"/>
          <p:cNvSpPr/>
          <p:nvPr/>
        </p:nvSpPr>
        <p:spPr>
          <a:xfrm>
            <a:off x="548640" y="1737360"/>
            <a:ext cx="5440680" cy="4434840"/>
          </a:xfrm>
          <a:prstGeom prst="roundRect">
            <a:avLst>
              <a:gd name="adj" fmla="val 1649"/>
            </a:avLst>
          </a:prstGeom>
          <a:solidFill>
            <a:srgbClr val="F3F6F9"/>
          </a:solidFill>
          <a:ln w="12700">
            <a:solidFill>
              <a:srgbClr val="F3F6F9"/>
            </a:solidFill>
            <a:prstDash val="solid"/>
          </a:ln>
        </p:spPr>
      </p:sp>
      <p:sp>
        <p:nvSpPr>
          <p:cNvPr id="5" name="Text 3"/>
          <p:cNvSpPr txBox="1"/>
          <p:nvPr/>
        </p:nvSpPr>
        <p:spPr>
          <a:xfrm>
            <a:off x="822960" y="1874520"/>
            <a:ext cx="4937760" cy="365760"/>
          </a:xfrm>
          <a:prstGeom prst="rect">
            <a:avLst/>
          </a:prstGeom>
          <a:noFill/>
          <a:ln/>
        </p:spPr>
        <p:txBody>
          <a:bodyPr wrap="square" lIns="0" tIns="0" rIns="0" bIns="0" rtlCol="0" anchor="t"/>
          <a:lstStyle/>
          <a:p>
            <a:pPr indent="0" marL="0">
              <a:buNone/>
            </a:pPr>
            <a:r>
              <a:rPr lang="en-US" sz="1600" b="1" dirty="0">
                <a:solidFill>
                  <a:srgbClr val="13315C"/>
                </a:solidFill>
                <a:latin typeface="Cambria" pitchFamily="34" charset="0"/>
                <a:ea typeface="Cambria" pitchFamily="34" charset="-122"/>
                <a:cs typeface="Cambria" pitchFamily="34" charset="-120"/>
              </a:rPr>
              <a:t>The architecture</a:t>
            </a:r>
            <a:endParaRPr lang="en-US" sz="1600" dirty="0"/>
          </a:p>
        </p:txBody>
      </p:sp>
      <p:sp>
        <p:nvSpPr>
          <p:cNvPr id="6" name="Text 4"/>
          <p:cNvSpPr txBox="1"/>
          <p:nvPr/>
        </p:nvSpPr>
        <p:spPr>
          <a:xfrm>
            <a:off x="822960" y="2286000"/>
            <a:ext cx="4937760" cy="1600200"/>
          </a:xfrm>
          <a:prstGeom prst="rect">
            <a:avLst/>
          </a:prstGeom>
          <a:noFill/>
          <a:ln/>
        </p:spPr>
        <p:txBody>
          <a:bodyPr wrap="square" lIns="0" tIns="0" rIns="0" bIns="0" rtlCol="0" anchor="t"/>
          <a:lstStyle/>
          <a:p>
            <a:pPr indent="0" marL="0">
              <a:buNone/>
            </a:pPr>
            <a:r>
              <a:rPr lang="en-US" sz="1200" dirty="0">
                <a:solidFill>
                  <a:srgbClr val="13315C"/>
                </a:solidFill>
                <a:latin typeface="Calibri" pitchFamily="34" charset="0"/>
                <a:ea typeface="Calibri" pitchFamily="34" charset="-122"/>
                <a:cs typeface="Calibri" pitchFamily="34" charset="-120"/>
              </a:rPr>
              <a:t>ICRNNA — El-Haryqy et al., Results in Engineering 26 (2025) 104783. Our code is transcribed from a colleague's reproduction, not from the paper, and differs in five places: first kernel 5 vs 3; two pools vs one; one BatchNorm after the LSTM vs one per layer; no attention dropout or LayerNorm; one dense layer vs two.</a:t>
            </a:r>
            <a:endParaRPr lang="en-US" sz="1200" dirty="0"/>
          </a:p>
        </p:txBody>
      </p:sp>
      <p:sp>
        <p:nvSpPr>
          <p:cNvPr id="7" name="Text 5"/>
          <p:cNvSpPr txBox="1"/>
          <p:nvPr/>
        </p:nvSpPr>
        <p:spPr>
          <a:xfrm>
            <a:off x="822960" y="3931920"/>
            <a:ext cx="4937760" cy="320040"/>
          </a:xfrm>
          <a:prstGeom prst="rect">
            <a:avLst/>
          </a:prstGeom>
          <a:noFill/>
          <a:ln/>
        </p:spPr>
        <p:txBody>
          <a:bodyPr wrap="square" lIns="0" tIns="0" rIns="0" bIns="0" rtlCol="0" anchor="t"/>
          <a:lstStyle/>
          <a:p>
            <a:pPr indent="0" marL="0">
              <a:buNone/>
            </a:pPr>
            <a:r>
              <a:rPr lang="en-US" sz="1200" b="1" dirty="0">
                <a:solidFill>
                  <a:srgbClr val="13315C"/>
                </a:solidFill>
                <a:latin typeface="Calibri" pitchFamily="34" charset="0"/>
                <a:ea typeface="Calibri" pitchFamily="34" charset="-122"/>
                <a:cs typeface="Calibri" pitchFamily="34" charset="-120"/>
              </a:rPr>
              <a:t>A separate build written from the paper itself, on 11 classes: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4297680"/>
          <a:ext cx="4937760" cy="914400"/>
        </p:xfrm>
        <a:graphic>
          <a:graphicData uri="http://schemas.openxmlformats.org/drawingml/2006/table">
            <a:tbl>
              <a:tblPr/>
              <a:tblGrid>
                <a:gridCol w="3657600"/>
                <a:gridCol w="1280160"/>
              </a:tblGrid>
              <a:tr h="329184">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100" b="1" dirty="0">
                          <a:solidFill>
                            <a:srgbClr val="13315C"/>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329184">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paper, Table 3</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13315C"/>
                          </a:solidFill>
                          <a:latin typeface="Calibri" pitchFamily="34" charset="0"/>
                          <a:ea typeface="Calibri" pitchFamily="34" charset="-122"/>
                          <a:cs typeface="Calibri" pitchFamily="34" charset="-120"/>
                        </a:rPr>
                        <a:t>63.24%</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29184">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faithful build, paper's 58 epochs</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13315C"/>
                          </a:solidFill>
                          <a:latin typeface="Calibri" pitchFamily="34" charset="0"/>
                          <a:ea typeface="Calibri" pitchFamily="34" charset="-122"/>
                          <a:cs typeface="Calibri" pitchFamily="34" charset="-120"/>
                        </a:rPr>
                        <a:t>61.75%</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29184">
                <a:tc>
                  <a:txBody>
                    <a:bodyPr/>
                    <a:lstStyle/>
                    <a:p>
                      <a:pPr indent="0" marL="0">
                        <a:buNone/>
                      </a:pPr>
                      <a:r>
                        <a:rPr lang="en-US" sz="1100" b="1" dirty="0">
                          <a:solidFill>
                            <a:srgbClr val="13315C"/>
                          </a:solidFill>
                          <a:latin typeface="Calibri" pitchFamily="34" charset="0"/>
                          <a:ea typeface="Calibri" pitchFamily="34" charset="-122"/>
                          <a:cs typeface="Calibri" pitchFamily="34" charset="-120"/>
                        </a:rPr>
                        <a:t>faithful build, to convergence (epoch 107)</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b="1" dirty="0">
                          <a:solidFill>
                            <a:srgbClr val="1B998B"/>
                          </a:solidFill>
                          <a:latin typeface="Calibri" pitchFamily="34" charset="0"/>
                          <a:ea typeface="Calibri" pitchFamily="34" charset="-122"/>
                          <a:cs typeface="Calibri" pitchFamily="34" charset="-120"/>
                        </a:rPr>
                        <a:t>63.21%</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9" name="Shape 6"/>
          <p:cNvSpPr/>
          <p:nvPr/>
        </p:nvSpPr>
        <p:spPr>
          <a:xfrm>
            <a:off x="6263640" y="1737360"/>
            <a:ext cx="5376672" cy="4434840"/>
          </a:xfrm>
          <a:prstGeom prst="roundRect">
            <a:avLst>
              <a:gd name="adj" fmla="val 1649"/>
            </a:avLst>
          </a:prstGeom>
          <a:solidFill>
            <a:srgbClr val="F3F6F9"/>
          </a:solidFill>
          <a:ln w="12700">
            <a:solidFill>
              <a:srgbClr val="F3F6F9"/>
            </a:solidFill>
            <a:prstDash val="solid"/>
          </a:ln>
        </p:spPr>
      </p:sp>
      <p:sp>
        <p:nvSpPr>
          <p:cNvPr id="10" name="Text 7"/>
          <p:cNvSpPr txBox="1"/>
          <p:nvPr/>
        </p:nvSpPr>
        <p:spPr>
          <a:xfrm>
            <a:off x="6537960" y="1874520"/>
            <a:ext cx="4828032" cy="365760"/>
          </a:xfrm>
          <a:prstGeom prst="rect">
            <a:avLst/>
          </a:prstGeom>
          <a:noFill/>
          <a:ln/>
        </p:spPr>
        <p:txBody>
          <a:bodyPr wrap="square" lIns="0" tIns="0" rIns="0" bIns="0" rtlCol="0" anchor="t"/>
          <a:lstStyle/>
          <a:p>
            <a:pPr indent="0" marL="0">
              <a:buNone/>
            </a:pPr>
            <a:r>
              <a:rPr lang="en-US" sz="1600" b="1" dirty="0">
                <a:solidFill>
                  <a:srgbClr val="13315C"/>
                </a:solidFill>
                <a:latin typeface="Cambria" pitchFamily="34" charset="0"/>
                <a:ea typeface="Cambria" pitchFamily="34" charset="-122"/>
                <a:cs typeface="Cambria" pitchFamily="34" charset="-120"/>
              </a:rPr>
              <a:t>Written with an AI assistant</a:t>
            </a:r>
            <a:endParaRPr lang="en-US" sz="1600" dirty="0"/>
          </a:p>
        </p:txBody>
      </p:sp>
      <p:sp>
        <p:nvSpPr>
          <p:cNvPr id="11" name="Text 8"/>
          <p:cNvSpPr txBox="1"/>
          <p:nvPr/>
        </p:nvSpPr>
        <p:spPr>
          <a:xfrm>
            <a:off x="6537960" y="2286000"/>
            <a:ext cx="4828032" cy="2834640"/>
          </a:xfrm>
          <a:prstGeom prst="rect">
            <a:avLst/>
          </a:prstGeom>
          <a:noFill/>
          <a:ln/>
        </p:spPr>
        <p:txBody>
          <a:bodyPr wrap="square" lIns="0" tIns="0" rIns="0" bIns="0" rtlCol="0" anchor="t"/>
          <a:lstStyle/>
          <a:p>
            <a:pPr indent="0" marL="0">
              <a:buNone/>
            </a:pPr>
            <a:r>
              <a:rPr lang="en-US" sz="1200" dirty="0">
                <a:solidFill>
                  <a:srgbClr val="13315C"/>
                </a:solidFill>
                <a:latin typeface="Calibri" pitchFamily="34" charset="0"/>
                <a:ea typeface="Calibri" pitchFamily="34" charset="-122"/>
                <a:cs typeface="Calibri" pitchFamily="34" charset="-120"/>
              </a:rPr>
              <a:t>Claude Code (Anthropic) wrote most of the code, the Colab runners, the table and figure tools, this deck and most of the write-up. Every commit it wrote is marked in git.</a:t>
            </a:r>
            <a:endParaRPr lang="en-US" sz="1200" dirty="0"/>
          </a:p>
          <a:p>
            <a:pPr indent="0" marL="0">
              <a:buNone/>
            </a:pPr>
            <a:r>
              <a:rPr lang="en-US" sz="600" dirty="0">
                <a:solidFill>
                  <a:srgbClr val="13315C"/>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3315C"/>
                </a:solidFill>
                <a:latin typeface="Calibri" pitchFamily="34" charset="0"/>
                <a:ea typeface="Calibri" pitchFamily="34" charset="-122"/>
                <a:cs typeface="Calibri" pitchFamily="34" charset="-120"/>
              </a:rPr>
              <a:t>Not from it: </a:t>
            </a:r>
            <a:pPr indent="0" marL="0">
              <a:buNone/>
            </a:pPr>
            <a:r>
              <a:rPr lang="en-US" sz="1200" dirty="0">
                <a:solidFill>
                  <a:srgbClr val="13315C"/>
                </a:solidFill>
                <a:latin typeface="Calibri" pitchFamily="34" charset="0"/>
                <a:ea typeface="Calibri" pitchFamily="34" charset="-122"/>
                <a:cs typeface="Calibri" pitchFamily="34" charset="-120"/>
              </a:rPr>
              <a:t>the dataset (DeepSig), the architecture (the paper, the colleague), the numbers — measured by running the code on Colab GPUs, several rerun bit-identical — and the decisions.</a:t>
            </a:r>
            <a:endParaRPr lang="en-US" sz="1200" dirty="0"/>
          </a:p>
          <a:p>
            <a:pPr indent="0" marL="0">
              <a:buNone/>
            </a:pPr>
            <a:r>
              <a:rPr lang="en-US" sz="600" dirty="0">
                <a:solidFill>
                  <a:srgbClr val="13315C"/>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3315C"/>
                </a:solidFill>
                <a:latin typeface="Calibri" pitchFamily="34" charset="0"/>
                <a:ea typeface="Calibri" pitchFamily="34" charset="-122"/>
                <a:cs typeface="Calibri" pitchFamily="34" charset="-120"/>
              </a:rPr>
              <a:t>What I asked, what came back — e.g.: </a:t>
            </a:r>
            <a:pPr indent="0" marL="0">
              <a:buNone/>
            </a:pPr>
            <a:r>
              <a:rPr lang="en-US" sz="1200" dirty="0">
                <a:solidFill>
                  <a:srgbClr val="13315C"/>
                </a:solidFill>
                <a:latin typeface="Calibri" pitchFamily="34" charset="0"/>
                <a:ea typeface="Calibri" pitchFamily="34" charset="-122"/>
                <a:cs typeface="Calibri" pitchFamily="34" charset="-120"/>
              </a:rPr>
              <a:t>“shorten the frame to 64, then 32” → a frame-length option and three runs; “why is the faithful build 1.5 points low?” → the convergence check that found 58 epochs too few.</a:t>
            </a:r>
            <a:endParaRPr lang="en-US" sz="1200" dirty="0"/>
          </a:p>
        </p:txBody>
      </p:sp>
      <p:sp>
        <p:nvSpPr>
          <p:cNvPr id="12" name="Text 9"/>
          <p:cNvSpPr txBox="1"/>
          <p:nvPr/>
        </p:nvSpPr>
        <p:spPr>
          <a:xfrm>
            <a:off x="6537960" y="5715000"/>
            <a:ext cx="4828032" cy="320040"/>
          </a:xfrm>
          <a:prstGeom prst="rect">
            <a:avLst/>
          </a:prstGeom>
          <a:noFill/>
          <a:ln/>
        </p:spPr>
        <p:txBody>
          <a:bodyPr wrap="square" lIns="0" tIns="0" rIns="0" bIns="0" rtlCol="0" anchor="t"/>
          <a:lstStyle/>
          <a:p>
            <a:pPr indent="0" marL="0">
              <a:buNone/>
            </a:pPr>
            <a:r>
              <a:rPr lang="en-US" sz="1100" i="1" dirty="0">
                <a:solidFill>
                  <a:srgbClr val="5C7A99"/>
                </a:solidFill>
                <a:latin typeface="Calibri" pitchFamily="34" charset="0"/>
                <a:ea typeface="Calibri" pitchFamily="34" charset="-122"/>
                <a:cs typeface="Calibri" pitchFamily="34" charset="-120"/>
              </a:rPr>
              <a:t>Full account: DETECTOR.md in the repository.</a:t>
            </a:r>
            <a:endParaRPr lang="en-US" sz="1100" dirty="0"/>
          </a:p>
        </p:txBody>
      </p:sp>
      <p:sp>
        <p:nvSpPr>
          <p:cNvPr id="14" name="Text 10"/>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How it was trained, and how it decides</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The test set is read once. The decision is deterministic, and it always picks one of the four.</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400800" cy="914400"/>
        </p:xfrm>
        <a:graphic>
          <a:graphicData uri="http://schemas.openxmlformats.org/drawingml/2006/table">
            <a:tbl>
              <a:tblPr/>
              <a:tblGrid>
                <a:gridCol w="1417320"/>
                <a:gridCol w="4983480"/>
              </a:tblGrid>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r>
                        <a:rPr lang="en-US" sz="1300" dirty="0">
                          <a:solidFill>
                            <a:srgbClr val="13315C"/>
                          </a:solidFill>
                          <a:latin typeface="Calibri" pitchFamily="34" charset="0"/>
                          <a:ea typeface="Calibri" pitchFamily="34" charset="-122"/>
                          <a:cs typeface="Calibri" pitchFamily="34" charset="-120"/>
                        </a:rPr>
                        <a:t>RML2016.10a, 4 classes × 20 SNR levels × 1,000 frames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split</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r>
                        <a:rPr lang="en-US" sz="1300" dirty="0">
                          <a:solidFill>
                            <a:srgbClr val="13315C"/>
                          </a:solidFill>
                          <a:latin typeface="Calibri" pitchFamily="34" charset="0"/>
                          <a:ea typeface="Calibri" pitchFamily="34" charset="-122"/>
                          <a:cs typeface="Calibri" pitchFamily="34" charset="-120"/>
                        </a:rPr>
                        <a:t>per (class, SNR): 70% train, 15% validation, 15% test</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training</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r>
                        <a:rPr lang="en-US" sz="1300" dirty="0">
                          <a:solidFill>
                            <a:srgbClr val="13315C"/>
                          </a:solidFill>
                          <a:latin typeface="Calibri" pitchFamily="34" charset="0"/>
                          <a:ea typeface="Calibri" pitchFamily="34" charset="-122"/>
                          <a:cs typeface="Calibri" pitchFamily="34" charset="-120"/>
                        </a:rPr>
                        <a:t>AdamW, lr 1e-3, batch 256, cross-entropy; lr ×0.2 when validation stalls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stopping</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r>
                        <a:rPr lang="en-US" sz="1300" dirty="0">
                          <a:solidFill>
                            <a:srgbClr val="13315C"/>
                          </a:solidFill>
                          <a:latin typeface="Calibri" pitchFamily="34" charset="0"/>
                          <a:ea typeface="Calibri" pitchFamily="34" charset="-122"/>
                          <a:cs typeface="Calibri" pitchFamily="34" charset="-120"/>
                        </a:rPr>
                        <a:t>20 epochs without validation gain; ceiling 100; best-validation weights kept</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repeats</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r>
                        <a:rPr lang="en-US" sz="1300" dirty="0">
                          <a:solidFill>
                            <a:srgbClr val="13315C"/>
                          </a:solidFill>
                          <a:latin typeface="Calibri" pitchFamily="34" charset="0"/>
                          <a:ea typeface="Calibri" pitchFamily="34" charset="-122"/>
                          <a:cs typeface="Calibri" pitchFamily="34" charset="-120"/>
                        </a:rPr>
                        <a:t>14 seeds: new split, new initialisation each</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converged?</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r>
                        <a:rPr lang="en-US" sz="1300" dirty="0">
                          <a:solidFill>
                            <a:srgbClr val="13315C"/>
                          </a:solidFill>
                          <a:latin typeface="Calibri" pitchFamily="34" charset="0"/>
                          <a:ea typeface="Calibri" pitchFamily="34" charset="-122"/>
                          <a:cs typeface="Calibri" pitchFamily="34" charset="-120"/>
                        </a:rPr>
                        <a:t>all 14: best epochs 16–46, every one stopped early</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5" name="Shape 2"/>
          <p:cNvSpPr/>
          <p:nvPr/>
        </p:nvSpPr>
        <p:spPr>
          <a:xfrm>
            <a:off x="7406640" y="1783080"/>
            <a:ext cx="4233672" cy="4343400"/>
          </a:xfrm>
          <a:prstGeom prst="roundRect">
            <a:avLst>
              <a:gd name="adj" fmla="val 1728"/>
            </a:avLst>
          </a:prstGeom>
          <a:solidFill>
            <a:srgbClr val="F3F6F9"/>
          </a:solidFill>
          <a:ln w="12700">
            <a:solidFill>
              <a:srgbClr val="F3F6F9"/>
            </a:solidFill>
            <a:prstDash val="solid"/>
          </a:ln>
        </p:spPr>
      </p:sp>
      <p:sp>
        <p:nvSpPr>
          <p:cNvPr id="6" name="Text 3"/>
          <p:cNvSpPr txBox="1"/>
          <p:nvPr/>
        </p:nvSpPr>
        <p:spPr>
          <a:xfrm>
            <a:off x="7680960" y="1920240"/>
            <a:ext cx="3685032" cy="365760"/>
          </a:xfrm>
          <a:prstGeom prst="rect">
            <a:avLst/>
          </a:prstGeom>
          <a:noFill/>
          <a:ln/>
        </p:spPr>
        <p:txBody>
          <a:bodyPr wrap="square" lIns="0" tIns="0" rIns="0" bIns="0" rtlCol="0" anchor="t"/>
          <a:lstStyle/>
          <a:p>
            <a:pPr indent="0" marL="0">
              <a:buNone/>
            </a:pPr>
            <a:r>
              <a:rPr lang="en-US" sz="1600" b="1" dirty="0">
                <a:solidFill>
                  <a:srgbClr val="13315C"/>
                </a:solidFill>
                <a:latin typeface="Cambria" pitchFamily="34" charset="0"/>
                <a:ea typeface="Cambria" pitchFamily="34" charset="-122"/>
                <a:cs typeface="Cambria" pitchFamily="34" charset="-120"/>
              </a:rPr>
              <a:t>Same frame 10,000 times</a:t>
            </a:r>
            <a:endParaRPr lang="en-US" sz="1600" dirty="0"/>
          </a:p>
        </p:txBody>
      </p:sp>
      <p:sp>
        <p:nvSpPr>
          <p:cNvPr id="7" name="Text 4"/>
          <p:cNvSpPr txBox="1"/>
          <p:nvPr/>
        </p:nvSpPr>
        <p:spPr>
          <a:xfrm>
            <a:off x="7680960" y="2331720"/>
            <a:ext cx="3685032" cy="1371600"/>
          </a:xfrm>
          <a:prstGeom prst="rect">
            <a:avLst/>
          </a:prstGeom>
          <a:noFill/>
          <a:ln/>
        </p:spPr>
        <p:txBody>
          <a:bodyPr wrap="square" lIns="0" tIns="0" rIns="0" bIns="0" rtlCol="0" anchor="t"/>
          <a:lstStyle/>
          <a:p>
            <a:pPr indent="0" marL="0">
              <a:buNone/>
            </a:pPr>
            <a:r>
              <a:rPr lang="en-US" sz="1300" dirty="0">
                <a:solidFill>
                  <a:srgbClr val="13315C"/>
                </a:solidFill>
                <a:latin typeface="Calibri" pitchFamily="34" charset="0"/>
                <a:ea typeface="Calibri" pitchFamily="34" charset="-122"/>
                <a:cs typeface="Calibri" pitchFamily="34" charset="-120"/>
              </a:rPr>
              <a:t>→ the same answer 10,000 times. At test time nothing is random. The meaningful test is 10,000 different frames, and that is what every table here counts.</a:t>
            </a:r>
            <a:endParaRPr lang="en-US" sz="1300" dirty="0"/>
          </a:p>
        </p:txBody>
      </p:sp>
      <p:sp>
        <p:nvSpPr>
          <p:cNvPr id="8" name="Text 5"/>
          <p:cNvSpPr txBox="1"/>
          <p:nvPr/>
        </p:nvSpPr>
        <p:spPr>
          <a:xfrm>
            <a:off x="7680960" y="3749040"/>
            <a:ext cx="3685032" cy="365760"/>
          </a:xfrm>
          <a:prstGeom prst="rect">
            <a:avLst/>
          </a:prstGeom>
          <a:noFill/>
          <a:ln/>
        </p:spPr>
        <p:txBody>
          <a:bodyPr wrap="square" lIns="0" tIns="0" rIns="0" bIns="0" rtlCol="0" anchor="t"/>
          <a:lstStyle/>
          <a:p>
            <a:pPr indent="0" marL="0">
              <a:buNone/>
            </a:pPr>
            <a:r>
              <a:rPr lang="en-US" sz="1600" b="1" dirty="0">
                <a:solidFill>
                  <a:srgbClr val="13315C"/>
                </a:solidFill>
                <a:latin typeface="Cambria" pitchFamily="34" charset="0"/>
                <a:ea typeface="Cambria" pitchFamily="34" charset="-122"/>
                <a:cs typeface="Cambria" pitchFamily="34" charset="-120"/>
              </a:rPr>
              <a:t>No “I don't know”</a:t>
            </a:r>
            <a:endParaRPr lang="en-US" sz="1600" dirty="0"/>
          </a:p>
        </p:txBody>
      </p:sp>
      <p:sp>
        <p:nvSpPr>
          <p:cNvPr id="9" name="Text 6"/>
          <p:cNvSpPr txBox="1"/>
          <p:nvPr/>
        </p:nvSpPr>
        <p:spPr>
          <a:xfrm>
            <a:off x="7680960" y="4160520"/>
            <a:ext cx="3685032" cy="1371600"/>
          </a:xfrm>
          <a:prstGeom prst="rect">
            <a:avLst/>
          </a:prstGeom>
          <a:noFill/>
          <a:ln/>
        </p:spPr>
        <p:txBody>
          <a:bodyPr wrap="square" lIns="0" tIns="0" rIns="0" bIns="0" rtlCol="0" anchor="t"/>
          <a:lstStyle/>
          <a:p>
            <a:pPr indent="0" marL="0">
              <a:buNone/>
            </a:pPr>
            <a:r>
              <a:rPr lang="en-US" sz="1300" dirty="0">
                <a:solidFill>
                  <a:srgbClr val="13315C"/>
                </a:solidFill>
                <a:latin typeface="Calibri" pitchFamily="34" charset="0"/>
                <a:ea typeface="Calibri" pitchFamily="34" charset="-122"/>
                <a:cs typeface="Calibri" pitchFamily="34" charset="-120"/>
              </a:rPr>
              <a:t>The largest of four scores always wins, even at −20 dB where the frame carries nothing. Where those frames go is slide 12.</a:t>
            </a:r>
            <a:endParaRPr lang="en-US" sz="1300" dirty="0"/>
          </a:p>
        </p:txBody>
      </p:sp>
      <p:sp>
        <p:nvSpPr>
          <p:cNvPr id="11" name="Text 7"/>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Who made the noise</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DeepSig, in GNU Radio, synthetic. The paper gives no parameters; these are from their published generator.</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589520" cy="914400"/>
        </p:xfrm>
        <a:graphic>
          <a:graphicData uri="http://schemas.openxmlformats.org/drawingml/2006/table">
            <a:tbl>
              <a:tblPr/>
              <a:tblGrid>
                <a:gridCol w="1463040"/>
                <a:gridCol w="3200400"/>
                <a:gridCol w="2926080"/>
              </a:tblGrid>
              <a:tr h="512064">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512064">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modulator</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root-raised cosine, 8 samples / symbol, roll-off 0.35</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200 kHz sampling, 25 kbaud; a frame is 0.64 ms, 16 symbols</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12064">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clock offset</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random walk, clipped at 50 Hz</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sample-rate drift</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12064">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carrier offset</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random walk, clipped at 500 Hz</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up to 115° of rotation across one frame</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12064">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fading</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Rician, K = 4, Doppler 1 Hz</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one random complex gain per frame</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12064">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multipath</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3 paths: delays 0, 0.9, 1.7 samples; gains 1, 0.8, 0.3</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0.2 symbol of delay spread</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12064">
                <a:tc>
                  <a:txBody>
                    <a:bodyPr/>
                    <a:lstStyle/>
                    <a:p>
                      <a:pPr indent="0" marL="0">
                        <a:buNone/>
                      </a:pPr>
                      <a:r>
                        <a:rPr lang="en-US" sz="1200" b="1" dirty="0">
                          <a:solidFill>
                            <a:srgbClr val="F26419"/>
                          </a:solidFill>
                          <a:latin typeface="Calibri" pitchFamily="34" charset="0"/>
                          <a:ea typeface="Calibri" pitchFamily="34" charset="-122"/>
                          <a:cs typeface="Calibri" pitchFamily="34" charset="-120"/>
                        </a:rPr>
                        <a:t>noise</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white Gaussian, noise_amp = 10^(−label/10)</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the only thing the SNR label sets</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5" name="Shape 2"/>
          <p:cNvSpPr/>
          <p:nvPr/>
        </p:nvSpPr>
        <p:spPr>
          <a:xfrm>
            <a:off x="8458200" y="1783080"/>
            <a:ext cx="3182112" cy="4206240"/>
          </a:xfrm>
          <a:prstGeom prst="roundRect">
            <a:avLst>
              <a:gd name="adj" fmla="val 2299"/>
            </a:avLst>
          </a:prstGeom>
          <a:solidFill>
            <a:srgbClr val="F3F6F9"/>
          </a:solidFill>
          <a:ln w="12700">
            <a:solidFill>
              <a:srgbClr val="F3F6F9"/>
            </a:solidFill>
            <a:prstDash val="solid"/>
          </a:ln>
        </p:spPr>
      </p:sp>
      <p:sp>
        <p:nvSpPr>
          <p:cNvPr id="6" name="Shape 3"/>
          <p:cNvSpPr/>
          <p:nvPr/>
        </p:nvSpPr>
        <p:spPr>
          <a:xfrm>
            <a:off x="8732520" y="1965960"/>
            <a:ext cx="457200" cy="457200"/>
          </a:xfrm>
          <a:prstGeom prst="ellipse">
            <a:avLst/>
          </a:prstGeom>
          <a:solidFill>
            <a:srgbClr val="F26419"/>
          </a:solidFill>
          <a:ln w="12700">
            <a:solidFill>
              <a:srgbClr val="F26419"/>
            </a:solidFill>
            <a:prstDash val="solid"/>
          </a:ln>
        </p:spPr>
      </p:sp>
      <p:sp>
        <p:nvSpPr>
          <p:cNvPr id="7" name="Text 4"/>
          <p:cNvSpPr txBox="1"/>
          <p:nvPr/>
        </p:nvSpPr>
        <p:spPr>
          <a:xfrm>
            <a:off x="8732520" y="1965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5"/>
          <p:cNvSpPr txBox="1"/>
          <p:nvPr/>
        </p:nvSpPr>
        <p:spPr>
          <a:xfrm>
            <a:off x="9326880" y="1965960"/>
            <a:ext cx="2084832" cy="502920"/>
          </a:xfrm>
          <a:prstGeom prst="rect">
            <a:avLst/>
          </a:prstGeom>
          <a:noFill/>
          <a:ln/>
        </p:spPr>
        <p:txBody>
          <a:bodyPr wrap="square" lIns="0" tIns="0" rIns="0" bIns="0" rtlCol="0" anchor="ctr"/>
          <a:lstStyle/>
          <a:p>
            <a:pPr indent="0" marL="0">
              <a:buNone/>
            </a:pPr>
            <a:r>
              <a:rPr lang="en-US" sz="1400" b="1" dirty="0">
                <a:solidFill>
                  <a:srgbClr val="13315C"/>
                </a:solidFill>
                <a:latin typeface="Cambria" pitchFamily="34" charset="0"/>
                <a:ea typeface="Cambria" pitchFamily="34" charset="-122"/>
                <a:cs typeface="Cambria" pitchFamily="34" charset="-120"/>
              </a:rPr>
              <a:t>Noise is one of five impairments</a:t>
            </a:r>
            <a:endParaRPr lang="en-US" sz="1400" dirty="0"/>
          </a:p>
        </p:txBody>
      </p:sp>
      <p:sp>
        <p:nvSpPr>
          <p:cNvPr id="9" name="Text 6"/>
          <p:cNvSpPr txBox="1"/>
          <p:nvPr/>
        </p:nvSpPr>
        <p:spPr>
          <a:xfrm>
            <a:off x="8732520" y="2697480"/>
            <a:ext cx="2633472" cy="1554480"/>
          </a:xfrm>
          <a:prstGeom prst="rect">
            <a:avLst/>
          </a:prstGeom>
          <a:noFill/>
          <a:ln/>
        </p:spPr>
        <p:txBody>
          <a:bodyPr wrap="square" lIns="0" tIns="0" rIns="0" bIns="0" rtlCol="0" anchor="t"/>
          <a:lstStyle/>
          <a:p>
            <a:pPr indent="0" marL="0">
              <a:buNone/>
            </a:pPr>
            <a:r>
              <a:rPr lang="en-US" sz="1250" dirty="0">
                <a:solidFill>
                  <a:srgbClr val="13315C"/>
                </a:solidFill>
                <a:latin typeface="Calibri" pitchFamily="34" charset="0"/>
                <a:ea typeface="Calibri" pitchFamily="34" charset="-122"/>
                <a:cs typeface="Calibri" pitchFamily="34" charset="-120"/>
              </a:rPr>
              <a:t>Carrier offset, clock offset, fading and multipath are present at every SNR, including +18 dB. Errors at high SNR cannot be blamed on noise.</a:t>
            </a:r>
            <a:endParaRPr lang="en-US" sz="1250" dirty="0"/>
          </a:p>
        </p:txBody>
      </p:sp>
      <p:sp>
        <p:nvSpPr>
          <p:cNvPr id="10" name="Text 7"/>
          <p:cNvSpPr txBox="1"/>
          <p:nvPr/>
        </p:nvSpPr>
        <p:spPr>
          <a:xfrm>
            <a:off x="8732520" y="4846320"/>
            <a:ext cx="2633472" cy="914400"/>
          </a:xfrm>
          <a:prstGeom prst="rect">
            <a:avLst/>
          </a:prstGeom>
          <a:noFill/>
          <a:ln/>
        </p:spPr>
        <p:txBody>
          <a:bodyPr wrap="square" lIns="0" tIns="0" rIns="0" bIns="0" rtlCol="0" anchor="t"/>
          <a:lstStyle/>
          <a:p>
            <a:pPr indent="0" marL="0">
              <a:buNone/>
            </a:pPr>
            <a:r>
              <a:rPr lang="en-US" sz="1050" i="1" dirty="0">
                <a:solidFill>
                  <a:srgbClr val="5C7A99"/>
                </a:solidFill>
                <a:latin typeface="Calibri" pitchFamily="34" charset="0"/>
                <a:ea typeface="Calibri" pitchFamily="34" charset="-122"/>
                <a:cs typeface="Calibri" pitchFamily="34" charset="-120"/>
              </a:rPr>
              <a:t>Source: O'Shea &amp; West, GRCon 2016; github.com/radioML/dataset, generate_RML2016.10a.py.</a:t>
            </a:r>
            <a:endParaRPr lang="en-US" sz="1050" dirty="0"/>
          </a:p>
        </p:txBody>
      </p:sp>
      <p:sp>
        <p:nvSpPr>
          <p:cNvPr id="12" name="Text 8"/>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What “10 dB” is the ratio of</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Measured in the frames of the file itself, not taken from the code.</a:t>
            </a:r>
            <a:endParaRPr lang="en-US" sz="1500" dirty="0"/>
          </a:p>
        </p:txBody>
      </p:sp>
      <p:pic>
        <p:nvPicPr>
          <p:cNvPr id="4" name="Image 0" descr="../figures/35_rml2016_snr_measured.png">    </p:cNvPr>
          <p:cNvPicPr>
            <a:picLocks noChangeAspect="1"/>
          </p:cNvPicPr>
          <p:nvPr/>
        </p:nvPicPr>
        <p:blipFill>
          <a:blip r:embed="rId1"/>
          <a:stretch>
            <a:fillRect/>
          </a:stretch>
        </p:blipFill>
        <p:spPr>
          <a:xfrm>
            <a:off x="548640" y="1600200"/>
            <a:ext cx="6766560" cy="3988709"/>
          </a:xfrm>
          <a:prstGeom prst="rect">
            <a:avLst/>
          </a:prstGeom>
        </p:spPr>
      </p:pic>
      <p:sp>
        <p:nvSpPr>
          <p:cNvPr id="5" name="Text 2"/>
          <p:cNvSpPr txBox="1"/>
          <p:nvPr/>
        </p:nvSpPr>
        <p:spPr>
          <a:xfrm>
            <a:off x="7589520" y="1554480"/>
            <a:ext cx="4050792" cy="777240"/>
          </a:xfrm>
          <a:prstGeom prst="rect">
            <a:avLst/>
          </a:prstGeom>
          <a:noFill/>
          <a:ln/>
        </p:spPr>
        <p:txBody>
          <a:bodyPr wrap="square" lIns="0" tIns="0" rIns="0" bIns="0" rtlCol="0" anchor="b"/>
          <a:lstStyle/>
          <a:p>
            <a:pPr indent="0" marL="0">
              <a:buNone/>
            </a:pPr>
            <a:r>
              <a:rPr lang="en-US" sz="3000" b="1" dirty="0">
                <a:solidFill>
                  <a:srgbClr val="F26419"/>
                </a:solidFill>
                <a:latin typeface="Cambria" pitchFamily="34" charset="0"/>
                <a:ea typeface="Cambria" pitchFamily="34" charset="-122"/>
                <a:cs typeface="Cambria" pitchFamily="34" charset="-120"/>
              </a:rPr>
              <a:t>1.87–1.89 dB</a:t>
            </a:r>
            <a:endParaRPr lang="en-US" sz="3000" dirty="0"/>
          </a:p>
        </p:txBody>
      </p:sp>
      <p:sp>
        <p:nvSpPr>
          <p:cNvPr id="6" name="Text 3"/>
          <p:cNvSpPr txBox="1"/>
          <p:nvPr/>
        </p:nvSpPr>
        <p:spPr>
          <a:xfrm>
            <a:off x="7589520" y="2359152"/>
            <a:ext cx="405079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of measured SNR per dB of label (PSK): the label sets a noise amplitude, so it moves twice as fast as its name</a:t>
            </a:r>
            <a:endParaRPr lang="en-US" sz="1200" dirty="0"/>
          </a:p>
        </p:txBody>
      </p:sp>
      <p:sp>
        <p:nvSpPr>
          <p:cNvPr id="7" name="Text 4"/>
          <p:cNvSpPr txBox="1"/>
          <p:nvPr/>
        </p:nvSpPr>
        <p:spPr>
          <a:xfrm>
            <a:off x="7589520" y="3154680"/>
            <a:ext cx="4050792" cy="320040"/>
          </a:xfrm>
          <a:prstGeom prst="rect">
            <a:avLst/>
          </a:prstGeom>
          <a:noFill/>
          <a:ln/>
        </p:spPr>
        <p:txBody>
          <a:bodyPr wrap="square" lIns="0" tIns="0" rIns="0" bIns="0" rtlCol="0" anchor="t"/>
          <a:lstStyle/>
          <a:p>
            <a:pPr indent="0" marL="0">
              <a:buNone/>
            </a:pPr>
            <a:r>
              <a:rPr lang="en-US" sz="1250" b="1" dirty="0">
                <a:solidFill>
                  <a:srgbClr val="13315C"/>
                </a:solidFill>
                <a:latin typeface="Calibri" pitchFamily="34" charset="0"/>
                <a:ea typeface="Calibri" pitchFamily="34" charset="-122"/>
                <a:cs typeface="Calibri" pitchFamily="34" charset="-120"/>
              </a:rPr>
              <a:t>Same label, different SNR — above PSK:</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89520" y="3520440"/>
          <a:ext cx="4050792" cy="914400"/>
        </p:xfrm>
        <a:graphic>
          <a:graphicData uri="http://schemas.openxmlformats.org/drawingml/2006/table">
            <a:tbl>
              <a:tblPr/>
              <a:tblGrid>
                <a:gridCol w="1188720"/>
                <a:gridCol w="1463040"/>
                <a:gridCol w="1399032"/>
              </a:tblGrid>
              <a:tr h="310896">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100" b="1" dirty="0">
                          <a:solidFill>
                            <a:srgbClr val="13315C"/>
                          </a:solidFill>
                          <a:latin typeface="Calibri" pitchFamily="34" charset="0"/>
                          <a:ea typeface="Calibri" pitchFamily="34" charset="-122"/>
                          <a:cs typeface="Calibri" pitchFamily="34" charset="-120"/>
                        </a:rPr>
                        <a:t>measured</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100" b="1" dirty="0">
                          <a:solidFill>
                            <a:srgbClr val="13315C"/>
                          </a:solidFill>
                          <a:latin typeface="Calibri" pitchFamily="34" charset="0"/>
                          <a:ea typeface="Calibri" pitchFamily="34" charset="-122"/>
                          <a:cs typeface="Calibri" pitchFamily="34" charset="-120"/>
                        </a:rPr>
                        <a:t>unscaled points</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310896">
                <a:tc>
                  <a:txBody>
                    <a:bodyPr/>
                    <a:lstStyle/>
                    <a:p>
                      <a:pPr indent="0" marL="0">
                        <a:buNone/>
                      </a:pPr>
                      <a:r>
                        <a:rPr lang="en-US" sz="1100" b="1" dirty="0">
                          <a:solidFill>
                            <a:srgbClr val="13315C"/>
                          </a:solidFill>
                          <a:latin typeface="Calibri" pitchFamily="34" charset="0"/>
                          <a:ea typeface="Calibri" pitchFamily="34" charset="-122"/>
                          <a:cs typeface="Calibri" pitchFamily="34" charset="-120"/>
                        </a:rPr>
                        <a:t>PAM4</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13315C"/>
                          </a:solidFill>
                          <a:latin typeface="Calibri" pitchFamily="34" charset="0"/>
                          <a:ea typeface="Calibri" pitchFamily="34" charset="-122"/>
                          <a:cs typeface="Calibri" pitchFamily="34" charset="-120"/>
                        </a:rPr>
                        <a:t>+6.6 dB</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5C7A99"/>
                          </a:solidFill>
                          <a:latin typeface="Calibri" pitchFamily="34" charset="0"/>
                          <a:ea typeface="Calibri" pitchFamily="34" charset="-122"/>
                          <a:cs typeface="Calibri" pitchFamily="34" charset="-120"/>
                        </a:rPr>
                        <a:t>+7.0 dB</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10896">
                <a:tc>
                  <a:txBody>
                    <a:bodyPr/>
                    <a:lstStyle/>
                    <a:p>
                      <a:pPr indent="0" marL="0">
                        <a:buNone/>
                      </a:pPr>
                      <a:r>
                        <a:rPr lang="en-US" sz="1100" b="1" dirty="0">
                          <a:solidFill>
                            <a:srgbClr val="13315C"/>
                          </a:solidFill>
                          <a:latin typeface="Calibri" pitchFamily="34" charset="0"/>
                          <a:ea typeface="Calibri" pitchFamily="34" charset="-122"/>
                          <a:cs typeface="Calibri" pitchFamily="34" charset="-120"/>
                        </a:rPr>
                        <a:t>QAM16</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13315C"/>
                          </a:solidFill>
                          <a:latin typeface="Calibri" pitchFamily="34" charset="0"/>
                          <a:ea typeface="Calibri" pitchFamily="34" charset="-122"/>
                          <a:cs typeface="Calibri" pitchFamily="34" charset="-120"/>
                        </a:rPr>
                        <a:t>+9.5 dB</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5C7A99"/>
                          </a:solidFill>
                          <a:latin typeface="Calibri" pitchFamily="34" charset="0"/>
                          <a:ea typeface="Calibri" pitchFamily="34" charset="-122"/>
                          <a:cs typeface="Calibri" pitchFamily="34" charset="-120"/>
                        </a:rPr>
                        <a:t>+10.0 dB</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10896">
                <a:tc>
                  <a:txBody>
                    <a:bodyPr/>
                    <a:lstStyle/>
                    <a:p>
                      <a:pPr indent="0" marL="0">
                        <a:buNone/>
                      </a:pPr>
                      <a:r>
                        <a:rPr lang="en-US" sz="1100" b="1" dirty="0">
                          <a:solidFill>
                            <a:srgbClr val="13315C"/>
                          </a:solidFill>
                          <a:latin typeface="Calibri" pitchFamily="34" charset="0"/>
                          <a:ea typeface="Calibri" pitchFamily="34" charset="-122"/>
                          <a:cs typeface="Calibri" pitchFamily="34" charset="-120"/>
                        </a:rPr>
                        <a:t>QAM64</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13315C"/>
                          </a:solidFill>
                          <a:latin typeface="Calibri" pitchFamily="34" charset="0"/>
                          <a:ea typeface="Calibri" pitchFamily="34" charset="-122"/>
                          <a:cs typeface="Calibri" pitchFamily="34" charset="-120"/>
                        </a:rPr>
                        <a:t>+15.2 dB</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100" dirty="0">
                          <a:solidFill>
                            <a:srgbClr val="5C7A99"/>
                          </a:solidFill>
                          <a:latin typeface="Calibri" pitchFamily="34" charset="0"/>
                          <a:ea typeface="Calibri" pitchFamily="34" charset="-122"/>
                          <a:cs typeface="Calibri" pitchFamily="34" charset="-120"/>
                        </a:rPr>
                        <a:t>+16.2 dB</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9" name="Text 5"/>
          <p:cNvSpPr txBox="1"/>
          <p:nvPr/>
        </p:nvSpPr>
        <p:spPr>
          <a:xfrm>
            <a:off x="7589520" y="4892040"/>
            <a:ext cx="4050792" cy="1280160"/>
          </a:xfrm>
          <a:prstGeom prst="rect">
            <a:avLst/>
          </a:prstGeom>
          <a:noFill/>
          <a:ln/>
        </p:spPr>
        <p:txBody>
          <a:bodyPr wrap="square" lIns="0" tIns="0" rIns="0" bIns="0" rtlCol="0" anchor="t"/>
          <a:lstStyle/>
          <a:p>
            <a:pPr indent="0" marL="0">
              <a:buNone/>
            </a:pPr>
            <a:r>
              <a:rPr lang="en-US" sz="1150" dirty="0">
                <a:solidFill>
                  <a:srgbClr val="5C7A99"/>
                </a:solidFill>
                <a:latin typeface="Calibri" pitchFamily="34" charset="0"/>
                <a:ea typeface="Calibri" pitchFamily="34" charset="-122"/>
                <a:cs typeface="Calibri" pitchFamily="34" charset="-120"/>
              </a:rPr>
              <a:t>At a label of −6 dB a QAM64 frame is at about +9 dB, a QPSK frame at about -6 dB. Readable only from about −13 to +18 dB; outside that the flat parts are the method's limit.</a:t>
            </a:r>
            <a:endParaRPr lang="en-US" sz="1150" dirty="0"/>
          </a:p>
        </p:txBody>
      </p:sp>
      <p:sp>
        <p:nvSpPr>
          <p:cNvPr id="11" name="Text 6"/>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The box at one SNR: 10 dB</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8,400 decisions — 14 seeds × 4 classes × 150 test frames. Rows: what was sent. Columns: what was decided.</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949440" cy="914400"/>
        </p:xfrm>
        <a:graphic>
          <a:graphicData uri="http://schemas.openxmlformats.org/drawingml/2006/table">
            <a:tbl>
              <a:tblPr/>
              <a:tblGrid>
                <a:gridCol w="1600200"/>
                <a:gridCol w="1097280"/>
                <a:gridCol w="1097280"/>
                <a:gridCol w="1097280"/>
                <a:gridCol w="1097280"/>
                <a:gridCol w="960120"/>
              </a:tblGrid>
              <a:tr h="384048">
                <a:tc>
                  <a:txBody>
                    <a:bodyPr/>
                    <a:lstStyle/>
                    <a:p>
                      <a:pPr indent="0" marL="0">
                        <a:buNone/>
                      </a:pPr>
                      <a:r>
                        <a:rPr lang="en-US" sz="1100" b="1" dirty="0">
                          <a:solidFill>
                            <a:srgbClr val="13315C"/>
                          </a:solidFill>
                          <a:latin typeface="Calibri" pitchFamily="34" charset="0"/>
                          <a:ea typeface="Calibri" pitchFamily="34" charset="-122"/>
                          <a:cs typeface="Calibri" pitchFamily="34" charset="-120"/>
                        </a:rPr>
                        <a:t>sent \ decided</a:t>
                      </a:r>
                      <a:endParaRPr lang="en-US" sz="11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BPSK</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QPSK</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QAM16</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QAM64</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38404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BPSK</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2,092</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8A99A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99.6%</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8404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QPSK</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2,091</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99.6%</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8404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QAM16</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1,808</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269</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DE9DF"/>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86.1%</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84048">
                <a:tc>
                  <a:txBody>
                    <a:bodyPr/>
                    <a:lstStyle/>
                    <a:p>
                      <a:pPr indent="0" marL="0">
                        <a:buNone/>
                      </a:pPr>
                      <a:r>
                        <a:rPr lang="en-US" sz="1300" b="1" dirty="0">
                          <a:solidFill>
                            <a:srgbClr val="13315C"/>
                          </a:solidFill>
                          <a:latin typeface="Calibri" pitchFamily="34" charset="0"/>
                          <a:ea typeface="Calibri" pitchFamily="34" charset="-122"/>
                          <a:cs typeface="Calibri" pitchFamily="34" charset="-120"/>
                        </a:rPr>
                        <a:t>QAM64</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315C"/>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DE9D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1,961</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1B998B"/>
                    </a:solidFill>
                  </a:tcPr>
                </a:tc>
                <a:tc>
                  <a:txBody>
                    <a:bodyPr/>
                    <a:lstStyle/>
                    <a:p>
                      <a:pPr algn="ctr" indent="0" marL="0">
                        <a:buNone/>
                      </a:pPr>
                      <a:r>
                        <a:rPr lang="en-US" sz="1300" b="1" dirty="0">
                          <a:solidFill>
                            <a:srgbClr val="13315C"/>
                          </a:solidFill>
                          <a:latin typeface="Calibri" pitchFamily="34" charset="0"/>
                          <a:ea typeface="Calibri" pitchFamily="34" charset="-122"/>
                          <a:cs typeface="Calibri" pitchFamily="34" charset="-120"/>
                        </a:rPr>
                        <a:t>93.4%</a:t>
                      </a:r>
                      <a:endParaRPr lang="en-US" sz="13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84048">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algn="ctr" indent="0" marL="0">
                        <a:buNone/>
                      </a:pPr>
                      <a:r>
                        <a:rPr lang="en-US" sz="1000" dirty="0">
                          <a:solidFill>
                            <a:srgbClr val="13315C"/>
                          </a:solidFill>
                          <a:latin typeface="Calibri" pitchFamily="34" charset="0"/>
                          <a:ea typeface="Calibri" pitchFamily="34" charset="-122"/>
                          <a:cs typeface="Calibri" pitchFamily="34" charset="-120"/>
                        </a:rPr>
                        <a:t>99.1%</a:t>
                      </a:r>
                      <a:endParaRPr lang="en-US" sz="1000" dirty="0">
                        <a:latin typeface="Calibri" charset="0"/>
                        <a:ea typeface="Calibri" charset="0"/>
                        <a:cs typeface="Calibri" charset="0"/>
                      </a:endParaRPr>
                    </a:p>
                    <a:p>
                      <a:pPr algn="ctr" indent="0" marL="0">
                        <a:buNone/>
                      </a:pPr>
                      <a:r>
                        <a:rPr lang="en-US" sz="1000" dirty="0">
                          <a:solidFill>
                            <a:srgbClr val="13315C"/>
                          </a:solidFill>
                          <a:latin typeface="Calibri" pitchFamily="34" charset="0"/>
                          <a:ea typeface="Calibri" pitchFamily="34" charset="-122"/>
                          <a:cs typeface="Calibri" pitchFamily="34" charset="-120"/>
                        </a:rPr>
                        <a:t>of 2,110</a:t>
                      </a:r>
                      <a:endParaRPr lang="en-US" sz="10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algn="ctr" indent="0" marL="0">
                        <a:buNone/>
                      </a:pPr>
                      <a:r>
                        <a:rPr lang="en-US" sz="1000" dirty="0">
                          <a:solidFill>
                            <a:srgbClr val="13315C"/>
                          </a:solidFill>
                          <a:latin typeface="Calibri" pitchFamily="34" charset="0"/>
                          <a:ea typeface="Calibri" pitchFamily="34" charset="-122"/>
                          <a:cs typeface="Calibri" pitchFamily="34" charset="-120"/>
                        </a:rPr>
                        <a:t>98.7%</a:t>
                      </a:r>
                      <a:endParaRPr lang="en-US" sz="1000" dirty="0">
                        <a:latin typeface="Calibri" charset="0"/>
                        <a:ea typeface="Calibri" charset="0"/>
                        <a:cs typeface="Calibri" charset="0"/>
                      </a:endParaRPr>
                    </a:p>
                    <a:p>
                      <a:pPr algn="ctr" indent="0" marL="0">
                        <a:buNone/>
                      </a:pPr>
                      <a:r>
                        <a:rPr lang="en-US" sz="1000" dirty="0">
                          <a:solidFill>
                            <a:srgbClr val="13315C"/>
                          </a:solidFill>
                          <a:latin typeface="Calibri" pitchFamily="34" charset="0"/>
                          <a:ea typeface="Calibri" pitchFamily="34" charset="-122"/>
                          <a:cs typeface="Calibri" pitchFamily="34" charset="-120"/>
                        </a:rPr>
                        <a:t>of 2,118</a:t>
                      </a:r>
                      <a:endParaRPr lang="en-US" sz="10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algn="ctr" indent="0" marL="0">
                        <a:buNone/>
                      </a:pPr>
                      <a:r>
                        <a:rPr lang="en-US" sz="1000" dirty="0">
                          <a:solidFill>
                            <a:srgbClr val="13315C"/>
                          </a:solidFill>
                          <a:latin typeface="Calibri" pitchFamily="34" charset="0"/>
                          <a:ea typeface="Calibri" pitchFamily="34" charset="-122"/>
                          <a:cs typeface="Calibri" pitchFamily="34" charset="-120"/>
                        </a:rPr>
                        <a:t>93.4%</a:t>
                      </a:r>
                      <a:endParaRPr lang="en-US" sz="1000" dirty="0">
                        <a:latin typeface="Calibri" charset="0"/>
                        <a:ea typeface="Calibri" charset="0"/>
                        <a:cs typeface="Calibri" charset="0"/>
                      </a:endParaRPr>
                    </a:p>
                    <a:p>
                      <a:pPr algn="ctr" indent="0" marL="0">
                        <a:buNone/>
                      </a:pPr>
                      <a:r>
                        <a:rPr lang="en-US" sz="1000" dirty="0">
                          <a:solidFill>
                            <a:srgbClr val="13315C"/>
                          </a:solidFill>
                          <a:latin typeface="Calibri" pitchFamily="34" charset="0"/>
                          <a:ea typeface="Calibri" pitchFamily="34" charset="-122"/>
                          <a:cs typeface="Calibri" pitchFamily="34" charset="-120"/>
                        </a:rPr>
                        <a:t>of 1,936</a:t>
                      </a:r>
                      <a:endParaRPr lang="en-US" sz="10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algn="ctr" indent="0" marL="0">
                        <a:buNone/>
                      </a:pPr>
                      <a:r>
                        <a:rPr lang="en-US" sz="1000" dirty="0">
                          <a:solidFill>
                            <a:srgbClr val="13315C"/>
                          </a:solidFill>
                          <a:latin typeface="Calibri" pitchFamily="34" charset="0"/>
                          <a:ea typeface="Calibri" pitchFamily="34" charset="-122"/>
                          <a:cs typeface="Calibri" pitchFamily="34" charset="-120"/>
                        </a:rPr>
                        <a:t>87.7%</a:t>
                      </a:r>
                      <a:endParaRPr lang="en-US" sz="1000" dirty="0">
                        <a:latin typeface="Calibri" charset="0"/>
                        <a:ea typeface="Calibri" charset="0"/>
                        <a:cs typeface="Calibri" charset="0"/>
                      </a:endParaRPr>
                    </a:p>
                    <a:p>
                      <a:pPr algn="ctr" indent="0" marL="0">
                        <a:buNone/>
                      </a:pPr>
                      <a:r>
                        <a:rPr lang="en-US" sz="1000" dirty="0">
                          <a:solidFill>
                            <a:srgbClr val="13315C"/>
                          </a:solidFill>
                          <a:latin typeface="Calibri" pitchFamily="34" charset="0"/>
                          <a:ea typeface="Calibri" pitchFamily="34" charset="-122"/>
                          <a:cs typeface="Calibri" pitchFamily="34" charset="-120"/>
                        </a:rPr>
                        <a:t>of 2,236</a:t>
                      </a:r>
                      <a:endParaRPr lang="en-US" sz="10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3F6F9"/>
                    </a:solidFill>
                  </a:tcPr>
                </a:tc>
              </a:tr>
            </a:tbl>
          </a:graphicData>
        </a:graphic>
      </p:graphicFrame>
      <p:sp>
        <p:nvSpPr>
          <p:cNvPr id="5" name="Text 2"/>
          <p:cNvSpPr txBox="1"/>
          <p:nvPr/>
        </p:nvSpPr>
        <p:spPr>
          <a:xfrm>
            <a:off x="548640" y="4617720"/>
            <a:ext cx="6949440" cy="822960"/>
          </a:xfrm>
          <a:prstGeom prst="rect">
            <a:avLst/>
          </a:prstGeom>
          <a:noFill/>
          <a:ln/>
        </p:spPr>
        <p:txBody>
          <a:bodyPr wrap="square" lIns="0" tIns="0" rIns="0" bIns="0" rtlCol="0" anchor="t"/>
          <a:lstStyle/>
          <a:p>
            <a:pPr indent="0" marL="0">
              <a:buNone/>
            </a:pPr>
            <a:r>
              <a:rPr lang="en-US" sz="1200" b="1" dirty="0">
                <a:solidFill>
                  <a:srgbClr val="5C7A99"/>
                </a:solidFill>
                <a:latin typeface="Calibri" pitchFamily="34" charset="0"/>
                <a:ea typeface="Calibri" pitchFamily="34" charset="-122"/>
                <a:cs typeface="Calibri" pitchFamily="34" charset="-120"/>
              </a:rPr>
              <a:t>recall</a:t>
            </a:r>
            <a:pPr indent="0" marL="0">
              <a:buNone/>
            </a:pPr>
            <a:r>
              <a:rPr lang="en-US" sz="1200" dirty="0">
                <a:solidFill>
                  <a:srgbClr val="5C7A99"/>
                </a:solidFill>
                <a:latin typeface="Calibri" pitchFamily="34" charset="0"/>
                <a:ea typeface="Calibri" pitchFamily="34" charset="-122"/>
                <a:cs typeface="Calibri" pitchFamily="34" charset="-120"/>
              </a:rPr>
              <a:t> = the row: of the frames that were this class, how many were called it.</a:t>
            </a:r>
            <a:endParaRPr lang="en-US" sz="1200" dirty="0"/>
          </a:p>
          <a:p>
            <a:pPr indent="0" marL="0">
              <a:buNone/>
            </a:pPr>
            <a:r>
              <a:rPr lang="en-US" sz="1200" b="1" dirty="0">
                <a:solidFill>
                  <a:srgbClr val="5C7A99"/>
                </a:solidFill>
                <a:latin typeface="Calibri" pitchFamily="34" charset="0"/>
                <a:ea typeface="Calibri" pitchFamily="34" charset="-122"/>
                <a:cs typeface="Calibri" pitchFamily="34" charset="-120"/>
              </a:rPr>
              <a:t>precision</a:t>
            </a:r>
            <a:pPr indent="0" marL="0">
              <a:buNone/>
            </a:pPr>
            <a:r>
              <a:rPr lang="en-US" sz="1200" dirty="0">
                <a:solidFill>
                  <a:srgbClr val="5C7A99"/>
                </a:solidFill>
                <a:latin typeface="Calibri" pitchFamily="34" charset="0"/>
                <a:ea typeface="Calibri" pitchFamily="34" charset="-122"/>
                <a:cs typeface="Calibri" pitchFamily="34" charset="-120"/>
              </a:rPr>
              <a:t> = the column: of the frames called this class, how many were it.</a:t>
            </a:r>
            <a:endParaRPr lang="en-US" sz="1200" dirty="0"/>
          </a:p>
        </p:txBody>
      </p:sp>
      <p:sp>
        <p:nvSpPr>
          <p:cNvPr id="6" name="Text 3"/>
          <p:cNvSpPr txBox="1"/>
          <p:nvPr/>
        </p:nvSpPr>
        <p:spPr>
          <a:xfrm>
            <a:off x="7955280" y="1737360"/>
            <a:ext cx="3685032" cy="777240"/>
          </a:xfrm>
          <a:prstGeom prst="rect">
            <a:avLst/>
          </a:prstGeom>
          <a:noFill/>
          <a:ln/>
        </p:spPr>
        <p:txBody>
          <a:bodyPr wrap="square" lIns="0" tIns="0" rIns="0" bIns="0" rtlCol="0" anchor="b"/>
          <a:lstStyle/>
          <a:p>
            <a:pPr indent="0" marL="0">
              <a:buNone/>
            </a:pPr>
            <a:r>
              <a:rPr lang="en-US" sz="4000" b="1" dirty="0">
                <a:solidFill>
                  <a:srgbClr val="C0392B"/>
                </a:solidFill>
                <a:latin typeface="Cambria" pitchFamily="34" charset="0"/>
                <a:ea typeface="Cambria" pitchFamily="34" charset="-122"/>
                <a:cs typeface="Cambria" pitchFamily="34" charset="-120"/>
              </a:rPr>
              <a:t>448</a:t>
            </a:r>
            <a:endParaRPr lang="en-US" sz="4000" dirty="0"/>
          </a:p>
        </p:txBody>
      </p:sp>
      <p:sp>
        <p:nvSpPr>
          <p:cNvPr id="7" name="Text 4"/>
          <p:cNvSpPr txBox="1"/>
          <p:nvPr/>
        </p:nvSpPr>
        <p:spPr>
          <a:xfrm>
            <a:off x="7955280" y="2542032"/>
            <a:ext cx="368503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wrong of 8,400 (5.3%)</a:t>
            </a:r>
            <a:endParaRPr lang="en-US" sz="1200" dirty="0"/>
          </a:p>
        </p:txBody>
      </p:sp>
      <p:sp>
        <p:nvSpPr>
          <p:cNvPr id="8" name="Text 5"/>
          <p:cNvSpPr txBox="1"/>
          <p:nvPr/>
        </p:nvSpPr>
        <p:spPr>
          <a:xfrm>
            <a:off x="7955280" y="3246120"/>
            <a:ext cx="3685032" cy="777240"/>
          </a:xfrm>
          <a:prstGeom prst="rect">
            <a:avLst/>
          </a:prstGeom>
          <a:noFill/>
          <a:ln/>
        </p:spPr>
        <p:txBody>
          <a:bodyPr wrap="square" lIns="0" tIns="0" rIns="0" bIns="0" rtlCol="0" anchor="b"/>
          <a:lstStyle/>
          <a:p>
            <a:pPr indent="0" marL="0">
              <a:buNone/>
            </a:pPr>
            <a:r>
              <a:rPr lang="en-US" sz="4000" b="1" dirty="0">
                <a:solidFill>
                  <a:srgbClr val="F26419"/>
                </a:solidFill>
                <a:latin typeface="Cambria" pitchFamily="34" charset="0"/>
                <a:ea typeface="Cambria" pitchFamily="34" charset="-122"/>
                <a:cs typeface="Cambria" pitchFamily="34" charset="-120"/>
              </a:rPr>
              <a:t>395</a:t>
            </a:r>
            <a:endParaRPr lang="en-US" sz="4000" dirty="0"/>
          </a:p>
        </p:txBody>
      </p:sp>
      <p:sp>
        <p:nvSpPr>
          <p:cNvPr id="9" name="Text 6"/>
          <p:cNvSpPr txBox="1"/>
          <p:nvPr/>
        </p:nvSpPr>
        <p:spPr>
          <a:xfrm>
            <a:off x="7955280" y="4050792"/>
            <a:ext cx="368503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of them are QAM16 ↔ QAM64</a:t>
            </a:r>
            <a:endParaRPr lang="en-US" sz="1200" dirty="0"/>
          </a:p>
        </p:txBody>
      </p:sp>
      <p:sp>
        <p:nvSpPr>
          <p:cNvPr id="10" name="Text 7"/>
          <p:cNvSpPr txBox="1"/>
          <p:nvPr/>
        </p:nvSpPr>
        <p:spPr>
          <a:xfrm>
            <a:off x="7955280" y="4754880"/>
            <a:ext cx="3685032" cy="731520"/>
          </a:xfrm>
          <a:prstGeom prst="rect">
            <a:avLst/>
          </a:prstGeom>
          <a:noFill/>
          <a:ln/>
        </p:spPr>
        <p:txBody>
          <a:bodyPr wrap="square" lIns="0" tIns="0" rIns="0" bIns="0" rtlCol="0" anchor="t"/>
          <a:lstStyle/>
          <a:p>
            <a:pPr indent="0" marL="0">
              <a:buNone/>
            </a:pPr>
            <a:r>
              <a:rPr lang="en-US" sz="1300" b="1" dirty="0">
                <a:solidFill>
                  <a:srgbClr val="13315C"/>
                </a:solidFill>
                <a:latin typeface="Calibri" pitchFamily="34" charset="0"/>
                <a:ea typeface="Calibri" pitchFamily="34" charset="-122"/>
                <a:cs typeface="Calibri" pitchFamily="34" charset="-120"/>
              </a:rPr>
              <a:t>BPSK and QPSK: 99.6% recall. The errors are one pair.</a:t>
            </a:r>
            <a:endParaRPr lang="en-US" sz="1300" dirty="0"/>
          </a:p>
        </p:txBody>
      </p:sp>
      <p:sp>
        <p:nvSpPr>
          <p:cNvPr id="12" name="Text 8"/>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Then lower: nothing changes until 0 dB</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Each matrix 8,400 decisions; each cell count and share of its row.</a:t>
            </a:r>
            <a:endParaRPr lang="en-US" sz="1500" dirty="0"/>
          </a:p>
        </p:txBody>
      </p:sp>
      <p:pic>
        <p:nvPicPr>
          <p:cNvPr id="4" name="Image 0" descr="../figures/31_rml2016_c4_matrices.png">    </p:cNvPr>
          <p:cNvPicPr>
            <a:picLocks noChangeAspect="1"/>
          </p:cNvPicPr>
          <p:nvPr/>
        </p:nvPicPr>
        <p:blipFill>
          <a:blip r:embed="rId1"/>
          <a:stretch>
            <a:fillRect/>
          </a:stretch>
        </p:blipFill>
        <p:spPr>
          <a:xfrm>
            <a:off x="548640" y="1554480"/>
            <a:ext cx="8138160" cy="4577715"/>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961120" y="1600200"/>
          <a:ext cx="2679192" cy="914400"/>
        </p:xfrm>
        <a:graphic>
          <a:graphicData uri="http://schemas.openxmlformats.org/drawingml/2006/table">
            <a:tbl>
              <a:tblPr/>
              <a:tblGrid>
                <a:gridCol w="1188720"/>
                <a:gridCol w="1490472"/>
              </a:tblGrid>
              <a:tr h="365760">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label</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wrong of 8,400</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365760">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+10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1B998B"/>
                          </a:solidFill>
                          <a:latin typeface="Calibri" pitchFamily="34" charset="0"/>
                          <a:ea typeface="Calibri" pitchFamily="34" charset="-122"/>
                          <a:cs typeface="Calibri" pitchFamily="34" charset="-120"/>
                        </a:rPr>
                        <a:t>448</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+6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1B998B"/>
                          </a:solidFill>
                          <a:latin typeface="Calibri" pitchFamily="34" charset="0"/>
                          <a:ea typeface="Calibri" pitchFamily="34" charset="-122"/>
                          <a:cs typeface="Calibri" pitchFamily="34" charset="-120"/>
                        </a:rPr>
                        <a:t>473</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+4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1B998B"/>
                          </a:solidFill>
                          <a:latin typeface="Calibri" pitchFamily="34" charset="0"/>
                          <a:ea typeface="Calibri" pitchFamily="34" charset="-122"/>
                          <a:cs typeface="Calibri" pitchFamily="34" charset="-120"/>
                        </a:rPr>
                        <a:t>453</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+2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1B998B"/>
                          </a:solidFill>
                          <a:latin typeface="Calibri" pitchFamily="34" charset="0"/>
                          <a:ea typeface="Calibri" pitchFamily="34" charset="-122"/>
                          <a:cs typeface="Calibri" pitchFamily="34" charset="-120"/>
                        </a:rPr>
                        <a:t>486</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F26419"/>
                          </a:solidFill>
                          <a:latin typeface="Calibri" pitchFamily="34" charset="0"/>
                          <a:ea typeface="Calibri" pitchFamily="34" charset="-122"/>
                          <a:cs typeface="Calibri" pitchFamily="34" charset="-120"/>
                        </a:rPr>
                        <a:t>609</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-2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F26419"/>
                          </a:solidFill>
                          <a:latin typeface="Calibri" pitchFamily="34" charset="0"/>
                          <a:ea typeface="Calibri" pitchFamily="34" charset="-122"/>
                          <a:cs typeface="Calibri" pitchFamily="34" charset="-120"/>
                        </a:rPr>
                        <a:t>1,042</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-4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2,174</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365760">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-6 dB</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2,842</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6" name="Text 2"/>
          <p:cNvSpPr txBox="1"/>
          <p:nvPr/>
        </p:nvSpPr>
        <p:spPr>
          <a:xfrm>
            <a:off x="8961120" y="5029200"/>
            <a:ext cx="2679192" cy="109728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10 → 2 dB: the same box. Below 0 dB QPSK leaks into both QAMs first; BPSK holds longest.</a:t>
            </a:r>
            <a:endParaRPr lang="en-US" sz="1200" dirty="0"/>
          </a:p>
        </p:txBody>
      </p:sp>
      <p:sp>
        <p:nvSpPr>
          <p:cNvPr id="8" name="Text 3"/>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Error rate against SNR — and against frame length</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SNR decides where the curve falls. The number of symbols decides how low it can go.</a:t>
            </a:r>
            <a:endParaRPr lang="en-US" sz="1500" dirty="0"/>
          </a:p>
        </p:txBody>
      </p:sp>
      <p:pic>
        <p:nvPicPr>
          <p:cNvPr id="4" name="Image 0" descr="../figures/32_rml2016_c4_error_vs_snr.png">    </p:cNvPr>
          <p:cNvPicPr>
            <a:picLocks noChangeAspect="1"/>
          </p:cNvPicPr>
          <p:nvPr/>
        </p:nvPicPr>
        <p:blipFill>
          <a:blip r:embed="rId1"/>
          <a:stretch>
            <a:fillRect/>
          </a:stretch>
        </p:blipFill>
        <p:spPr>
          <a:xfrm>
            <a:off x="548640" y="1600200"/>
            <a:ext cx="7589520" cy="4216400"/>
          </a:xfrm>
          <a:prstGeom prst="rect">
            <a:avLst/>
          </a:prstGeom>
        </p:spPr>
      </p:pic>
      <p:sp>
        <p:nvSpPr>
          <p:cNvPr id="5" name="Text 2"/>
          <p:cNvSpPr txBox="1"/>
          <p:nvPr/>
        </p:nvSpPr>
        <p:spPr>
          <a:xfrm>
            <a:off x="8503920" y="1554480"/>
            <a:ext cx="3136392" cy="777240"/>
          </a:xfrm>
          <a:prstGeom prst="rect">
            <a:avLst/>
          </a:prstGeom>
          <a:noFill/>
          <a:ln/>
        </p:spPr>
        <p:txBody>
          <a:bodyPr wrap="square" lIns="0" tIns="0" rIns="0" bIns="0" rtlCol="0" anchor="b"/>
          <a:lstStyle/>
          <a:p>
            <a:pPr indent="0" marL="0">
              <a:buNone/>
            </a:pPr>
            <a:r>
              <a:rPr lang="en-US" sz="3400" b="1" dirty="0">
                <a:solidFill>
                  <a:srgbClr val="0B2545"/>
                </a:solidFill>
                <a:latin typeface="Cambria" pitchFamily="34" charset="0"/>
                <a:ea typeface="Cambria" pitchFamily="34" charset="-122"/>
                <a:cs typeface="Cambria" pitchFamily="34" charset="-120"/>
              </a:rPr>
              <a:t>5.7%</a:t>
            </a:r>
            <a:endParaRPr lang="en-US" sz="3400" dirty="0"/>
          </a:p>
        </p:txBody>
      </p:sp>
      <p:sp>
        <p:nvSpPr>
          <p:cNvPr id="6" name="Text 3"/>
          <p:cNvSpPr txBox="1"/>
          <p:nvPr/>
        </p:nvSpPr>
        <p:spPr>
          <a:xfrm>
            <a:off x="8503920" y="2359152"/>
            <a:ext cx="313639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error floor from +2 dB up, 128 samples = 16 symbols</a:t>
            </a:r>
            <a:endParaRPr lang="en-US" sz="1200" dirty="0"/>
          </a:p>
        </p:txBody>
      </p:sp>
      <p:sp>
        <p:nvSpPr>
          <p:cNvPr id="7" name="Text 4"/>
          <p:cNvSpPr txBox="1"/>
          <p:nvPr/>
        </p:nvSpPr>
        <p:spPr>
          <a:xfrm>
            <a:off x="8503920" y="3017520"/>
            <a:ext cx="3136392" cy="777240"/>
          </a:xfrm>
          <a:prstGeom prst="rect">
            <a:avLst/>
          </a:prstGeom>
          <a:noFill/>
          <a:ln/>
        </p:spPr>
        <p:txBody>
          <a:bodyPr wrap="square" lIns="0" tIns="0" rIns="0" bIns="0" rtlCol="0" anchor="b"/>
          <a:lstStyle/>
          <a:p>
            <a:pPr indent="0" marL="0">
              <a:buNone/>
            </a:pPr>
            <a:r>
              <a:rPr lang="en-US" sz="3400" b="1" dirty="0">
                <a:solidFill>
                  <a:srgbClr val="F26419"/>
                </a:solidFill>
                <a:latin typeface="Cambria" pitchFamily="34" charset="0"/>
                <a:ea typeface="Cambria" pitchFamily="34" charset="-122"/>
                <a:cs typeface="Cambria" pitchFamily="34" charset="-120"/>
              </a:rPr>
              <a:t>15.5%</a:t>
            </a:r>
            <a:endParaRPr lang="en-US" sz="3400" dirty="0"/>
          </a:p>
        </p:txBody>
      </p:sp>
      <p:sp>
        <p:nvSpPr>
          <p:cNvPr id="8" name="Text 5"/>
          <p:cNvSpPr txBox="1"/>
          <p:nvPr/>
        </p:nvSpPr>
        <p:spPr>
          <a:xfrm>
            <a:off x="8503920" y="3822192"/>
            <a:ext cx="313639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error floor from +2 dB up, 64 samples = 8 symbols</a:t>
            </a:r>
            <a:endParaRPr lang="en-US" sz="1200" dirty="0"/>
          </a:p>
        </p:txBody>
      </p:sp>
      <p:sp>
        <p:nvSpPr>
          <p:cNvPr id="9" name="Text 6"/>
          <p:cNvSpPr txBox="1"/>
          <p:nvPr/>
        </p:nvSpPr>
        <p:spPr>
          <a:xfrm>
            <a:off x="8503920" y="4480560"/>
            <a:ext cx="3136392" cy="777240"/>
          </a:xfrm>
          <a:prstGeom prst="rect">
            <a:avLst/>
          </a:prstGeom>
          <a:noFill/>
          <a:ln/>
        </p:spPr>
        <p:txBody>
          <a:bodyPr wrap="square" lIns="0" tIns="0" rIns="0" bIns="0" rtlCol="0" anchor="b"/>
          <a:lstStyle/>
          <a:p>
            <a:pPr indent="0" marL="0">
              <a:buNone/>
            </a:pPr>
            <a:r>
              <a:rPr lang="en-US" sz="3400" b="1" dirty="0">
                <a:solidFill>
                  <a:srgbClr val="1B998B"/>
                </a:solidFill>
                <a:latin typeface="Cambria" pitchFamily="34" charset="0"/>
                <a:ea typeface="Cambria" pitchFamily="34" charset="-122"/>
                <a:cs typeface="Cambria" pitchFamily="34" charset="-120"/>
              </a:rPr>
              <a:t>25.2%</a:t>
            </a:r>
            <a:endParaRPr lang="en-US" sz="3400" dirty="0"/>
          </a:p>
        </p:txBody>
      </p:sp>
      <p:sp>
        <p:nvSpPr>
          <p:cNvPr id="10" name="Text 7"/>
          <p:cNvSpPr txBox="1"/>
          <p:nvPr/>
        </p:nvSpPr>
        <p:spPr>
          <a:xfrm>
            <a:off x="8503920" y="5285232"/>
            <a:ext cx="313639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error floor from +2 dB up, 32 samples = 4 symbols</a:t>
            </a:r>
            <a:endParaRPr lang="en-US" sz="1200" dirty="0"/>
          </a:p>
        </p:txBody>
      </p:sp>
      <p:sp>
        <p:nvSpPr>
          <p:cNvPr id="11" name="Text 8"/>
          <p:cNvSpPr txBox="1"/>
          <p:nvPr/>
        </p:nvSpPr>
        <p:spPr>
          <a:xfrm>
            <a:off x="8503920" y="5897880"/>
            <a:ext cx="3136392" cy="365760"/>
          </a:xfrm>
          <a:prstGeom prst="rect">
            <a:avLst/>
          </a:prstGeom>
          <a:noFill/>
          <a:ln/>
        </p:spPr>
        <p:txBody>
          <a:bodyPr wrap="square" lIns="0" tIns="0" rIns="0" bIns="0" rtlCol="0" anchor="t"/>
          <a:lstStyle/>
          <a:p>
            <a:pPr indent="0" marL="0">
              <a:buNone/>
            </a:pPr>
            <a:r>
              <a:rPr lang="en-US" sz="1150" dirty="0">
                <a:solidFill>
                  <a:srgbClr val="5C7A99"/>
                </a:solidFill>
                <a:latin typeface="Calibri" pitchFamily="34" charset="0"/>
                <a:ea typeface="Calibri" pitchFamily="34" charset="-122"/>
                <a:cs typeface="Calibri" pitchFamily="34" charset="-120"/>
              </a:rPr>
              <a:t>Above 10 dB: 2,421 / 6,443 / 10,431 wrong of 42,000.</a:t>
            </a:r>
            <a:endParaRPr lang="en-US" sz="1150" dirty="0"/>
          </a:p>
        </p:txBody>
      </p:sp>
      <p:sp>
        <p:nvSpPr>
          <p:cNvPr id="13" name="Text 9"/>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What shorter frames break</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Recall above 10 dB, 10,500 frames per class per length.</a:t>
            </a:r>
            <a:endParaRPr lang="en-US" sz="1500" dirty="0"/>
          </a:p>
        </p:txBody>
      </p:sp>
      <p:graphicFrame>
        <p:nvGraphicFramePr>
          <p:cNvPr id="4" name="Chart 0" descr=""/>
          <p:cNvGraphicFramePr/>
          <p:nvPr/>
        </p:nvGraphicFramePr>
        <p:xfrm>
          <a:off x="54864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00200"/>
            <a:ext cx="3776472" cy="777240"/>
          </a:xfrm>
          <a:prstGeom prst="rect">
            <a:avLst/>
          </a:prstGeom>
          <a:noFill/>
          <a:ln/>
        </p:spPr>
        <p:txBody>
          <a:bodyPr wrap="square" lIns="0" tIns="0" rIns="0" bIns="0" rtlCol="0" anchor="b"/>
          <a:lstStyle/>
          <a:p>
            <a:pPr indent="0" marL="0">
              <a:buNone/>
            </a:pPr>
            <a:r>
              <a:rPr lang="en-US" sz="3000" b="1" dirty="0">
                <a:solidFill>
                  <a:srgbClr val="F26419"/>
                </a:solidFill>
                <a:latin typeface="Cambria" pitchFamily="34" charset="0"/>
                <a:ea typeface="Cambria" pitchFamily="34" charset="-122"/>
                <a:cs typeface="Cambria" pitchFamily="34" charset="-120"/>
              </a:rPr>
              <a:t>87 → 66 → 46%</a:t>
            </a:r>
            <a:endParaRPr lang="en-US" sz="3000" dirty="0"/>
          </a:p>
        </p:txBody>
      </p:sp>
      <p:sp>
        <p:nvSpPr>
          <p:cNvPr id="6" name="Text 3"/>
          <p:cNvSpPr txBox="1"/>
          <p:nvPr/>
        </p:nvSpPr>
        <p:spPr>
          <a:xfrm>
            <a:off x="7863840" y="2404872"/>
            <a:ext cx="377647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QAM16 recall at 16 → 8 → 4 symbols: at 4 it is a coin flip</a:t>
            </a:r>
            <a:endParaRPr lang="en-US" sz="1200" dirty="0"/>
          </a:p>
        </p:txBody>
      </p:sp>
      <p:sp>
        <p:nvSpPr>
          <p:cNvPr id="7" name="Text 4"/>
          <p:cNvSpPr txBox="1"/>
          <p:nvPr/>
        </p:nvSpPr>
        <p:spPr>
          <a:xfrm>
            <a:off x="7863840" y="3063240"/>
            <a:ext cx="3776472" cy="777240"/>
          </a:xfrm>
          <a:prstGeom prst="rect">
            <a:avLst/>
          </a:prstGeom>
          <a:noFill/>
          <a:ln/>
        </p:spPr>
        <p:txBody>
          <a:bodyPr wrap="square" lIns="0" tIns="0" rIns="0" bIns="0" rtlCol="0" anchor="b"/>
          <a:lstStyle/>
          <a:p>
            <a:pPr indent="0" marL="0">
              <a:buNone/>
            </a:pPr>
            <a:r>
              <a:rPr lang="en-US" sz="3000" b="1" dirty="0">
                <a:solidFill>
                  <a:srgbClr val="0B2545"/>
                </a:solidFill>
                <a:latin typeface="Cambria" pitchFamily="34" charset="0"/>
                <a:ea typeface="Cambria" pitchFamily="34" charset="-122"/>
                <a:cs typeface="Cambria" pitchFamily="34" charset="-120"/>
              </a:rPr>
              <a:t>809</a:t>
            </a:r>
            <a:endParaRPr lang="en-US" sz="3000" dirty="0"/>
          </a:p>
        </p:txBody>
      </p:sp>
      <p:sp>
        <p:nvSpPr>
          <p:cNvPr id="8" name="Text 5"/>
          <p:cNvSpPr txBox="1"/>
          <p:nvPr/>
        </p:nvSpPr>
        <p:spPr>
          <a:xfrm>
            <a:off x="7863840" y="3867912"/>
            <a:ext cx="3776472"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QPSK frames called BPSK at 4 symbols: if all four land on one diagonal, the frame looks like BPSK</a:t>
            </a:r>
            <a:endParaRPr lang="en-US" sz="1200" dirty="0"/>
          </a:p>
        </p:txBody>
      </p:sp>
      <p:sp>
        <p:nvSpPr>
          <p:cNvPr id="9" name="Text 6"/>
          <p:cNvSpPr txBox="1"/>
          <p:nvPr/>
        </p:nvSpPr>
        <p:spPr>
          <a:xfrm>
            <a:off x="7863840" y="4754880"/>
            <a:ext cx="3776472" cy="1188720"/>
          </a:xfrm>
          <a:prstGeom prst="rect">
            <a:avLst/>
          </a:prstGeom>
          <a:noFill/>
          <a:ln/>
        </p:spPr>
        <p:txBody>
          <a:bodyPr wrap="square" lIns="0" tIns="0" rIns="0" bIns="0" rtlCol="0" anchor="t"/>
          <a:lstStyle/>
          <a:p>
            <a:pPr indent="0" marL="0">
              <a:buNone/>
            </a:pPr>
            <a:r>
              <a:rPr lang="en-US" sz="1250" b="1" dirty="0">
                <a:solidFill>
                  <a:srgbClr val="13315C"/>
                </a:solidFill>
                <a:latin typeface="Calibri" pitchFamily="34" charset="0"/>
                <a:ea typeface="Calibri" pitchFamily="34" charset="-122"/>
                <a:cs typeface="Calibri" pitchFamily="34" charset="-120"/>
              </a:rPr>
              <a:t>These QAM frames are measured at 17 dB SNR or more (slide 7). The errors are the symbol count, not the noise.</a:t>
            </a:r>
            <a:endParaRPr lang="en-US" sz="1250" dirty="0"/>
          </a:p>
        </p:txBody>
      </p:sp>
      <p:sp>
        <p:nvSpPr>
          <p:cNvPr id="11" name="Text 7"/>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Recall, precision, and where empty frames go</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Recall: 2,100 frames sent per point. Precision: n = frames decided as that class, shown per panel.</a:t>
            </a:r>
            <a:endParaRPr lang="en-US" sz="1500" dirty="0"/>
          </a:p>
        </p:txBody>
      </p:sp>
      <p:pic>
        <p:nvPicPr>
          <p:cNvPr id="4" name="Image 0" descr="../figures/33_rml2016_c4_recall_precision.png">    </p:cNvPr>
          <p:cNvPicPr>
            <a:picLocks noChangeAspect="1"/>
          </p:cNvPicPr>
          <p:nvPr/>
        </p:nvPicPr>
        <p:blipFill>
          <a:blip r:embed="rId1"/>
          <a:stretch>
            <a:fillRect/>
          </a:stretch>
        </p:blipFill>
        <p:spPr>
          <a:xfrm>
            <a:off x="548640" y="1554480"/>
            <a:ext cx="11091672" cy="3050210"/>
          </a:xfrm>
          <a:prstGeom prst="rect">
            <a:avLst/>
          </a:prstGeom>
        </p:spPr>
      </p:pic>
      <p:sp>
        <p:nvSpPr>
          <p:cNvPr id="5" name="Text 2"/>
          <p:cNvSpPr txBox="1"/>
          <p:nvPr/>
        </p:nvSpPr>
        <p:spPr>
          <a:xfrm>
            <a:off x="548640" y="4800600"/>
            <a:ext cx="3291840" cy="777240"/>
          </a:xfrm>
          <a:prstGeom prst="rect">
            <a:avLst/>
          </a:prstGeom>
          <a:noFill/>
          <a:ln/>
        </p:spPr>
        <p:txBody>
          <a:bodyPr wrap="square" lIns="0" tIns="0" rIns="0" bIns="0" rtlCol="0" anchor="b"/>
          <a:lstStyle/>
          <a:p>
            <a:pPr indent="0" marL="0">
              <a:buNone/>
            </a:pPr>
            <a:r>
              <a:rPr lang="en-US" sz="3400" b="1" dirty="0">
                <a:solidFill>
                  <a:srgbClr val="F26419"/>
                </a:solidFill>
                <a:latin typeface="Cambria" pitchFamily="34" charset="0"/>
                <a:ea typeface="Cambria" pitchFamily="34" charset="-122"/>
                <a:cs typeface="Cambria" pitchFamily="34" charset="-120"/>
              </a:rPr>
              <a:t>98.8%</a:t>
            </a:r>
            <a:endParaRPr lang="en-US" sz="3400" dirty="0"/>
          </a:p>
        </p:txBody>
      </p:sp>
      <p:sp>
        <p:nvSpPr>
          <p:cNvPr id="6" name="Text 3"/>
          <p:cNvSpPr txBox="1"/>
          <p:nvPr/>
        </p:nvSpPr>
        <p:spPr>
          <a:xfrm>
            <a:off x="548640" y="5605272"/>
            <a:ext cx="3291840"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of all −20 dB decisions go to BPSK or QPSK</a:t>
            </a:r>
            <a:endParaRPr lang="en-US" sz="1200" dirty="0"/>
          </a:p>
        </p:txBody>
      </p:sp>
      <p:sp>
        <p:nvSpPr>
          <p:cNvPr id="7" name="Text 4"/>
          <p:cNvSpPr txBox="1"/>
          <p:nvPr/>
        </p:nvSpPr>
        <p:spPr>
          <a:xfrm>
            <a:off x="4206240" y="4800600"/>
            <a:ext cx="3474720" cy="777240"/>
          </a:xfrm>
          <a:prstGeom prst="rect">
            <a:avLst/>
          </a:prstGeom>
          <a:noFill/>
          <a:ln/>
        </p:spPr>
        <p:txBody>
          <a:bodyPr wrap="square" lIns="0" tIns="0" rIns="0" bIns="0" rtlCol="0" anchor="b"/>
          <a:lstStyle/>
          <a:p>
            <a:pPr indent="0" marL="0">
              <a:buNone/>
            </a:pPr>
            <a:r>
              <a:rPr lang="en-US" sz="3400" b="1" dirty="0">
                <a:solidFill>
                  <a:srgbClr val="C0392B"/>
                </a:solidFill>
                <a:latin typeface="Cambria" pitchFamily="34" charset="0"/>
                <a:ea typeface="Cambria" pitchFamily="34" charset="-122"/>
                <a:cs typeface="Cambria" pitchFamily="34" charset="-120"/>
              </a:rPr>
              <a:t>26% / 25%</a:t>
            </a:r>
            <a:endParaRPr lang="en-US" sz="3400" dirty="0"/>
          </a:p>
        </p:txBody>
      </p:sp>
      <p:sp>
        <p:nvSpPr>
          <p:cNvPr id="8" name="Text 5"/>
          <p:cNvSpPr txBox="1"/>
          <p:nvPr/>
        </p:nvSpPr>
        <p:spPr>
          <a:xfrm>
            <a:off x="4206240" y="5605272"/>
            <a:ext cx="3474720"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BPSK / QPSK precision at −20 dB: chance, with four classes</a:t>
            </a:r>
            <a:endParaRPr lang="en-US" sz="1200" dirty="0"/>
          </a:p>
        </p:txBody>
      </p:sp>
      <p:sp>
        <p:nvSpPr>
          <p:cNvPr id="9" name="Text 6"/>
          <p:cNvSpPr txBox="1"/>
          <p:nvPr/>
        </p:nvSpPr>
        <p:spPr>
          <a:xfrm>
            <a:off x="7863840" y="4800600"/>
            <a:ext cx="3749040" cy="777240"/>
          </a:xfrm>
          <a:prstGeom prst="rect">
            <a:avLst/>
          </a:prstGeom>
          <a:noFill/>
          <a:ln/>
        </p:spPr>
        <p:txBody>
          <a:bodyPr wrap="square" lIns="0" tIns="0" rIns="0" bIns="0" rtlCol="0" anchor="b"/>
          <a:lstStyle/>
          <a:p>
            <a:pPr indent="0" marL="0">
              <a:buNone/>
            </a:pPr>
            <a:r>
              <a:rPr lang="en-US" sz="3400" b="1" dirty="0">
                <a:solidFill>
                  <a:srgbClr val="0B2545"/>
                </a:solidFill>
                <a:latin typeface="Cambria" pitchFamily="34" charset="0"/>
                <a:ea typeface="Cambria" pitchFamily="34" charset="-122"/>
                <a:cs typeface="Cambria" pitchFamily="34" charset="-120"/>
              </a:rPr>
              <a:t>12–86%</a:t>
            </a:r>
            <a:endParaRPr lang="en-US" sz="3400" dirty="0"/>
          </a:p>
        </p:txBody>
      </p:sp>
      <p:sp>
        <p:nvSpPr>
          <p:cNvPr id="10" name="Text 7"/>
          <p:cNvSpPr txBox="1"/>
          <p:nvPr/>
        </p:nvSpPr>
        <p:spPr>
          <a:xfrm>
            <a:off x="7863840" y="5605272"/>
            <a:ext cx="3749040" cy="548640"/>
          </a:xfrm>
          <a:prstGeom prst="rect">
            <a:avLst/>
          </a:prstGeom>
          <a:noFill/>
          <a:ln/>
        </p:spPr>
        <p:txBody>
          <a:bodyPr wrap="square" lIns="0" tIns="0" rIns="0" bIns="0" rtlCol="0" anchor="t"/>
          <a:lstStyle/>
          <a:p>
            <a:pPr indent="0" marL="0">
              <a:buNone/>
            </a:pPr>
            <a:r>
              <a:rPr lang="en-US" sz="1200" dirty="0">
                <a:solidFill>
                  <a:srgbClr val="5C7A99"/>
                </a:solidFill>
                <a:latin typeface="Calibri" pitchFamily="34" charset="0"/>
                <a:ea typeface="Calibri" pitchFamily="34" charset="-122"/>
                <a:cs typeface="Calibri" pitchFamily="34" charset="-120"/>
              </a:rPr>
              <a:t>BPSK's share of that, seed to seed: which of the two is arbitrary</a:t>
            </a:r>
            <a:endParaRPr lang="en-US" sz="1200" dirty="0"/>
          </a:p>
        </p:txBody>
      </p:sp>
      <p:sp>
        <p:nvSpPr>
          <p:cNvPr id="12" name="Text 8"/>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Beyond the box: the 2018 result does not transfer</a:t>
            </a:r>
            <a:endParaRPr lang="en-US" sz="30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5C7A99"/>
                </a:solidFill>
                <a:latin typeface="Calibri" pitchFamily="34" charset="0"/>
                <a:ea typeface="Calibri" pitchFamily="34" charset="-122"/>
                <a:cs typeface="Calibri" pitchFamily="34" charset="-120"/>
              </a:rPr>
              <a:t>Train on RML2016.10a, test on our own generator. 5 shared classes, 14 seeds, accuracy at ≥ 10 dB.</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577840" cy="914400"/>
        </p:xfrm>
        <a:graphic>
          <a:graphicData uri="http://schemas.openxmlformats.org/drawingml/2006/table">
            <a:tbl>
              <a:tblPr/>
              <a:tblGrid>
                <a:gridCol w="3017520"/>
                <a:gridCol w="1280160"/>
                <a:gridCol w="1280160"/>
              </a:tblGrid>
              <a:tr h="411480">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in-domain</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c>
                  <a:txBody>
                    <a:bodyPr/>
                    <a:lstStyle/>
                    <a:p>
                      <a:pPr algn="ctr" indent="0" marL="0">
                        <a:buNone/>
                      </a:pPr>
                      <a:r>
                        <a:rPr lang="en-US" sz="1200" b="1" dirty="0">
                          <a:solidFill>
                            <a:srgbClr val="13315C"/>
                          </a:solidFill>
                          <a:latin typeface="Calibri" pitchFamily="34" charset="0"/>
                          <a:ea typeface="Calibri" pitchFamily="34" charset="-122"/>
                          <a:cs typeface="Calibri" pitchFamily="34" charset="-120"/>
                        </a:rPr>
                        <a:t>cross-domain</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DCE6F0"/>
                    </a:solidFill>
                  </a:tcPr>
                </a:tc>
              </a:tr>
              <a:tr h="411480">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0.948</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0.920</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11480">
                <a:tc>
                  <a:txBody>
                    <a:bodyPr/>
                    <a:lstStyle/>
                    <a:p>
                      <a:pPr indent="0" marL="0">
                        <a:buNone/>
                      </a:pPr>
                      <a:r>
                        <a:rPr lang="en-US" sz="1200" b="1" dirty="0">
                          <a:solidFill>
                            <a:srgbClr val="13315C"/>
                          </a:solidFill>
                          <a:latin typeface="Calibri" pitchFamily="34" charset="0"/>
                          <a:ea typeface="Calibri" pitchFamily="34" charset="-122"/>
                          <a:cs typeface="Calibri" pitchFamily="34" charset="-120"/>
                        </a:rPr>
                        <a:t>standard augmentation</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0.969</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b="1" dirty="0">
                          <a:solidFill>
                            <a:srgbClr val="1B998B"/>
                          </a:solidFill>
                          <a:latin typeface="Calibri" pitchFamily="34" charset="0"/>
                          <a:ea typeface="Calibri" pitchFamily="34" charset="-122"/>
                          <a:cs typeface="Calibri" pitchFamily="34" charset="-120"/>
                        </a:rPr>
                        <a:t>0.968</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11480">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whitening (5-bin envelope)</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0.864</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0.843</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11480">
                <a:tc>
                  <a:txBody>
                    <a:bodyPr/>
                    <a:lstStyle/>
                    <a:p>
                      <a:pPr indent="0" marL="0">
                        <a:buNone/>
                      </a:pPr>
                      <a:r>
                        <a:rPr lang="en-US" sz="1200" dirty="0">
                          <a:solidFill>
                            <a:srgbClr val="13315C"/>
                          </a:solidFill>
                          <a:latin typeface="Calibri" pitchFamily="34" charset="0"/>
                          <a:ea typeface="Calibri" pitchFamily="34" charset="-122"/>
                          <a:cs typeface="Calibri" pitchFamily="34" charset="-120"/>
                        </a:rPr>
                        <a:t>whitening + augmentation</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200" dirty="0">
                          <a:solidFill>
                            <a:srgbClr val="13315C"/>
                          </a:solidFill>
                          <a:latin typeface="Calibri" pitchFamily="34" charset="0"/>
                          <a:ea typeface="Calibri" pitchFamily="34" charset="-122"/>
                          <a:cs typeface="Calibri" pitchFamily="34" charset="-120"/>
                        </a:rPr>
                        <a:t>0.913</a:t>
                      </a:r>
                      <a:endParaRPr lang="en-US" sz="1200" dirty="0">
                        <a:latin typeface="Calibri" charset="0"/>
                        <a:ea typeface="Calibri" charset="0"/>
                        <a:cs typeface="Calibri" charset="0"/>
                      </a:endParaRPr>
                    </a:p>
                  </a:txBody>
                  <a:tcPr marL="91440" marR="91440" marT="45720" marB="45720">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5" name="Text 2"/>
          <p:cNvSpPr txBox="1"/>
          <p:nvPr/>
        </p:nvSpPr>
        <p:spPr>
          <a:xfrm>
            <a:off x="548640" y="3977640"/>
            <a:ext cx="5577840" cy="914400"/>
          </a:xfrm>
          <a:prstGeom prst="rect">
            <a:avLst/>
          </a:prstGeom>
          <a:noFill/>
          <a:ln/>
        </p:spPr>
        <p:txBody>
          <a:bodyPr wrap="square" lIns="0" tIns="0" rIns="0" bIns="0" rtlCol="0" anchor="t"/>
          <a:lstStyle/>
          <a:p>
            <a:pPr indent="0" marL="0">
              <a:buNone/>
            </a:pPr>
            <a:r>
              <a:rPr lang="en-US" sz="1250" dirty="0">
                <a:solidFill>
                  <a:srgbClr val="13315C"/>
                </a:solidFill>
                <a:latin typeface="Calibri" pitchFamily="34" charset="0"/>
                <a:ea typeface="Calibri" pitchFamily="34" charset="-122"/>
                <a:cs typeface="Calibri" pitchFamily="34" charset="-120"/>
              </a:rPr>
              <a:t>The gap is small here (0.028) and the standard augmentation set closes it. On 2018 the gap was 0.19 and whitening closed it.</a:t>
            </a:r>
            <a:endParaRPr lang="en-US" sz="1250" dirty="0"/>
          </a:p>
        </p:txBody>
      </p:sp>
      <p:sp>
        <p:nvSpPr>
          <p:cNvPr id="6" name="Text 3"/>
          <p:cNvSpPr txBox="1"/>
          <p:nvPr/>
        </p:nvSpPr>
        <p:spPr>
          <a:xfrm>
            <a:off x="548640" y="4892040"/>
            <a:ext cx="5577840" cy="1188720"/>
          </a:xfrm>
          <a:prstGeom prst="rect">
            <a:avLst/>
          </a:prstGeom>
          <a:noFill/>
          <a:ln/>
        </p:spPr>
        <p:txBody>
          <a:bodyPr wrap="square" lIns="0" tIns="0" rIns="0" bIns="0" rtlCol="0" anchor="t"/>
          <a:lstStyle/>
          <a:p>
            <a:pPr indent="0" marL="0">
              <a:buNone/>
            </a:pPr>
            <a:r>
              <a:rPr lang="en-US" sz="1250" dirty="0">
                <a:solidFill>
                  <a:srgbClr val="5C7A99"/>
                </a:solidFill>
                <a:latin typeface="Calibri" pitchFamily="34" charset="0"/>
                <a:ea typeface="Calibri" pitchFamily="34" charset="-122"/>
                <a:cs typeface="Calibri" pitchFamily="34" charset="-120"/>
              </a:rPr>
              <a:t>Whitening's 8-point cost was the envelope estimate: 128 points smoothed over 5 bins. Over 33 bins it is +1.3 points in-domain — but cross-domain it never clearly beats doing nothing.</a:t>
            </a:r>
            <a:endParaRPr lang="en-US" sz="1250" dirty="0"/>
          </a:p>
        </p:txBody>
      </p:sp>
      <p:pic>
        <p:nvPicPr>
          <p:cNvPr id="7" name="Image 0" descr="../figures/34_whitening_smoothing_rml2016.png">    </p:cNvPr>
          <p:cNvPicPr>
            <a:picLocks noChangeAspect="1"/>
          </p:cNvPicPr>
          <p:nvPr/>
        </p:nvPicPr>
        <p:blipFill>
          <a:blip r:embed="rId1"/>
          <a:stretch>
            <a:fillRect/>
          </a:stretch>
        </p:blipFill>
        <p:spPr>
          <a:xfrm>
            <a:off x="6400800" y="1691640"/>
            <a:ext cx="5239512" cy="3027274"/>
          </a:xfrm>
          <a:prstGeom prst="rect">
            <a:avLst/>
          </a:prstGeom>
        </p:spPr>
      </p:pic>
      <p:sp>
        <p:nvSpPr>
          <p:cNvPr id="9" name="Text 4"/>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13315C"/>
                </a:solidFill>
                <a:latin typeface="Cambria" pitchFamily="34" charset="0"/>
                <a:ea typeface="Cambria" pitchFamily="34" charset="-122"/>
                <a:cs typeface="Cambria" pitchFamily="34" charset="-120"/>
              </a:rPr>
              <a:t>Caveats</a:t>
            </a:r>
            <a:endParaRPr lang="en-US" sz="3000" dirty="0"/>
          </a:p>
        </p:txBody>
      </p:sp>
      <p:sp>
        <p:nvSpPr>
          <p:cNvPr id="3" name="Shape 1"/>
          <p:cNvSpPr/>
          <p:nvPr/>
        </p:nvSpPr>
        <p:spPr>
          <a:xfrm>
            <a:off x="548640" y="1325880"/>
            <a:ext cx="5440680" cy="2286000"/>
          </a:xfrm>
          <a:prstGeom prst="roundRect">
            <a:avLst>
              <a:gd name="adj" fmla="val 3200"/>
            </a:avLst>
          </a:prstGeom>
          <a:solidFill>
            <a:srgbClr val="F3F6F9"/>
          </a:solidFill>
          <a:ln w="12700">
            <a:solidFill>
              <a:srgbClr val="F3F6F9"/>
            </a:solidFill>
            <a:prstDash val="solid"/>
          </a:ln>
        </p:spPr>
      </p:sp>
      <p:sp>
        <p:nvSpPr>
          <p:cNvPr id="4" name="Shape 2"/>
          <p:cNvSpPr/>
          <p:nvPr/>
        </p:nvSpPr>
        <p:spPr>
          <a:xfrm>
            <a:off x="777240" y="1554480"/>
            <a:ext cx="384048" cy="384048"/>
          </a:xfrm>
          <a:prstGeom prst="ellipse">
            <a:avLst/>
          </a:prstGeom>
          <a:solidFill>
            <a:srgbClr val="C0392B"/>
          </a:solidFill>
          <a:ln w="12700">
            <a:solidFill>
              <a:srgbClr val="C0392B"/>
            </a:solidFill>
            <a:prstDash val="solid"/>
          </a:ln>
        </p:spPr>
      </p:sp>
      <p:sp>
        <p:nvSpPr>
          <p:cNvPr id="5" name="Text 3"/>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6" name="Text 4"/>
          <p:cNvSpPr txBox="1"/>
          <p:nvPr/>
        </p:nvSpPr>
        <p:spPr>
          <a:xfrm>
            <a:off x="1325880" y="1508760"/>
            <a:ext cx="4480560" cy="457200"/>
          </a:xfrm>
          <a:prstGeom prst="rect">
            <a:avLst/>
          </a:prstGeom>
          <a:noFill/>
          <a:ln/>
        </p:spPr>
        <p:txBody>
          <a:bodyPr wrap="square" lIns="0" tIns="0" rIns="0" bIns="0"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Both domains are synthetic</a:t>
            </a:r>
            <a:endParaRPr lang="en-US" sz="1500" dirty="0"/>
          </a:p>
        </p:txBody>
      </p:sp>
      <p:sp>
        <p:nvSpPr>
          <p:cNvPr id="7" name="Text 5"/>
          <p:cNvSpPr txBox="1"/>
          <p:nvPr/>
        </p:nvSpPr>
        <p:spPr>
          <a:xfrm>
            <a:off x="777240" y="2148840"/>
            <a:ext cx="4983480" cy="1371600"/>
          </a:xfrm>
          <a:prstGeom prst="rect">
            <a:avLst/>
          </a:prstGeom>
          <a:noFill/>
          <a:ln/>
        </p:spPr>
        <p:txBody>
          <a:bodyPr wrap="square" lIns="0" tIns="0" rIns="0" bIns="0" rtlCol="0" anchor="t"/>
          <a:lstStyle/>
          <a:p>
            <a:pPr indent="0" marL="0">
              <a:buNone/>
            </a:pPr>
            <a:r>
              <a:rPr lang="en-US" sz="1300" dirty="0">
                <a:solidFill>
                  <a:srgbClr val="13315C"/>
                </a:solidFill>
                <a:latin typeface="Calibri" pitchFamily="34" charset="0"/>
                <a:ea typeface="Calibri" pitchFamily="34" charset="-122"/>
                <a:cs typeface="Calibri" pitchFamily="34" charset="-120"/>
              </a:rPr>
              <a:t>RML2016.10a is simulated, and so is our second transmitter. No over-the-air capture has been classified yet.</a:t>
            </a:r>
            <a:endParaRPr lang="en-US" sz="1300" dirty="0"/>
          </a:p>
        </p:txBody>
      </p:sp>
      <p:sp>
        <p:nvSpPr>
          <p:cNvPr id="8" name="Shape 6"/>
          <p:cNvSpPr/>
          <p:nvPr/>
        </p:nvSpPr>
        <p:spPr>
          <a:xfrm>
            <a:off x="6217920" y="1325880"/>
            <a:ext cx="5440680" cy="2286000"/>
          </a:xfrm>
          <a:prstGeom prst="roundRect">
            <a:avLst>
              <a:gd name="adj" fmla="val 3200"/>
            </a:avLst>
          </a:prstGeom>
          <a:solidFill>
            <a:srgbClr val="F3F6F9"/>
          </a:solidFill>
          <a:ln w="12700">
            <a:solidFill>
              <a:srgbClr val="F3F6F9"/>
            </a:solidFill>
            <a:prstDash val="solid"/>
          </a:ln>
        </p:spPr>
      </p:sp>
      <p:sp>
        <p:nvSpPr>
          <p:cNvPr id="9" name="Shape 7"/>
          <p:cNvSpPr/>
          <p:nvPr/>
        </p:nvSpPr>
        <p:spPr>
          <a:xfrm>
            <a:off x="6446520" y="1554480"/>
            <a:ext cx="384048" cy="384048"/>
          </a:xfrm>
          <a:prstGeom prst="ellipse">
            <a:avLst/>
          </a:prstGeom>
          <a:solidFill>
            <a:srgbClr val="F26419"/>
          </a:solidFill>
          <a:ln w="12700">
            <a:solidFill>
              <a:srgbClr val="F26419"/>
            </a:solidFill>
            <a:prstDash val="solid"/>
          </a:ln>
        </p:spPr>
      </p:sp>
      <p:sp>
        <p:nvSpPr>
          <p:cNvPr id="10" name="Text 8"/>
          <p:cNvSpPr txBox="1"/>
          <p:nvPr/>
        </p:nvSpPr>
        <p:spPr>
          <a:xfrm>
            <a:off x="6446520" y="15544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11" name="Text 9"/>
          <p:cNvSpPr txBox="1"/>
          <p:nvPr/>
        </p:nvSpPr>
        <p:spPr>
          <a:xfrm>
            <a:off x="6995160" y="1508760"/>
            <a:ext cx="4480560" cy="457200"/>
          </a:xfrm>
          <a:prstGeom prst="rect">
            <a:avLst/>
          </a:prstGeom>
          <a:noFill/>
          <a:ln/>
        </p:spPr>
        <p:txBody>
          <a:bodyPr wrap="square" lIns="0" tIns="0" rIns="0" bIns="0"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Not the published architecture</a:t>
            </a:r>
            <a:endParaRPr lang="en-US" sz="1500" dirty="0"/>
          </a:p>
        </p:txBody>
      </p:sp>
      <p:sp>
        <p:nvSpPr>
          <p:cNvPr id="12" name="Text 10"/>
          <p:cNvSpPr txBox="1"/>
          <p:nvPr/>
        </p:nvSpPr>
        <p:spPr>
          <a:xfrm>
            <a:off x="6446520" y="2148840"/>
            <a:ext cx="4983480" cy="1371600"/>
          </a:xfrm>
          <a:prstGeom prst="rect">
            <a:avLst/>
          </a:prstGeom>
          <a:noFill/>
          <a:ln/>
        </p:spPr>
        <p:txBody>
          <a:bodyPr wrap="square" lIns="0" tIns="0" rIns="0" bIns="0" rtlCol="0" anchor="t"/>
          <a:lstStyle/>
          <a:p>
            <a:pPr indent="0" marL="0">
              <a:buNone/>
            </a:pPr>
            <a:r>
              <a:rPr lang="en-US" sz="1300" dirty="0">
                <a:solidFill>
                  <a:srgbClr val="13315C"/>
                </a:solidFill>
                <a:latin typeface="Calibri" pitchFamily="34" charset="0"/>
                <a:ea typeface="Calibri" pitchFamily="34" charset="-122"/>
                <a:cs typeface="Calibri" pitchFamily="34" charset="-120"/>
              </a:rPr>
              <a:t>A colleague's reproduction with five differences. The faithful build is separate and matches the paper at convergence.</a:t>
            </a:r>
            <a:endParaRPr lang="en-US" sz="1300" dirty="0"/>
          </a:p>
        </p:txBody>
      </p:sp>
      <p:sp>
        <p:nvSpPr>
          <p:cNvPr id="13" name="Shape 11"/>
          <p:cNvSpPr/>
          <p:nvPr/>
        </p:nvSpPr>
        <p:spPr>
          <a:xfrm>
            <a:off x="548640" y="3840480"/>
            <a:ext cx="5440680" cy="2286000"/>
          </a:xfrm>
          <a:prstGeom prst="roundRect">
            <a:avLst>
              <a:gd name="adj" fmla="val 3200"/>
            </a:avLst>
          </a:prstGeom>
          <a:solidFill>
            <a:srgbClr val="F3F6F9"/>
          </a:solidFill>
          <a:ln w="12700">
            <a:solidFill>
              <a:srgbClr val="F3F6F9"/>
            </a:solidFill>
            <a:prstDash val="solid"/>
          </a:ln>
        </p:spPr>
      </p:sp>
      <p:sp>
        <p:nvSpPr>
          <p:cNvPr id="14" name="Shape 12"/>
          <p:cNvSpPr/>
          <p:nvPr/>
        </p:nvSpPr>
        <p:spPr>
          <a:xfrm>
            <a:off x="777240" y="4069080"/>
            <a:ext cx="384048" cy="384048"/>
          </a:xfrm>
          <a:prstGeom prst="ellipse">
            <a:avLst/>
          </a:prstGeom>
          <a:solidFill>
            <a:srgbClr val="F26419"/>
          </a:solidFill>
          <a:ln w="12700">
            <a:solidFill>
              <a:srgbClr val="F26419"/>
            </a:solidFill>
            <a:prstDash val="solid"/>
          </a:ln>
        </p:spPr>
      </p:sp>
      <p:sp>
        <p:nvSpPr>
          <p:cNvPr id="15" name="Text 13"/>
          <p:cNvSpPr txBox="1"/>
          <p:nvPr/>
        </p:nvSpPr>
        <p:spPr>
          <a:xfrm>
            <a:off x="777240" y="40690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16" name="Text 14"/>
          <p:cNvSpPr txBox="1"/>
          <p:nvPr/>
        </p:nvSpPr>
        <p:spPr>
          <a:xfrm>
            <a:off x="1325880" y="4023360"/>
            <a:ext cx="4480560" cy="457200"/>
          </a:xfrm>
          <a:prstGeom prst="rect">
            <a:avLst/>
          </a:prstGeom>
          <a:noFill/>
          <a:ln/>
        </p:spPr>
        <p:txBody>
          <a:bodyPr wrap="square" lIns="0" tIns="0" rIns="0" bIns="0"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The SNR label is not one SNR</a:t>
            </a:r>
            <a:endParaRPr lang="en-US" sz="1500" dirty="0"/>
          </a:p>
        </p:txBody>
      </p:sp>
      <p:sp>
        <p:nvSpPr>
          <p:cNvPr id="17" name="Text 15"/>
          <p:cNvSpPr txBox="1"/>
          <p:nvPr/>
        </p:nvSpPr>
        <p:spPr>
          <a:xfrm>
            <a:off x="777240" y="4663440"/>
            <a:ext cx="4983480" cy="1371600"/>
          </a:xfrm>
          <a:prstGeom prst="rect">
            <a:avLst/>
          </a:prstGeom>
          <a:noFill/>
          <a:ln/>
        </p:spPr>
        <p:txBody>
          <a:bodyPr wrap="square" lIns="0" tIns="0" rIns="0" bIns="0" rtlCol="0" anchor="t"/>
          <a:lstStyle/>
          <a:p>
            <a:pPr indent="0" marL="0">
              <a:buNone/>
            </a:pPr>
            <a:r>
              <a:rPr lang="en-US" sz="1300" dirty="0">
                <a:solidFill>
                  <a:srgbClr val="13315C"/>
                </a:solidFill>
                <a:latin typeface="Calibri" pitchFamily="34" charset="0"/>
                <a:ea typeface="Calibri" pitchFamily="34" charset="-122"/>
                <a:cs typeface="Calibri" pitchFamily="34" charset="-120"/>
              </a:rPr>
              <a:t>At one label QAM64 frames carry about 15 dB more SNR than PSK. Classes cannot be compared at one label.</a:t>
            </a:r>
            <a:endParaRPr lang="en-US" sz="1300" dirty="0"/>
          </a:p>
        </p:txBody>
      </p:sp>
      <p:sp>
        <p:nvSpPr>
          <p:cNvPr id="18" name="Shape 16"/>
          <p:cNvSpPr/>
          <p:nvPr/>
        </p:nvSpPr>
        <p:spPr>
          <a:xfrm>
            <a:off x="6217920" y="3840480"/>
            <a:ext cx="5440680" cy="2286000"/>
          </a:xfrm>
          <a:prstGeom prst="roundRect">
            <a:avLst>
              <a:gd name="adj" fmla="val 3200"/>
            </a:avLst>
          </a:prstGeom>
          <a:solidFill>
            <a:srgbClr val="F3F6F9"/>
          </a:solidFill>
          <a:ln w="12700">
            <a:solidFill>
              <a:srgbClr val="F3F6F9"/>
            </a:solidFill>
            <a:prstDash val="solid"/>
          </a:ln>
        </p:spPr>
      </p:sp>
      <p:sp>
        <p:nvSpPr>
          <p:cNvPr id="19" name="Shape 17"/>
          <p:cNvSpPr/>
          <p:nvPr/>
        </p:nvSpPr>
        <p:spPr>
          <a:xfrm>
            <a:off x="6446520" y="4069080"/>
            <a:ext cx="384048" cy="384048"/>
          </a:xfrm>
          <a:prstGeom prst="ellipse">
            <a:avLst/>
          </a:prstGeom>
          <a:solidFill>
            <a:srgbClr val="5C7A99"/>
          </a:solidFill>
          <a:ln w="12700">
            <a:solidFill>
              <a:srgbClr val="5C7A99"/>
            </a:solidFill>
            <a:prstDash val="solid"/>
          </a:ln>
        </p:spPr>
      </p:sp>
      <p:sp>
        <p:nvSpPr>
          <p:cNvPr id="20" name="Text 18"/>
          <p:cNvSpPr txBox="1"/>
          <p:nvPr/>
        </p:nvSpPr>
        <p:spPr>
          <a:xfrm>
            <a:off x="6446520" y="40690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21" name="Text 19"/>
          <p:cNvSpPr txBox="1"/>
          <p:nvPr/>
        </p:nvSpPr>
        <p:spPr>
          <a:xfrm>
            <a:off x="6995160" y="4023360"/>
            <a:ext cx="4480560" cy="457200"/>
          </a:xfrm>
          <a:prstGeom prst="rect">
            <a:avLst/>
          </a:prstGeom>
          <a:noFill/>
          <a:ln/>
        </p:spPr>
        <p:txBody>
          <a:bodyPr wrap="square" lIns="0" tIns="0" rIns="0" bIns="0" rtlCol="0" anchor="ctr"/>
          <a:lstStyle/>
          <a:p>
            <a:pPr indent="0" marL="0">
              <a:buNone/>
            </a:pPr>
            <a:r>
              <a:rPr lang="en-US" sz="1500" b="1" dirty="0">
                <a:solidFill>
                  <a:srgbClr val="13315C"/>
                </a:solidFill>
                <a:latin typeface="Cambria" pitchFamily="34" charset="0"/>
                <a:ea typeface="Cambria" pitchFamily="34" charset="-122"/>
                <a:cs typeface="Cambria" pitchFamily="34" charset="-120"/>
              </a:rPr>
              <a:t>One dataset, one model</a:t>
            </a:r>
            <a:endParaRPr lang="en-US" sz="1500" dirty="0"/>
          </a:p>
        </p:txBody>
      </p:sp>
      <p:sp>
        <p:nvSpPr>
          <p:cNvPr id="22" name="Text 20"/>
          <p:cNvSpPr txBox="1"/>
          <p:nvPr/>
        </p:nvSpPr>
        <p:spPr>
          <a:xfrm>
            <a:off x="6446520" y="4663440"/>
            <a:ext cx="4983480" cy="1371600"/>
          </a:xfrm>
          <a:prstGeom prst="rect">
            <a:avLst/>
          </a:prstGeom>
          <a:noFill/>
          <a:ln/>
        </p:spPr>
        <p:txBody>
          <a:bodyPr wrap="square" lIns="0" tIns="0" rIns="0" bIns="0" rtlCol="0" anchor="t"/>
          <a:lstStyle/>
          <a:p>
            <a:pPr indent="0" marL="0">
              <a:buNone/>
            </a:pPr>
            <a:r>
              <a:rPr lang="en-US" sz="1300" dirty="0">
                <a:solidFill>
                  <a:srgbClr val="13315C"/>
                </a:solidFill>
                <a:latin typeface="Calibri" pitchFamily="34" charset="0"/>
                <a:ea typeface="Calibri" pitchFamily="34" charset="-122"/>
                <a:cs typeface="Calibri" pitchFamily="34" charset="-120"/>
              </a:rPr>
              <a:t>14 seeds each, all converged. A second architecture on the same box has not been run.</a:t>
            </a:r>
            <a:endParaRPr lang="en-US" sz="1300" dirty="0"/>
          </a:p>
        </p:txBody>
      </p:sp>
      <p:sp>
        <p:nvSpPr>
          <p:cNvPr id="24" name="Text 21"/>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8A99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break the box one knob at a time</a:t>
            </a:r>
            <a:endParaRPr lang="en-US" sz="3000" dirty="0"/>
          </a:p>
        </p:txBody>
      </p:sp>
      <p:sp>
        <p:nvSpPr>
          <p:cNvPr id="3" name="Text 1"/>
          <p:cNvSpPr txBox="1"/>
          <p:nvPr/>
        </p:nvSpPr>
        <p:spPr>
          <a:xfrm>
            <a:off x="548640" y="1554480"/>
            <a:ext cx="1828800" cy="457200"/>
          </a:xfrm>
          <a:prstGeom prst="rect">
            <a:avLst/>
          </a:prstGeom>
          <a:noFill/>
          <a:ln/>
        </p:spPr>
        <p:txBody>
          <a:bodyPr wrap="square" lIns="0" tIns="0" rIns="0" bIns="0" rtlCol="0" anchor="ctr"/>
          <a:lstStyle/>
          <a:p>
            <a:pPr indent="0" marL="0">
              <a:buNone/>
            </a:pPr>
            <a:r>
              <a:rPr lang="en-US" sz="1800" b="1" dirty="0">
                <a:solidFill>
                  <a:srgbClr val="F26419"/>
                </a:solidFill>
                <a:latin typeface="Cambria" pitchFamily="34" charset="0"/>
                <a:ea typeface="Cambria" pitchFamily="34" charset="-122"/>
                <a:cs typeface="Cambria" pitchFamily="34" charset="-120"/>
              </a:rPr>
              <a:t>Done</a:t>
            </a:r>
            <a:endParaRPr lang="en-US" sz="1800" dirty="0"/>
          </a:p>
        </p:txBody>
      </p:sp>
      <p:sp>
        <p:nvSpPr>
          <p:cNvPr id="4" name="Text 2"/>
          <p:cNvSpPr txBox="1"/>
          <p:nvPr/>
        </p:nvSpPr>
        <p:spPr>
          <a:xfrm>
            <a:off x="2468880" y="1554480"/>
            <a:ext cx="9171432"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Frame length (128 / 64 / 32) and SNR (one level at a time). The high-SNR errors are the QAM pair, and they follow the symbol count.</a:t>
            </a:r>
            <a:endParaRPr lang="en-US" sz="1500" dirty="0"/>
          </a:p>
        </p:txBody>
      </p:sp>
      <p:sp>
        <p:nvSpPr>
          <p:cNvPr id="5" name="Text 3"/>
          <p:cNvSpPr txBox="1"/>
          <p:nvPr/>
        </p:nvSpPr>
        <p:spPr>
          <a:xfrm>
            <a:off x="548640" y="2926080"/>
            <a:ext cx="1828800" cy="457200"/>
          </a:xfrm>
          <a:prstGeom prst="rect">
            <a:avLst/>
          </a:prstGeom>
          <a:noFill/>
          <a:ln/>
        </p:spPr>
        <p:txBody>
          <a:bodyPr wrap="square" lIns="0" tIns="0" rIns="0" bIns="0" rtlCol="0" anchor="ctr"/>
          <a:lstStyle/>
          <a:p>
            <a:pPr indent="0" marL="0">
              <a:buNone/>
            </a:pPr>
            <a:r>
              <a:rPr lang="en-US" sz="1800" b="1" dirty="0">
                <a:solidFill>
                  <a:srgbClr val="F26419"/>
                </a:solidFill>
                <a:latin typeface="Cambria" pitchFamily="34" charset="0"/>
                <a:ea typeface="Cambria" pitchFamily="34" charset="-122"/>
                <a:cs typeface="Cambria" pitchFamily="34" charset="-120"/>
              </a:rPr>
              <a:t>Next</a:t>
            </a:r>
            <a:endParaRPr lang="en-US" sz="1800" dirty="0"/>
          </a:p>
        </p:txBody>
      </p:sp>
      <p:sp>
        <p:nvSpPr>
          <p:cNvPr id="6" name="Text 4"/>
          <p:cNvSpPr txBox="1"/>
          <p:nvPr/>
        </p:nvSpPr>
        <p:spPr>
          <a:xfrm>
            <a:off x="2468880" y="2926080"/>
            <a:ext cx="9171432"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generator is now rebuilt in GNU Radio. Switch off carrier offset, fading and multipath one at a time, same four classes, same 128 samples, and see which impairment the high-SNR QAM errors belong to.</a:t>
            </a:r>
            <a:endParaRPr lang="en-US" sz="1500" dirty="0"/>
          </a:p>
        </p:txBody>
      </p:sp>
      <p:sp>
        <p:nvSpPr>
          <p:cNvPr id="7" name="Text 5"/>
          <p:cNvSpPr txBox="1"/>
          <p:nvPr/>
        </p:nvSpPr>
        <p:spPr>
          <a:xfrm>
            <a:off x="548640" y="4297680"/>
            <a:ext cx="1828800" cy="457200"/>
          </a:xfrm>
          <a:prstGeom prst="rect">
            <a:avLst/>
          </a:prstGeom>
          <a:noFill/>
          <a:ln/>
        </p:spPr>
        <p:txBody>
          <a:bodyPr wrap="square" lIns="0" tIns="0" rIns="0" bIns="0" rtlCol="0" anchor="ctr"/>
          <a:lstStyle/>
          <a:p>
            <a:pPr indent="0" marL="0">
              <a:buNone/>
            </a:pPr>
            <a:r>
              <a:rPr lang="en-US" sz="1800" b="1" dirty="0">
                <a:solidFill>
                  <a:srgbClr val="F26419"/>
                </a:solidFill>
                <a:latin typeface="Cambria" pitchFamily="34" charset="0"/>
                <a:ea typeface="Cambria" pitchFamily="34" charset="-122"/>
                <a:cs typeface="Cambria" pitchFamily="34" charset="-120"/>
              </a:rPr>
              <a:t>Then</a:t>
            </a:r>
            <a:endParaRPr lang="en-US" sz="1800" dirty="0"/>
          </a:p>
        </p:txBody>
      </p:sp>
      <p:sp>
        <p:nvSpPr>
          <p:cNvPr id="8" name="Text 6"/>
          <p:cNvSpPr txBox="1"/>
          <p:nvPr/>
        </p:nvSpPr>
        <p:spPr>
          <a:xfrm>
            <a:off x="2468880" y="4297680"/>
            <a:ext cx="9171432"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same box on a real capture, when lab access allows.</a:t>
            </a:r>
            <a:endParaRPr lang="en-US" sz="1500" dirty="0"/>
          </a:p>
        </p:txBody>
      </p:sp>
      <p:sp>
        <p:nvSpPr>
          <p:cNvPr id="9" name="Text 7"/>
          <p:cNvSpPr txBox="1"/>
          <p:nvPr/>
        </p:nvSpPr>
        <p:spPr>
          <a:xfrm>
            <a:off x="548640" y="5989320"/>
            <a:ext cx="11091672" cy="365760"/>
          </a:xfrm>
          <a:prstGeom prst="rect">
            <a:avLst/>
          </a:prstGeom>
          <a:noFill/>
          <a:ln/>
        </p:spPr>
        <p:txBody>
          <a:bodyPr wrap="square" lIns="0" tIns="0" rIns="0" bIns="0" rtlCol="0" anchor="ctr"/>
          <a:lstStyle/>
          <a:p>
            <a:pPr indent="0" marL="0">
              <a:buNone/>
            </a:pPr>
            <a:r>
              <a:rPr lang="en-US" sz="1100" dirty="0">
                <a:solidFill>
                  <a:srgbClr val="DCE6F0"/>
                </a:solidFill>
                <a:latin typeface="Calibri" pitchFamily="34" charset="0"/>
                <a:ea typeface="Calibri" pitchFamily="34" charset="-122"/>
                <a:cs typeface="Calibri" pitchFamily="34" charset="-120"/>
              </a:rPr>
              <a:t>Repository: YusufBilo78/amc · DETECTOR.md · NOISE_2016.md · SNR_2016.md</a:t>
            </a:r>
            <a:endParaRPr lang="en-US" sz="1100" dirty="0"/>
          </a:p>
        </p:txBody>
      </p:sp>
      <p:sp>
        <p:nvSpPr>
          <p:cNvPr id="11" name="Text 8"/>
          <p:cNvSpPr txBox="1"/>
          <p:nvPr/>
        </p:nvSpPr>
        <p:spPr>
          <a:xfrm>
            <a:off x="11183112" y="6400800"/>
            <a:ext cx="457200" cy="274320"/>
          </a:xfrm>
          <a:prstGeom prst="rect">
            <a:avLst/>
          </a:prstGeom>
          <a:noFill/>
          <a:ln/>
        </p:spPr>
        <p:txBody>
          <a:bodyPr wrap="square" lIns="0" tIns="0" rIns="0" bIns="0" rtlCol="0" anchor="ctr"/>
          <a:lstStyle/>
          <a:p>
            <a:pPr algn="r" indent="0" marL="0">
              <a:buNone/>
            </a:pPr>
            <a:r>
              <a:rPr lang="en-US" sz="1000" dirty="0">
                <a:solidFill>
                  <a:srgbClr val="DCE6F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Opening the four-class box on RML2016.10a</dc:title>
  <dc:subject>PptxGenJS Presentation</dc:subject>
  <dc:creator>Yusuf Bilal Cetinkaya</dc:creator>
  <cp:lastModifiedBy>Yusuf Bilal Cetinkaya</cp:lastModifiedBy>
  <cp:revision>1</cp:revision>
  <dcterms:created xsi:type="dcterms:W3CDTF">2026-09-29T00:31:03Z</dcterms:created>
  <dcterms:modified xsi:type="dcterms:W3CDTF">2026-09-29T00:31:03Z</dcterms:modified>
</cp:coreProperties>
</file>