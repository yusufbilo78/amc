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you asked me to explain, step by step, exactly what we did. That is all this talk does. No new experiments: only what was already done, explained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your questions from last week. Is the detector a neural network, and was it trained or fixed? Is there a separate piece for each modulation? Why were the mistakes in the four-signal table only among the four? How exactly is it trained? Which software did we use? And which paper is it, and who wrote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three answers I gave last week were wrong, and I want to correct them. I said the four-signal table came from the same detector as the eleven-signal results. It did not: it came from a separate network, trained only on those four. I said the authors published their weights. They did not publish code or weights; every network here, we trained ourselves. And I agreed there was a piece of code for each modulation. There isn't: there is one network, and a modulation is just an output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one. Yes, it is a neural network. Think of it as a function with 785,476 adjustable numbers. At the start they are random. We show it 56,000 frames with the right answer and adjust the numbers to make fewer mistakes. Then we freeze them and test. Nobody else's weights are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two. There is no separate piece for QPSK. A frame goes into one network. The same layers handle every frame. At the end there are four numbers, one per modulation, and the largest one is the answer. For the network, BPSK is just output 0, QPSK output 1, QAM16 output 2, QAM64 output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three, the one you asked about the table. You described two different approaches, and you were right. Approach A: train a network on only the four signals. It has four outputs, so its mistakes can only be among the four. Approach B: use the eleven-signal network and feed it only these four. It has eleven outputs, so its mistakes can go anywhere. The table you saw was approach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approach B we already have, without new work. These are the test results of the eleven-signal network on the same four signals, at 10 dB. As you expected, some mistakes leave the four: 21 of its 80 mistakes, mostly to AM-SSB. Most of the rest are still QAM16 against QAM64.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four: how is it trained. First the data. We read the file and keep the four signals: 20 noise levels, 1,000 frames each, 80,000 frames. Every frame is scaled to the same power. Each frame gets a label, 0 to 3. Then every signal at every noise level is split: 700 frames to learn from, 150 to decide when to stop, and 150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 learning loop. Take 256 frames. The network gives four scores for each. Compare the scores with the right labels; that gives one number, the loss. Nudge all 785,476 numbers a little in the direction that lowers the loss. Repeat. 219 of these steps cover all 56,000 learning frames once; that is one epoch. After every epoch we check accuracy on the 12,000 stopping frames and keep the best version. If 20 epochs pass without improvement, we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test. The best version is run once on the 12,000 test frames, which it never learned from. That gives the tables I showed you. We did the whole thing 14 times, each time with a different split and a different random start. At 10 dB that adds up to 8,400 test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five: software. The network and its training are written in Python with PyTorch, a standard library for neural networks. NumPy and scikit-learn handle the data and the split. It ran on Google Colab's GPUs and on my laptop's GPU. The code was written with Claude Code, an AI assistant, from my instructions. GNU Radio was not used for training: DeepSig used it to make the dataset, and I used it only to study the noise. There is no ready-made detector and no pre-trained weights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six: the paper. It is by El-Haryqy and four colleagues at Ibn Tofail University in Kenitra, Morocco, published in Results in Engineering in April 2025. They describe the layers and the training recipe. They did not publish code or weights; the paper says data are available on request. So the code had to be written from the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else have they done? From the paper's own reference list: a review of deep learning for spectrum sensing in cognitive radio, a survey of signal detection with deep learning, and a paper on interference detection and modulation recognition with Mask R-CNN. One co-author also works on optical communication for vehicles. I did not search beyond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you read the QAM16 numbers in detection terms, so here they are that way. 2,100 QAM16 frames were sent; 292 were missed, a miss rate of 13.9 percent. 128 frames were called QAM16 that were not. Out of the 6,300 frames that were not QAM16, that is a false-alarm rate of 2 percent. Recall is one minus the miss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The four-signal table came from a network trained only on those four, which is why its mistakes stay among them. Every network was trained by us, from a random start, with no outside weights. And there is one network for all classes, not one piece per modulation. I'm happy to go deeper into any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1463040"/>
            <a:ext cx="9144000" cy="365760"/>
          </a:xfrm>
          <a:prstGeom prst="rect">
            <a:avLst/>
          </a:prstGeom>
          <a:noFill/>
          <a:ln/>
        </p:spPr>
        <p:txBody>
          <a:bodyPr wrap="square" lIns="0" tIns="0" rIns="0" bIns="0" rtlCol="0" anchor="t"/>
          <a:lstStyle/>
          <a:p>
            <a:pPr indent="0" marL="0">
              <a:buNone/>
            </a:pPr>
            <a:r>
              <a:rPr lang="en-US" sz="1600" b="1" spc="400" kern="0" dirty="0">
                <a:solidFill>
                  <a:srgbClr val="F08A24"/>
                </a:solidFill>
                <a:latin typeface="Calibri" pitchFamily="34" charset="0"/>
                <a:ea typeface="Calibri" pitchFamily="34" charset="-122"/>
                <a:cs typeface="Calibri" pitchFamily="34" charset="-120"/>
              </a:rPr>
              <a:t>ANSWERS TO LAST WEEK'S QUESTIONS</a:t>
            </a:r>
            <a:endParaRPr lang="en-US" sz="1600" dirty="0"/>
          </a:p>
        </p:txBody>
      </p:sp>
      <p:sp>
        <p:nvSpPr>
          <p:cNvPr id="3" name="Text 1"/>
          <p:cNvSpPr txBox="1"/>
          <p:nvPr/>
        </p:nvSpPr>
        <p:spPr>
          <a:xfrm>
            <a:off x="548640" y="1874520"/>
            <a:ext cx="10972800" cy="1097280"/>
          </a:xfrm>
          <a:prstGeom prst="rect">
            <a:avLst/>
          </a:prstGeom>
          <a:noFill/>
          <a:ln/>
        </p:spPr>
        <p:txBody>
          <a:bodyPr wrap="square" lIns="0" tIns="0" rIns="0" bIns="0" rtlCol="0" anchor="t"/>
          <a:lstStyle/>
          <a:p>
            <a:pPr indent="0" marL="0">
              <a:buNone/>
            </a:pPr>
            <a:r>
              <a:rPr lang="en-US" sz="5600" b="1" dirty="0">
                <a:solidFill>
                  <a:srgbClr val="FFFFFF"/>
                </a:solidFill>
                <a:latin typeface="Calibri" pitchFamily="34" charset="0"/>
                <a:ea typeface="Calibri" pitchFamily="34" charset="-122"/>
                <a:cs typeface="Calibri" pitchFamily="34" charset="-120"/>
              </a:rPr>
              <a:t>What we did, step by step</a:t>
            </a:r>
            <a:endParaRPr lang="en-US" sz="5600" dirty="0"/>
          </a:p>
        </p:txBody>
      </p:sp>
      <p:sp>
        <p:nvSpPr>
          <p:cNvPr id="4" name="Text 2"/>
          <p:cNvSpPr txBox="1"/>
          <p:nvPr/>
        </p:nvSpPr>
        <p:spPr>
          <a:xfrm>
            <a:off x="548640" y="3063240"/>
            <a:ext cx="10972800" cy="548640"/>
          </a:xfrm>
          <a:prstGeom prst="rect">
            <a:avLst/>
          </a:prstGeom>
          <a:noFill/>
          <a:ln/>
        </p:spPr>
        <p:txBody>
          <a:bodyPr wrap="square" lIns="0" tIns="0" rIns="0" bIns="0" rtlCol="0" anchor="t"/>
          <a:lstStyle/>
          <a:p>
            <a:pPr indent="0" marL="0">
              <a:buNone/>
            </a:pPr>
            <a:r>
              <a:rPr lang="en-US" sz="2400" dirty="0">
                <a:solidFill>
                  <a:srgbClr val="C9D3E0"/>
                </a:solidFill>
                <a:latin typeface="Calibri" pitchFamily="34" charset="0"/>
                <a:ea typeface="Calibri" pitchFamily="34" charset="-122"/>
                <a:cs typeface="Calibri" pitchFamily="34" charset="-120"/>
              </a:rPr>
              <a:t>No new experiments: only what was done, explained completely.</a:t>
            </a:r>
            <a:endParaRPr lang="en-US" sz="2400" dirty="0"/>
          </a:p>
        </p:txBody>
      </p:sp>
      <p:sp>
        <p:nvSpPr>
          <p:cNvPr id="5" name="Text 3"/>
          <p:cNvSpPr txBox="1"/>
          <p:nvPr/>
        </p:nvSpPr>
        <p:spPr>
          <a:xfrm>
            <a:off x="548640" y="5943600"/>
            <a:ext cx="9144000" cy="365760"/>
          </a:xfrm>
          <a:prstGeom prst="rect">
            <a:avLst/>
          </a:prstGeom>
          <a:noFill/>
          <a:ln/>
        </p:spPr>
        <p:txBody>
          <a:bodyPr wrap="square" lIns="0" tIns="0" rIns="0" bIns="0" rtlCol="0" anchor="t"/>
          <a:lstStyle/>
          <a:p>
            <a:pPr indent="0" marL="0">
              <a:buNone/>
            </a:pPr>
            <a:r>
              <a:rPr lang="en-US" sz="1600" dirty="0">
                <a:solidFill>
                  <a:srgbClr val="9AA8BA"/>
                </a:solidFill>
                <a:latin typeface="Calibri" pitchFamily="34" charset="0"/>
                <a:ea typeface="Calibri" pitchFamily="34" charset="-122"/>
                <a:cs typeface="Calibri" pitchFamily="34" charset="-120"/>
              </a:rPr>
              <a:t>Yusuf Bilal Cetinkaya  ·  Moshe Kam's research group  ·  NJIT  ·  October 2026</a:t>
            </a:r>
            <a:endParaRPr lang="en-US" sz="1600" dirty="0"/>
          </a:p>
        </p:txBody>
      </p:sp>
      <p:sp>
        <p:nvSpPr>
          <p:cNvPr id="7" name="Text 4"/>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8FA0B5"/>
                </a:solidFill>
                <a:latin typeface="Calibri" pitchFamily="34" charset="0"/>
                <a:ea typeface="Calibri" pitchFamily="34" charset="-122"/>
                <a:cs typeface="Calibri"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Your questions</a:t>
            </a:r>
            <a:endParaRPr lang="en-US" sz="3400" dirty="0"/>
          </a:p>
        </p:txBody>
      </p:sp>
      <p:sp>
        <p:nvSpPr>
          <p:cNvPr id="3" name="Shape 1"/>
          <p:cNvSpPr/>
          <p:nvPr/>
        </p:nvSpPr>
        <p:spPr>
          <a:xfrm>
            <a:off x="548640" y="1600200"/>
            <a:ext cx="5394960" cy="1097280"/>
          </a:xfrm>
          <a:prstGeom prst="roundRect">
            <a:avLst>
              <a:gd name="adj" fmla="val 10000"/>
            </a:avLst>
          </a:prstGeom>
          <a:solidFill>
            <a:srgbClr val="EEF2F6"/>
          </a:solidFill>
          <a:ln w="12700">
            <a:solidFill>
              <a:srgbClr val="EEF2F6"/>
            </a:solidFill>
            <a:prstDash val="solid"/>
          </a:ln>
        </p:spPr>
      </p:sp>
      <p:sp>
        <p:nvSpPr>
          <p:cNvPr id="4" name="Shape 2"/>
          <p:cNvSpPr/>
          <p:nvPr/>
        </p:nvSpPr>
        <p:spPr>
          <a:xfrm>
            <a:off x="777240" y="1874520"/>
            <a:ext cx="548640" cy="548640"/>
          </a:xfrm>
          <a:prstGeom prst="ellipse">
            <a:avLst/>
          </a:prstGeom>
          <a:solidFill>
            <a:srgbClr val="0F1B2D"/>
          </a:solidFill>
          <a:ln w="12700">
            <a:solidFill>
              <a:srgbClr val="0F1B2D"/>
            </a:solidFill>
            <a:prstDash val="solid"/>
          </a:ln>
        </p:spPr>
      </p:sp>
      <p:sp>
        <p:nvSpPr>
          <p:cNvPr id="5" name="Text 3"/>
          <p:cNvSpPr txBox="1"/>
          <p:nvPr/>
        </p:nvSpPr>
        <p:spPr>
          <a:xfrm>
            <a:off x="777240" y="18745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Text 4"/>
          <p:cNvSpPr txBox="1"/>
          <p:nvPr/>
        </p:nvSpPr>
        <p:spPr>
          <a:xfrm>
            <a:off x="1508760" y="1600200"/>
            <a:ext cx="4297680" cy="1097280"/>
          </a:xfrm>
          <a:prstGeom prst="rect">
            <a:avLst/>
          </a:prstGeom>
          <a:noFill/>
          <a:ln/>
        </p:spPr>
        <p:txBody>
          <a:bodyPr wrap="square" lIns="0" tIns="0" rIns="0" bIns="0" rtlCol="0" anchor="ctr"/>
          <a:lstStyle/>
          <a:p>
            <a:pPr indent="0" marL="0">
              <a:buNone/>
            </a:pPr>
            <a:r>
              <a:rPr lang="en-US" sz="2100" dirty="0">
                <a:solidFill>
                  <a:srgbClr val="1E293B"/>
                </a:solidFill>
                <a:latin typeface="Calibri" pitchFamily="34" charset="0"/>
                <a:ea typeface="Calibri" pitchFamily="34" charset="-122"/>
                <a:cs typeface="Calibri" pitchFamily="34" charset="-120"/>
              </a:rPr>
              <a:t>Is it a neural network? Trained, or fixed weights?</a:t>
            </a:r>
            <a:endParaRPr lang="en-US" sz="2100" dirty="0"/>
          </a:p>
        </p:txBody>
      </p:sp>
      <p:sp>
        <p:nvSpPr>
          <p:cNvPr id="7" name="Shape 5"/>
          <p:cNvSpPr/>
          <p:nvPr/>
        </p:nvSpPr>
        <p:spPr>
          <a:xfrm>
            <a:off x="6172200" y="1600200"/>
            <a:ext cx="5394960" cy="1097280"/>
          </a:xfrm>
          <a:prstGeom prst="roundRect">
            <a:avLst>
              <a:gd name="adj" fmla="val 10000"/>
            </a:avLst>
          </a:prstGeom>
          <a:solidFill>
            <a:srgbClr val="EEF2F6"/>
          </a:solidFill>
          <a:ln w="12700">
            <a:solidFill>
              <a:srgbClr val="EEF2F6"/>
            </a:solidFill>
            <a:prstDash val="solid"/>
          </a:ln>
        </p:spPr>
      </p:sp>
      <p:sp>
        <p:nvSpPr>
          <p:cNvPr id="8" name="Shape 6"/>
          <p:cNvSpPr/>
          <p:nvPr/>
        </p:nvSpPr>
        <p:spPr>
          <a:xfrm>
            <a:off x="6400800" y="1874520"/>
            <a:ext cx="548640" cy="548640"/>
          </a:xfrm>
          <a:prstGeom prst="ellipse">
            <a:avLst/>
          </a:prstGeom>
          <a:solidFill>
            <a:srgbClr val="0F1B2D"/>
          </a:solidFill>
          <a:ln w="12700">
            <a:solidFill>
              <a:srgbClr val="0F1B2D"/>
            </a:solidFill>
            <a:prstDash val="solid"/>
          </a:ln>
        </p:spPr>
      </p:sp>
      <p:sp>
        <p:nvSpPr>
          <p:cNvPr id="9" name="Text 7"/>
          <p:cNvSpPr txBox="1"/>
          <p:nvPr/>
        </p:nvSpPr>
        <p:spPr>
          <a:xfrm>
            <a:off x="6400800" y="18745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0" name="Text 8"/>
          <p:cNvSpPr txBox="1"/>
          <p:nvPr/>
        </p:nvSpPr>
        <p:spPr>
          <a:xfrm>
            <a:off x="7132320" y="1600200"/>
            <a:ext cx="4297680" cy="1097280"/>
          </a:xfrm>
          <a:prstGeom prst="rect">
            <a:avLst/>
          </a:prstGeom>
          <a:noFill/>
          <a:ln/>
        </p:spPr>
        <p:txBody>
          <a:bodyPr wrap="square" lIns="0" tIns="0" rIns="0" bIns="0" rtlCol="0" anchor="ctr"/>
          <a:lstStyle/>
          <a:p>
            <a:pPr indent="0" marL="0">
              <a:buNone/>
            </a:pPr>
            <a:r>
              <a:rPr lang="en-US" sz="2100" dirty="0">
                <a:solidFill>
                  <a:srgbClr val="1E293B"/>
                </a:solidFill>
                <a:latin typeface="Calibri" pitchFamily="34" charset="0"/>
                <a:ea typeface="Calibri" pitchFamily="34" charset="-122"/>
                <a:cs typeface="Calibri" pitchFamily="34" charset="-120"/>
              </a:rPr>
              <a:t>Is there a separate piece for each modulation?</a:t>
            </a:r>
            <a:endParaRPr lang="en-US" sz="2100" dirty="0"/>
          </a:p>
        </p:txBody>
      </p:sp>
      <p:sp>
        <p:nvSpPr>
          <p:cNvPr id="11" name="Shape 9"/>
          <p:cNvSpPr/>
          <p:nvPr/>
        </p:nvSpPr>
        <p:spPr>
          <a:xfrm>
            <a:off x="548640" y="2926080"/>
            <a:ext cx="5394960" cy="1097280"/>
          </a:xfrm>
          <a:prstGeom prst="roundRect">
            <a:avLst>
              <a:gd name="adj" fmla="val 10000"/>
            </a:avLst>
          </a:prstGeom>
          <a:solidFill>
            <a:srgbClr val="EEF2F6"/>
          </a:solidFill>
          <a:ln w="12700">
            <a:solidFill>
              <a:srgbClr val="EEF2F6"/>
            </a:solidFill>
            <a:prstDash val="solid"/>
          </a:ln>
        </p:spPr>
      </p:sp>
      <p:sp>
        <p:nvSpPr>
          <p:cNvPr id="12" name="Shape 10"/>
          <p:cNvSpPr/>
          <p:nvPr/>
        </p:nvSpPr>
        <p:spPr>
          <a:xfrm>
            <a:off x="777240" y="3200400"/>
            <a:ext cx="548640" cy="548640"/>
          </a:xfrm>
          <a:prstGeom prst="ellipse">
            <a:avLst/>
          </a:prstGeom>
          <a:solidFill>
            <a:srgbClr val="F08A24"/>
          </a:solidFill>
          <a:ln w="12700">
            <a:solidFill>
              <a:srgbClr val="F08A24"/>
            </a:solidFill>
            <a:prstDash val="solid"/>
          </a:ln>
        </p:spPr>
      </p:sp>
      <p:sp>
        <p:nvSpPr>
          <p:cNvPr id="13" name="Text 11"/>
          <p:cNvSpPr txBox="1"/>
          <p:nvPr/>
        </p:nvSpPr>
        <p:spPr>
          <a:xfrm>
            <a:off x="777240" y="32004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4" name="Text 12"/>
          <p:cNvSpPr txBox="1"/>
          <p:nvPr/>
        </p:nvSpPr>
        <p:spPr>
          <a:xfrm>
            <a:off x="1508760" y="2926080"/>
            <a:ext cx="4297680" cy="1097280"/>
          </a:xfrm>
          <a:prstGeom prst="rect">
            <a:avLst/>
          </a:prstGeom>
          <a:noFill/>
          <a:ln/>
        </p:spPr>
        <p:txBody>
          <a:bodyPr wrap="square" lIns="0" tIns="0" rIns="0" bIns="0" rtlCol="0" anchor="ctr"/>
          <a:lstStyle/>
          <a:p>
            <a:pPr indent="0" marL="0">
              <a:buNone/>
            </a:pPr>
            <a:r>
              <a:rPr lang="en-US" sz="2100" b="1" dirty="0">
                <a:solidFill>
                  <a:srgbClr val="1E293B"/>
                </a:solidFill>
                <a:latin typeface="Calibri" pitchFamily="34" charset="0"/>
                <a:ea typeface="Calibri" pitchFamily="34" charset="-122"/>
                <a:cs typeface="Calibri" pitchFamily="34" charset="-120"/>
              </a:rPr>
              <a:t>Why are the four-signal mistakes only among the four?</a:t>
            </a:r>
            <a:endParaRPr lang="en-US" sz="2100" dirty="0"/>
          </a:p>
        </p:txBody>
      </p:sp>
      <p:sp>
        <p:nvSpPr>
          <p:cNvPr id="15" name="Shape 13"/>
          <p:cNvSpPr/>
          <p:nvPr/>
        </p:nvSpPr>
        <p:spPr>
          <a:xfrm>
            <a:off x="6172200" y="2926080"/>
            <a:ext cx="5394960" cy="1097280"/>
          </a:xfrm>
          <a:prstGeom prst="roundRect">
            <a:avLst>
              <a:gd name="adj" fmla="val 10000"/>
            </a:avLst>
          </a:prstGeom>
          <a:solidFill>
            <a:srgbClr val="EEF2F6"/>
          </a:solidFill>
          <a:ln w="12700">
            <a:solidFill>
              <a:srgbClr val="EEF2F6"/>
            </a:solidFill>
            <a:prstDash val="solid"/>
          </a:ln>
        </p:spPr>
      </p:sp>
      <p:sp>
        <p:nvSpPr>
          <p:cNvPr id="16" name="Shape 14"/>
          <p:cNvSpPr/>
          <p:nvPr/>
        </p:nvSpPr>
        <p:spPr>
          <a:xfrm>
            <a:off x="6400800" y="3200400"/>
            <a:ext cx="548640" cy="548640"/>
          </a:xfrm>
          <a:prstGeom prst="ellipse">
            <a:avLst/>
          </a:prstGeom>
          <a:solidFill>
            <a:srgbClr val="0F1B2D"/>
          </a:solidFill>
          <a:ln w="12700">
            <a:solidFill>
              <a:srgbClr val="0F1B2D"/>
            </a:solidFill>
            <a:prstDash val="solid"/>
          </a:ln>
        </p:spPr>
      </p:sp>
      <p:sp>
        <p:nvSpPr>
          <p:cNvPr id="17" name="Text 15"/>
          <p:cNvSpPr txBox="1"/>
          <p:nvPr/>
        </p:nvSpPr>
        <p:spPr>
          <a:xfrm>
            <a:off x="6400800" y="32004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8" name="Text 16"/>
          <p:cNvSpPr txBox="1"/>
          <p:nvPr/>
        </p:nvSpPr>
        <p:spPr>
          <a:xfrm>
            <a:off x="7132320" y="2926080"/>
            <a:ext cx="4297680" cy="1097280"/>
          </a:xfrm>
          <a:prstGeom prst="rect">
            <a:avLst/>
          </a:prstGeom>
          <a:noFill/>
          <a:ln/>
        </p:spPr>
        <p:txBody>
          <a:bodyPr wrap="square" lIns="0" tIns="0" rIns="0" bIns="0" rtlCol="0" anchor="ctr"/>
          <a:lstStyle/>
          <a:p>
            <a:pPr indent="0" marL="0">
              <a:buNone/>
            </a:pPr>
            <a:r>
              <a:rPr lang="en-US" sz="2100" dirty="0">
                <a:solidFill>
                  <a:srgbClr val="1E293B"/>
                </a:solidFill>
                <a:latin typeface="Calibri" pitchFamily="34" charset="0"/>
                <a:ea typeface="Calibri" pitchFamily="34" charset="-122"/>
                <a:cs typeface="Calibri" pitchFamily="34" charset="-120"/>
              </a:rPr>
              <a:t>How exactly is it trained?</a:t>
            </a:r>
            <a:endParaRPr lang="en-US" sz="2100" dirty="0"/>
          </a:p>
        </p:txBody>
      </p:sp>
      <p:sp>
        <p:nvSpPr>
          <p:cNvPr id="19" name="Shape 17"/>
          <p:cNvSpPr/>
          <p:nvPr/>
        </p:nvSpPr>
        <p:spPr>
          <a:xfrm>
            <a:off x="548640" y="4251960"/>
            <a:ext cx="5394960" cy="1097280"/>
          </a:xfrm>
          <a:prstGeom prst="roundRect">
            <a:avLst>
              <a:gd name="adj" fmla="val 10000"/>
            </a:avLst>
          </a:prstGeom>
          <a:solidFill>
            <a:srgbClr val="EEF2F6"/>
          </a:solidFill>
          <a:ln w="12700">
            <a:solidFill>
              <a:srgbClr val="EEF2F6"/>
            </a:solidFill>
            <a:prstDash val="solid"/>
          </a:ln>
        </p:spPr>
      </p:sp>
      <p:sp>
        <p:nvSpPr>
          <p:cNvPr id="20" name="Shape 18"/>
          <p:cNvSpPr/>
          <p:nvPr/>
        </p:nvSpPr>
        <p:spPr>
          <a:xfrm>
            <a:off x="777240" y="4526280"/>
            <a:ext cx="548640" cy="548640"/>
          </a:xfrm>
          <a:prstGeom prst="ellipse">
            <a:avLst/>
          </a:prstGeom>
          <a:solidFill>
            <a:srgbClr val="0F1B2D"/>
          </a:solidFill>
          <a:ln w="12700">
            <a:solidFill>
              <a:srgbClr val="0F1B2D"/>
            </a:solidFill>
            <a:prstDash val="solid"/>
          </a:ln>
        </p:spPr>
      </p:sp>
      <p:sp>
        <p:nvSpPr>
          <p:cNvPr id="21" name="Text 19"/>
          <p:cNvSpPr txBox="1"/>
          <p:nvPr/>
        </p:nvSpPr>
        <p:spPr>
          <a:xfrm>
            <a:off x="777240" y="45262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2" name="Text 20"/>
          <p:cNvSpPr txBox="1"/>
          <p:nvPr/>
        </p:nvSpPr>
        <p:spPr>
          <a:xfrm>
            <a:off x="1508760" y="4251960"/>
            <a:ext cx="4297680" cy="1097280"/>
          </a:xfrm>
          <a:prstGeom prst="rect">
            <a:avLst/>
          </a:prstGeom>
          <a:noFill/>
          <a:ln/>
        </p:spPr>
        <p:txBody>
          <a:bodyPr wrap="square" lIns="0" tIns="0" rIns="0" bIns="0" rtlCol="0" anchor="ctr"/>
          <a:lstStyle/>
          <a:p>
            <a:pPr indent="0" marL="0">
              <a:buNone/>
            </a:pPr>
            <a:r>
              <a:rPr lang="en-US" sz="2100" dirty="0">
                <a:solidFill>
                  <a:srgbClr val="1E293B"/>
                </a:solidFill>
                <a:latin typeface="Calibri" pitchFamily="34" charset="0"/>
                <a:ea typeface="Calibri" pitchFamily="34" charset="-122"/>
                <a:cs typeface="Calibri" pitchFamily="34" charset="-120"/>
              </a:rPr>
              <a:t>Which software did we use?</a:t>
            </a:r>
            <a:endParaRPr lang="en-US" sz="2100" dirty="0"/>
          </a:p>
        </p:txBody>
      </p:sp>
      <p:sp>
        <p:nvSpPr>
          <p:cNvPr id="23" name="Shape 21"/>
          <p:cNvSpPr/>
          <p:nvPr/>
        </p:nvSpPr>
        <p:spPr>
          <a:xfrm>
            <a:off x="6172200" y="4251960"/>
            <a:ext cx="5394960" cy="1097280"/>
          </a:xfrm>
          <a:prstGeom prst="roundRect">
            <a:avLst>
              <a:gd name="adj" fmla="val 10000"/>
            </a:avLst>
          </a:prstGeom>
          <a:solidFill>
            <a:srgbClr val="EEF2F6"/>
          </a:solidFill>
          <a:ln w="12700">
            <a:solidFill>
              <a:srgbClr val="EEF2F6"/>
            </a:solidFill>
            <a:prstDash val="solid"/>
          </a:ln>
        </p:spPr>
      </p:sp>
      <p:sp>
        <p:nvSpPr>
          <p:cNvPr id="24" name="Shape 22"/>
          <p:cNvSpPr/>
          <p:nvPr/>
        </p:nvSpPr>
        <p:spPr>
          <a:xfrm>
            <a:off x="6400800" y="4526280"/>
            <a:ext cx="548640" cy="548640"/>
          </a:xfrm>
          <a:prstGeom prst="ellipse">
            <a:avLst/>
          </a:prstGeom>
          <a:solidFill>
            <a:srgbClr val="0F1B2D"/>
          </a:solidFill>
          <a:ln w="12700">
            <a:solidFill>
              <a:srgbClr val="0F1B2D"/>
            </a:solidFill>
            <a:prstDash val="solid"/>
          </a:ln>
        </p:spPr>
      </p:sp>
      <p:sp>
        <p:nvSpPr>
          <p:cNvPr id="25" name="Text 23"/>
          <p:cNvSpPr txBox="1"/>
          <p:nvPr/>
        </p:nvSpPr>
        <p:spPr>
          <a:xfrm>
            <a:off x="6400800" y="452628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26" name="Text 24"/>
          <p:cNvSpPr txBox="1"/>
          <p:nvPr/>
        </p:nvSpPr>
        <p:spPr>
          <a:xfrm>
            <a:off x="7132320" y="4251960"/>
            <a:ext cx="4297680" cy="1097280"/>
          </a:xfrm>
          <a:prstGeom prst="rect">
            <a:avLst/>
          </a:prstGeom>
          <a:noFill/>
          <a:ln/>
        </p:spPr>
        <p:txBody>
          <a:bodyPr wrap="square" lIns="0" tIns="0" rIns="0" bIns="0" rtlCol="0" anchor="ctr"/>
          <a:lstStyle/>
          <a:p>
            <a:pPr indent="0" marL="0">
              <a:buNone/>
            </a:pPr>
            <a:r>
              <a:rPr lang="en-US" sz="2100" dirty="0">
                <a:solidFill>
                  <a:srgbClr val="1E293B"/>
                </a:solidFill>
                <a:latin typeface="Calibri" pitchFamily="34" charset="0"/>
                <a:ea typeface="Calibri" pitchFamily="34" charset="-122"/>
                <a:cs typeface="Calibri" pitchFamily="34" charset="-120"/>
              </a:rPr>
              <a:t>Which paper, and who wrote it?</a:t>
            </a:r>
            <a:endParaRPr lang="en-US" sz="2100" dirty="0"/>
          </a:p>
        </p:txBody>
      </p:sp>
      <p:sp>
        <p:nvSpPr>
          <p:cNvPr id="28" name="Text 25"/>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Three answers I got wrong last week</a:t>
            </a:r>
            <a:endParaRPr lang="en-US" sz="3400" dirty="0"/>
          </a:p>
        </p:txBody>
      </p:sp>
      <p:sp>
        <p:nvSpPr>
          <p:cNvPr id="3" name="Shape 1"/>
          <p:cNvSpPr/>
          <p:nvPr/>
        </p:nvSpPr>
        <p:spPr>
          <a:xfrm>
            <a:off x="548640" y="1508760"/>
            <a:ext cx="11091672" cy="1143000"/>
          </a:xfrm>
          <a:prstGeom prst="roundRect">
            <a:avLst>
              <a:gd name="adj" fmla="val 9600"/>
            </a:avLst>
          </a:prstGeom>
          <a:solidFill>
            <a:srgbClr val="EEF2F6"/>
          </a:solidFill>
          <a:ln w="12700">
            <a:solidFill>
              <a:srgbClr val="EEF2F6"/>
            </a:solidFill>
            <a:prstDash val="solid"/>
          </a:ln>
        </p:spPr>
      </p:sp>
      <p:sp>
        <p:nvSpPr>
          <p:cNvPr id="4" name="Text 2"/>
          <p:cNvSpPr txBox="1"/>
          <p:nvPr/>
        </p:nvSpPr>
        <p:spPr>
          <a:xfrm>
            <a:off x="822960" y="1618488"/>
            <a:ext cx="914400" cy="365760"/>
          </a:xfrm>
          <a:prstGeom prst="rect">
            <a:avLst/>
          </a:prstGeom>
          <a:noFill/>
          <a:ln/>
        </p:spPr>
        <p:txBody>
          <a:bodyPr wrap="square" lIns="0" tIns="0" rIns="0" bIns="0" rtlCol="0" anchor="t"/>
          <a:lstStyle/>
          <a:p>
            <a:pPr indent="0" marL="0">
              <a:buNone/>
            </a:pPr>
            <a:r>
              <a:rPr lang="en-US" sz="1400" b="1" spc="200" kern="0" dirty="0">
                <a:solidFill>
                  <a:srgbClr val="5B6B7F"/>
                </a:solidFill>
                <a:latin typeface="Calibri" pitchFamily="34" charset="0"/>
                <a:ea typeface="Calibri" pitchFamily="34" charset="-122"/>
                <a:cs typeface="Calibri" pitchFamily="34" charset="-120"/>
              </a:rPr>
              <a:t>said</a:t>
            </a:r>
            <a:endParaRPr lang="en-US" sz="1400" dirty="0"/>
          </a:p>
        </p:txBody>
      </p:sp>
      <p:sp>
        <p:nvSpPr>
          <p:cNvPr id="5" name="Text 3"/>
          <p:cNvSpPr txBox="1"/>
          <p:nvPr/>
        </p:nvSpPr>
        <p:spPr>
          <a:xfrm>
            <a:off x="822960" y="1874520"/>
            <a:ext cx="5120640" cy="731520"/>
          </a:xfrm>
          <a:prstGeom prst="rect">
            <a:avLst/>
          </a:prstGeom>
          <a:noFill/>
          <a:ln/>
        </p:spPr>
        <p:txBody>
          <a:bodyPr wrap="square" lIns="0" tIns="0" rIns="0" bIns="0" rtlCol="0" anchor="t"/>
          <a:lstStyle/>
          <a:p>
            <a:pPr indent="0" marL="0">
              <a:buNone/>
            </a:pPr>
            <a:r>
              <a:rPr lang="en-US" sz="1900" i="1" dirty="0">
                <a:solidFill>
                  <a:srgbClr val="5B6B7F"/>
                </a:solidFill>
                <a:latin typeface="Calibri" pitchFamily="34" charset="0"/>
                <a:ea typeface="Calibri" pitchFamily="34" charset="-122"/>
                <a:cs typeface="Calibri" pitchFamily="34" charset="-120"/>
              </a:rPr>
              <a:t>“The four-signal table used the same 11-signal detector.”</a:t>
            </a:r>
            <a:endParaRPr lang="en-US" sz="1900" dirty="0"/>
          </a:p>
        </p:txBody>
      </p:sp>
      <p:sp>
        <p:nvSpPr>
          <p:cNvPr id="6" name="Shape 4"/>
          <p:cNvSpPr/>
          <p:nvPr/>
        </p:nvSpPr>
        <p:spPr>
          <a:xfrm>
            <a:off x="6080760" y="1892808"/>
            <a:ext cx="457200" cy="411480"/>
          </a:xfrm>
          <a:prstGeom prst="rightArrow">
            <a:avLst/>
          </a:prstGeom>
          <a:solidFill>
            <a:srgbClr val="F08A24"/>
          </a:solidFill>
          <a:ln w="12700">
            <a:solidFill>
              <a:srgbClr val="F08A24"/>
            </a:solidFill>
            <a:prstDash val="solid"/>
          </a:ln>
        </p:spPr>
      </p:sp>
      <p:sp>
        <p:nvSpPr>
          <p:cNvPr id="7" name="Text 5"/>
          <p:cNvSpPr txBox="1"/>
          <p:nvPr/>
        </p:nvSpPr>
        <p:spPr>
          <a:xfrm>
            <a:off x="6766560" y="1618488"/>
            <a:ext cx="914400" cy="36576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true</a:t>
            </a:r>
            <a:endParaRPr lang="en-US" sz="1400" dirty="0"/>
          </a:p>
        </p:txBody>
      </p:sp>
      <p:sp>
        <p:nvSpPr>
          <p:cNvPr id="8" name="Text 6"/>
          <p:cNvSpPr txBox="1"/>
          <p:nvPr/>
        </p:nvSpPr>
        <p:spPr>
          <a:xfrm>
            <a:off x="6766560" y="1874520"/>
            <a:ext cx="4690872" cy="731520"/>
          </a:xfrm>
          <a:prstGeom prst="rect">
            <a:avLst/>
          </a:prstGeom>
          <a:noFill/>
          <a:ln/>
        </p:spPr>
        <p:txBody>
          <a:bodyPr wrap="square" lIns="0" tIns="0" rIns="0" bIns="0" rtlCol="0" anchor="t"/>
          <a:lstStyle/>
          <a:p>
            <a:pPr indent="0" marL="0">
              <a:buNone/>
            </a:pPr>
            <a:r>
              <a:rPr lang="en-US" sz="2000" b="1" dirty="0">
                <a:solidFill>
                  <a:srgbClr val="1E293B"/>
                </a:solidFill>
                <a:latin typeface="Calibri" pitchFamily="34" charset="0"/>
                <a:ea typeface="Calibri" pitchFamily="34" charset="-122"/>
                <a:cs typeface="Calibri" pitchFamily="34" charset="-120"/>
              </a:rPr>
              <a:t>It used a separate network, trained only on those four.</a:t>
            </a:r>
            <a:endParaRPr lang="en-US" sz="2000" dirty="0"/>
          </a:p>
        </p:txBody>
      </p:sp>
      <p:sp>
        <p:nvSpPr>
          <p:cNvPr id="9" name="Shape 7"/>
          <p:cNvSpPr/>
          <p:nvPr/>
        </p:nvSpPr>
        <p:spPr>
          <a:xfrm>
            <a:off x="548640" y="2834640"/>
            <a:ext cx="11091672" cy="1143000"/>
          </a:xfrm>
          <a:prstGeom prst="roundRect">
            <a:avLst>
              <a:gd name="adj" fmla="val 9600"/>
            </a:avLst>
          </a:prstGeom>
          <a:solidFill>
            <a:srgbClr val="EEF2F6"/>
          </a:solidFill>
          <a:ln w="12700">
            <a:solidFill>
              <a:srgbClr val="EEF2F6"/>
            </a:solidFill>
            <a:prstDash val="solid"/>
          </a:ln>
        </p:spPr>
      </p:sp>
      <p:sp>
        <p:nvSpPr>
          <p:cNvPr id="10" name="Text 8"/>
          <p:cNvSpPr txBox="1"/>
          <p:nvPr/>
        </p:nvSpPr>
        <p:spPr>
          <a:xfrm>
            <a:off x="822960" y="2944368"/>
            <a:ext cx="914400" cy="365760"/>
          </a:xfrm>
          <a:prstGeom prst="rect">
            <a:avLst/>
          </a:prstGeom>
          <a:noFill/>
          <a:ln/>
        </p:spPr>
        <p:txBody>
          <a:bodyPr wrap="square" lIns="0" tIns="0" rIns="0" bIns="0" rtlCol="0" anchor="t"/>
          <a:lstStyle/>
          <a:p>
            <a:pPr indent="0" marL="0">
              <a:buNone/>
            </a:pPr>
            <a:r>
              <a:rPr lang="en-US" sz="1400" b="1" spc="200" kern="0" dirty="0">
                <a:solidFill>
                  <a:srgbClr val="5B6B7F"/>
                </a:solidFill>
                <a:latin typeface="Calibri" pitchFamily="34" charset="0"/>
                <a:ea typeface="Calibri" pitchFamily="34" charset="-122"/>
                <a:cs typeface="Calibri" pitchFamily="34" charset="-120"/>
              </a:rPr>
              <a:t>said</a:t>
            </a:r>
            <a:endParaRPr lang="en-US" sz="1400" dirty="0"/>
          </a:p>
        </p:txBody>
      </p:sp>
      <p:sp>
        <p:nvSpPr>
          <p:cNvPr id="11" name="Text 9"/>
          <p:cNvSpPr txBox="1"/>
          <p:nvPr/>
        </p:nvSpPr>
        <p:spPr>
          <a:xfrm>
            <a:off x="822960" y="3200400"/>
            <a:ext cx="5120640" cy="731520"/>
          </a:xfrm>
          <a:prstGeom prst="rect">
            <a:avLst/>
          </a:prstGeom>
          <a:noFill/>
          <a:ln/>
        </p:spPr>
        <p:txBody>
          <a:bodyPr wrap="square" lIns="0" tIns="0" rIns="0" bIns="0" rtlCol="0" anchor="t"/>
          <a:lstStyle/>
          <a:p>
            <a:pPr indent="0" marL="0">
              <a:buNone/>
            </a:pPr>
            <a:r>
              <a:rPr lang="en-US" sz="1900" i="1" dirty="0">
                <a:solidFill>
                  <a:srgbClr val="5B6B7F"/>
                </a:solidFill>
                <a:latin typeface="Calibri" pitchFamily="34" charset="0"/>
                <a:ea typeface="Calibri" pitchFamily="34" charset="-122"/>
                <a:cs typeface="Calibri" pitchFamily="34" charset="-120"/>
              </a:rPr>
              <a:t>“They published their weights.”</a:t>
            </a:r>
            <a:endParaRPr lang="en-US" sz="1900" dirty="0"/>
          </a:p>
        </p:txBody>
      </p:sp>
      <p:sp>
        <p:nvSpPr>
          <p:cNvPr id="12" name="Shape 10"/>
          <p:cNvSpPr/>
          <p:nvPr/>
        </p:nvSpPr>
        <p:spPr>
          <a:xfrm>
            <a:off x="6080760" y="3218688"/>
            <a:ext cx="457200" cy="411480"/>
          </a:xfrm>
          <a:prstGeom prst="rightArrow">
            <a:avLst/>
          </a:prstGeom>
          <a:solidFill>
            <a:srgbClr val="F08A24"/>
          </a:solidFill>
          <a:ln w="12700">
            <a:solidFill>
              <a:srgbClr val="F08A24"/>
            </a:solidFill>
            <a:prstDash val="solid"/>
          </a:ln>
        </p:spPr>
      </p:sp>
      <p:sp>
        <p:nvSpPr>
          <p:cNvPr id="13" name="Text 11"/>
          <p:cNvSpPr txBox="1"/>
          <p:nvPr/>
        </p:nvSpPr>
        <p:spPr>
          <a:xfrm>
            <a:off x="6766560" y="2944368"/>
            <a:ext cx="914400" cy="36576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true</a:t>
            </a:r>
            <a:endParaRPr lang="en-US" sz="1400" dirty="0"/>
          </a:p>
        </p:txBody>
      </p:sp>
      <p:sp>
        <p:nvSpPr>
          <p:cNvPr id="14" name="Text 12"/>
          <p:cNvSpPr txBox="1"/>
          <p:nvPr/>
        </p:nvSpPr>
        <p:spPr>
          <a:xfrm>
            <a:off x="6766560" y="3200400"/>
            <a:ext cx="4690872" cy="731520"/>
          </a:xfrm>
          <a:prstGeom prst="rect">
            <a:avLst/>
          </a:prstGeom>
          <a:noFill/>
          <a:ln/>
        </p:spPr>
        <p:txBody>
          <a:bodyPr wrap="square" lIns="0" tIns="0" rIns="0" bIns="0" rtlCol="0" anchor="t"/>
          <a:lstStyle/>
          <a:p>
            <a:pPr indent="0" marL="0">
              <a:buNone/>
            </a:pPr>
            <a:r>
              <a:rPr lang="en-US" sz="2000" b="1" dirty="0">
                <a:solidFill>
                  <a:srgbClr val="1E293B"/>
                </a:solidFill>
                <a:latin typeface="Calibri" pitchFamily="34" charset="0"/>
                <a:ea typeface="Calibri" pitchFamily="34" charset="-122"/>
                <a:cs typeface="Calibri" pitchFamily="34" charset="-120"/>
              </a:rPr>
              <a:t>No code, no weights. We trained every network ourselves.</a:t>
            </a:r>
            <a:endParaRPr lang="en-US" sz="2000" dirty="0"/>
          </a:p>
        </p:txBody>
      </p:sp>
      <p:sp>
        <p:nvSpPr>
          <p:cNvPr id="15" name="Shape 13"/>
          <p:cNvSpPr/>
          <p:nvPr/>
        </p:nvSpPr>
        <p:spPr>
          <a:xfrm>
            <a:off x="548640" y="4160520"/>
            <a:ext cx="11091672" cy="1143000"/>
          </a:xfrm>
          <a:prstGeom prst="roundRect">
            <a:avLst>
              <a:gd name="adj" fmla="val 9600"/>
            </a:avLst>
          </a:prstGeom>
          <a:solidFill>
            <a:srgbClr val="EEF2F6"/>
          </a:solidFill>
          <a:ln w="12700">
            <a:solidFill>
              <a:srgbClr val="EEF2F6"/>
            </a:solidFill>
            <a:prstDash val="solid"/>
          </a:ln>
        </p:spPr>
      </p:sp>
      <p:sp>
        <p:nvSpPr>
          <p:cNvPr id="16" name="Text 14"/>
          <p:cNvSpPr txBox="1"/>
          <p:nvPr/>
        </p:nvSpPr>
        <p:spPr>
          <a:xfrm>
            <a:off x="822960" y="4270248"/>
            <a:ext cx="914400" cy="365760"/>
          </a:xfrm>
          <a:prstGeom prst="rect">
            <a:avLst/>
          </a:prstGeom>
          <a:noFill/>
          <a:ln/>
        </p:spPr>
        <p:txBody>
          <a:bodyPr wrap="square" lIns="0" tIns="0" rIns="0" bIns="0" rtlCol="0" anchor="t"/>
          <a:lstStyle/>
          <a:p>
            <a:pPr indent="0" marL="0">
              <a:buNone/>
            </a:pPr>
            <a:r>
              <a:rPr lang="en-US" sz="1400" b="1" spc="200" kern="0" dirty="0">
                <a:solidFill>
                  <a:srgbClr val="5B6B7F"/>
                </a:solidFill>
                <a:latin typeface="Calibri" pitchFamily="34" charset="0"/>
                <a:ea typeface="Calibri" pitchFamily="34" charset="-122"/>
                <a:cs typeface="Calibri" pitchFamily="34" charset="-120"/>
              </a:rPr>
              <a:t>said</a:t>
            </a:r>
            <a:endParaRPr lang="en-US" sz="1400" dirty="0"/>
          </a:p>
        </p:txBody>
      </p:sp>
      <p:sp>
        <p:nvSpPr>
          <p:cNvPr id="17" name="Text 15"/>
          <p:cNvSpPr txBox="1"/>
          <p:nvPr/>
        </p:nvSpPr>
        <p:spPr>
          <a:xfrm>
            <a:off x="822960" y="4526280"/>
            <a:ext cx="5120640" cy="731520"/>
          </a:xfrm>
          <a:prstGeom prst="rect">
            <a:avLst/>
          </a:prstGeom>
          <a:noFill/>
          <a:ln/>
        </p:spPr>
        <p:txBody>
          <a:bodyPr wrap="square" lIns="0" tIns="0" rIns="0" bIns="0" rtlCol="0" anchor="t"/>
          <a:lstStyle/>
          <a:p>
            <a:pPr indent="0" marL="0">
              <a:buNone/>
            </a:pPr>
            <a:r>
              <a:rPr lang="en-US" sz="1900" i="1" dirty="0">
                <a:solidFill>
                  <a:srgbClr val="5B6B7F"/>
                </a:solidFill>
                <a:latin typeface="Calibri" pitchFamily="34" charset="0"/>
                <a:ea typeface="Calibri" pitchFamily="34" charset="-122"/>
                <a:cs typeface="Calibri" pitchFamily="34" charset="-120"/>
              </a:rPr>
              <a:t>“There is a piece of code for each modulation.”</a:t>
            </a:r>
            <a:endParaRPr lang="en-US" sz="1900" dirty="0"/>
          </a:p>
        </p:txBody>
      </p:sp>
      <p:sp>
        <p:nvSpPr>
          <p:cNvPr id="18" name="Shape 16"/>
          <p:cNvSpPr/>
          <p:nvPr/>
        </p:nvSpPr>
        <p:spPr>
          <a:xfrm>
            <a:off x="6080760" y="4544568"/>
            <a:ext cx="457200" cy="411480"/>
          </a:xfrm>
          <a:prstGeom prst="rightArrow">
            <a:avLst/>
          </a:prstGeom>
          <a:solidFill>
            <a:srgbClr val="F08A24"/>
          </a:solidFill>
          <a:ln w="12700">
            <a:solidFill>
              <a:srgbClr val="F08A24"/>
            </a:solidFill>
            <a:prstDash val="solid"/>
          </a:ln>
        </p:spPr>
      </p:sp>
      <p:sp>
        <p:nvSpPr>
          <p:cNvPr id="19" name="Text 17"/>
          <p:cNvSpPr txBox="1"/>
          <p:nvPr/>
        </p:nvSpPr>
        <p:spPr>
          <a:xfrm>
            <a:off x="6766560" y="4270248"/>
            <a:ext cx="914400" cy="36576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true</a:t>
            </a:r>
            <a:endParaRPr lang="en-US" sz="1400" dirty="0"/>
          </a:p>
        </p:txBody>
      </p:sp>
      <p:sp>
        <p:nvSpPr>
          <p:cNvPr id="20" name="Text 18"/>
          <p:cNvSpPr txBox="1"/>
          <p:nvPr/>
        </p:nvSpPr>
        <p:spPr>
          <a:xfrm>
            <a:off x="6766560" y="4526280"/>
            <a:ext cx="4690872" cy="731520"/>
          </a:xfrm>
          <a:prstGeom prst="rect">
            <a:avLst/>
          </a:prstGeom>
          <a:noFill/>
          <a:ln/>
        </p:spPr>
        <p:txBody>
          <a:bodyPr wrap="square" lIns="0" tIns="0" rIns="0" bIns="0" rtlCol="0" anchor="t"/>
          <a:lstStyle/>
          <a:p>
            <a:pPr indent="0" marL="0">
              <a:buNone/>
            </a:pPr>
            <a:r>
              <a:rPr lang="en-US" sz="2000" b="1" dirty="0">
                <a:solidFill>
                  <a:srgbClr val="1E293B"/>
                </a:solidFill>
                <a:latin typeface="Calibri" pitchFamily="34" charset="0"/>
                <a:ea typeface="Calibri" pitchFamily="34" charset="-122"/>
                <a:cs typeface="Calibri" pitchFamily="34" charset="-120"/>
              </a:rPr>
              <a:t>One network. A modulation is just an output number.</a:t>
            </a:r>
            <a:endParaRPr lang="en-US" sz="2000" dirty="0"/>
          </a:p>
        </p:txBody>
      </p:sp>
      <p:sp>
        <p:nvSpPr>
          <p:cNvPr id="21" name="Text 19"/>
          <p:cNvSpPr txBox="1"/>
          <p:nvPr/>
        </p:nvSpPr>
        <p:spPr>
          <a:xfrm>
            <a:off x="548640" y="566928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The rest of the talk shows each step.</a:t>
            </a:r>
            <a:endParaRPr lang="en-US" sz="2400" dirty="0"/>
          </a:p>
        </p:txBody>
      </p:sp>
      <p:sp>
        <p:nvSpPr>
          <p:cNvPr id="23" name="Text 20"/>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QUESTION 1</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It is a neural network, and we trained it</a:t>
            </a:r>
            <a:endParaRPr lang="en-US" sz="3400" dirty="0"/>
          </a:p>
        </p:txBody>
      </p:sp>
      <p:sp>
        <p:nvSpPr>
          <p:cNvPr id="4" name="Shape 2"/>
          <p:cNvSpPr/>
          <p:nvPr/>
        </p:nvSpPr>
        <p:spPr>
          <a:xfrm>
            <a:off x="548640" y="1600200"/>
            <a:ext cx="3246120" cy="2834640"/>
          </a:xfrm>
          <a:prstGeom prst="roundRect">
            <a:avLst>
              <a:gd name="adj" fmla="val 3871"/>
            </a:avLst>
          </a:prstGeom>
          <a:solidFill>
            <a:srgbClr val="EEF2F6"/>
          </a:solidFill>
          <a:ln w="12700">
            <a:solidFill>
              <a:srgbClr val="EEF2F6"/>
            </a:solidFill>
            <a:prstDash val="solid"/>
          </a:ln>
        </p:spPr>
      </p:sp>
      <p:sp>
        <p:nvSpPr>
          <p:cNvPr id="5" name="Text 3"/>
          <p:cNvSpPr txBox="1"/>
          <p:nvPr/>
        </p:nvSpPr>
        <p:spPr>
          <a:xfrm>
            <a:off x="822960" y="1828800"/>
            <a:ext cx="2697480" cy="914400"/>
          </a:xfrm>
          <a:prstGeom prst="rect">
            <a:avLst/>
          </a:prstGeom>
          <a:noFill/>
          <a:ln/>
        </p:spPr>
        <p:txBody>
          <a:bodyPr wrap="square" lIns="0" tIns="0" rIns="0" bIns="0" rtlCol="0" anchor="b"/>
          <a:lstStyle/>
          <a:p>
            <a:pPr indent="0" marL="0">
              <a:buNone/>
            </a:pPr>
            <a:r>
              <a:rPr lang="en-US" sz="4600" b="1" dirty="0">
                <a:solidFill>
                  <a:srgbClr val="F08A24"/>
                </a:solidFill>
                <a:latin typeface="Calibri" pitchFamily="34" charset="0"/>
                <a:ea typeface="Calibri" pitchFamily="34" charset="-122"/>
                <a:cs typeface="Calibri" pitchFamily="34" charset="-120"/>
              </a:rPr>
              <a:t>785,476</a:t>
            </a:r>
            <a:endParaRPr lang="en-US" sz="4600" dirty="0"/>
          </a:p>
        </p:txBody>
      </p:sp>
      <p:sp>
        <p:nvSpPr>
          <p:cNvPr id="6" name="Text 4"/>
          <p:cNvSpPr txBox="1"/>
          <p:nvPr/>
        </p:nvSpPr>
        <p:spPr>
          <a:xfrm>
            <a:off x="822960" y="2880360"/>
            <a:ext cx="2697480" cy="1280160"/>
          </a:xfrm>
          <a:prstGeom prst="rect">
            <a:avLst/>
          </a:prstGeom>
          <a:noFill/>
          <a:ln/>
        </p:spPr>
        <p:txBody>
          <a:bodyPr wrap="square" lIns="0" tIns="0" rIns="0" bIns="0" rtlCol="0" anchor="t"/>
          <a:lstStyle/>
          <a:p>
            <a:pPr indent="0" marL="0">
              <a:buNone/>
            </a:pPr>
            <a:r>
              <a:rPr lang="en-US" sz="2000" dirty="0">
                <a:solidFill>
                  <a:srgbClr val="5B6B7F"/>
                </a:solidFill>
                <a:latin typeface="Calibri" pitchFamily="34" charset="0"/>
                <a:ea typeface="Calibri" pitchFamily="34" charset="-122"/>
                <a:cs typeface="Calibri" pitchFamily="34" charset="-120"/>
              </a:rPr>
              <a:t>adjustable numbers,</a:t>
            </a:r>
            <a:endParaRPr lang="en-US" sz="2000" dirty="0"/>
          </a:p>
          <a:p>
            <a:pPr indent="0" marL="0">
              <a:buNone/>
            </a:pPr>
            <a:r>
              <a:rPr lang="en-US" sz="2000" dirty="0">
                <a:solidFill>
                  <a:srgbClr val="5B6B7F"/>
                </a:solidFill>
                <a:latin typeface="Calibri" pitchFamily="34" charset="0"/>
                <a:ea typeface="Calibri" pitchFamily="34" charset="-122"/>
                <a:cs typeface="Calibri" pitchFamily="34" charset="-120"/>
              </a:rPr>
              <a:t>random at the start</a:t>
            </a:r>
            <a:endParaRPr lang="en-US" sz="2000" dirty="0"/>
          </a:p>
        </p:txBody>
      </p:sp>
      <p:sp>
        <p:nvSpPr>
          <p:cNvPr id="7" name="Shape 5"/>
          <p:cNvSpPr/>
          <p:nvPr/>
        </p:nvSpPr>
        <p:spPr>
          <a:xfrm>
            <a:off x="3822192" y="2788920"/>
            <a:ext cx="457200" cy="411480"/>
          </a:xfrm>
          <a:prstGeom prst="rightArrow">
            <a:avLst/>
          </a:prstGeom>
          <a:solidFill>
            <a:srgbClr val="F08A24"/>
          </a:solidFill>
          <a:ln w="12700">
            <a:solidFill>
              <a:srgbClr val="F08A24"/>
            </a:solidFill>
            <a:prstDash val="solid"/>
          </a:ln>
        </p:spPr>
      </p:sp>
      <p:sp>
        <p:nvSpPr>
          <p:cNvPr id="8" name="Shape 6"/>
          <p:cNvSpPr/>
          <p:nvPr/>
        </p:nvSpPr>
        <p:spPr>
          <a:xfrm>
            <a:off x="4343400" y="1600200"/>
            <a:ext cx="3246120" cy="2834640"/>
          </a:xfrm>
          <a:prstGeom prst="roundRect">
            <a:avLst>
              <a:gd name="adj" fmla="val 3871"/>
            </a:avLst>
          </a:prstGeom>
          <a:solidFill>
            <a:srgbClr val="EEF2F6"/>
          </a:solidFill>
          <a:ln w="12700">
            <a:solidFill>
              <a:srgbClr val="EEF2F6"/>
            </a:solidFill>
            <a:prstDash val="solid"/>
          </a:ln>
        </p:spPr>
      </p:sp>
      <p:sp>
        <p:nvSpPr>
          <p:cNvPr id="9" name="Text 7"/>
          <p:cNvSpPr txBox="1"/>
          <p:nvPr/>
        </p:nvSpPr>
        <p:spPr>
          <a:xfrm>
            <a:off x="4617720" y="1828800"/>
            <a:ext cx="2697480" cy="914400"/>
          </a:xfrm>
          <a:prstGeom prst="rect">
            <a:avLst/>
          </a:prstGeom>
          <a:noFill/>
          <a:ln/>
        </p:spPr>
        <p:txBody>
          <a:bodyPr wrap="square" lIns="0" tIns="0" rIns="0" bIns="0" rtlCol="0" anchor="b"/>
          <a:lstStyle/>
          <a:p>
            <a:pPr indent="0" marL="0">
              <a:buNone/>
            </a:pPr>
            <a:r>
              <a:rPr lang="en-US" sz="4600" b="1" dirty="0">
                <a:solidFill>
                  <a:srgbClr val="1E293B"/>
                </a:solidFill>
                <a:latin typeface="Calibri" pitchFamily="34" charset="0"/>
                <a:ea typeface="Calibri" pitchFamily="34" charset="-122"/>
                <a:cs typeface="Calibri" pitchFamily="34" charset="-120"/>
              </a:rPr>
              <a:t>56,000</a:t>
            </a:r>
            <a:endParaRPr lang="en-US" sz="4600" dirty="0"/>
          </a:p>
        </p:txBody>
      </p:sp>
      <p:sp>
        <p:nvSpPr>
          <p:cNvPr id="10" name="Text 8"/>
          <p:cNvSpPr txBox="1"/>
          <p:nvPr/>
        </p:nvSpPr>
        <p:spPr>
          <a:xfrm>
            <a:off x="4617720" y="2880360"/>
            <a:ext cx="2697480" cy="1280160"/>
          </a:xfrm>
          <a:prstGeom prst="rect">
            <a:avLst/>
          </a:prstGeom>
          <a:noFill/>
          <a:ln/>
        </p:spPr>
        <p:txBody>
          <a:bodyPr wrap="square" lIns="0" tIns="0" rIns="0" bIns="0" rtlCol="0" anchor="t"/>
          <a:lstStyle/>
          <a:p>
            <a:pPr indent="0" marL="0">
              <a:buNone/>
            </a:pPr>
            <a:r>
              <a:rPr lang="en-US" sz="2000" dirty="0">
                <a:solidFill>
                  <a:srgbClr val="5B6B7F"/>
                </a:solidFill>
                <a:latin typeface="Calibri" pitchFamily="34" charset="0"/>
                <a:ea typeface="Calibri" pitchFamily="34" charset="-122"/>
                <a:cs typeface="Calibri" pitchFamily="34" charset="-120"/>
              </a:rPr>
              <a:t>labelled frames to</a:t>
            </a:r>
            <a:endParaRPr lang="en-US" sz="2000" dirty="0"/>
          </a:p>
          <a:p>
            <a:pPr indent="0" marL="0">
              <a:buNone/>
            </a:pPr>
            <a:r>
              <a:rPr lang="en-US" sz="2000" dirty="0">
                <a:solidFill>
                  <a:srgbClr val="5B6B7F"/>
                </a:solidFill>
                <a:latin typeface="Calibri" pitchFamily="34" charset="0"/>
                <a:ea typeface="Calibri" pitchFamily="34" charset="-122"/>
                <a:cs typeface="Calibri" pitchFamily="34" charset="-120"/>
              </a:rPr>
              <a:t>learn from</a:t>
            </a:r>
            <a:endParaRPr lang="en-US" sz="2000" dirty="0"/>
          </a:p>
        </p:txBody>
      </p:sp>
      <p:sp>
        <p:nvSpPr>
          <p:cNvPr id="11" name="Shape 9"/>
          <p:cNvSpPr/>
          <p:nvPr/>
        </p:nvSpPr>
        <p:spPr>
          <a:xfrm>
            <a:off x="7616952" y="2788920"/>
            <a:ext cx="457200" cy="411480"/>
          </a:xfrm>
          <a:prstGeom prst="rightArrow">
            <a:avLst/>
          </a:prstGeom>
          <a:solidFill>
            <a:srgbClr val="F08A24"/>
          </a:solidFill>
          <a:ln w="12700">
            <a:solidFill>
              <a:srgbClr val="F08A24"/>
            </a:solidFill>
            <a:prstDash val="solid"/>
          </a:ln>
        </p:spPr>
      </p:sp>
      <p:sp>
        <p:nvSpPr>
          <p:cNvPr id="12" name="Shape 10"/>
          <p:cNvSpPr/>
          <p:nvPr/>
        </p:nvSpPr>
        <p:spPr>
          <a:xfrm>
            <a:off x="8138160" y="1600200"/>
            <a:ext cx="3246120" cy="2834640"/>
          </a:xfrm>
          <a:prstGeom prst="roundRect">
            <a:avLst>
              <a:gd name="adj" fmla="val 3871"/>
            </a:avLst>
          </a:prstGeom>
          <a:solidFill>
            <a:srgbClr val="0F1B2D"/>
          </a:solidFill>
          <a:ln w="12700">
            <a:solidFill>
              <a:srgbClr val="0F1B2D"/>
            </a:solidFill>
            <a:prstDash val="solid"/>
          </a:ln>
        </p:spPr>
      </p:sp>
      <p:sp>
        <p:nvSpPr>
          <p:cNvPr id="13" name="Text 11"/>
          <p:cNvSpPr txBox="1"/>
          <p:nvPr/>
        </p:nvSpPr>
        <p:spPr>
          <a:xfrm>
            <a:off x="8412480" y="1828800"/>
            <a:ext cx="2697480" cy="914400"/>
          </a:xfrm>
          <a:prstGeom prst="rect">
            <a:avLst/>
          </a:prstGeom>
          <a:noFill/>
          <a:ln/>
        </p:spPr>
        <p:txBody>
          <a:bodyPr wrap="square" lIns="0" tIns="0" rIns="0" bIns="0" rtlCol="0" anchor="b"/>
          <a:lstStyle/>
          <a:p>
            <a:pPr indent="0" marL="0">
              <a:buNone/>
            </a:pPr>
            <a:r>
              <a:rPr lang="en-US" sz="4600" b="1" dirty="0">
                <a:solidFill>
                  <a:srgbClr val="FFFFFF"/>
                </a:solidFill>
                <a:latin typeface="Calibri" pitchFamily="34" charset="0"/>
                <a:ea typeface="Calibri" pitchFamily="34" charset="-122"/>
                <a:cs typeface="Calibri" pitchFamily="34" charset="-120"/>
              </a:rPr>
              <a:t>frozen</a:t>
            </a:r>
            <a:endParaRPr lang="en-US" sz="4600" dirty="0"/>
          </a:p>
        </p:txBody>
      </p:sp>
      <p:sp>
        <p:nvSpPr>
          <p:cNvPr id="14" name="Text 12"/>
          <p:cNvSpPr txBox="1"/>
          <p:nvPr/>
        </p:nvSpPr>
        <p:spPr>
          <a:xfrm>
            <a:off x="8412480" y="2880360"/>
            <a:ext cx="2697480" cy="1280160"/>
          </a:xfrm>
          <a:prstGeom prst="rect">
            <a:avLst/>
          </a:prstGeom>
          <a:noFill/>
          <a:ln/>
        </p:spPr>
        <p:txBody>
          <a:bodyPr wrap="square" lIns="0" tIns="0" rIns="0" bIns="0" rtlCol="0" anchor="t"/>
          <a:lstStyle/>
          <a:p>
            <a:pPr indent="0" marL="0">
              <a:buNone/>
            </a:pPr>
            <a:r>
              <a:rPr lang="en-US" sz="2000" dirty="0">
                <a:solidFill>
                  <a:srgbClr val="C9D3E0"/>
                </a:solidFill>
                <a:latin typeface="Calibri" pitchFamily="34" charset="0"/>
                <a:ea typeface="Calibri" pitchFamily="34" charset="-122"/>
                <a:cs typeface="Calibri" pitchFamily="34" charset="-120"/>
              </a:rPr>
              <a:t>then tested on frames</a:t>
            </a:r>
            <a:endParaRPr lang="en-US" sz="2000" dirty="0"/>
          </a:p>
          <a:p>
            <a:pPr indent="0" marL="0">
              <a:buNone/>
            </a:pPr>
            <a:r>
              <a:rPr lang="en-US" sz="2000" dirty="0">
                <a:solidFill>
                  <a:srgbClr val="C9D3E0"/>
                </a:solidFill>
                <a:latin typeface="Calibri" pitchFamily="34" charset="0"/>
                <a:ea typeface="Calibri" pitchFamily="34" charset="-122"/>
                <a:cs typeface="Calibri" pitchFamily="34" charset="-120"/>
              </a:rPr>
              <a:t>it never saw</a:t>
            </a:r>
            <a:endParaRPr lang="en-US" sz="2000" dirty="0"/>
          </a:p>
        </p:txBody>
      </p:sp>
      <p:sp>
        <p:nvSpPr>
          <p:cNvPr id="15" name="Text 13"/>
          <p:cNvSpPr txBox="1"/>
          <p:nvPr/>
        </p:nvSpPr>
        <p:spPr>
          <a:xfrm>
            <a:off x="548640" y="493776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Trained by us, from a random start. Nobody else's weights.</a:t>
            </a:r>
            <a:endParaRPr lang="en-US" sz="2400" dirty="0"/>
          </a:p>
        </p:txBody>
      </p:sp>
      <p:sp>
        <p:nvSpPr>
          <p:cNvPr id="17" name="Text 14"/>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QUESTION 2</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One network for all four</a:t>
            </a:r>
            <a:endParaRPr lang="en-US" sz="3400" dirty="0"/>
          </a:p>
        </p:txBody>
      </p:sp>
      <p:sp>
        <p:nvSpPr>
          <p:cNvPr id="4" name="Shape 2"/>
          <p:cNvSpPr/>
          <p:nvPr/>
        </p:nvSpPr>
        <p:spPr>
          <a:xfrm>
            <a:off x="548640" y="2103120"/>
            <a:ext cx="2103120" cy="1463040"/>
          </a:xfrm>
          <a:prstGeom prst="roundRect">
            <a:avLst>
              <a:gd name="adj" fmla="val 7500"/>
            </a:avLst>
          </a:prstGeom>
          <a:solidFill>
            <a:srgbClr val="EEF2F6"/>
          </a:solidFill>
          <a:ln w="12700">
            <a:solidFill>
              <a:srgbClr val="EEF2F6"/>
            </a:solidFill>
            <a:prstDash val="solid"/>
          </a:ln>
        </p:spPr>
      </p:sp>
      <p:sp>
        <p:nvSpPr>
          <p:cNvPr id="5" name="Text 3"/>
          <p:cNvSpPr txBox="1"/>
          <p:nvPr/>
        </p:nvSpPr>
        <p:spPr>
          <a:xfrm>
            <a:off x="548640" y="2103120"/>
            <a:ext cx="2103120" cy="1463040"/>
          </a:xfrm>
          <a:prstGeom prst="rect">
            <a:avLst/>
          </a:prstGeom>
          <a:noFill/>
          <a:ln/>
        </p:spPr>
        <p:txBody>
          <a:bodyPr wrap="square" lIns="0" tIns="0" rIns="0" bIns="0" rtlCol="0" anchor="ctr"/>
          <a:lstStyle/>
          <a:p>
            <a:pPr algn="ctr" indent="0" marL="0">
              <a:buNone/>
            </a:pPr>
            <a:r>
              <a:rPr lang="en-US" sz="2200" b="1" dirty="0">
                <a:solidFill>
                  <a:srgbClr val="1E293B"/>
                </a:solidFill>
                <a:latin typeface="Calibri" pitchFamily="34" charset="0"/>
                <a:ea typeface="Calibri" pitchFamily="34" charset="-122"/>
                <a:cs typeface="Calibri" pitchFamily="34" charset="-120"/>
              </a:rPr>
              <a:t>one frame</a:t>
            </a:r>
            <a:endParaRPr lang="en-US" sz="2200" dirty="0"/>
          </a:p>
          <a:p>
            <a:pPr algn="ctr" indent="0" marL="0">
              <a:buNone/>
            </a:pPr>
            <a:r>
              <a:rPr lang="en-US" sz="2200" b="1" dirty="0">
                <a:solidFill>
                  <a:srgbClr val="1E293B"/>
                </a:solidFill>
                <a:latin typeface="Calibri" pitchFamily="34" charset="0"/>
                <a:ea typeface="Calibri" pitchFamily="34" charset="-122"/>
                <a:cs typeface="Calibri" pitchFamily="34" charset="-120"/>
              </a:rPr>
              <a:t>2 × 128</a:t>
            </a:r>
            <a:endParaRPr lang="en-US" sz="2200" dirty="0"/>
          </a:p>
        </p:txBody>
      </p:sp>
      <p:sp>
        <p:nvSpPr>
          <p:cNvPr id="6" name="Shape 4"/>
          <p:cNvSpPr/>
          <p:nvPr/>
        </p:nvSpPr>
        <p:spPr>
          <a:xfrm>
            <a:off x="2788920" y="2606040"/>
            <a:ext cx="502920" cy="411480"/>
          </a:xfrm>
          <a:prstGeom prst="rightArrow">
            <a:avLst/>
          </a:prstGeom>
          <a:solidFill>
            <a:srgbClr val="F08A24"/>
          </a:solidFill>
          <a:ln w="12700">
            <a:solidFill>
              <a:srgbClr val="F08A24"/>
            </a:solidFill>
            <a:prstDash val="solid"/>
          </a:ln>
        </p:spPr>
      </p:sp>
      <p:sp>
        <p:nvSpPr>
          <p:cNvPr id="7" name="Shape 5"/>
          <p:cNvSpPr/>
          <p:nvPr/>
        </p:nvSpPr>
        <p:spPr>
          <a:xfrm>
            <a:off x="3474720" y="1645920"/>
            <a:ext cx="3291840" cy="2377440"/>
          </a:xfrm>
          <a:prstGeom prst="roundRect">
            <a:avLst>
              <a:gd name="adj" fmla="val 4615"/>
            </a:avLst>
          </a:prstGeom>
          <a:solidFill>
            <a:srgbClr val="0F1B2D"/>
          </a:solidFill>
          <a:ln w="12700">
            <a:solidFill>
              <a:srgbClr val="0F1B2D"/>
            </a:solidFill>
            <a:prstDash val="solid"/>
          </a:ln>
        </p:spPr>
      </p:sp>
      <p:sp>
        <p:nvSpPr>
          <p:cNvPr id="8" name="Text 6"/>
          <p:cNvSpPr txBox="1"/>
          <p:nvPr/>
        </p:nvSpPr>
        <p:spPr>
          <a:xfrm>
            <a:off x="3474720" y="1645920"/>
            <a:ext cx="3291840" cy="23774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the same layers</a:t>
            </a:r>
            <a:endParaRPr lang="en-US" sz="2400" dirty="0"/>
          </a:p>
          <a:p>
            <a:pPr algn="ctr" indent="0" marL="0">
              <a:buNone/>
            </a:pPr>
            <a:r>
              <a:rPr lang="en-US" sz="2400" b="1" dirty="0">
                <a:solidFill>
                  <a:srgbClr val="FFFFFF"/>
                </a:solidFill>
                <a:latin typeface="Calibri" pitchFamily="34" charset="0"/>
                <a:ea typeface="Calibri" pitchFamily="34" charset="-122"/>
                <a:cs typeface="Calibri" pitchFamily="34" charset="-120"/>
              </a:rPr>
              <a:t>for every frame</a:t>
            </a:r>
            <a:endParaRPr lang="en-US" sz="2400" dirty="0"/>
          </a:p>
        </p:txBody>
      </p:sp>
      <p:sp>
        <p:nvSpPr>
          <p:cNvPr id="9" name="Shape 7"/>
          <p:cNvSpPr/>
          <p:nvPr/>
        </p:nvSpPr>
        <p:spPr>
          <a:xfrm>
            <a:off x="6903720" y="2606040"/>
            <a:ext cx="502920" cy="411480"/>
          </a:xfrm>
          <a:prstGeom prst="rightArrow">
            <a:avLst/>
          </a:prstGeom>
          <a:solidFill>
            <a:srgbClr val="F08A24"/>
          </a:solidFill>
          <a:ln w="12700">
            <a:solidFill>
              <a:srgbClr val="F08A24"/>
            </a:solidFill>
            <a:prstDash val="solid"/>
          </a:ln>
        </p:spPr>
      </p:sp>
      <p:sp>
        <p:nvSpPr>
          <p:cNvPr id="10" name="Text 8"/>
          <p:cNvSpPr txBox="1"/>
          <p:nvPr/>
        </p:nvSpPr>
        <p:spPr>
          <a:xfrm>
            <a:off x="7589520" y="1600200"/>
            <a:ext cx="1325880" cy="502920"/>
          </a:xfrm>
          <a:prstGeom prst="rect">
            <a:avLst/>
          </a:prstGeom>
          <a:noFill/>
          <a:ln/>
        </p:spPr>
        <p:txBody>
          <a:bodyPr wrap="square" lIns="0" tIns="0" rIns="0" bIns="0" rtlCol="0" anchor="ctr"/>
          <a:lstStyle/>
          <a:p>
            <a:pPr indent="0" marL="0">
              <a:buNone/>
            </a:pPr>
            <a:r>
              <a:rPr lang="en-US" sz="1700" dirty="0">
                <a:solidFill>
                  <a:srgbClr val="5B6B7F"/>
                </a:solidFill>
                <a:latin typeface="Calibri" pitchFamily="34" charset="0"/>
                <a:ea typeface="Calibri" pitchFamily="34" charset="-122"/>
                <a:cs typeface="Calibri" pitchFamily="34" charset="-120"/>
              </a:rPr>
              <a:t>output 0</a:t>
            </a:r>
            <a:endParaRPr lang="en-US" sz="1700" dirty="0"/>
          </a:p>
        </p:txBody>
      </p:sp>
      <p:sp>
        <p:nvSpPr>
          <p:cNvPr id="11" name="Text 9"/>
          <p:cNvSpPr txBox="1"/>
          <p:nvPr/>
        </p:nvSpPr>
        <p:spPr>
          <a:xfrm>
            <a:off x="8961120" y="1600200"/>
            <a:ext cx="1188720" cy="502920"/>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BPSK</a:t>
            </a:r>
            <a:endParaRPr lang="en-US" sz="1900" dirty="0"/>
          </a:p>
        </p:txBody>
      </p:sp>
      <p:sp>
        <p:nvSpPr>
          <p:cNvPr id="12" name="Shape 10"/>
          <p:cNvSpPr/>
          <p:nvPr/>
        </p:nvSpPr>
        <p:spPr>
          <a:xfrm>
            <a:off x="10195560" y="1709928"/>
            <a:ext cx="265176" cy="292608"/>
          </a:xfrm>
          <a:prstGeom prst="rect">
            <a:avLst/>
          </a:prstGeom>
          <a:solidFill>
            <a:srgbClr val="B8C4D2"/>
          </a:solidFill>
          <a:ln w="12700">
            <a:solidFill>
              <a:srgbClr val="B8C4D2"/>
            </a:solidFill>
            <a:prstDash val="solid"/>
          </a:ln>
        </p:spPr>
      </p:sp>
      <p:sp>
        <p:nvSpPr>
          <p:cNvPr id="13" name="Text 11"/>
          <p:cNvSpPr txBox="1"/>
          <p:nvPr/>
        </p:nvSpPr>
        <p:spPr>
          <a:xfrm>
            <a:off x="7589520" y="2221992"/>
            <a:ext cx="1325880" cy="502920"/>
          </a:xfrm>
          <a:prstGeom prst="rect">
            <a:avLst/>
          </a:prstGeom>
          <a:noFill/>
          <a:ln/>
        </p:spPr>
        <p:txBody>
          <a:bodyPr wrap="square" lIns="0" tIns="0" rIns="0" bIns="0" rtlCol="0" anchor="ctr"/>
          <a:lstStyle/>
          <a:p>
            <a:pPr indent="0" marL="0">
              <a:buNone/>
            </a:pPr>
            <a:r>
              <a:rPr lang="en-US" sz="1700" dirty="0">
                <a:solidFill>
                  <a:srgbClr val="5B6B7F"/>
                </a:solidFill>
                <a:latin typeface="Calibri" pitchFamily="34" charset="0"/>
                <a:ea typeface="Calibri" pitchFamily="34" charset="-122"/>
                <a:cs typeface="Calibri" pitchFamily="34" charset="-120"/>
              </a:rPr>
              <a:t>output 1</a:t>
            </a:r>
            <a:endParaRPr lang="en-US" sz="1700" dirty="0"/>
          </a:p>
        </p:txBody>
      </p:sp>
      <p:sp>
        <p:nvSpPr>
          <p:cNvPr id="14" name="Text 12"/>
          <p:cNvSpPr txBox="1"/>
          <p:nvPr/>
        </p:nvSpPr>
        <p:spPr>
          <a:xfrm>
            <a:off x="8961120" y="2221992"/>
            <a:ext cx="1188720" cy="502920"/>
          </a:xfrm>
          <a:prstGeom prst="rect">
            <a:avLst/>
          </a:prstGeom>
          <a:noFill/>
          <a:ln/>
        </p:spPr>
        <p:txBody>
          <a:bodyPr wrap="square" lIns="0" tIns="0" rIns="0" bIns="0"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QPSK</a:t>
            </a:r>
            <a:endParaRPr lang="en-US" sz="1900" dirty="0"/>
          </a:p>
        </p:txBody>
      </p:sp>
      <p:sp>
        <p:nvSpPr>
          <p:cNvPr id="15" name="Shape 13"/>
          <p:cNvSpPr/>
          <p:nvPr/>
        </p:nvSpPr>
        <p:spPr>
          <a:xfrm>
            <a:off x="10195560" y="2331720"/>
            <a:ext cx="1391717" cy="292608"/>
          </a:xfrm>
          <a:prstGeom prst="rect">
            <a:avLst/>
          </a:prstGeom>
          <a:solidFill>
            <a:srgbClr val="F08A24"/>
          </a:solidFill>
          <a:ln w="12700">
            <a:solidFill>
              <a:srgbClr val="F08A24"/>
            </a:solidFill>
            <a:prstDash val="solid"/>
          </a:ln>
        </p:spPr>
      </p:sp>
      <p:sp>
        <p:nvSpPr>
          <p:cNvPr id="16" name="Text 14"/>
          <p:cNvSpPr txBox="1"/>
          <p:nvPr/>
        </p:nvSpPr>
        <p:spPr>
          <a:xfrm>
            <a:off x="7589520" y="2843784"/>
            <a:ext cx="1325880" cy="502920"/>
          </a:xfrm>
          <a:prstGeom prst="rect">
            <a:avLst/>
          </a:prstGeom>
          <a:noFill/>
          <a:ln/>
        </p:spPr>
        <p:txBody>
          <a:bodyPr wrap="square" lIns="0" tIns="0" rIns="0" bIns="0" rtlCol="0" anchor="ctr"/>
          <a:lstStyle/>
          <a:p>
            <a:pPr indent="0" marL="0">
              <a:buNone/>
            </a:pPr>
            <a:r>
              <a:rPr lang="en-US" sz="1700" dirty="0">
                <a:solidFill>
                  <a:srgbClr val="5B6B7F"/>
                </a:solidFill>
                <a:latin typeface="Calibri" pitchFamily="34" charset="0"/>
                <a:ea typeface="Calibri" pitchFamily="34" charset="-122"/>
                <a:cs typeface="Calibri" pitchFamily="34" charset="-120"/>
              </a:rPr>
              <a:t>output 2</a:t>
            </a:r>
            <a:endParaRPr lang="en-US" sz="1700" dirty="0"/>
          </a:p>
        </p:txBody>
      </p:sp>
      <p:sp>
        <p:nvSpPr>
          <p:cNvPr id="17" name="Text 15"/>
          <p:cNvSpPr txBox="1"/>
          <p:nvPr/>
        </p:nvSpPr>
        <p:spPr>
          <a:xfrm>
            <a:off x="8961120" y="2843784"/>
            <a:ext cx="1188720" cy="502920"/>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QAM16</a:t>
            </a:r>
            <a:endParaRPr lang="en-US" sz="1900" dirty="0"/>
          </a:p>
        </p:txBody>
      </p:sp>
      <p:sp>
        <p:nvSpPr>
          <p:cNvPr id="18" name="Shape 16"/>
          <p:cNvSpPr/>
          <p:nvPr/>
        </p:nvSpPr>
        <p:spPr>
          <a:xfrm>
            <a:off x="10195560" y="2953512"/>
            <a:ext cx="484632" cy="292608"/>
          </a:xfrm>
          <a:prstGeom prst="rect">
            <a:avLst/>
          </a:prstGeom>
          <a:solidFill>
            <a:srgbClr val="B8C4D2"/>
          </a:solidFill>
          <a:ln w="12700">
            <a:solidFill>
              <a:srgbClr val="B8C4D2"/>
            </a:solidFill>
            <a:prstDash val="solid"/>
          </a:ln>
        </p:spPr>
      </p:sp>
      <p:sp>
        <p:nvSpPr>
          <p:cNvPr id="19" name="Text 17"/>
          <p:cNvSpPr txBox="1"/>
          <p:nvPr/>
        </p:nvSpPr>
        <p:spPr>
          <a:xfrm>
            <a:off x="7589520" y="3465576"/>
            <a:ext cx="1325880" cy="502920"/>
          </a:xfrm>
          <a:prstGeom prst="rect">
            <a:avLst/>
          </a:prstGeom>
          <a:noFill/>
          <a:ln/>
        </p:spPr>
        <p:txBody>
          <a:bodyPr wrap="square" lIns="0" tIns="0" rIns="0" bIns="0" rtlCol="0" anchor="ctr"/>
          <a:lstStyle/>
          <a:p>
            <a:pPr indent="0" marL="0">
              <a:buNone/>
            </a:pPr>
            <a:r>
              <a:rPr lang="en-US" sz="1700" dirty="0">
                <a:solidFill>
                  <a:srgbClr val="5B6B7F"/>
                </a:solidFill>
                <a:latin typeface="Calibri" pitchFamily="34" charset="0"/>
                <a:ea typeface="Calibri" pitchFamily="34" charset="-122"/>
                <a:cs typeface="Calibri" pitchFamily="34" charset="-120"/>
              </a:rPr>
              <a:t>output 3</a:t>
            </a:r>
            <a:endParaRPr lang="en-US" sz="1700" dirty="0"/>
          </a:p>
        </p:txBody>
      </p:sp>
      <p:sp>
        <p:nvSpPr>
          <p:cNvPr id="20" name="Text 18"/>
          <p:cNvSpPr txBox="1"/>
          <p:nvPr/>
        </p:nvSpPr>
        <p:spPr>
          <a:xfrm>
            <a:off x="8961120" y="3465576"/>
            <a:ext cx="1188720" cy="502920"/>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QAM64</a:t>
            </a:r>
            <a:endParaRPr lang="en-US" sz="1900" dirty="0"/>
          </a:p>
        </p:txBody>
      </p:sp>
      <p:sp>
        <p:nvSpPr>
          <p:cNvPr id="21" name="Shape 19"/>
          <p:cNvSpPr/>
          <p:nvPr/>
        </p:nvSpPr>
        <p:spPr>
          <a:xfrm>
            <a:off x="10195560" y="3575304"/>
            <a:ext cx="192024" cy="292608"/>
          </a:xfrm>
          <a:prstGeom prst="rect">
            <a:avLst/>
          </a:prstGeom>
          <a:solidFill>
            <a:srgbClr val="B8C4D2"/>
          </a:solidFill>
          <a:ln w="12700">
            <a:solidFill>
              <a:srgbClr val="B8C4D2"/>
            </a:solidFill>
            <a:prstDash val="solid"/>
          </a:ln>
        </p:spPr>
      </p:sp>
      <p:sp>
        <p:nvSpPr>
          <p:cNvPr id="22" name="Text 20"/>
          <p:cNvSpPr txBox="1"/>
          <p:nvPr/>
        </p:nvSpPr>
        <p:spPr>
          <a:xfrm>
            <a:off x="7589520" y="4160520"/>
            <a:ext cx="4114800" cy="457200"/>
          </a:xfrm>
          <a:prstGeom prst="rect">
            <a:avLst/>
          </a:prstGeom>
          <a:noFill/>
          <a:ln/>
        </p:spPr>
        <p:txBody>
          <a:bodyPr wrap="square" lIns="0" tIns="0" rIns="0" bIns="0" rtlCol="0" anchor="t"/>
          <a:lstStyle/>
          <a:p>
            <a:pPr indent="0" marL="0">
              <a:buNone/>
            </a:pPr>
            <a:r>
              <a:rPr lang="en-US" sz="1900" b="1" dirty="0">
                <a:solidFill>
                  <a:srgbClr val="F08A24"/>
                </a:solidFill>
                <a:latin typeface="Calibri" pitchFamily="34" charset="0"/>
                <a:ea typeface="Calibri" pitchFamily="34" charset="-122"/>
                <a:cs typeface="Calibri" pitchFamily="34" charset="-120"/>
              </a:rPr>
              <a:t>largest score wins → QPSK</a:t>
            </a:r>
            <a:endParaRPr lang="en-US" sz="1900" dirty="0"/>
          </a:p>
        </p:txBody>
      </p:sp>
      <p:sp>
        <p:nvSpPr>
          <p:cNvPr id="23" name="Text 21"/>
          <p:cNvSpPr txBox="1"/>
          <p:nvPr/>
        </p:nvSpPr>
        <p:spPr>
          <a:xfrm>
            <a:off x="548640" y="512064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No separate piece per modulation: a modulation is only an output number.</a:t>
            </a:r>
            <a:endParaRPr lang="en-US" sz="2400" dirty="0"/>
          </a:p>
        </p:txBody>
      </p:sp>
      <p:sp>
        <p:nvSpPr>
          <p:cNvPr id="25" name="Text 22"/>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QUESTION 3</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Why the mistakes stayed among the four</a:t>
            </a:r>
            <a:endParaRPr lang="en-US" sz="3400" dirty="0"/>
          </a:p>
        </p:txBody>
      </p:sp>
      <p:sp>
        <p:nvSpPr>
          <p:cNvPr id="4" name="Shape 2"/>
          <p:cNvSpPr/>
          <p:nvPr/>
        </p:nvSpPr>
        <p:spPr>
          <a:xfrm>
            <a:off x="548640" y="1508760"/>
            <a:ext cx="5394960" cy="3520440"/>
          </a:xfrm>
          <a:prstGeom prst="roundRect">
            <a:avLst>
              <a:gd name="adj" fmla="val 3117"/>
            </a:avLst>
          </a:prstGeom>
          <a:solidFill>
            <a:srgbClr val="EEF2F6"/>
          </a:solidFill>
          <a:ln w="12700">
            <a:solidFill>
              <a:srgbClr val="EEF2F6"/>
            </a:solidFill>
            <a:prstDash val="solid"/>
          </a:ln>
        </p:spPr>
      </p:sp>
      <p:sp>
        <p:nvSpPr>
          <p:cNvPr id="5" name="Shape 3"/>
          <p:cNvSpPr/>
          <p:nvPr/>
        </p:nvSpPr>
        <p:spPr>
          <a:xfrm>
            <a:off x="822960" y="1737360"/>
            <a:ext cx="640080" cy="640080"/>
          </a:xfrm>
          <a:prstGeom prst="ellipse">
            <a:avLst/>
          </a:prstGeom>
          <a:solidFill>
            <a:srgbClr val="F08A24"/>
          </a:solidFill>
          <a:ln w="12700">
            <a:solidFill>
              <a:srgbClr val="F08A24"/>
            </a:solidFill>
            <a:prstDash val="solid"/>
          </a:ln>
        </p:spPr>
      </p:sp>
      <p:sp>
        <p:nvSpPr>
          <p:cNvPr id="6" name="Text 4"/>
          <p:cNvSpPr txBox="1"/>
          <p:nvPr/>
        </p:nvSpPr>
        <p:spPr>
          <a:xfrm>
            <a:off x="822960" y="1737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a:t>
            </a:r>
            <a:endParaRPr lang="en-US" sz="2200" dirty="0"/>
          </a:p>
        </p:txBody>
      </p:sp>
      <p:sp>
        <p:nvSpPr>
          <p:cNvPr id="7" name="Text 5"/>
          <p:cNvSpPr txBox="1"/>
          <p:nvPr/>
        </p:nvSpPr>
        <p:spPr>
          <a:xfrm>
            <a:off x="1645920" y="1691640"/>
            <a:ext cx="4023360" cy="77724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Train a network on the four only</a:t>
            </a:r>
            <a:endParaRPr lang="en-US" sz="2200" dirty="0"/>
          </a:p>
        </p:txBody>
      </p:sp>
      <p:sp>
        <p:nvSpPr>
          <p:cNvPr id="8" name="Text 6"/>
          <p:cNvSpPr txBox="1"/>
          <p:nvPr/>
        </p:nvSpPr>
        <p:spPr>
          <a:xfrm>
            <a:off x="822960" y="2697480"/>
            <a:ext cx="4846320" cy="822960"/>
          </a:xfrm>
          <a:prstGeom prst="rect">
            <a:avLst/>
          </a:prstGeom>
          <a:noFill/>
          <a:ln/>
        </p:spPr>
        <p:txBody>
          <a:bodyPr wrap="square" lIns="0" tIns="0" rIns="0" bIns="0" rtlCol="0" anchor="t"/>
          <a:lstStyle/>
          <a:p>
            <a:pPr indent="0" marL="0">
              <a:buNone/>
            </a:pPr>
            <a:r>
              <a:rPr lang="en-US" sz="4400" b="1" dirty="0">
                <a:solidFill>
                  <a:srgbClr val="F08A24"/>
                </a:solidFill>
                <a:latin typeface="Calibri" pitchFamily="34" charset="0"/>
                <a:ea typeface="Calibri" pitchFamily="34" charset="-122"/>
                <a:cs typeface="Calibri" pitchFamily="34" charset="-120"/>
              </a:rPr>
              <a:t>4 outputs</a:t>
            </a:r>
            <a:endParaRPr lang="en-US" sz="4400" dirty="0"/>
          </a:p>
        </p:txBody>
      </p:sp>
      <p:sp>
        <p:nvSpPr>
          <p:cNvPr id="9" name="Text 7"/>
          <p:cNvSpPr txBox="1"/>
          <p:nvPr/>
        </p:nvSpPr>
        <p:spPr>
          <a:xfrm>
            <a:off x="822960" y="3566160"/>
            <a:ext cx="4846320" cy="731520"/>
          </a:xfrm>
          <a:prstGeom prst="rect">
            <a:avLst/>
          </a:prstGeom>
          <a:noFill/>
          <a:ln/>
        </p:spPr>
        <p:txBody>
          <a:bodyPr wrap="square" lIns="0" tIns="0" rIns="0" bIns="0" rtlCol="0" anchor="t"/>
          <a:lstStyle/>
          <a:p>
            <a:pPr indent="0" marL="0">
              <a:buNone/>
            </a:pPr>
            <a:r>
              <a:rPr lang="en-US" sz="2000" dirty="0">
                <a:solidFill>
                  <a:srgbClr val="5B6B7F"/>
                </a:solidFill>
                <a:latin typeface="Calibri" pitchFamily="34" charset="0"/>
                <a:ea typeface="Calibri" pitchFamily="34" charset="-122"/>
                <a:cs typeface="Calibri" pitchFamily="34" charset="-120"/>
              </a:rPr>
              <a:t>mistakes can only fall among the four</a:t>
            </a:r>
            <a:endParaRPr lang="en-US" sz="2000" dirty="0"/>
          </a:p>
        </p:txBody>
      </p:sp>
      <p:sp>
        <p:nvSpPr>
          <p:cNvPr id="10" name="Text 8"/>
          <p:cNvSpPr txBox="1"/>
          <p:nvPr/>
        </p:nvSpPr>
        <p:spPr>
          <a:xfrm>
            <a:off x="822960" y="4343400"/>
            <a:ext cx="4846320" cy="457200"/>
          </a:xfrm>
          <a:prstGeom prst="rect">
            <a:avLst/>
          </a:prstGeom>
          <a:noFill/>
          <a:ln/>
        </p:spPr>
        <p:txBody>
          <a:bodyPr wrap="square" lIns="0" tIns="0" rIns="0" bIns="0" rtlCol="0" anchor="t"/>
          <a:lstStyle/>
          <a:p>
            <a:pPr indent="0" marL="0">
              <a:buNone/>
            </a:pPr>
            <a:r>
              <a:rPr lang="en-US" sz="1800" b="1" spc="100" kern="0" dirty="0">
                <a:solidFill>
                  <a:srgbClr val="F08A24"/>
                </a:solidFill>
                <a:latin typeface="Calibri" pitchFamily="34" charset="0"/>
                <a:ea typeface="Calibri" pitchFamily="34" charset="-122"/>
                <a:cs typeface="Calibri" pitchFamily="34" charset="-120"/>
              </a:rPr>
              <a:t>what the table showed</a:t>
            </a:r>
            <a:endParaRPr lang="en-US" sz="1800" dirty="0"/>
          </a:p>
        </p:txBody>
      </p:sp>
      <p:sp>
        <p:nvSpPr>
          <p:cNvPr id="11" name="Shape 9"/>
          <p:cNvSpPr/>
          <p:nvPr/>
        </p:nvSpPr>
        <p:spPr>
          <a:xfrm>
            <a:off x="6172200" y="1508760"/>
            <a:ext cx="5394960" cy="3520440"/>
          </a:xfrm>
          <a:prstGeom prst="roundRect">
            <a:avLst>
              <a:gd name="adj" fmla="val 3117"/>
            </a:avLst>
          </a:prstGeom>
          <a:solidFill>
            <a:srgbClr val="EEF2F6"/>
          </a:solidFill>
          <a:ln w="12700">
            <a:solidFill>
              <a:srgbClr val="EEF2F6"/>
            </a:solidFill>
            <a:prstDash val="solid"/>
          </a:ln>
        </p:spPr>
      </p:sp>
      <p:sp>
        <p:nvSpPr>
          <p:cNvPr id="12" name="Shape 10"/>
          <p:cNvSpPr/>
          <p:nvPr/>
        </p:nvSpPr>
        <p:spPr>
          <a:xfrm>
            <a:off x="6446520" y="1737360"/>
            <a:ext cx="640080" cy="640080"/>
          </a:xfrm>
          <a:prstGeom prst="ellipse">
            <a:avLst/>
          </a:prstGeom>
          <a:solidFill>
            <a:srgbClr val="0F1B2D"/>
          </a:solidFill>
          <a:ln w="12700">
            <a:solidFill>
              <a:srgbClr val="0F1B2D"/>
            </a:solidFill>
            <a:prstDash val="solid"/>
          </a:ln>
        </p:spPr>
      </p:sp>
      <p:sp>
        <p:nvSpPr>
          <p:cNvPr id="13" name="Text 11"/>
          <p:cNvSpPr txBox="1"/>
          <p:nvPr/>
        </p:nvSpPr>
        <p:spPr>
          <a:xfrm>
            <a:off x="6446520" y="173736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a:t>
            </a:r>
            <a:endParaRPr lang="en-US" sz="2200" dirty="0"/>
          </a:p>
        </p:txBody>
      </p:sp>
      <p:sp>
        <p:nvSpPr>
          <p:cNvPr id="14" name="Text 12"/>
          <p:cNvSpPr txBox="1"/>
          <p:nvPr/>
        </p:nvSpPr>
        <p:spPr>
          <a:xfrm>
            <a:off x="7269480" y="1691640"/>
            <a:ext cx="4023360" cy="77724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Use the 11-signal network, feed it the four</a:t>
            </a:r>
            <a:endParaRPr lang="en-US" sz="2200" dirty="0"/>
          </a:p>
        </p:txBody>
      </p:sp>
      <p:sp>
        <p:nvSpPr>
          <p:cNvPr id="15" name="Text 13"/>
          <p:cNvSpPr txBox="1"/>
          <p:nvPr/>
        </p:nvSpPr>
        <p:spPr>
          <a:xfrm>
            <a:off x="6446520" y="2697480"/>
            <a:ext cx="4846320" cy="822960"/>
          </a:xfrm>
          <a:prstGeom prst="rect">
            <a:avLst/>
          </a:prstGeom>
          <a:noFill/>
          <a:ln/>
        </p:spPr>
        <p:txBody>
          <a:bodyPr wrap="square" lIns="0" tIns="0" rIns="0" bIns="0" rtlCol="0" anchor="t"/>
          <a:lstStyle/>
          <a:p>
            <a:pPr indent="0" marL="0">
              <a:buNone/>
            </a:pPr>
            <a:r>
              <a:rPr lang="en-US" sz="4400" b="1" dirty="0">
                <a:solidFill>
                  <a:srgbClr val="0F1B2D"/>
                </a:solidFill>
                <a:latin typeface="Calibri" pitchFamily="34" charset="0"/>
                <a:ea typeface="Calibri" pitchFamily="34" charset="-122"/>
                <a:cs typeface="Calibri" pitchFamily="34" charset="-120"/>
              </a:rPr>
              <a:t>11 outputs</a:t>
            </a:r>
            <a:endParaRPr lang="en-US" sz="4400" dirty="0"/>
          </a:p>
        </p:txBody>
      </p:sp>
      <p:sp>
        <p:nvSpPr>
          <p:cNvPr id="16" name="Text 14"/>
          <p:cNvSpPr txBox="1"/>
          <p:nvPr/>
        </p:nvSpPr>
        <p:spPr>
          <a:xfrm>
            <a:off x="6446520" y="3566160"/>
            <a:ext cx="4846320" cy="731520"/>
          </a:xfrm>
          <a:prstGeom prst="rect">
            <a:avLst/>
          </a:prstGeom>
          <a:noFill/>
          <a:ln/>
        </p:spPr>
        <p:txBody>
          <a:bodyPr wrap="square" lIns="0" tIns="0" rIns="0" bIns="0" rtlCol="0" anchor="t"/>
          <a:lstStyle/>
          <a:p>
            <a:pPr indent="0" marL="0">
              <a:buNone/>
            </a:pPr>
            <a:r>
              <a:rPr lang="en-US" sz="2000" dirty="0">
                <a:solidFill>
                  <a:srgbClr val="5B6B7F"/>
                </a:solidFill>
                <a:latin typeface="Calibri" pitchFamily="34" charset="0"/>
                <a:ea typeface="Calibri" pitchFamily="34" charset="-122"/>
                <a:cs typeface="Calibri" pitchFamily="34" charset="-120"/>
              </a:rPr>
              <a:t>mistakes can go to any of the eleven</a:t>
            </a:r>
            <a:endParaRPr lang="en-US" sz="2000" dirty="0"/>
          </a:p>
        </p:txBody>
      </p:sp>
      <p:sp>
        <p:nvSpPr>
          <p:cNvPr id="17" name="Text 15"/>
          <p:cNvSpPr txBox="1"/>
          <p:nvPr/>
        </p:nvSpPr>
        <p:spPr>
          <a:xfrm>
            <a:off x="6446520" y="4343400"/>
            <a:ext cx="4846320" cy="457200"/>
          </a:xfrm>
          <a:prstGeom prst="rect">
            <a:avLst/>
          </a:prstGeom>
          <a:noFill/>
          <a:ln/>
        </p:spPr>
        <p:txBody>
          <a:bodyPr wrap="square" lIns="0" tIns="0" rIns="0" bIns="0" rtlCol="0" anchor="t"/>
          <a:lstStyle/>
          <a:p>
            <a:pPr indent="0" marL="0">
              <a:buNone/>
            </a:pPr>
            <a:r>
              <a:rPr lang="en-US" sz="1800" b="1" spc="100" kern="0" dirty="0">
                <a:solidFill>
                  <a:srgbClr val="0F1B2D"/>
                </a:solidFill>
                <a:latin typeface="Calibri" pitchFamily="34" charset="0"/>
                <a:ea typeface="Calibri" pitchFamily="34" charset="-122"/>
                <a:cs typeface="Calibri" pitchFamily="34" charset="-120"/>
              </a:rPr>
              <a:t>next slide</a:t>
            </a:r>
            <a:endParaRPr lang="en-US" sz="1800" dirty="0"/>
          </a:p>
        </p:txBody>
      </p:sp>
      <p:sp>
        <p:nvSpPr>
          <p:cNvPr id="18" name="Text 16"/>
          <p:cNvSpPr txBox="1"/>
          <p:nvPr/>
        </p:nvSpPr>
        <p:spPr>
          <a:xfrm>
            <a:off x="548640" y="534924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The table was A: with 4 outputs it cannot answer anything else.</a:t>
            </a:r>
            <a:endParaRPr lang="en-US" sz="2400" dirty="0"/>
          </a:p>
        </p:txBody>
      </p:sp>
      <p:sp>
        <p:nvSpPr>
          <p:cNvPr id="20" name="Text 17"/>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QUESTION 3</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Approach B, from results we already had</a:t>
            </a:r>
            <a:endParaRPr lang="en-US" sz="3400" dirty="0"/>
          </a:p>
        </p:txBody>
      </p:sp>
      <p:sp>
        <p:nvSpPr>
          <p:cNvPr id="4" name="Text 2"/>
          <p:cNvSpPr txBox="1"/>
          <p:nvPr/>
        </p:nvSpPr>
        <p:spPr>
          <a:xfrm>
            <a:off x="548640" y="1234440"/>
            <a:ext cx="11091672" cy="457200"/>
          </a:xfrm>
          <a:prstGeom prst="rect">
            <a:avLst/>
          </a:prstGeom>
          <a:noFill/>
          <a:ln/>
        </p:spPr>
        <p:txBody>
          <a:bodyPr wrap="square" lIns="0" tIns="0" rIns="0" bIns="0" rtlCol="0" anchor="t"/>
          <a:lstStyle/>
          <a:p>
            <a:pPr indent="0" marL="0">
              <a:buNone/>
            </a:pPr>
            <a:r>
              <a:rPr lang="en-US" sz="1900" dirty="0">
                <a:solidFill>
                  <a:srgbClr val="5B6B7F"/>
                </a:solidFill>
                <a:latin typeface="Calibri" pitchFamily="34" charset="0"/>
                <a:ea typeface="Calibri" pitchFamily="34" charset="-122"/>
                <a:cs typeface="Calibri" pitchFamily="34" charset="-120"/>
              </a:rPr>
              <a:t>The 11-signal network at 10 dB: 450 test frames per signal (3 runs × 150). No new training.</a:t>
            </a:r>
            <a:endParaRPr lang="en-US" sz="1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1554480"/>
                <a:gridCol w="1234440"/>
                <a:gridCol w="1234440"/>
                <a:gridCol w="1234440"/>
                <a:gridCol w="1234440"/>
                <a:gridCol w="4599432"/>
              </a:tblGrid>
              <a:tr h="566928">
                <a:tc>
                  <a:txBody>
                    <a:bodyPr/>
                    <a:lstStyle/>
                    <a:p>
                      <a:pPr algn="ctr" indent="0" marL="0">
                        <a:buNone/>
                      </a:pPr>
                      <a:r>
                        <a:rPr lang="en-US" sz="1500" b="1" dirty="0">
                          <a:solidFill>
                            <a:srgbClr val="1E293B"/>
                          </a:solidFill>
                          <a:latin typeface="Calibri" pitchFamily="34" charset="0"/>
                          <a:ea typeface="Calibri" pitchFamily="34" charset="-122"/>
                          <a:cs typeface="Calibri" pitchFamily="34" charset="-120"/>
                        </a:rPr>
                        <a:t>sent \ said</a:t>
                      </a:r>
                      <a:endParaRPr lang="en-US" sz="15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algn="ctr" indent="0" marL="0">
                        <a:buNone/>
                      </a:pPr>
                      <a:r>
                        <a:rPr lang="en-US" sz="1800" b="1" dirty="0">
                          <a:solidFill>
                            <a:srgbClr val="1E293B"/>
                          </a:solidFill>
                          <a:latin typeface="Calibri" pitchFamily="34" charset="0"/>
                          <a:ea typeface="Calibri" pitchFamily="34" charset="-122"/>
                          <a:cs typeface="Calibri" pitchFamily="34" charset="-120"/>
                        </a:rPr>
                        <a:t>BPSK</a:t>
                      </a:r>
                      <a:endParaRPr lang="en-US" sz="18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algn="ctr" indent="0" marL="0">
                        <a:buNone/>
                      </a:pPr>
                      <a:r>
                        <a:rPr lang="en-US" sz="1800" b="1" dirty="0">
                          <a:solidFill>
                            <a:srgbClr val="1E293B"/>
                          </a:solidFill>
                          <a:latin typeface="Calibri" pitchFamily="34" charset="0"/>
                          <a:ea typeface="Calibri" pitchFamily="34" charset="-122"/>
                          <a:cs typeface="Calibri" pitchFamily="34" charset="-120"/>
                        </a:rPr>
                        <a:t>QPSK</a:t>
                      </a:r>
                      <a:endParaRPr lang="en-US" sz="18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algn="ctr" indent="0" marL="0">
                        <a:buNone/>
                      </a:pPr>
                      <a:r>
                        <a:rPr lang="en-US" sz="1800" b="1" dirty="0">
                          <a:solidFill>
                            <a:srgbClr val="1E293B"/>
                          </a:solidFill>
                          <a:latin typeface="Calibri" pitchFamily="34" charset="0"/>
                          <a:ea typeface="Calibri" pitchFamily="34" charset="-122"/>
                          <a:cs typeface="Calibri" pitchFamily="34" charset="-120"/>
                        </a:rPr>
                        <a:t>QAM16</a:t>
                      </a:r>
                      <a:endParaRPr lang="en-US" sz="18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algn="ctr" indent="0" marL="0">
                        <a:buNone/>
                      </a:pPr>
                      <a:r>
                        <a:rPr lang="en-US" sz="1800" b="1" dirty="0">
                          <a:solidFill>
                            <a:srgbClr val="1E293B"/>
                          </a:solidFill>
                          <a:latin typeface="Calibri" pitchFamily="34" charset="0"/>
                          <a:ea typeface="Calibri" pitchFamily="34" charset="-122"/>
                          <a:cs typeface="Calibri" pitchFamily="34" charset="-120"/>
                        </a:rPr>
                        <a:t>QAM64</a:t>
                      </a:r>
                      <a:endParaRPr lang="en-US" sz="18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algn="ctr" indent="0" marL="0">
                        <a:buNone/>
                      </a:pPr>
                      <a:r>
                        <a:rPr lang="en-US" sz="1800" b="1" dirty="0">
                          <a:solidFill>
                            <a:srgbClr val="F08A24"/>
                          </a:solidFill>
                          <a:latin typeface="Calibri" pitchFamily="34" charset="0"/>
                          <a:ea typeface="Calibri" pitchFamily="34" charset="-122"/>
                          <a:cs typeface="Calibri" pitchFamily="34" charset="-120"/>
                        </a:rPr>
                        <a:t>other 7</a:t>
                      </a:r>
                      <a:endParaRPr lang="en-US" sz="18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r>
              <a:tr h="566928">
                <a:tc>
                  <a:txBody>
                    <a:bodyPr/>
                    <a:lstStyle/>
                    <a:p>
                      <a:pPr indent="0" marL="0">
                        <a:buNone/>
                      </a:pPr>
                      <a:r>
                        <a:rPr lang="en-US" sz="1800" b="1" dirty="0">
                          <a:solidFill>
                            <a:srgbClr val="1E293B"/>
                          </a:solidFill>
                          <a:latin typeface="Calibri" pitchFamily="34" charset="0"/>
                          <a:ea typeface="Calibri" pitchFamily="34" charset="-122"/>
                          <a:cs typeface="Calibri" pitchFamily="34" charset="-120"/>
                        </a:rPr>
                        <a:t>BPSK</a:t>
                      </a:r>
                      <a:endParaRPr lang="en-US" sz="18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447</a:t>
                      </a:r>
                      <a:endParaRPr lang="en-US" sz="20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0F1B2D"/>
                    </a:solidFill>
                  </a:tcPr>
                </a:tc>
                <a:tc>
                  <a:txBody>
                    <a:bodyPr/>
                    <a:lstStyle/>
                    <a:p>
                      <a:pPr algn="ctr" indent="0" marL="0">
                        <a:buNone/>
                      </a:pPr>
                      <a:r>
                        <a:rPr lang="en-US" sz="2000" dirty="0">
                          <a:solidFill>
                            <a:srgbClr val="8A99A8"/>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8A99A8"/>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8A99A8"/>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F08A24"/>
                          </a:solidFill>
                          <a:latin typeface="Calibri" pitchFamily="34" charset="0"/>
                          <a:ea typeface="Calibri" pitchFamily="34" charset="-122"/>
                          <a:cs typeface="Calibri" pitchFamily="34" charset="-120"/>
                        </a:rPr>
                        <a:t>3  (AM-SSB 2, GFSK 1)</a:t>
                      </a:r>
                      <a:endParaRPr lang="en-US" sz="15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66928">
                <a:tc>
                  <a:txBody>
                    <a:bodyPr/>
                    <a:lstStyle/>
                    <a:p>
                      <a:pPr indent="0" marL="0">
                        <a:buNone/>
                      </a:pPr>
                      <a:r>
                        <a:rPr lang="en-US" sz="1800" b="1" dirty="0">
                          <a:solidFill>
                            <a:srgbClr val="1E293B"/>
                          </a:solidFill>
                          <a:latin typeface="Calibri" pitchFamily="34" charset="0"/>
                          <a:ea typeface="Calibri" pitchFamily="34" charset="-122"/>
                          <a:cs typeface="Calibri" pitchFamily="34" charset="-120"/>
                        </a:rPr>
                        <a:t>QPSK</a:t>
                      </a:r>
                      <a:endParaRPr lang="en-US" sz="18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000" dirty="0">
                          <a:solidFill>
                            <a:srgbClr val="8A99A8"/>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446</a:t>
                      </a:r>
                      <a:endParaRPr lang="en-US" sz="20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0F1B2D"/>
                    </a:solidFill>
                  </a:tcPr>
                </a:tc>
                <a:tc>
                  <a:txBody>
                    <a:bodyPr/>
                    <a:lstStyle/>
                    <a:p>
                      <a:pPr algn="ctr" indent="0" marL="0">
                        <a:buNone/>
                      </a:pPr>
                      <a:r>
                        <a:rPr lang="en-US" sz="2000" dirty="0">
                          <a:solidFill>
                            <a:srgbClr val="8A99A8"/>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8A99A8"/>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F08A24"/>
                          </a:solidFill>
                          <a:latin typeface="Calibri" pitchFamily="34" charset="0"/>
                          <a:ea typeface="Calibri" pitchFamily="34" charset="-122"/>
                          <a:cs typeface="Calibri" pitchFamily="34" charset="-120"/>
                        </a:rPr>
                        <a:t>4  (AM-SSB 4)</a:t>
                      </a:r>
                      <a:endParaRPr lang="en-US" sz="15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66928">
                <a:tc>
                  <a:txBody>
                    <a:bodyPr/>
                    <a:lstStyle/>
                    <a:p>
                      <a:pPr indent="0" marL="0">
                        <a:buNone/>
                      </a:pPr>
                      <a:r>
                        <a:rPr lang="en-US" sz="1800" b="1" dirty="0">
                          <a:solidFill>
                            <a:srgbClr val="1E293B"/>
                          </a:solidFill>
                          <a:latin typeface="Calibri" pitchFamily="34" charset="0"/>
                          <a:ea typeface="Calibri" pitchFamily="34" charset="-122"/>
                          <a:cs typeface="Calibri" pitchFamily="34" charset="-120"/>
                        </a:rPr>
                        <a:t>QAM16</a:t>
                      </a:r>
                      <a:endParaRPr lang="en-US" sz="18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000" dirty="0">
                          <a:solidFill>
                            <a:srgbClr val="8A99A8"/>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8A99A8"/>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414</a:t>
                      </a:r>
                      <a:endParaRPr lang="en-US" sz="20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0F1B2D"/>
                    </a:solidFill>
                  </a:tcPr>
                </a:tc>
                <a:tc>
                  <a:txBody>
                    <a:bodyPr/>
                    <a:lstStyle/>
                    <a:p>
                      <a:pPr algn="ctr" indent="0" marL="0">
                        <a:buNone/>
                      </a:pPr>
                      <a:r>
                        <a:rPr lang="en-US" sz="2000" dirty="0">
                          <a:solidFill>
                            <a:srgbClr val="1E293B"/>
                          </a:solidFill>
                          <a:latin typeface="Calibri" pitchFamily="34" charset="0"/>
                          <a:ea typeface="Calibri" pitchFamily="34" charset="-122"/>
                          <a:cs typeface="Calibri" pitchFamily="34" charset="-120"/>
                        </a:rPr>
                        <a:t>30</a:t>
                      </a:r>
                      <a:endParaRPr lang="en-US" sz="20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CE3C8"/>
                    </a:solidFill>
                  </a:tcPr>
                </a:tc>
                <a:tc>
                  <a:txBody>
                    <a:bodyPr/>
                    <a:lstStyle/>
                    <a:p>
                      <a:pPr algn="l" indent="0" marL="0">
                        <a:buNone/>
                      </a:pPr>
                      <a:r>
                        <a:rPr lang="en-US" sz="1500" b="1" dirty="0">
                          <a:solidFill>
                            <a:srgbClr val="F08A24"/>
                          </a:solidFill>
                          <a:latin typeface="Calibri" pitchFamily="34" charset="0"/>
                          <a:ea typeface="Calibri" pitchFamily="34" charset="-122"/>
                          <a:cs typeface="Calibri" pitchFamily="34" charset="-120"/>
                        </a:rPr>
                        <a:t>4  (8PSK 3, AM-SSB 1)</a:t>
                      </a:r>
                      <a:endParaRPr lang="en-US" sz="15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66928">
                <a:tc>
                  <a:txBody>
                    <a:bodyPr/>
                    <a:lstStyle/>
                    <a:p>
                      <a:pPr indent="0" marL="0">
                        <a:buNone/>
                      </a:pPr>
                      <a:r>
                        <a:rPr lang="en-US" sz="1800" b="1" dirty="0">
                          <a:solidFill>
                            <a:srgbClr val="1E293B"/>
                          </a:solidFill>
                          <a:latin typeface="Calibri" pitchFamily="34" charset="0"/>
                          <a:ea typeface="Calibri" pitchFamily="34" charset="-122"/>
                          <a:cs typeface="Calibri" pitchFamily="34" charset="-120"/>
                        </a:rPr>
                        <a:t>QAM64</a:t>
                      </a:r>
                      <a:endParaRPr lang="en-US" sz="18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algn="ctr" indent="0" marL="0">
                        <a:buNone/>
                      </a:pPr>
                      <a:r>
                        <a:rPr lang="en-US" sz="2000" dirty="0">
                          <a:solidFill>
                            <a:srgbClr val="8A99A8"/>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8A99A8"/>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E293B"/>
                          </a:solidFill>
                          <a:latin typeface="Calibri" pitchFamily="34" charset="0"/>
                          <a:ea typeface="Calibri" pitchFamily="34" charset="-122"/>
                          <a:cs typeface="Calibri" pitchFamily="34" charset="-120"/>
                        </a:rPr>
                        <a:t>27</a:t>
                      </a:r>
                      <a:endParaRPr lang="en-US" sz="20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FCE3C8"/>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413</a:t>
                      </a:r>
                      <a:endParaRPr lang="en-US" sz="20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0F1B2D"/>
                    </a:solidFill>
                  </a:tcPr>
                </a:tc>
                <a:tc>
                  <a:txBody>
                    <a:bodyPr/>
                    <a:lstStyle/>
                    <a:p>
                      <a:pPr algn="l" indent="0" marL="0">
                        <a:buNone/>
                      </a:pPr>
                      <a:r>
                        <a:rPr lang="en-US" sz="1500" b="1" dirty="0">
                          <a:solidFill>
                            <a:srgbClr val="F08A24"/>
                          </a:solidFill>
                          <a:latin typeface="Calibri" pitchFamily="34" charset="0"/>
                          <a:ea typeface="Calibri" pitchFamily="34" charset="-122"/>
                          <a:cs typeface="Calibri" pitchFamily="34" charset="-120"/>
                        </a:rPr>
                        <a:t>10  (8PSK 2, AM-DSB 1, AM-SSB 6, GFSK 1)</a:t>
                      </a:r>
                      <a:endParaRPr lang="en-US" sz="15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bl>
          </a:graphicData>
        </a:graphic>
      </p:graphicFrame>
      <p:sp>
        <p:nvSpPr>
          <p:cNvPr id="6" name="Text 3"/>
          <p:cNvSpPr txBox="1"/>
          <p:nvPr/>
        </p:nvSpPr>
        <p:spPr>
          <a:xfrm>
            <a:off x="548640" y="512064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21 of its 80 mistakes leave the four, mostly to AM-SSB.</a:t>
            </a:r>
            <a:endParaRPr lang="en-US" sz="2400" dirty="0"/>
          </a:p>
        </p:txBody>
      </p:sp>
      <p:sp>
        <p:nvSpPr>
          <p:cNvPr id="8" name="Text 4"/>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QUESTION 4</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Training, step 1: the data</a:t>
            </a:r>
            <a:endParaRPr lang="en-US" sz="3400" dirty="0"/>
          </a:p>
        </p:txBody>
      </p:sp>
      <p:sp>
        <p:nvSpPr>
          <p:cNvPr id="4" name="Shape 2"/>
          <p:cNvSpPr/>
          <p:nvPr/>
        </p:nvSpPr>
        <p:spPr>
          <a:xfrm>
            <a:off x="548640" y="1508760"/>
            <a:ext cx="548640" cy="548640"/>
          </a:xfrm>
          <a:prstGeom prst="ellipse">
            <a:avLst/>
          </a:prstGeom>
          <a:solidFill>
            <a:srgbClr val="0F1B2D"/>
          </a:solidFill>
          <a:ln w="12700">
            <a:solidFill>
              <a:srgbClr val="0F1B2D"/>
            </a:solidFill>
            <a:prstDash val="solid"/>
          </a:ln>
        </p:spPr>
      </p:sp>
      <p:sp>
        <p:nvSpPr>
          <p:cNvPr id="5" name="Text 3"/>
          <p:cNvSpPr txBox="1"/>
          <p:nvPr/>
        </p:nvSpPr>
        <p:spPr>
          <a:xfrm>
            <a:off x="548640" y="15087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6" name="Text 4"/>
          <p:cNvSpPr txBox="1"/>
          <p:nvPr/>
        </p:nvSpPr>
        <p:spPr>
          <a:xfrm>
            <a:off x="1325880" y="1463040"/>
            <a:ext cx="2834640" cy="640080"/>
          </a:xfrm>
          <a:prstGeom prst="rect">
            <a:avLst/>
          </a:prstGeom>
          <a:noFill/>
          <a:ln/>
        </p:spPr>
        <p:txBody>
          <a:bodyPr wrap="square" lIns="0" tIns="0" rIns="0" bIns="0" rtlCol="0" anchor="ctr"/>
          <a:lstStyle/>
          <a:p>
            <a:pPr indent="0" marL="0">
              <a:buNone/>
            </a:pPr>
            <a:r>
              <a:rPr lang="en-US" sz="2300" b="1" dirty="0">
                <a:solidFill>
                  <a:srgbClr val="1E293B"/>
                </a:solidFill>
                <a:latin typeface="Calibri" pitchFamily="34" charset="0"/>
                <a:ea typeface="Calibri" pitchFamily="34" charset="-122"/>
                <a:cs typeface="Calibri" pitchFamily="34" charset="-120"/>
              </a:rPr>
              <a:t>Read the file</a:t>
            </a:r>
            <a:endParaRPr lang="en-US" sz="2300" dirty="0"/>
          </a:p>
        </p:txBody>
      </p:sp>
      <p:sp>
        <p:nvSpPr>
          <p:cNvPr id="7" name="Text 5"/>
          <p:cNvSpPr txBox="1"/>
          <p:nvPr/>
        </p:nvSpPr>
        <p:spPr>
          <a:xfrm>
            <a:off x="4206240" y="1463040"/>
            <a:ext cx="7498080" cy="640080"/>
          </a:xfrm>
          <a:prstGeom prst="rect">
            <a:avLst/>
          </a:prstGeom>
          <a:noFill/>
          <a:ln/>
        </p:spPr>
        <p:txBody>
          <a:bodyPr wrap="square" lIns="0" tIns="0" rIns="0" bIns="0" rtlCol="0" anchor="ctr"/>
          <a:lstStyle/>
          <a:p>
            <a:pPr indent="0" marL="0">
              <a:buNone/>
            </a:pPr>
            <a:r>
              <a:rPr lang="en-US" sz="2200" dirty="0">
                <a:solidFill>
                  <a:srgbClr val="5B6B7F"/>
                </a:solidFill>
                <a:latin typeface="Calibri" pitchFamily="34" charset="0"/>
                <a:ea typeface="Calibri" pitchFamily="34" charset="-122"/>
                <a:cs typeface="Calibri" pitchFamily="34" charset="-120"/>
              </a:rPr>
              <a:t>4 signals × 20 levels × 1,000 = 80,000 frames</a:t>
            </a:r>
            <a:endParaRPr lang="en-US" sz="2200" dirty="0"/>
          </a:p>
        </p:txBody>
      </p:sp>
      <p:sp>
        <p:nvSpPr>
          <p:cNvPr id="8" name="Shape 6"/>
          <p:cNvSpPr/>
          <p:nvPr/>
        </p:nvSpPr>
        <p:spPr>
          <a:xfrm>
            <a:off x="548640" y="2377440"/>
            <a:ext cx="548640" cy="548640"/>
          </a:xfrm>
          <a:prstGeom prst="ellipse">
            <a:avLst/>
          </a:prstGeom>
          <a:solidFill>
            <a:srgbClr val="0F1B2D"/>
          </a:solidFill>
          <a:ln w="12700">
            <a:solidFill>
              <a:srgbClr val="0F1B2D"/>
            </a:solidFill>
            <a:prstDash val="solid"/>
          </a:ln>
        </p:spPr>
      </p:sp>
      <p:sp>
        <p:nvSpPr>
          <p:cNvPr id="9" name="Text 7"/>
          <p:cNvSpPr txBox="1"/>
          <p:nvPr/>
        </p:nvSpPr>
        <p:spPr>
          <a:xfrm>
            <a:off x="548640" y="23774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0" name="Text 8"/>
          <p:cNvSpPr txBox="1"/>
          <p:nvPr/>
        </p:nvSpPr>
        <p:spPr>
          <a:xfrm>
            <a:off x="1325880" y="2331720"/>
            <a:ext cx="2834640" cy="640080"/>
          </a:xfrm>
          <a:prstGeom prst="rect">
            <a:avLst/>
          </a:prstGeom>
          <a:noFill/>
          <a:ln/>
        </p:spPr>
        <p:txBody>
          <a:bodyPr wrap="square" lIns="0" tIns="0" rIns="0" bIns="0" rtlCol="0" anchor="ctr"/>
          <a:lstStyle/>
          <a:p>
            <a:pPr indent="0" marL="0">
              <a:buNone/>
            </a:pPr>
            <a:r>
              <a:rPr lang="en-US" sz="2300" b="1" dirty="0">
                <a:solidFill>
                  <a:srgbClr val="1E293B"/>
                </a:solidFill>
                <a:latin typeface="Calibri" pitchFamily="34" charset="0"/>
                <a:ea typeface="Calibri" pitchFamily="34" charset="-122"/>
                <a:cs typeface="Calibri" pitchFamily="34" charset="-120"/>
              </a:rPr>
              <a:t>Scale</a:t>
            </a:r>
            <a:endParaRPr lang="en-US" sz="2300" dirty="0"/>
          </a:p>
        </p:txBody>
      </p:sp>
      <p:sp>
        <p:nvSpPr>
          <p:cNvPr id="11" name="Text 9"/>
          <p:cNvSpPr txBox="1"/>
          <p:nvPr/>
        </p:nvSpPr>
        <p:spPr>
          <a:xfrm>
            <a:off x="4206240" y="2331720"/>
            <a:ext cx="7498080" cy="640080"/>
          </a:xfrm>
          <a:prstGeom prst="rect">
            <a:avLst/>
          </a:prstGeom>
          <a:noFill/>
          <a:ln/>
        </p:spPr>
        <p:txBody>
          <a:bodyPr wrap="square" lIns="0" tIns="0" rIns="0" bIns="0" rtlCol="0" anchor="ctr"/>
          <a:lstStyle/>
          <a:p>
            <a:pPr indent="0" marL="0">
              <a:buNone/>
            </a:pPr>
            <a:r>
              <a:rPr lang="en-US" sz="2200" dirty="0">
                <a:solidFill>
                  <a:srgbClr val="5B6B7F"/>
                </a:solidFill>
                <a:latin typeface="Calibri" pitchFamily="34" charset="0"/>
                <a:ea typeface="Calibri" pitchFamily="34" charset="-122"/>
                <a:cs typeface="Calibri" pitchFamily="34" charset="-120"/>
              </a:rPr>
              <a:t>every frame to the same power</a:t>
            </a:r>
            <a:endParaRPr lang="en-US" sz="2200" dirty="0"/>
          </a:p>
        </p:txBody>
      </p:sp>
      <p:sp>
        <p:nvSpPr>
          <p:cNvPr id="12" name="Shape 10"/>
          <p:cNvSpPr/>
          <p:nvPr/>
        </p:nvSpPr>
        <p:spPr>
          <a:xfrm>
            <a:off x="548640" y="3246120"/>
            <a:ext cx="548640" cy="548640"/>
          </a:xfrm>
          <a:prstGeom prst="ellipse">
            <a:avLst/>
          </a:prstGeom>
          <a:solidFill>
            <a:srgbClr val="0F1B2D"/>
          </a:solidFill>
          <a:ln w="12700">
            <a:solidFill>
              <a:srgbClr val="0F1B2D"/>
            </a:solidFill>
            <a:prstDash val="solid"/>
          </a:ln>
        </p:spPr>
      </p:sp>
      <p:sp>
        <p:nvSpPr>
          <p:cNvPr id="13" name="Text 11"/>
          <p:cNvSpPr txBox="1"/>
          <p:nvPr/>
        </p:nvSpPr>
        <p:spPr>
          <a:xfrm>
            <a:off x="548640" y="32461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4" name="Text 12"/>
          <p:cNvSpPr txBox="1"/>
          <p:nvPr/>
        </p:nvSpPr>
        <p:spPr>
          <a:xfrm>
            <a:off x="1325880" y="3200400"/>
            <a:ext cx="2834640" cy="640080"/>
          </a:xfrm>
          <a:prstGeom prst="rect">
            <a:avLst/>
          </a:prstGeom>
          <a:noFill/>
          <a:ln/>
        </p:spPr>
        <p:txBody>
          <a:bodyPr wrap="square" lIns="0" tIns="0" rIns="0" bIns="0" rtlCol="0" anchor="ctr"/>
          <a:lstStyle/>
          <a:p>
            <a:pPr indent="0" marL="0">
              <a:buNone/>
            </a:pPr>
            <a:r>
              <a:rPr lang="en-US" sz="2300" b="1" dirty="0">
                <a:solidFill>
                  <a:srgbClr val="1E293B"/>
                </a:solidFill>
                <a:latin typeface="Calibri" pitchFamily="34" charset="0"/>
                <a:ea typeface="Calibri" pitchFamily="34" charset="-122"/>
                <a:cs typeface="Calibri" pitchFamily="34" charset="-120"/>
              </a:rPr>
              <a:t>Label</a:t>
            </a:r>
            <a:endParaRPr lang="en-US" sz="2300" dirty="0"/>
          </a:p>
        </p:txBody>
      </p:sp>
      <p:sp>
        <p:nvSpPr>
          <p:cNvPr id="15" name="Text 13"/>
          <p:cNvSpPr txBox="1"/>
          <p:nvPr/>
        </p:nvSpPr>
        <p:spPr>
          <a:xfrm>
            <a:off x="4206240" y="3200400"/>
            <a:ext cx="7498080" cy="640080"/>
          </a:xfrm>
          <a:prstGeom prst="rect">
            <a:avLst/>
          </a:prstGeom>
          <a:noFill/>
          <a:ln/>
        </p:spPr>
        <p:txBody>
          <a:bodyPr wrap="square" lIns="0" tIns="0" rIns="0" bIns="0" rtlCol="0" anchor="ctr"/>
          <a:lstStyle/>
          <a:p>
            <a:pPr indent="0" marL="0">
              <a:buNone/>
            </a:pPr>
            <a:r>
              <a:rPr lang="en-US" sz="2200" dirty="0">
                <a:solidFill>
                  <a:srgbClr val="5B6B7F"/>
                </a:solidFill>
                <a:latin typeface="Calibri" pitchFamily="34" charset="0"/>
                <a:ea typeface="Calibri" pitchFamily="34" charset="-122"/>
                <a:cs typeface="Calibri" pitchFamily="34" charset="-120"/>
              </a:rPr>
              <a:t>BPSK 0, QPSK 1, QAM16 2, QAM64 3</a:t>
            </a:r>
            <a:endParaRPr lang="en-US" sz="2200" dirty="0"/>
          </a:p>
        </p:txBody>
      </p:sp>
      <p:sp>
        <p:nvSpPr>
          <p:cNvPr id="16" name="Shape 14"/>
          <p:cNvSpPr/>
          <p:nvPr/>
        </p:nvSpPr>
        <p:spPr>
          <a:xfrm>
            <a:off x="548640" y="4114800"/>
            <a:ext cx="548640" cy="548640"/>
          </a:xfrm>
          <a:prstGeom prst="ellipse">
            <a:avLst/>
          </a:prstGeom>
          <a:solidFill>
            <a:srgbClr val="0F1B2D"/>
          </a:solidFill>
          <a:ln w="12700">
            <a:solidFill>
              <a:srgbClr val="0F1B2D"/>
            </a:solidFill>
            <a:prstDash val="solid"/>
          </a:ln>
        </p:spPr>
      </p:sp>
      <p:sp>
        <p:nvSpPr>
          <p:cNvPr id="17" name="Text 15"/>
          <p:cNvSpPr txBox="1"/>
          <p:nvPr/>
        </p:nvSpPr>
        <p:spPr>
          <a:xfrm>
            <a:off x="548640" y="41148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8" name="Text 16"/>
          <p:cNvSpPr txBox="1"/>
          <p:nvPr/>
        </p:nvSpPr>
        <p:spPr>
          <a:xfrm>
            <a:off x="1325880" y="4069080"/>
            <a:ext cx="2834640" cy="640080"/>
          </a:xfrm>
          <a:prstGeom prst="rect">
            <a:avLst/>
          </a:prstGeom>
          <a:noFill/>
          <a:ln/>
        </p:spPr>
        <p:txBody>
          <a:bodyPr wrap="square" lIns="0" tIns="0" rIns="0" bIns="0" rtlCol="0" anchor="ctr"/>
          <a:lstStyle/>
          <a:p>
            <a:pPr indent="0" marL="0">
              <a:buNone/>
            </a:pPr>
            <a:r>
              <a:rPr lang="en-US" sz="2300" b="1" dirty="0">
                <a:solidFill>
                  <a:srgbClr val="1E293B"/>
                </a:solidFill>
                <a:latin typeface="Calibri" pitchFamily="34" charset="0"/>
                <a:ea typeface="Calibri" pitchFamily="34" charset="-122"/>
                <a:cs typeface="Calibri" pitchFamily="34" charset="-120"/>
              </a:rPr>
              <a:t>Split every cell</a:t>
            </a:r>
            <a:endParaRPr lang="en-US" sz="2300" dirty="0"/>
          </a:p>
        </p:txBody>
      </p:sp>
      <p:sp>
        <p:nvSpPr>
          <p:cNvPr id="19" name="Text 17"/>
          <p:cNvSpPr txBox="1"/>
          <p:nvPr/>
        </p:nvSpPr>
        <p:spPr>
          <a:xfrm>
            <a:off x="4206240" y="4069080"/>
            <a:ext cx="7498080" cy="640080"/>
          </a:xfrm>
          <a:prstGeom prst="rect">
            <a:avLst/>
          </a:prstGeom>
          <a:noFill/>
          <a:ln/>
        </p:spPr>
        <p:txBody>
          <a:bodyPr wrap="square" lIns="0" tIns="0" rIns="0" bIns="0" rtlCol="0" anchor="ctr"/>
          <a:lstStyle/>
          <a:p>
            <a:pPr indent="0" marL="0">
              <a:buNone/>
            </a:pPr>
            <a:r>
              <a:rPr lang="en-US" sz="2200" dirty="0">
                <a:solidFill>
                  <a:srgbClr val="5B6B7F"/>
                </a:solidFill>
                <a:latin typeface="Calibri" pitchFamily="34" charset="0"/>
                <a:ea typeface="Calibri" pitchFamily="34" charset="-122"/>
                <a:cs typeface="Calibri" pitchFamily="34" charset="-120"/>
              </a:rPr>
              <a:t>700 learn · 150 stop · 150 test</a:t>
            </a:r>
            <a:endParaRPr lang="en-US" sz="2200" dirty="0"/>
          </a:p>
        </p:txBody>
      </p:sp>
      <p:sp>
        <p:nvSpPr>
          <p:cNvPr id="20" name="Shape 18"/>
          <p:cNvSpPr/>
          <p:nvPr/>
        </p:nvSpPr>
        <p:spPr>
          <a:xfrm>
            <a:off x="548640" y="5029200"/>
            <a:ext cx="7727594" cy="548640"/>
          </a:xfrm>
          <a:prstGeom prst="rect">
            <a:avLst/>
          </a:prstGeom>
          <a:solidFill>
            <a:srgbClr val="0F1B2D"/>
          </a:solidFill>
          <a:ln w="12700">
            <a:solidFill>
              <a:srgbClr val="0F1B2D"/>
            </a:solidFill>
            <a:prstDash val="solid"/>
          </a:ln>
        </p:spPr>
      </p:sp>
      <p:sp>
        <p:nvSpPr>
          <p:cNvPr id="21" name="Text 19"/>
          <p:cNvSpPr txBox="1"/>
          <p:nvPr/>
        </p:nvSpPr>
        <p:spPr>
          <a:xfrm>
            <a:off x="548640" y="5029200"/>
            <a:ext cx="7727594"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learn  56,000</a:t>
            </a:r>
            <a:endParaRPr lang="en-US" sz="1800" dirty="0"/>
          </a:p>
        </p:txBody>
      </p:sp>
      <p:sp>
        <p:nvSpPr>
          <p:cNvPr id="22" name="Shape 20"/>
          <p:cNvSpPr/>
          <p:nvPr/>
        </p:nvSpPr>
        <p:spPr>
          <a:xfrm>
            <a:off x="8312810" y="5029200"/>
            <a:ext cx="1627175" cy="548640"/>
          </a:xfrm>
          <a:prstGeom prst="rect">
            <a:avLst/>
          </a:prstGeom>
          <a:solidFill>
            <a:srgbClr val="8FA0B5"/>
          </a:solidFill>
          <a:ln w="12700">
            <a:solidFill>
              <a:srgbClr val="8FA0B5"/>
            </a:solidFill>
            <a:prstDash val="solid"/>
          </a:ln>
        </p:spPr>
      </p:sp>
      <p:sp>
        <p:nvSpPr>
          <p:cNvPr id="23" name="Text 21"/>
          <p:cNvSpPr txBox="1"/>
          <p:nvPr/>
        </p:nvSpPr>
        <p:spPr>
          <a:xfrm>
            <a:off x="8312810" y="5029200"/>
            <a:ext cx="1627175"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stop  12,000</a:t>
            </a:r>
            <a:endParaRPr lang="en-US" sz="1800" dirty="0"/>
          </a:p>
        </p:txBody>
      </p:sp>
      <p:sp>
        <p:nvSpPr>
          <p:cNvPr id="24" name="Shape 22"/>
          <p:cNvSpPr/>
          <p:nvPr/>
        </p:nvSpPr>
        <p:spPr>
          <a:xfrm>
            <a:off x="9976561" y="5029200"/>
            <a:ext cx="1627175" cy="548640"/>
          </a:xfrm>
          <a:prstGeom prst="rect">
            <a:avLst/>
          </a:prstGeom>
          <a:solidFill>
            <a:srgbClr val="F08A24"/>
          </a:solidFill>
          <a:ln w="12700">
            <a:solidFill>
              <a:srgbClr val="F08A24"/>
            </a:solidFill>
            <a:prstDash val="solid"/>
          </a:ln>
        </p:spPr>
      </p:sp>
      <p:sp>
        <p:nvSpPr>
          <p:cNvPr id="25" name="Text 23"/>
          <p:cNvSpPr txBox="1"/>
          <p:nvPr/>
        </p:nvSpPr>
        <p:spPr>
          <a:xfrm>
            <a:off x="9976561" y="5029200"/>
            <a:ext cx="1627175"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test  12,000</a:t>
            </a:r>
            <a:endParaRPr lang="en-US" sz="1800" dirty="0"/>
          </a:p>
        </p:txBody>
      </p:sp>
      <p:sp>
        <p:nvSpPr>
          <p:cNvPr id="26" name="Text 24"/>
          <p:cNvSpPr txBox="1"/>
          <p:nvPr/>
        </p:nvSpPr>
        <p:spPr>
          <a:xfrm>
            <a:off x="548640" y="576072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The 12,000 test frames are never used for learning.</a:t>
            </a:r>
            <a:endParaRPr lang="en-US" sz="2400" dirty="0"/>
          </a:p>
        </p:txBody>
      </p:sp>
      <p:sp>
        <p:nvSpPr>
          <p:cNvPr id="28" name="Text 25"/>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QUESTION 4</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Training, step 2: the learning loop</a:t>
            </a:r>
            <a:endParaRPr lang="en-US" sz="3400" dirty="0"/>
          </a:p>
        </p:txBody>
      </p:sp>
      <p:sp>
        <p:nvSpPr>
          <p:cNvPr id="4" name="Shape 2"/>
          <p:cNvSpPr/>
          <p:nvPr/>
        </p:nvSpPr>
        <p:spPr>
          <a:xfrm>
            <a:off x="548640" y="1508760"/>
            <a:ext cx="2468880" cy="1828800"/>
          </a:xfrm>
          <a:prstGeom prst="roundRect">
            <a:avLst>
              <a:gd name="adj" fmla="val 6000"/>
            </a:avLst>
          </a:prstGeom>
          <a:solidFill>
            <a:srgbClr val="EEF2F6"/>
          </a:solidFill>
          <a:ln w="12700">
            <a:solidFill>
              <a:srgbClr val="EEF2F6"/>
            </a:solidFill>
            <a:prstDash val="solid"/>
          </a:ln>
        </p:spPr>
      </p:sp>
      <p:sp>
        <p:nvSpPr>
          <p:cNvPr id="5" name="Text 3"/>
          <p:cNvSpPr txBox="1"/>
          <p:nvPr/>
        </p:nvSpPr>
        <p:spPr>
          <a:xfrm>
            <a:off x="731520" y="1600200"/>
            <a:ext cx="2103120" cy="1005840"/>
          </a:xfrm>
          <a:prstGeom prst="rect">
            <a:avLst/>
          </a:prstGeom>
          <a:noFill/>
          <a:ln/>
        </p:spPr>
        <p:txBody>
          <a:bodyPr wrap="square" lIns="0" tIns="0" rIns="0" bIns="0" rtlCol="0" anchor="ctr"/>
          <a:lstStyle/>
          <a:p>
            <a:pPr algn="ctr" indent="0" marL="0">
              <a:buNone/>
            </a:pPr>
            <a:r>
              <a:rPr lang="en-US" sz="2100" b="1" dirty="0">
                <a:solidFill>
                  <a:srgbClr val="1E293B"/>
                </a:solidFill>
                <a:latin typeface="Calibri" pitchFamily="34" charset="0"/>
                <a:ea typeface="Calibri" pitchFamily="34" charset="-122"/>
                <a:cs typeface="Calibri" pitchFamily="34" charset="-120"/>
              </a:rPr>
              <a:t>Take 256 frames</a:t>
            </a:r>
            <a:endParaRPr lang="en-US" sz="2100" dirty="0"/>
          </a:p>
        </p:txBody>
      </p:sp>
      <p:sp>
        <p:nvSpPr>
          <p:cNvPr id="6" name="Text 4"/>
          <p:cNvSpPr txBox="1"/>
          <p:nvPr/>
        </p:nvSpPr>
        <p:spPr>
          <a:xfrm>
            <a:off x="731520" y="2651760"/>
            <a:ext cx="2103120" cy="548640"/>
          </a:xfrm>
          <a:prstGeom prst="rect">
            <a:avLst/>
          </a:prstGeom>
          <a:noFill/>
          <a:ln/>
        </p:spPr>
        <p:txBody>
          <a:bodyPr wrap="square" lIns="0" tIns="0" rIns="0" bIns="0" rtlCol="0" anchor="t"/>
          <a:lstStyle/>
          <a:p>
            <a:pPr algn="ctr" indent="0" marL="0">
              <a:buNone/>
            </a:pPr>
            <a:endParaRPr lang="en-US" sz="1600" dirty="0"/>
          </a:p>
        </p:txBody>
      </p:sp>
      <p:sp>
        <p:nvSpPr>
          <p:cNvPr id="7" name="Shape 5"/>
          <p:cNvSpPr/>
          <p:nvPr/>
        </p:nvSpPr>
        <p:spPr>
          <a:xfrm>
            <a:off x="3035808" y="2240280"/>
            <a:ext cx="329184" cy="411480"/>
          </a:xfrm>
          <a:prstGeom prst="rightArrow">
            <a:avLst/>
          </a:prstGeom>
          <a:solidFill>
            <a:srgbClr val="F08A24"/>
          </a:solidFill>
          <a:ln w="12700">
            <a:solidFill>
              <a:srgbClr val="F08A24"/>
            </a:solidFill>
            <a:prstDash val="solid"/>
          </a:ln>
        </p:spPr>
      </p:sp>
      <p:sp>
        <p:nvSpPr>
          <p:cNvPr id="8" name="Shape 6"/>
          <p:cNvSpPr/>
          <p:nvPr/>
        </p:nvSpPr>
        <p:spPr>
          <a:xfrm>
            <a:off x="3383280" y="1508760"/>
            <a:ext cx="2468880" cy="1828800"/>
          </a:xfrm>
          <a:prstGeom prst="roundRect">
            <a:avLst>
              <a:gd name="adj" fmla="val 6000"/>
            </a:avLst>
          </a:prstGeom>
          <a:solidFill>
            <a:srgbClr val="EEF2F6"/>
          </a:solidFill>
          <a:ln w="12700">
            <a:solidFill>
              <a:srgbClr val="EEF2F6"/>
            </a:solidFill>
            <a:prstDash val="solid"/>
          </a:ln>
        </p:spPr>
      </p:sp>
      <p:sp>
        <p:nvSpPr>
          <p:cNvPr id="9" name="Text 7"/>
          <p:cNvSpPr txBox="1"/>
          <p:nvPr/>
        </p:nvSpPr>
        <p:spPr>
          <a:xfrm>
            <a:off x="3566160" y="1600200"/>
            <a:ext cx="2103120" cy="1005840"/>
          </a:xfrm>
          <a:prstGeom prst="rect">
            <a:avLst/>
          </a:prstGeom>
          <a:noFill/>
          <a:ln/>
        </p:spPr>
        <p:txBody>
          <a:bodyPr wrap="square" lIns="0" tIns="0" rIns="0" bIns="0" rtlCol="0" anchor="ctr"/>
          <a:lstStyle/>
          <a:p>
            <a:pPr algn="ctr" indent="0" marL="0">
              <a:buNone/>
            </a:pPr>
            <a:r>
              <a:rPr lang="en-US" sz="2100" b="1" dirty="0">
                <a:solidFill>
                  <a:srgbClr val="1E293B"/>
                </a:solidFill>
                <a:latin typeface="Calibri" pitchFamily="34" charset="0"/>
                <a:ea typeface="Calibri" pitchFamily="34" charset="-122"/>
                <a:cs typeface="Calibri" pitchFamily="34" charset="-120"/>
              </a:rPr>
              <a:t>Network gives</a:t>
            </a:r>
            <a:endParaRPr lang="en-US" sz="2100" dirty="0"/>
          </a:p>
          <a:p>
            <a:pPr algn="ctr" indent="0" marL="0">
              <a:buNone/>
            </a:pPr>
            <a:r>
              <a:rPr lang="en-US" sz="2100" b="1" dirty="0">
                <a:solidFill>
                  <a:srgbClr val="1E293B"/>
                </a:solidFill>
                <a:latin typeface="Calibri" pitchFamily="34" charset="0"/>
                <a:ea typeface="Calibri" pitchFamily="34" charset="-122"/>
                <a:cs typeface="Calibri" pitchFamily="34" charset="-120"/>
              </a:rPr>
              <a:t>4 scores each</a:t>
            </a:r>
            <a:endParaRPr lang="en-US" sz="2100" dirty="0"/>
          </a:p>
        </p:txBody>
      </p:sp>
      <p:sp>
        <p:nvSpPr>
          <p:cNvPr id="10" name="Text 8"/>
          <p:cNvSpPr txBox="1"/>
          <p:nvPr/>
        </p:nvSpPr>
        <p:spPr>
          <a:xfrm>
            <a:off x="3566160" y="2651760"/>
            <a:ext cx="2103120" cy="548640"/>
          </a:xfrm>
          <a:prstGeom prst="rect">
            <a:avLst/>
          </a:prstGeom>
          <a:noFill/>
          <a:ln/>
        </p:spPr>
        <p:txBody>
          <a:bodyPr wrap="square" lIns="0" tIns="0" rIns="0" bIns="0" rtlCol="0" anchor="t"/>
          <a:lstStyle/>
          <a:p>
            <a:pPr algn="ctr" indent="0" marL="0">
              <a:buNone/>
            </a:pPr>
            <a:endParaRPr lang="en-US" sz="1600" dirty="0"/>
          </a:p>
        </p:txBody>
      </p:sp>
      <p:sp>
        <p:nvSpPr>
          <p:cNvPr id="11" name="Shape 9"/>
          <p:cNvSpPr/>
          <p:nvPr/>
        </p:nvSpPr>
        <p:spPr>
          <a:xfrm>
            <a:off x="5870448" y="2240280"/>
            <a:ext cx="329184" cy="411480"/>
          </a:xfrm>
          <a:prstGeom prst="rightArrow">
            <a:avLst/>
          </a:prstGeom>
          <a:solidFill>
            <a:srgbClr val="F08A24"/>
          </a:solidFill>
          <a:ln w="12700">
            <a:solidFill>
              <a:srgbClr val="F08A24"/>
            </a:solidFill>
            <a:prstDash val="solid"/>
          </a:ln>
        </p:spPr>
      </p:sp>
      <p:sp>
        <p:nvSpPr>
          <p:cNvPr id="12" name="Shape 10"/>
          <p:cNvSpPr/>
          <p:nvPr/>
        </p:nvSpPr>
        <p:spPr>
          <a:xfrm>
            <a:off x="6217920" y="1508760"/>
            <a:ext cx="2468880" cy="1828800"/>
          </a:xfrm>
          <a:prstGeom prst="roundRect">
            <a:avLst>
              <a:gd name="adj" fmla="val 6000"/>
            </a:avLst>
          </a:prstGeom>
          <a:solidFill>
            <a:srgbClr val="EEF2F6"/>
          </a:solidFill>
          <a:ln w="12700">
            <a:solidFill>
              <a:srgbClr val="EEF2F6"/>
            </a:solidFill>
            <a:prstDash val="solid"/>
          </a:ln>
        </p:spPr>
      </p:sp>
      <p:sp>
        <p:nvSpPr>
          <p:cNvPr id="13" name="Text 11"/>
          <p:cNvSpPr txBox="1"/>
          <p:nvPr/>
        </p:nvSpPr>
        <p:spPr>
          <a:xfrm>
            <a:off x="6400800" y="1600200"/>
            <a:ext cx="2103120" cy="1005840"/>
          </a:xfrm>
          <a:prstGeom prst="rect">
            <a:avLst/>
          </a:prstGeom>
          <a:noFill/>
          <a:ln/>
        </p:spPr>
        <p:txBody>
          <a:bodyPr wrap="square" lIns="0" tIns="0" rIns="0" bIns="0" rtlCol="0" anchor="ctr"/>
          <a:lstStyle/>
          <a:p>
            <a:pPr algn="ctr" indent="0" marL="0">
              <a:buNone/>
            </a:pPr>
            <a:r>
              <a:rPr lang="en-US" sz="2100" b="1" dirty="0">
                <a:solidFill>
                  <a:srgbClr val="1E293B"/>
                </a:solidFill>
                <a:latin typeface="Calibri" pitchFamily="34" charset="0"/>
                <a:ea typeface="Calibri" pitchFamily="34" charset="-122"/>
                <a:cs typeface="Calibri" pitchFamily="34" charset="-120"/>
              </a:rPr>
              <a:t>Compare with the</a:t>
            </a:r>
            <a:endParaRPr lang="en-US" sz="2100" dirty="0"/>
          </a:p>
          <a:p>
            <a:pPr algn="ctr" indent="0" marL="0">
              <a:buNone/>
            </a:pPr>
            <a:r>
              <a:rPr lang="en-US" sz="2100" b="1" dirty="0">
                <a:solidFill>
                  <a:srgbClr val="1E293B"/>
                </a:solidFill>
                <a:latin typeface="Calibri" pitchFamily="34" charset="0"/>
                <a:ea typeface="Calibri" pitchFamily="34" charset="-122"/>
                <a:cs typeface="Calibri" pitchFamily="34" charset="-120"/>
              </a:rPr>
              <a:t>right labels</a:t>
            </a:r>
            <a:endParaRPr lang="en-US" sz="2100" dirty="0"/>
          </a:p>
        </p:txBody>
      </p:sp>
      <p:sp>
        <p:nvSpPr>
          <p:cNvPr id="14" name="Text 12"/>
          <p:cNvSpPr txBox="1"/>
          <p:nvPr/>
        </p:nvSpPr>
        <p:spPr>
          <a:xfrm>
            <a:off x="6400800" y="2651760"/>
            <a:ext cx="2103120" cy="548640"/>
          </a:xfrm>
          <a:prstGeom prst="rect">
            <a:avLst/>
          </a:prstGeom>
          <a:noFill/>
          <a:ln/>
        </p:spPr>
        <p:txBody>
          <a:bodyPr wrap="square" lIns="0" tIns="0" rIns="0" bIns="0" rtlCol="0" anchor="t"/>
          <a:lstStyle/>
          <a:p>
            <a:pPr algn="ctr" indent="0" marL="0">
              <a:buNone/>
            </a:pPr>
            <a:r>
              <a:rPr lang="en-US" sz="1600" dirty="0">
                <a:solidFill>
                  <a:srgbClr val="5B6B7F"/>
                </a:solidFill>
                <a:latin typeface="Calibri" pitchFamily="34" charset="0"/>
                <a:ea typeface="Calibri" pitchFamily="34" charset="-122"/>
                <a:cs typeface="Calibri" pitchFamily="34" charset="-120"/>
              </a:rPr>
              <a:t>→ one number: the loss</a:t>
            </a:r>
            <a:endParaRPr lang="en-US" sz="1600" dirty="0"/>
          </a:p>
        </p:txBody>
      </p:sp>
      <p:sp>
        <p:nvSpPr>
          <p:cNvPr id="15" name="Shape 13"/>
          <p:cNvSpPr/>
          <p:nvPr/>
        </p:nvSpPr>
        <p:spPr>
          <a:xfrm>
            <a:off x="8705088" y="2240280"/>
            <a:ext cx="329184" cy="411480"/>
          </a:xfrm>
          <a:prstGeom prst="rightArrow">
            <a:avLst/>
          </a:prstGeom>
          <a:solidFill>
            <a:srgbClr val="F08A24"/>
          </a:solidFill>
          <a:ln w="12700">
            <a:solidFill>
              <a:srgbClr val="F08A24"/>
            </a:solidFill>
            <a:prstDash val="solid"/>
          </a:ln>
        </p:spPr>
      </p:sp>
      <p:sp>
        <p:nvSpPr>
          <p:cNvPr id="16" name="Shape 14"/>
          <p:cNvSpPr/>
          <p:nvPr/>
        </p:nvSpPr>
        <p:spPr>
          <a:xfrm>
            <a:off x="9052560" y="1508760"/>
            <a:ext cx="2468880" cy="1828800"/>
          </a:xfrm>
          <a:prstGeom prst="roundRect">
            <a:avLst>
              <a:gd name="adj" fmla="val 6000"/>
            </a:avLst>
          </a:prstGeom>
          <a:solidFill>
            <a:srgbClr val="0F1B2D"/>
          </a:solidFill>
          <a:ln w="12700">
            <a:solidFill>
              <a:srgbClr val="0F1B2D"/>
            </a:solidFill>
            <a:prstDash val="solid"/>
          </a:ln>
        </p:spPr>
      </p:sp>
      <p:sp>
        <p:nvSpPr>
          <p:cNvPr id="17" name="Text 15"/>
          <p:cNvSpPr txBox="1"/>
          <p:nvPr/>
        </p:nvSpPr>
        <p:spPr>
          <a:xfrm>
            <a:off x="9235440" y="1600200"/>
            <a:ext cx="2103120" cy="100584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Nudge all</a:t>
            </a:r>
            <a:endParaRPr lang="en-US" sz="2100" dirty="0"/>
          </a:p>
          <a:p>
            <a:pPr algn="ctr" indent="0" marL="0">
              <a:buNone/>
            </a:pPr>
            <a:r>
              <a:rPr lang="en-US" sz="2100" b="1" dirty="0">
                <a:solidFill>
                  <a:srgbClr val="FFFFFF"/>
                </a:solidFill>
                <a:latin typeface="Calibri" pitchFamily="34" charset="0"/>
                <a:ea typeface="Calibri" pitchFamily="34" charset="-122"/>
                <a:cs typeface="Calibri" pitchFamily="34" charset="-120"/>
              </a:rPr>
              <a:t>the numbers</a:t>
            </a:r>
            <a:endParaRPr lang="en-US" sz="2100" dirty="0"/>
          </a:p>
        </p:txBody>
      </p:sp>
      <p:sp>
        <p:nvSpPr>
          <p:cNvPr id="18" name="Text 16"/>
          <p:cNvSpPr txBox="1"/>
          <p:nvPr/>
        </p:nvSpPr>
        <p:spPr>
          <a:xfrm>
            <a:off x="9235440" y="2651760"/>
            <a:ext cx="2103120" cy="548640"/>
          </a:xfrm>
          <a:prstGeom prst="rect">
            <a:avLst/>
          </a:prstGeom>
          <a:noFill/>
          <a:ln/>
        </p:spPr>
        <p:txBody>
          <a:bodyPr wrap="square" lIns="0" tIns="0" rIns="0" bIns="0" rtlCol="0" anchor="t"/>
          <a:lstStyle/>
          <a:p>
            <a:pPr algn="ctr" indent="0" marL="0">
              <a:buNone/>
            </a:pPr>
            <a:r>
              <a:rPr lang="en-US" sz="1600" dirty="0">
                <a:solidFill>
                  <a:srgbClr val="C9D3E0"/>
                </a:solidFill>
                <a:latin typeface="Calibri" pitchFamily="34" charset="0"/>
                <a:ea typeface="Calibri" pitchFamily="34" charset="-122"/>
                <a:cs typeface="Calibri" pitchFamily="34" charset="-120"/>
              </a:rPr>
              <a:t>to lower the loss</a:t>
            </a:r>
            <a:endParaRPr lang="en-US" sz="1600" dirty="0"/>
          </a:p>
        </p:txBody>
      </p:sp>
      <p:sp>
        <p:nvSpPr>
          <p:cNvPr id="19" name="Text 17"/>
          <p:cNvSpPr txBox="1"/>
          <p:nvPr/>
        </p:nvSpPr>
        <p:spPr>
          <a:xfrm>
            <a:off x="9052560" y="3429000"/>
            <a:ext cx="2468880" cy="457200"/>
          </a:xfrm>
          <a:prstGeom prst="rect">
            <a:avLst/>
          </a:prstGeom>
          <a:noFill/>
          <a:ln/>
        </p:spPr>
        <p:txBody>
          <a:bodyPr wrap="square" lIns="0" tIns="0" rIns="0" bIns="0" rtlCol="0" anchor="t"/>
          <a:lstStyle/>
          <a:p>
            <a:pPr algn="ctr" indent="0" marL="0">
              <a:buNone/>
            </a:pPr>
            <a:r>
              <a:rPr lang="en-US" sz="2000" b="1" dirty="0">
                <a:solidFill>
                  <a:srgbClr val="F08A24"/>
                </a:solidFill>
                <a:latin typeface="Calibri" pitchFamily="34" charset="0"/>
                <a:ea typeface="Calibri" pitchFamily="34" charset="-122"/>
                <a:cs typeface="Calibri" pitchFamily="34" charset="-120"/>
              </a:rPr>
              <a:t>↻ repeat</a:t>
            </a:r>
            <a:endParaRPr lang="en-US" sz="2000" dirty="0"/>
          </a:p>
        </p:txBody>
      </p:sp>
      <p:sp>
        <p:nvSpPr>
          <p:cNvPr id="20" name="Text 18"/>
          <p:cNvSpPr txBox="1"/>
          <p:nvPr/>
        </p:nvSpPr>
        <p:spPr>
          <a:xfrm>
            <a:off x="548640" y="3931920"/>
            <a:ext cx="2651760" cy="502920"/>
          </a:xfrm>
          <a:prstGeom prst="rect">
            <a:avLst/>
          </a:prstGeom>
          <a:noFill/>
          <a:ln/>
        </p:spPr>
        <p:txBody>
          <a:bodyPr wrap="square" lIns="0" tIns="0" rIns="0" bIns="0" rtlCol="0" anchor="ctr"/>
          <a:lstStyle/>
          <a:p>
            <a:pPr indent="0" marL="0">
              <a:buNone/>
            </a:pPr>
            <a:r>
              <a:rPr lang="en-US" sz="2100" b="1" dirty="0">
                <a:solidFill>
                  <a:srgbClr val="F08A24"/>
                </a:solidFill>
                <a:latin typeface="Calibri" pitchFamily="34" charset="0"/>
                <a:ea typeface="Calibri" pitchFamily="34" charset="-122"/>
                <a:cs typeface="Calibri" pitchFamily="34" charset="-120"/>
              </a:rPr>
              <a:t>219 steps</a:t>
            </a:r>
            <a:endParaRPr lang="en-US" sz="2100" dirty="0"/>
          </a:p>
        </p:txBody>
      </p:sp>
      <p:sp>
        <p:nvSpPr>
          <p:cNvPr id="21" name="Text 19"/>
          <p:cNvSpPr txBox="1"/>
          <p:nvPr/>
        </p:nvSpPr>
        <p:spPr>
          <a:xfrm>
            <a:off x="3291840" y="3931920"/>
            <a:ext cx="8321040" cy="502920"/>
          </a:xfrm>
          <a:prstGeom prst="rect">
            <a:avLst/>
          </a:prstGeom>
          <a:noFill/>
          <a:ln/>
        </p:spPr>
        <p:txBody>
          <a:bodyPr wrap="square" lIns="0" tIns="0" rIns="0" bIns="0" rtlCol="0" anchor="ctr"/>
          <a:lstStyle/>
          <a:p>
            <a:pPr indent="0" marL="0">
              <a:buNone/>
            </a:pPr>
            <a:r>
              <a:rPr lang="en-US" sz="2000" dirty="0">
                <a:solidFill>
                  <a:srgbClr val="1E293B"/>
                </a:solidFill>
                <a:latin typeface="Calibri" pitchFamily="34" charset="0"/>
                <a:ea typeface="Calibri" pitchFamily="34" charset="-122"/>
                <a:cs typeface="Calibri" pitchFamily="34" charset="-120"/>
              </a:rPr>
              <a:t>= one pass over the 56,000 learning frames: one epoch</a:t>
            </a:r>
            <a:endParaRPr lang="en-US" sz="2000" dirty="0"/>
          </a:p>
        </p:txBody>
      </p:sp>
      <p:sp>
        <p:nvSpPr>
          <p:cNvPr id="22" name="Text 20"/>
          <p:cNvSpPr txBox="1"/>
          <p:nvPr/>
        </p:nvSpPr>
        <p:spPr>
          <a:xfrm>
            <a:off x="548640" y="4480560"/>
            <a:ext cx="2651760" cy="502920"/>
          </a:xfrm>
          <a:prstGeom prst="rect">
            <a:avLst/>
          </a:prstGeom>
          <a:noFill/>
          <a:ln/>
        </p:spPr>
        <p:txBody>
          <a:bodyPr wrap="square" lIns="0" tIns="0" rIns="0" bIns="0" rtlCol="0" anchor="ctr"/>
          <a:lstStyle/>
          <a:p>
            <a:pPr indent="0" marL="0">
              <a:buNone/>
            </a:pPr>
            <a:r>
              <a:rPr lang="en-US" sz="2100" b="1" dirty="0">
                <a:solidFill>
                  <a:srgbClr val="F08A24"/>
                </a:solidFill>
                <a:latin typeface="Calibri" pitchFamily="34" charset="0"/>
                <a:ea typeface="Calibri" pitchFamily="34" charset="-122"/>
                <a:cs typeface="Calibri" pitchFamily="34" charset="-120"/>
              </a:rPr>
              <a:t>after each epoch</a:t>
            </a:r>
            <a:endParaRPr lang="en-US" sz="2100" dirty="0"/>
          </a:p>
        </p:txBody>
      </p:sp>
      <p:sp>
        <p:nvSpPr>
          <p:cNvPr id="23" name="Text 21"/>
          <p:cNvSpPr txBox="1"/>
          <p:nvPr/>
        </p:nvSpPr>
        <p:spPr>
          <a:xfrm>
            <a:off x="3291840" y="4480560"/>
            <a:ext cx="8321040" cy="502920"/>
          </a:xfrm>
          <a:prstGeom prst="rect">
            <a:avLst/>
          </a:prstGeom>
          <a:noFill/>
          <a:ln/>
        </p:spPr>
        <p:txBody>
          <a:bodyPr wrap="square" lIns="0" tIns="0" rIns="0" bIns="0" rtlCol="0" anchor="ctr"/>
          <a:lstStyle/>
          <a:p>
            <a:pPr indent="0" marL="0">
              <a:buNone/>
            </a:pPr>
            <a:r>
              <a:rPr lang="en-US" sz="2000" dirty="0">
                <a:solidFill>
                  <a:srgbClr val="1E293B"/>
                </a:solidFill>
                <a:latin typeface="Calibri" pitchFamily="34" charset="0"/>
                <a:ea typeface="Calibri" pitchFamily="34" charset="-122"/>
                <a:cs typeface="Calibri" pitchFamily="34" charset="-120"/>
              </a:rPr>
              <a:t>check accuracy on the 12,000 stopping frames; keep the best version</a:t>
            </a:r>
            <a:endParaRPr lang="en-US" sz="2000" dirty="0"/>
          </a:p>
        </p:txBody>
      </p:sp>
      <p:sp>
        <p:nvSpPr>
          <p:cNvPr id="24" name="Text 22"/>
          <p:cNvSpPr txBox="1"/>
          <p:nvPr/>
        </p:nvSpPr>
        <p:spPr>
          <a:xfrm>
            <a:off x="548640" y="5029200"/>
            <a:ext cx="2651760" cy="502920"/>
          </a:xfrm>
          <a:prstGeom prst="rect">
            <a:avLst/>
          </a:prstGeom>
          <a:noFill/>
          <a:ln/>
        </p:spPr>
        <p:txBody>
          <a:bodyPr wrap="square" lIns="0" tIns="0" rIns="0" bIns="0" rtlCol="0" anchor="ctr"/>
          <a:lstStyle/>
          <a:p>
            <a:pPr indent="0" marL="0">
              <a:buNone/>
            </a:pPr>
            <a:r>
              <a:rPr lang="en-US" sz="2100" b="1" dirty="0">
                <a:solidFill>
                  <a:srgbClr val="F08A24"/>
                </a:solidFill>
                <a:latin typeface="Calibri" pitchFamily="34" charset="0"/>
                <a:ea typeface="Calibri" pitchFamily="34" charset="-122"/>
                <a:cs typeface="Calibri" pitchFamily="34" charset="-120"/>
              </a:rPr>
              <a:t>20 epochs</a:t>
            </a:r>
            <a:endParaRPr lang="en-US" sz="2100" dirty="0"/>
          </a:p>
        </p:txBody>
      </p:sp>
      <p:sp>
        <p:nvSpPr>
          <p:cNvPr id="25" name="Text 23"/>
          <p:cNvSpPr txBox="1"/>
          <p:nvPr/>
        </p:nvSpPr>
        <p:spPr>
          <a:xfrm>
            <a:off x="3291840" y="5029200"/>
            <a:ext cx="8321040" cy="502920"/>
          </a:xfrm>
          <a:prstGeom prst="rect">
            <a:avLst/>
          </a:prstGeom>
          <a:noFill/>
          <a:ln/>
        </p:spPr>
        <p:txBody>
          <a:bodyPr wrap="square" lIns="0" tIns="0" rIns="0" bIns="0" rtlCol="0" anchor="ctr"/>
          <a:lstStyle/>
          <a:p>
            <a:pPr indent="0" marL="0">
              <a:buNone/>
            </a:pPr>
            <a:r>
              <a:rPr lang="en-US" sz="2000" dirty="0">
                <a:solidFill>
                  <a:srgbClr val="1E293B"/>
                </a:solidFill>
                <a:latin typeface="Calibri" pitchFamily="34" charset="0"/>
                <a:ea typeface="Calibri" pitchFamily="34" charset="-122"/>
                <a:cs typeface="Calibri" pitchFamily="34" charset="-120"/>
              </a:rPr>
              <a:t>with no improvement: stop</a:t>
            </a:r>
            <a:endParaRPr lang="en-US" sz="2000" dirty="0"/>
          </a:p>
        </p:txBody>
      </p:sp>
      <p:sp>
        <p:nvSpPr>
          <p:cNvPr id="26" name="Text 24"/>
          <p:cNvSpPr txBox="1"/>
          <p:nvPr/>
        </p:nvSpPr>
        <p:spPr>
          <a:xfrm>
            <a:off x="548640" y="571500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Best version found at epoch 16–46; every run stopped by itself.</a:t>
            </a:r>
            <a:endParaRPr lang="en-US" sz="2400" dirty="0"/>
          </a:p>
        </p:txBody>
      </p:sp>
      <p:sp>
        <p:nvSpPr>
          <p:cNvPr id="28" name="Text 25"/>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QUESTION 4</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Training, step 3: test once, then repeat</a:t>
            </a:r>
            <a:endParaRPr lang="en-US" sz="3400" dirty="0"/>
          </a:p>
        </p:txBody>
      </p:sp>
      <p:sp>
        <p:nvSpPr>
          <p:cNvPr id="4" name="Shape 2"/>
          <p:cNvSpPr/>
          <p:nvPr/>
        </p:nvSpPr>
        <p:spPr>
          <a:xfrm>
            <a:off x="548640" y="1554480"/>
            <a:ext cx="3520440" cy="2743200"/>
          </a:xfrm>
          <a:prstGeom prst="roundRect">
            <a:avLst>
              <a:gd name="adj" fmla="val 4000"/>
            </a:avLst>
          </a:prstGeom>
          <a:solidFill>
            <a:srgbClr val="EEF2F6"/>
          </a:solidFill>
          <a:ln w="12700">
            <a:solidFill>
              <a:srgbClr val="EEF2F6"/>
            </a:solidFill>
            <a:prstDash val="solid"/>
          </a:ln>
        </p:spPr>
      </p:sp>
      <p:sp>
        <p:nvSpPr>
          <p:cNvPr id="5" name="Text 3"/>
          <p:cNvSpPr txBox="1"/>
          <p:nvPr/>
        </p:nvSpPr>
        <p:spPr>
          <a:xfrm>
            <a:off x="822960" y="1783080"/>
            <a:ext cx="3017520" cy="914400"/>
          </a:xfrm>
          <a:prstGeom prst="rect">
            <a:avLst/>
          </a:prstGeom>
          <a:noFill/>
          <a:ln/>
        </p:spPr>
        <p:txBody>
          <a:bodyPr wrap="square" lIns="0" tIns="0" rIns="0" bIns="0" rtlCol="0" anchor="b"/>
          <a:lstStyle/>
          <a:p>
            <a:pPr algn="l" indent="0" marL="0">
              <a:buNone/>
            </a:pPr>
            <a:r>
              <a:rPr lang="en-US" sz="6000" b="1" dirty="0">
                <a:solidFill>
                  <a:srgbClr val="0F1B2D"/>
                </a:solidFill>
                <a:latin typeface="Calibri" pitchFamily="34" charset="0"/>
                <a:ea typeface="Calibri" pitchFamily="34" charset="-122"/>
                <a:cs typeface="Calibri" pitchFamily="34" charset="-120"/>
              </a:rPr>
              <a:t>12,000</a:t>
            </a:r>
            <a:endParaRPr lang="en-US" sz="6000" dirty="0"/>
          </a:p>
        </p:txBody>
      </p:sp>
      <p:sp>
        <p:nvSpPr>
          <p:cNvPr id="6" name="Text 4"/>
          <p:cNvSpPr txBox="1"/>
          <p:nvPr/>
        </p:nvSpPr>
        <p:spPr>
          <a:xfrm>
            <a:off x="822960" y="2743200"/>
            <a:ext cx="301752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test frames, used once,</a:t>
            </a:r>
            <a:endParaRPr lang="en-US" sz="1900" dirty="0"/>
          </a:p>
          <a:p>
            <a:pPr algn="l" indent="0" marL="0">
              <a:buNone/>
            </a:pPr>
            <a:r>
              <a:rPr lang="en-US" sz="1900" dirty="0">
                <a:solidFill>
                  <a:srgbClr val="5B6B7F"/>
                </a:solidFill>
                <a:latin typeface="Calibri" pitchFamily="34" charset="0"/>
                <a:ea typeface="Calibri" pitchFamily="34" charset="-122"/>
                <a:cs typeface="Calibri" pitchFamily="34" charset="-120"/>
              </a:rPr>
              <a:t>at the very end</a:t>
            </a:r>
            <a:endParaRPr lang="en-US" sz="1900" dirty="0"/>
          </a:p>
        </p:txBody>
      </p:sp>
      <p:sp>
        <p:nvSpPr>
          <p:cNvPr id="7" name="Shape 5"/>
          <p:cNvSpPr/>
          <p:nvPr/>
        </p:nvSpPr>
        <p:spPr>
          <a:xfrm>
            <a:off x="4343400" y="1554480"/>
            <a:ext cx="3520440" cy="2743200"/>
          </a:xfrm>
          <a:prstGeom prst="roundRect">
            <a:avLst>
              <a:gd name="adj" fmla="val 4000"/>
            </a:avLst>
          </a:prstGeom>
          <a:solidFill>
            <a:srgbClr val="EEF2F6"/>
          </a:solidFill>
          <a:ln w="12700">
            <a:solidFill>
              <a:srgbClr val="EEF2F6"/>
            </a:solidFill>
            <a:prstDash val="solid"/>
          </a:ln>
        </p:spPr>
      </p:sp>
      <p:sp>
        <p:nvSpPr>
          <p:cNvPr id="8" name="Text 6"/>
          <p:cNvSpPr txBox="1"/>
          <p:nvPr/>
        </p:nvSpPr>
        <p:spPr>
          <a:xfrm>
            <a:off x="4617720" y="1783080"/>
            <a:ext cx="3017520" cy="914400"/>
          </a:xfrm>
          <a:prstGeom prst="rect">
            <a:avLst/>
          </a:prstGeom>
          <a:noFill/>
          <a:ln/>
        </p:spPr>
        <p:txBody>
          <a:bodyPr wrap="square" lIns="0" tIns="0" rIns="0" bIns="0" rtlCol="0" anchor="b"/>
          <a:lstStyle/>
          <a:p>
            <a:pPr algn="l" indent="0" marL="0">
              <a:buNone/>
            </a:pPr>
            <a:r>
              <a:rPr lang="en-US" sz="6000" b="1" dirty="0">
                <a:solidFill>
                  <a:srgbClr val="1E293B"/>
                </a:solidFill>
                <a:latin typeface="Calibri" pitchFamily="34" charset="0"/>
                <a:ea typeface="Calibri" pitchFamily="34" charset="-122"/>
                <a:cs typeface="Calibri" pitchFamily="34" charset="-120"/>
              </a:rPr>
              <a:t>14</a:t>
            </a:r>
            <a:endParaRPr lang="en-US" sz="6000" dirty="0"/>
          </a:p>
        </p:txBody>
      </p:sp>
      <p:sp>
        <p:nvSpPr>
          <p:cNvPr id="9" name="Text 7"/>
          <p:cNvSpPr txBox="1"/>
          <p:nvPr/>
        </p:nvSpPr>
        <p:spPr>
          <a:xfrm>
            <a:off x="4617720" y="2743200"/>
            <a:ext cx="301752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repeats, each with a new</a:t>
            </a:r>
            <a:endParaRPr lang="en-US" sz="1900" dirty="0"/>
          </a:p>
          <a:p>
            <a:pPr algn="l" indent="0" marL="0">
              <a:buNone/>
            </a:pPr>
            <a:r>
              <a:rPr lang="en-US" sz="1900" dirty="0">
                <a:solidFill>
                  <a:srgbClr val="5B6B7F"/>
                </a:solidFill>
                <a:latin typeface="Calibri" pitchFamily="34" charset="0"/>
                <a:ea typeface="Calibri" pitchFamily="34" charset="-122"/>
                <a:cs typeface="Calibri" pitchFamily="34" charset="-120"/>
              </a:rPr>
              <a:t>split and a new random start</a:t>
            </a:r>
            <a:endParaRPr lang="en-US" sz="1900" dirty="0"/>
          </a:p>
        </p:txBody>
      </p:sp>
      <p:sp>
        <p:nvSpPr>
          <p:cNvPr id="10" name="Shape 8"/>
          <p:cNvSpPr/>
          <p:nvPr/>
        </p:nvSpPr>
        <p:spPr>
          <a:xfrm>
            <a:off x="8138160" y="1554480"/>
            <a:ext cx="3520440" cy="2743200"/>
          </a:xfrm>
          <a:prstGeom prst="roundRect">
            <a:avLst>
              <a:gd name="adj" fmla="val 4000"/>
            </a:avLst>
          </a:prstGeom>
          <a:solidFill>
            <a:srgbClr val="EEF2F6"/>
          </a:solidFill>
          <a:ln w="12700">
            <a:solidFill>
              <a:srgbClr val="EEF2F6"/>
            </a:solidFill>
            <a:prstDash val="solid"/>
          </a:ln>
        </p:spPr>
      </p:sp>
      <p:sp>
        <p:nvSpPr>
          <p:cNvPr id="11" name="Text 9"/>
          <p:cNvSpPr txBox="1"/>
          <p:nvPr/>
        </p:nvSpPr>
        <p:spPr>
          <a:xfrm>
            <a:off x="8412480" y="1783080"/>
            <a:ext cx="3017520" cy="914400"/>
          </a:xfrm>
          <a:prstGeom prst="rect">
            <a:avLst/>
          </a:prstGeom>
          <a:noFill/>
          <a:ln/>
        </p:spPr>
        <p:txBody>
          <a:bodyPr wrap="square" lIns="0" tIns="0" rIns="0" bIns="0" rtlCol="0" anchor="b"/>
          <a:lstStyle/>
          <a:p>
            <a:pPr algn="l" indent="0" marL="0">
              <a:buNone/>
            </a:pPr>
            <a:r>
              <a:rPr lang="en-US" sz="6000" b="1" dirty="0">
                <a:solidFill>
                  <a:srgbClr val="F08A24"/>
                </a:solidFill>
                <a:latin typeface="Calibri" pitchFamily="34" charset="0"/>
                <a:ea typeface="Calibri" pitchFamily="34" charset="-122"/>
                <a:cs typeface="Calibri" pitchFamily="34" charset="-120"/>
              </a:rPr>
              <a:t>8,400</a:t>
            </a:r>
            <a:endParaRPr lang="en-US" sz="6000" dirty="0"/>
          </a:p>
        </p:txBody>
      </p:sp>
      <p:sp>
        <p:nvSpPr>
          <p:cNvPr id="12" name="Text 10"/>
          <p:cNvSpPr txBox="1"/>
          <p:nvPr/>
        </p:nvSpPr>
        <p:spPr>
          <a:xfrm>
            <a:off x="8412480" y="2743200"/>
            <a:ext cx="301752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test decisions at 10 dB</a:t>
            </a:r>
            <a:endParaRPr lang="en-US" sz="1900" dirty="0"/>
          </a:p>
          <a:p>
            <a:pPr algn="l" indent="0" marL="0">
              <a:buNone/>
            </a:pPr>
            <a:r>
              <a:rPr lang="en-US" sz="1900" dirty="0">
                <a:solidFill>
                  <a:srgbClr val="5B6B7F"/>
                </a:solidFill>
                <a:latin typeface="Calibri" pitchFamily="34" charset="0"/>
                <a:ea typeface="Calibri" pitchFamily="34" charset="-122"/>
                <a:cs typeface="Calibri" pitchFamily="34" charset="-120"/>
              </a:rPr>
              <a:t>(14 × 4 × 150)</a:t>
            </a:r>
            <a:endParaRPr lang="en-US" sz="1900" dirty="0"/>
          </a:p>
        </p:txBody>
      </p:sp>
      <p:sp>
        <p:nvSpPr>
          <p:cNvPr id="13" name="Text 11"/>
          <p:cNvSpPr txBox="1"/>
          <p:nvPr/>
        </p:nvSpPr>
        <p:spPr>
          <a:xfrm>
            <a:off x="548640" y="484632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Every number you saw is counted on frames the network never learned from.</a:t>
            </a:r>
            <a:endParaRPr lang="en-US" sz="2400" dirty="0"/>
          </a:p>
        </p:txBody>
      </p:sp>
      <p:sp>
        <p:nvSpPr>
          <p:cNvPr id="15" name="Text 12"/>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QUESTION 5</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The software</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4846320"/>
                <a:gridCol w="6245352"/>
              </a:tblGrid>
              <a:tr h="548640">
                <a:tc>
                  <a:txBody>
                    <a:bodyPr/>
                    <a:lstStyle/>
                    <a:p>
                      <a:pPr indent="0" marL="0">
                        <a:buNone/>
                      </a:pPr>
                      <a:r>
                        <a:rPr lang="en-US" sz="1800" b="1" dirty="0">
                          <a:solidFill>
                            <a:srgbClr val="1E293B"/>
                          </a:solidFill>
                          <a:latin typeface="Calibri" pitchFamily="34" charset="0"/>
                          <a:ea typeface="Calibri" pitchFamily="34" charset="-122"/>
                          <a:cs typeface="Calibri" pitchFamily="34" charset="-120"/>
                        </a:rPr>
                        <a:t>what</a:t>
                      </a:r>
                      <a:endParaRPr lang="en-US" sz="18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c>
                  <a:txBody>
                    <a:bodyPr/>
                    <a:lstStyle/>
                    <a:p>
                      <a:pPr indent="0" marL="0">
                        <a:buNone/>
                      </a:pPr>
                      <a:r>
                        <a:rPr lang="en-US" sz="1800" b="1" dirty="0">
                          <a:solidFill>
                            <a:srgbClr val="1E293B"/>
                          </a:solidFill>
                          <a:latin typeface="Calibri" pitchFamily="34" charset="0"/>
                          <a:ea typeface="Calibri" pitchFamily="34" charset="-122"/>
                          <a:cs typeface="Calibri" pitchFamily="34" charset="-120"/>
                        </a:rPr>
                        <a:t>used for</a:t>
                      </a:r>
                      <a:endParaRPr lang="en-US" sz="18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rgbClr val="EEF2F6"/>
                    </a:solidFill>
                  </a:tcPr>
                </a:tc>
              </a:tr>
              <a:tr h="548640">
                <a:tc>
                  <a:txBody>
                    <a:bodyPr/>
                    <a:lstStyle/>
                    <a:p>
                      <a:pPr indent="0" marL="0">
                        <a:buNone/>
                      </a:pPr>
                      <a:r>
                        <a:rPr lang="en-US" sz="1900" b="1" dirty="0">
                          <a:solidFill>
                            <a:srgbClr val="1E293B"/>
                          </a:solidFill>
                          <a:latin typeface="Calibri" pitchFamily="34" charset="0"/>
                          <a:ea typeface="Calibri" pitchFamily="34" charset="-122"/>
                          <a:cs typeface="Calibri" pitchFamily="34" charset="-120"/>
                        </a:rPr>
                        <a:t>Python + PyTorch</a:t>
                      </a:r>
                      <a:endParaRPr lang="en-US" sz="19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indent="0" marL="0">
                        <a:buNone/>
                      </a:pPr>
                      <a:r>
                        <a:rPr lang="en-US" sz="1900" dirty="0">
                          <a:solidFill>
                            <a:srgbClr val="1E293B"/>
                          </a:solidFill>
                          <a:latin typeface="Calibri" pitchFamily="34" charset="0"/>
                          <a:ea typeface="Calibri" pitchFamily="34" charset="-122"/>
                          <a:cs typeface="Calibri" pitchFamily="34" charset="-120"/>
                        </a:rPr>
                        <a:t>the network and its training</a:t>
                      </a:r>
                      <a:endParaRPr lang="en-US" sz="19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48640">
                <a:tc>
                  <a:txBody>
                    <a:bodyPr/>
                    <a:lstStyle/>
                    <a:p>
                      <a:pPr indent="0" marL="0">
                        <a:buNone/>
                      </a:pPr>
                      <a:r>
                        <a:rPr lang="en-US" sz="1900" b="1" dirty="0">
                          <a:solidFill>
                            <a:srgbClr val="1E293B"/>
                          </a:solidFill>
                          <a:latin typeface="Calibri" pitchFamily="34" charset="0"/>
                          <a:ea typeface="Calibri" pitchFamily="34" charset="-122"/>
                          <a:cs typeface="Calibri" pitchFamily="34" charset="-120"/>
                        </a:rPr>
                        <a:t>NumPy, scikit-learn</a:t>
                      </a:r>
                      <a:endParaRPr lang="en-US" sz="19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indent="0" marL="0">
                        <a:buNone/>
                      </a:pPr>
                      <a:r>
                        <a:rPr lang="en-US" sz="1900" dirty="0">
                          <a:solidFill>
                            <a:srgbClr val="1E293B"/>
                          </a:solidFill>
                          <a:latin typeface="Calibri" pitchFamily="34" charset="0"/>
                          <a:ea typeface="Calibri" pitchFamily="34" charset="-122"/>
                          <a:cs typeface="Calibri" pitchFamily="34" charset="-120"/>
                        </a:rPr>
                        <a:t>reading the data, splitting it</a:t>
                      </a:r>
                      <a:endParaRPr lang="en-US" sz="19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48640">
                <a:tc>
                  <a:txBody>
                    <a:bodyPr/>
                    <a:lstStyle/>
                    <a:p>
                      <a:pPr indent="0" marL="0">
                        <a:buNone/>
                      </a:pPr>
                      <a:r>
                        <a:rPr lang="en-US" sz="1900" b="1" dirty="0">
                          <a:solidFill>
                            <a:srgbClr val="1E293B"/>
                          </a:solidFill>
                          <a:latin typeface="Calibri" pitchFamily="34" charset="0"/>
                          <a:ea typeface="Calibri" pitchFamily="34" charset="-122"/>
                          <a:cs typeface="Calibri" pitchFamily="34" charset="-120"/>
                        </a:rPr>
                        <a:t>Google Colab GPU, laptop GPU</a:t>
                      </a:r>
                      <a:endParaRPr lang="en-US" sz="19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indent="0" marL="0">
                        <a:buNone/>
                      </a:pPr>
                      <a:r>
                        <a:rPr lang="en-US" sz="1900" dirty="0">
                          <a:solidFill>
                            <a:srgbClr val="1E293B"/>
                          </a:solidFill>
                          <a:latin typeface="Calibri" pitchFamily="34" charset="0"/>
                          <a:ea typeface="Calibri" pitchFamily="34" charset="-122"/>
                          <a:cs typeface="Calibri" pitchFamily="34" charset="-120"/>
                        </a:rPr>
                        <a:t>where it ran</a:t>
                      </a:r>
                      <a:endParaRPr lang="en-US" sz="19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48640">
                <a:tc>
                  <a:txBody>
                    <a:bodyPr/>
                    <a:lstStyle/>
                    <a:p>
                      <a:pPr indent="0" marL="0">
                        <a:buNone/>
                      </a:pPr>
                      <a:r>
                        <a:rPr lang="en-US" sz="1900" b="1" dirty="0">
                          <a:solidFill>
                            <a:srgbClr val="1E293B"/>
                          </a:solidFill>
                          <a:latin typeface="Calibri" pitchFamily="34" charset="0"/>
                          <a:ea typeface="Calibri" pitchFamily="34" charset="-122"/>
                          <a:cs typeface="Calibri" pitchFamily="34" charset="-120"/>
                        </a:rPr>
                        <a:t>Our code: model_zoo.py, cnn.py, train_backbone.py</a:t>
                      </a:r>
                      <a:endParaRPr lang="en-US" sz="19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indent="0" marL="0">
                        <a:buNone/>
                      </a:pPr>
                      <a:r>
                        <a:rPr lang="en-US" sz="1900" dirty="0">
                          <a:solidFill>
                            <a:srgbClr val="1E293B"/>
                          </a:solidFill>
                          <a:latin typeface="Calibri" pitchFamily="34" charset="0"/>
                          <a:ea typeface="Calibri" pitchFamily="34" charset="-122"/>
                          <a:cs typeface="Calibri" pitchFamily="34" charset="-120"/>
                        </a:rPr>
                        <a:t>the detector, the loop, the protocol</a:t>
                      </a:r>
                      <a:endParaRPr lang="en-US" sz="19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48640">
                <a:tc>
                  <a:txBody>
                    <a:bodyPr/>
                    <a:lstStyle/>
                    <a:p>
                      <a:pPr indent="0" marL="0">
                        <a:buNone/>
                      </a:pPr>
                      <a:r>
                        <a:rPr lang="en-US" sz="1900" b="1" dirty="0">
                          <a:solidFill>
                            <a:srgbClr val="1E293B"/>
                          </a:solidFill>
                          <a:latin typeface="Calibri" pitchFamily="34" charset="0"/>
                          <a:ea typeface="Calibri" pitchFamily="34" charset="-122"/>
                          <a:cs typeface="Calibri" pitchFamily="34" charset="-120"/>
                        </a:rPr>
                        <a:t>Claude Code (AI assistant)</a:t>
                      </a:r>
                      <a:endParaRPr lang="en-US" sz="19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indent="0" marL="0">
                        <a:buNone/>
                      </a:pPr>
                      <a:r>
                        <a:rPr lang="en-US" sz="1900" dirty="0">
                          <a:solidFill>
                            <a:srgbClr val="1E293B"/>
                          </a:solidFill>
                          <a:latin typeface="Calibri" pitchFamily="34" charset="0"/>
                          <a:ea typeface="Calibri" pitchFamily="34" charset="-122"/>
                          <a:cs typeface="Calibri" pitchFamily="34" charset="-120"/>
                        </a:rPr>
                        <a:t>wrote the code from my instructions</a:t>
                      </a:r>
                      <a:endParaRPr lang="en-US" sz="19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r h="548640">
                <a:tc>
                  <a:txBody>
                    <a:bodyPr/>
                    <a:lstStyle/>
                    <a:p>
                      <a:pPr indent="0" marL="0">
                        <a:buNone/>
                      </a:pPr>
                      <a:r>
                        <a:rPr lang="en-US" sz="1900" b="1" dirty="0">
                          <a:solidFill>
                            <a:srgbClr val="1E293B"/>
                          </a:solidFill>
                          <a:latin typeface="Calibri" pitchFamily="34" charset="0"/>
                          <a:ea typeface="Calibri" pitchFamily="34" charset="-122"/>
                          <a:cs typeface="Calibri" pitchFamily="34" charset="-120"/>
                        </a:rPr>
                        <a:t>GNU Radio</a:t>
                      </a:r>
                      <a:endParaRPr lang="en-US" sz="19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c>
                  <a:txBody>
                    <a:bodyPr/>
                    <a:lstStyle/>
                    <a:p>
                      <a:pPr indent="0" marL="0">
                        <a:buNone/>
                      </a:pPr>
                      <a:r>
                        <a:rPr lang="en-US" sz="1900" dirty="0">
                          <a:solidFill>
                            <a:srgbClr val="1E293B"/>
                          </a:solidFill>
                          <a:latin typeface="Calibri" pitchFamily="34" charset="0"/>
                          <a:ea typeface="Calibri" pitchFamily="34" charset="-122"/>
                          <a:cs typeface="Calibri" pitchFamily="34" charset="-120"/>
                        </a:rPr>
                        <a:t>not for training: DeepSig made the data with it; I used it only to study the noise</a:t>
                      </a:r>
                      <a:endParaRPr lang="en-US" sz="1900" dirty="0">
                        <a:latin typeface="Calibri" charset="0"/>
                        <a:ea typeface="Calibri" charset="0"/>
                        <a:cs typeface="Calibri" charset="0"/>
                      </a:endParaRPr>
                    </a:p>
                  </a:txBody>
                  <a:tcPr marL="91440" marR="91440" marT="45720" marB="4572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tcPr>
                </a:tc>
              </a:tr>
            </a:tbl>
          </a:graphicData>
        </a:graphic>
      </p:graphicFrame>
      <p:sp>
        <p:nvSpPr>
          <p:cNvPr id="5" name="Text 2"/>
          <p:cNvSpPr txBox="1"/>
          <p:nvPr/>
        </p:nvSpPr>
        <p:spPr>
          <a:xfrm>
            <a:off x="548640" y="557784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No ready-made detector and no pre-trained weights.</a:t>
            </a:r>
            <a:endParaRPr lang="en-US" sz="2400" dirty="0"/>
          </a:p>
        </p:txBody>
      </p:sp>
      <p:sp>
        <p:nvSpPr>
          <p:cNvPr id="7" name="Text 3"/>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QUESTION 6</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The paper</a:t>
            </a:r>
            <a:endParaRPr lang="en-US" sz="3400" dirty="0"/>
          </a:p>
        </p:txBody>
      </p:sp>
      <p:sp>
        <p:nvSpPr>
          <p:cNvPr id="4" name="Text 2"/>
          <p:cNvSpPr txBox="1"/>
          <p:nvPr/>
        </p:nvSpPr>
        <p:spPr>
          <a:xfrm>
            <a:off x="548640" y="1371600"/>
            <a:ext cx="11091672" cy="822960"/>
          </a:xfrm>
          <a:prstGeom prst="rect">
            <a:avLst/>
          </a:prstGeom>
          <a:noFill/>
          <a:ln/>
        </p:spPr>
        <p:txBody>
          <a:bodyPr wrap="square" lIns="0" tIns="0" rIns="0" bIns="0" rtlCol="0" anchor="t"/>
          <a:lstStyle/>
          <a:p>
            <a:pPr indent="0" marL="0">
              <a:buNone/>
            </a:pPr>
            <a:r>
              <a:rPr lang="en-US" sz="2400" b="1" dirty="0">
                <a:solidFill>
                  <a:srgbClr val="1E293B"/>
                </a:solidFill>
                <a:latin typeface="Calibri" pitchFamily="34" charset="0"/>
                <a:ea typeface="Calibri" pitchFamily="34" charset="-122"/>
                <a:cs typeface="Calibri" pitchFamily="34" charset="-120"/>
              </a:rPr>
              <a:t>Improved automatic modulation recognition using deep learning with additive attention</a:t>
            </a:r>
            <a:endParaRPr lang="en-US" sz="2400" dirty="0"/>
          </a:p>
        </p:txBody>
      </p:sp>
      <p:sp>
        <p:nvSpPr>
          <p:cNvPr id="5" name="Text 3"/>
          <p:cNvSpPr txBox="1"/>
          <p:nvPr/>
        </p:nvSpPr>
        <p:spPr>
          <a:xfrm>
            <a:off x="548640" y="2240280"/>
            <a:ext cx="11091672" cy="822960"/>
          </a:xfrm>
          <a:prstGeom prst="rect">
            <a:avLst/>
          </a:prstGeom>
          <a:noFill/>
          <a:ln/>
        </p:spPr>
        <p:txBody>
          <a:bodyPr wrap="square" lIns="0" tIns="0" rIns="0" bIns="0" rtlCol="0" anchor="t"/>
          <a:lstStyle/>
          <a:p>
            <a:pPr indent="0" marL="0">
              <a:buNone/>
            </a:pPr>
            <a:r>
              <a:rPr lang="en-US" sz="2000" dirty="0">
                <a:solidFill>
                  <a:srgbClr val="5B6B7F"/>
                </a:solidFill>
                <a:latin typeface="Calibri" pitchFamily="34" charset="0"/>
                <a:ea typeface="Calibri" pitchFamily="34" charset="-122"/>
                <a:cs typeface="Calibri" pitchFamily="34" charset="-120"/>
              </a:rPr>
              <a:t>El-Haryqy, Kharbouche, Ouamna, Madini, Zouine  ·  Ibn Tofail University, Kenitra, Morocco</a:t>
            </a:r>
            <a:endParaRPr lang="en-US" sz="2000" dirty="0"/>
          </a:p>
          <a:p>
            <a:pPr indent="0" marL="0">
              <a:buNone/>
            </a:pPr>
            <a:r>
              <a:rPr lang="en-US" sz="2000" dirty="0">
                <a:solidFill>
                  <a:srgbClr val="5B6B7F"/>
                </a:solidFill>
                <a:latin typeface="Calibri" pitchFamily="34" charset="0"/>
                <a:ea typeface="Calibri" pitchFamily="34" charset="-122"/>
                <a:cs typeface="Calibri" pitchFamily="34" charset="-120"/>
              </a:rPr>
              <a:t>Results in Engineering 26 (2025) 104783  ·  online April 2025</a:t>
            </a:r>
            <a:endParaRPr lang="en-US" sz="2000" dirty="0"/>
          </a:p>
        </p:txBody>
      </p:sp>
      <p:sp>
        <p:nvSpPr>
          <p:cNvPr id="6" name="Shape 4"/>
          <p:cNvSpPr/>
          <p:nvPr/>
        </p:nvSpPr>
        <p:spPr>
          <a:xfrm>
            <a:off x="548640" y="3383280"/>
            <a:ext cx="5394960" cy="1737360"/>
          </a:xfrm>
          <a:prstGeom prst="roundRect">
            <a:avLst>
              <a:gd name="adj" fmla="val 6316"/>
            </a:avLst>
          </a:prstGeom>
          <a:solidFill>
            <a:srgbClr val="EEF2F6"/>
          </a:solidFill>
          <a:ln w="12700">
            <a:solidFill>
              <a:srgbClr val="EEF2F6"/>
            </a:solidFill>
            <a:prstDash val="solid"/>
          </a:ln>
        </p:spPr>
      </p:sp>
      <p:sp>
        <p:nvSpPr>
          <p:cNvPr id="7" name="Shape 5"/>
          <p:cNvSpPr/>
          <p:nvPr/>
        </p:nvSpPr>
        <p:spPr>
          <a:xfrm>
            <a:off x="6172200" y="3383280"/>
            <a:ext cx="5394960" cy="1737360"/>
          </a:xfrm>
          <a:prstGeom prst="roundRect">
            <a:avLst>
              <a:gd name="adj" fmla="val 6316"/>
            </a:avLst>
          </a:prstGeom>
          <a:solidFill>
            <a:srgbClr val="0F1B2D"/>
          </a:solidFill>
          <a:ln w="12700">
            <a:solidFill>
              <a:srgbClr val="0F1B2D"/>
            </a:solidFill>
            <a:prstDash val="solid"/>
          </a:ln>
        </p:spPr>
      </p:sp>
      <p:sp>
        <p:nvSpPr>
          <p:cNvPr id="8" name="Text 6"/>
          <p:cNvSpPr txBox="1"/>
          <p:nvPr/>
        </p:nvSpPr>
        <p:spPr>
          <a:xfrm>
            <a:off x="822960" y="3520440"/>
            <a:ext cx="4572000" cy="365760"/>
          </a:xfrm>
          <a:prstGeom prst="rect">
            <a:avLst/>
          </a:prstGeom>
          <a:noFill/>
          <a:ln/>
        </p:spPr>
        <p:txBody>
          <a:bodyPr wrap="square" lIns="0" tIns="0" rIns="0" bIns="0" rtlCol="0" anchor="t"/>
          <a:lstStyle/>
          <a:p>
            <a:pPr indent="0" marL="0">
              <a:buNone/>
            </a:pPr>
            <a:r>
              <a:rPr lang="en-US" sz="1500" b="1" spc="200" kern="0" dirty="0">
                <a:solidFill>
                  <a:srgbClr val="F08A24"/>
                </a:solidFill>
                <a:latin typeface="Calibri" pitchFamily="34" charset="0"/>
                <a:ea typeface="Calibri" pitchFamily="34" charset="-122"/>
                <a:cs typeface="Calibri" pitchFamily="34" charset="-120"/>
              </a:rPr>
              <a:t>PUBLISHED</a:t>
            </a:r>
            <a:endParaRPr lang="en-US" sz="1500" dirty="0"/>
          </a:p>
        </p:txBody>
      </p:sp>
      <p:sp>
        <p:nvSpPr>
          <p:cNvPr id="9" name="Text 7"/>
          <p:cNvSpPr txBox="1"/>
          <p:nvPr/>
        </p:nvSpPr>
        <p:spPr>
          <a:xfrm>
            <a:off x="822960" y="3931920"/>
            <a:ext cx="4846320" cy="1005840"/>
          </a:xfrm>
          <a:prstGeom prst="rect">
            <a:avLst/>
          </a:prstGeom>
          <a:noFill/>
          <a:ln/>
        </p:spPr>
        <p:txBody>
          <a:bodyPr wrap="square" lIns="0" tIns="0" rIns="0" bIns="0" rtlCol="0" anchor="t"/>
          <a:lstStyle/>
          <a:p>
            <a:pPr indent="0" marL="0">
              <a:buNone/>
            </a:pPr>
            <a:r>
              <a:rPr lang="en-US" sz="2100" dirty="0">
                <a:solidFill>
                  <a:srgbClr val="1E293B"/>
                </a:solidFill>
                <a:latin typeface="Calibri" pitchFamily="34" charset="0"/>
                <a:ea typeface="Calibri" pitchFamily="34" charset="-122"/>
                <a:cs typeface="Calibri" pitchFamily="34" charset="-120"/>
              </a:rPr>
              <a:t>the layers (Fig. 2) and the training recipe (Table 2)</a:t>
            </a:r>
            <a:endParaRPr lang="en-US" sz="2100" dirty="0"/>
          </a:p>
        </p:txBody>
      </p:sp>
      <p:sp>
        <p:nvSpPr>
          <p:cNvPr id="10" name="Text 8"/>
          <p:cNvSpPr txBox="1"/>
          <p:nvPr/>
        </p:nvSpPr>
        <p:spPr>
          <a:xfrm>
            <a:off x="6446520" y="3520440"/>
            <a:ext cx="4572000" cy="365760"/>
          </a:xfrm>
          <a:prstGeom prst="rect">
            <a:avLst/>
          </a:prstGeom>
          <a:noFill/>
          <a:ln/>
        </p:spPr>
        <p:txBody>
          <a:bodyPr wrap="square" lIns="0" tIns="0" rIns="0" bIns="0" rtlCol="0" anchor="t"/>
          <a:lstStyle/>
          <a:p>
            <a:pPr indent="0" marL="0">
              <a:buNone/>
            </a:pPr>
            <a:r>
              <a:rPr lang="en-US" sz="1500" b="1" spc="200" kern="0" dirty="0">
                <a:solidFill>
                  <a:srgbClr val="F08A24"/>
                </a:solidFill>
                <a:latin typeface="Calibri" pitchFamily="34" charset="0"/>
                <a:ea typeface="Calibri" pitchFamily="34" charset="-122"/>
                <a:cs typeface="Calibri" pitchFamily="34" charset="-120"/>
              </a:rPr>
              <a:t>NOT PUBLISHED</a:t>
            </a:r>
            <a:endParaRPr lang="en-US" sz="1500" dirty="0"/>
          </a:p>
        </p:txBody>
      </p:sp>
      <p:sp>
        <p:nvSpPr>
          <p:cNvPr id="11" name="Text 9"/>
          <p:cNvSpPr txBox="1"/>
          <p:nvPr/>
        </p:nvSpPr>
        <p:spPr>
          <a:xfrm>
            <a:off x="6446520" y="3931920"/>
            <a:ext cx="4846320" cy="1005840"/>
          </a:xfrm>
          <a:prstGeom prst="rect">
            <a:avLst/>
          </a:prstGeom>
          <a:noFill/>
          <a:ln/>
        </p:spPr>
        <p:txBody>
          <a:bodyPr wrap="square" lIns="0" tIns="0" rIns="0" bIns="0" rtlCol="0" anchor="t"/>
          <a:lstStyle/>
          <a:p>
            <a:pPr indent="0" marL="0">
              <a:buNone/>
            </a:pPr>
            <a:r>
              <a:rPr lang="en-US" sz="2100" dirty="0">
                <a:solidFill>
                  <a:srgbClr val="FFFFFF"/>
                </a:solidFill>
                <a:latin typeface="Calibri" pitchFamily="34" charset="0"/>
                <a:ea typeface="Calibri" pitchFamily="34" charset="-122"/>
                <a:cs typeface="Calibri" pitchFamily="34" charset="-120"/>
              </a:rPr>
              <a:t>code and weights (“available on request”)</a:t>
            </a:r>
            <a:endParaRPr lang="en-US" sz="2100" dirty="0"/>
          </a:p>
        </p:txBody>
      </p:sp>
      <p:sp>
        <p:nvSpPr>
          <p:cNvPr id="12" name="Text 10"/>
          <p:cNvSpPr txBox="1"/>
          <p:nvPr/>
        </p:nvSpPr>
        <p:spPr>
          <a:xfrm>
            <a:off x="548640" y="548640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So the code had to be written from the description.</a:t>
            </a:r>
            <a:endParaRPr lang="en-US" sz="2400" dirty="0"/>
          </a:p>
        </p:txBody>
      </p:sp>
      <p:sp>
        <p:nvSpPr>
          <p:cNvPr id="14" name="Text 11"/>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QUESTION 6</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What else the authors have done</a:t>
            </a:r>
            <a:endParaRPr lang="en-US" sz="3400" dirty="0"/>
          </a:p>
        </p:txBody>
      </p:sp>
      <p:sp>
        <p:nvSpPr>
          <p:cNvPr id="4" name="Text 2"/>
          <p:cNvSpPr txBox="1"/>
          <p:nvPr/>
        </p:nvSpPr>
        <p:spPr>
          <a:xfrm>
            <a:off x="548640" y="1463040"/>
            <a:ext cx="1188720" cy="731520"/>
          </a:xfrm>
          <a:prstGeom prst="rect">
            <a:avLst/>
          </a:prstGeom>
          <a:noFill/>
          <a:ln/>
        </p:spPr>
        <p:txBody>
          <a:bodyPr wrap="square" lIns="0" tIns="0" rIns="0" bIns="0" rtlCol="0" anchor="ctr"/>
          <a:lstStyle/>
          <a:p>
            <a:pPr indent="0" marL="0">
              <a:buNone/>
            </a:pPr>
            <a:r>
              <a:rPr lang="en-US" sz="2600" b="1" dirty="0">
                <a:solidFill>
                  <a:srgbClr val="F08A24"/>
                </a:solidFill>
                <a:latin typeface="Calibri" pitchFamily="34" charset="0"/>
                <a:ea typeface="Calibri" pitchFamily="34" charset="-122"/>
                <a:cs typeface="Calibri" pitchFamily="34" charset="-120"/>
              </a:rPr>
              <a:t>2024</a:t>
            </a:r>
            <a:endParaRPr lang="en-US" sz="2600" dirty="0"/>
          </a:p>
        </p:txBody>
      </p:sp>
      <p:sp>
        <p:nvSpPr>
          <p:cNvPr id="5" name="Text 3"/>
          <p:cNvSpPr txBox="1"/>
          <p:nvPr/>
        </p:nvSpPr>
        <p:spPr>
          <a:xfrm>
            <a:off x="1920240" y="1463040"/>
            <a:ext cx="9720072" cy="868680"/>
          </a:xfrm>
          <a:prstGeom prst="rect">
            <a:avLst/>
          </a:prstGeom>
          <a:noFill/>
          <a:ln/>
        </p:spPr>
        <p:txBody>
          <a:bodyPr wrap="square" lIns="0" tIns="0" rIns="0" bIns="0" rtlCol="0" anchor="ctr"/>
          <a:lstStyle/>
          <a:p>
            <a:pPr indent="0" marL="0">
              <a:buNone/>
            </a:pPr>
            <a:r>
              <a:rPr lang="en-US" sz="2000" dirty="0">
                <a:solidFill>
                  <a:srgbClr val="1E293B"/>
                </a:solidFill>
                <a:latin typeface="Calibri" pitchFamily="34" charset="0"/>
                <a:ea typeface="Calibri" pitchFamily="34" charset="-122"/>
                <a:cs typeface="Calibri" pitchFamily="34" charset="-120"/>
              </a:rPr>
              <a:t>Review: deep learning for spectrum sensing and prediction in cognitive radio</a:t>
            </a:r>
            <a:endParaRPr lang="en-US" sz="2000" dirty="0"/>
          </a:p>
          <a:p>
            <a:pPr indent="0" marL="0">
              <a:buNone/>
            </a:pPr>
            <a:r>
              <a:rPr lang="en-US" sz="1600" dirty="0">
                <a:solidFill>
                  <a:srgbClr val="5B6B7F"/>
                </a:solidFill>
                <a:latin typeface="Calibri" pitchFamily="34" charset="0"/>
                <a:ea typeface="Calibri" pitchFamily="34" charset="-122"/>
                <a:cs typeface="Calibri" pitchFamily="34" charset="-120"/>
              </a:rPr>
              <a:t>Int. J. Comput. Appl.</a:t>
            </a:r>
            <a:endParaRPr lang="en-US" sz="2000" dirty="0"/>
          </a:p>
        </p:txBody>
      </p:sp>
      <p:sp>
        <p:nvSpPr>
          <p:cNvPr id="6" name="Text 4"/>
          <p:cNvSpPr txBox="1"/>
          <p:nvPr/>
        </p:nvSpPr>
        <p:spPr>
          <a:xfrm>
            <a:off x="548640" y="2450592"/>
            <a:ext cx="1188720" cy="731520"/>
          </a:xfrm>
          <a:prstGeom prst="rect">
            <a:avLst/>
          </a:prstGeom>
          <a:noFill/>
          <a:ln/>
        </p:spPr>
        <p:txBody>
          <a:bodyPr wrap="square" lIns="0" tIns="0" rIns="0" bIns="0" rtlCol="0" anchor="ctr"/>
          <a:lstStyle/>
          <a:p>
            <a:pPr indent="0" marL="0">
              <a:buNone/>
            </a:pPr>
            <a:r>
              <a:rPr lang="en-US" sz="2600" b="1" dirty="0">
                <a:solidFill>
                  <a:srgbClr val="F08A24"/>
                </a:solidFill>
                <a:latin typeface="Calibri" pitchFamily="34" charset="0"/>
                <a:ea typeface="Calibri" pitchFamily="34" charset="-122"/>
                <a:cs typeface="Calibri" pitchFamily="34" charset="-120"/>
              </a:rPr>
              <a:t>2024</a:t>
            </a:r>
            <a:endParaRPr lang="en-US" sz="2600" dirty="0"/>
          </a:p>
        </p:txBody>
      </p:sp>
      <p:sp>
        <p:nvSpPr>
          <p:cNvPr id="7" name="Text 5"/>
          <p:cNvSpPr txBox="1"/>
          <p:nvPr/>
        </p:nvSpPr>
        <p:spPr>
          <a:xfrm>
            <a:off x="1920240" y="2450592"/>
            <a:ext cx="9720072" cy="868680"/>
          </a:xfrm>
          <a:prstGeom prst="rect">
            <a:avLst/>
          </a:prstGeom>
          <a:noFill/>
          <a:ln/>
        </p:spPr>
        <p:txBody>
          <a:bodyPr wrap="square" lIns="0" tIns="0" rIns="0" bIns="0" rtlCol="0" anchor="ctr"/>
          <a:lstStyle/>
          <a:p>
            <a:pPr indent="0" marL="0">
              <a:buNone/>
            </a:pPr>
            <a:r>
              <a:rPr lang="en-US" sz="2000" dirty="0">
                <a:solidFill>
                  <a:srgbClr val="1E293B"/>
                </a:solidFill>
                <a:latin typeface="Calibri" pitchFamily="34" charset="0"/>
                <a:ea typeface="Calibri" pitchFamily="34" charset="-122"/>
                <a:cs typeface="Calibri" pitchFamily="34" charset="-120"/>
              </a:rPr>
              <a:t>Radio-frequency interference detection and modulation recognition with Mask R-CNN</a:t>
            </a:r>
            <a:endParaRPr lang="en-US" sz="2000" dirty="0"/>
          </a:p>
          <a:p>
            <a:pPr indent="0" marL="0">
              <a:buNone/>
            </a:pPr>
            <a:r>
              <a:rPr lang="en-US" sz="1600" dirty="0">
                <a:solidFill>
                  <a:srgbClr val="5B6B7F"/>
                </a:solidFill>
                <a:latin typeface="Calibri" pitchFamily="34" charset="0"/>
                <a:ea typeface="Calibri" pitchFamily="34" charset="-122"/>
                <a:cs typeface="Calibri" pitchFamily="34" charset="-120"/>
              </a:rPr>
              <a:t>IJCNC</a:t>
            </a:r>
            <a:endParaRPr lang="en-US" sz="2000" dirty="0"/>
          </a:p>
        </p:txBody>
      </p:sp>
      <p:sp>
        <p:nvSpPr>
          <p:cNvPr id="8" name="Text 6"/>
          <p:cNvSpPr txBox="1"/>
          <p:nvPr/>
        </p:nvSpPr>
        <p:spPr>
          <a:xfrm>
            <a:off x="548640" y="3438144"/>
            <a:ext cx="1188720" cy="731520"/>
          </a:xfrm>
          <a:prstGeom prst="rect">
            <a:avLst/>
          </a:prstGeom>
          <a:noFill/>
          <a:ln/>
        </p:spPr>
        <p:txBody>
          <a:bodyPr wrap="square" lIns="0" tIns="0" rIns="0" bIns="0" rtlCol="0" anchor="ctr"/>
          <a:lstStyle/>
          <a:p>
            <a:pPr indent="0" marL="0">
              <a:buNone/>
            </a:pPr>
            <a:r>
              <a:rPr lang="en-US" sz="2600" b="1" dirty="0">
                <a:solidFill>
                  <a:srgbClr val="F08A24"/>
                </a:solidFill>
                <a:latin typeface="Calibri" pitchFamily="34" charset="0"/>
                <a:ea typeface="Calibri" pitchFamily="34" charset="-122"/>
                <a:cs typeface="Calibri" pitchFamily="34" charset="-120"/>
              </a:rPr>
              <a:t>2023</a:t>
            </a:r>
            <a:endParaRPr lang="en-US" sz="2600" dirty="0"/>
          </a:p>
        </p:txBody>
      </p:sp>
      <p:sp>
        <p:nvSpPr>
          <p:cNvPr id="9" name="Text 7"/>
          <p:cNvSpPr txBox="1"/>
          <p:nvPr/>
        </p:nvSpPr>
        <p:spPr>
          <a:xfrm>
            <a:off x="1920240" y="3438144"/>
            <a:ext cx="9720072" cy="868680"/>
          </a:xfrm>
          <a:prstGeom prst="rect">
            <a:avLst/>
          </a:prstGeom>
          <a:noFill/>
          <a:ln/>
        </p:spPr>
        <p:txBody>
          <a:bodyPr wrap="square" lIns="0" tIns="0" rIns="0" bIns="0" rtlCol="0" anchor="ctr"/>
          <a:lstStyle/>
          <a:p>
            <a:pPr indent="0" marL="0">
              <a:buNone/>
            </a:pPr>
            <a:r>
              <a:rPr lang="en-US" sz="2000" dirty="0">
                <a:solidFill>
                  <a:srgbClr val="1E293B"/>
                </a:solidFill>
                <a:latin typeface="Calibri" pitchFamily="34" charset="0"/>
                <a:ea typeface="Calibri" pitchFamily="34" charset="-122"/>
                <a:cs typeface="Calibri" pitchFamily="34" charset="-120"/>
              </a:rPr>
              <a:t>Survey: automatic signal detection using deep learning</a:t>
            </a:r>
            <a:endParaRPr lang="en-US" sz="2000" dirty="0"/>
          </a:p>
          <a:p>
            <a:pPr indent="0" marL="0">
              <a:buNone/>
            </a:pPr>
            <a:r>
              <a:rPr lang="en-US" sz="1600" dirty="0">
                <a:solidFill>
                  <a:srgbClr val="5B6B7F"/>
                </a:solidFill>
                <a:latin typeface="Calibri" pitchFamily="34" charset="0"/>
                <a:ea typeface="Calibri" pitchFamily="34" charset="-122"/>
                <a:cs typeface="Calibri" pitchFamily="34" charset="-120"/>
              </a:rPr>
              <a:t>ICOA conference</a:t>
            </a:r>
            <a:endParaRPr lang="en-US" sz="2000" dirty="0"/>
          </a:p>
        </p:txBody>
      </p:sp>
      <p:sp>
        <p:nvSpPr>
          <p:cNvPr id="10" name="Text 8"/>
          <p:cNvSpPr txBox="1"/>
          <p:nvPr/>
        </p:nvSpPr>
        <p:spPr>
          <a:xfrm>
            <a:off x="548640" y="4425696"/>
            <a:ext cx="1188720" cy="731520"/>
          </a:xfrm>
          <a:prstGeom prst="rect">
            <a:avLst/>
          </a:prstGeom>
          <a:noFill/>
          <a:ln/>
        </p:spPr>
        <p:txBody>
          <a:bodyPr wrap="square" lIns="0" tIns="0" rIns="0" bIns="0" rtlCol="0" anchor="ctr"/>
          <a:lstStyle/>
          <a:p>
            <a:pPr indent="0" marL="0">
              <a:buNone/>
            </a:pPr>
            <a:r>
              <a:rPr lang="en-US" sz="2600" b="1" dirty="0">
                <a:solidFill>
                  <a:srgbClr val="F08A24"/>
                </a:solidFill>
                <a:latin typeface="Calibri" pitchFamily="34" charset="0"/>
                <a:ea typeface="Calibri" pitchFamily="34" charset="-122"/>
                <a:cs typeface="Calibri" pitchFamily="34" charset="-120"/>
              </a:rPr>
              <a:t>2021</a:t>
            </a:r>
            <a:endParaRPr lang="en-US" sz="2600" dirty="0"/>
          </a:p>
        </p:txBody>
      </p:sp>
      <p:sp>
        <p:nvSpPr>
          <p:cNvPr id="11" name="Text 9"/>
          <p:cNvSpPr txBox="1"/>
          <p:nvPr/>
        </p:nvSpPr>
        <p:spPr>
          <a:xfrm>
            <a:off x="1920240" y="4425696"/>
            <a:ext cx="9720072" cy="868680"/>
          </a:xfrm>
          <a:prstGeom prst="rect">
            <a:avLst/>
          </a:prstGeom>
          <a:noFill/>
          <a:ln/>
        </p:spPr>
        <p:txBody>
          <a:bodyPr wrap="square" lIns="0" tIns="0" rIns="0" bIns="0" rtlCol="0" anchor="ctr"/>
          <a:lstStyle/>
          <a:p>
            <a:pPr indent="0" marL="0">
              <a:buNone/>
            </a:pPr>
            <a:r>
              <a:rPr lang="en-US" sz="2000" dirty="0">
                <a:solidFill>
                  <a:srgbClr val="1E293B"/>
                </a:solidFill>
                <a:latin typeface="Calibri" pitchFamily="34" charset="0"/>
                <a:ea typeface="Calibri" pitchFamily="34" charset="-122"/>
                <a:cs typeface="Calibri" pitchFamily="34" charset="-120"/>
              </a:rPr>
              <a:t>Kharbouche: optical (DS-OCDMA/VLC) communication for vehicles</a:t>
            </a:r>
            <a:endParaRPr lang="en-US" sz="2000" dirty="0"/>
          </a:p>
          <a:p>
            <a:pPr indent="0" marL="0">
              <a:buNone/>
            </a:pPr>
            <a:r>
              <a:rPr lang="en-US" sz="1600" dirty="0">
                <a:solidFill>
                  <a:srgbClr val="5B6B7F"/>
                </a:solidFill>
                <a:latin typeface="Calibri" pitchFamily="34" charset="0"/>
                <a:ea typeface="Calibri" pitchFamily="34" charset="-122"/>
                <a:cs typeface="Calibri" pitchFamily="34" charset="-120"/>
              </a:rPr>
              <a:t>ICOA conference</a:t>
            </a:r>
            <a:endParaRPr lang="en-US" sz="2000" dirty="0"/>
          </a:p>
        </p:txBody>
      </p:sp>
      <p:sp>
        <p:nvSpPr>
          <p:cNvPr id="12" name="Text 10"/>
          <p:cNvSpPr txBox="1"/>
          <p:nvPr/>
        </p:nvSpPr>
        <p:spPr>
          <a:xfrm>
            <a:off x="548640" y="5486400"/>
            <a:ext cx="11091672" cy="365760"/>
          </a:xfrm>
          <a:prstGeom prst="rect">
            <a:avLst/>
          </a:prstGeom>
          <a:noFill/>
          <a:ln/>
        </p:spPr>
        <p:txBody>
          <a:bodyPr wrap="square" lIns="0" tIns="0" rIns="0" bIns="0" rtlCol="0" anchor="t"/>
          <a:lstStyle/>
          <a:p>
            <a:pPr indent="0" marL="0">
              <a:buNone/>
            </a:pPr>
            <a:r>
              <a:rPr lang="en-US" sz="1600" i="1" dirty="0">
                <a:solidFill>
                  <a:srgbClr val="5B6B7F"/>
                </a:solidFill>
                <a:latin typeface="Calibri" pitchFamily="34" charset="0"/>
                <a:ea typeface="Calibri" pitchFamily="34" charset="-122"/>
                <a:cs typeface="Calibri" pitchFamily="34" charset="-120"/>
              </a:rPr>
              <a:t>From the paper's own reference list; we did not search further.</a:t>
            </a:r>
            <a:endParaRPr lang="en-US" sz="1600" dirty="0"/>
          </a:p>
        </p:txBody>
      </p:sp>
      <p:sp>
        <p:nvSpPr>
          <p:cNvPr id="14" name="Text 11"/>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8229600" cy="320040"/>
          </a:xfrm>
          <a:prstGeom prst="rect">
            <a:avLst/>
          </a:prstGeom>
          <a:noFill/>
          <a:ln/>
        </p:spPr>
        <p:txBody>
          <a:bodyPr wrap="square" lIns="0" tIns="0" rIns="0" bIns="0" rtlCol="0" anchor="t"/>
          <a:lstStyle/>
          <a:p>
            <a:pPr indent="0" marL="0">
              <a:buNone/>
            </a:pPr>
            <a:r>
              <a:rPr lang="en-US" sz="1400" b="1" spc="200" kern="0" dirty="0">
                <a:solidFill>
                  <a:srgbClr val="F08A24"/>
                </a:solidFill>
                <a:latin typeface="Calibri" pitchFamily="34" charset="0"/>
                <a:ea typeface="Calibri" pitchFamily="34" charset="-122"/>
                <a:cs typeface="Calibri" pitchFamily="34" charset="-120"/>
              </a:rPr>
              <a:t>YOUR NUMBERS</a:t>
            </a:r>
            <a:endParaRPr lang="en-US" sz="1400" dirty="0"/>
          </a:p>
        </p:txBody>
      </p:sp>
      <p:sp>
        <p:nvSpPr>
          <p:cNvPr id="3" name="Text 1"/>
          <p:cNvSpPr txBox="1"/>
          <p:nvPr/>
        </p:nvSpPr>
        <p:spPr>
          <a:xfrm>
            <a:off x="548640" y="548640"/>
            <a:ext cx="11091672" cy="731520"/>
          </a:xfrm>
          <a:prstGeom prst="rect">
            <a:avLst/>
          </a:prstGeom>
          <a:noFill/>
          <a:ln/>
        </p:spPr>
        <p:txBody>
          <a:bodyPr wrap="square" lIns="0" tIns="0" rIns="0" bIns="0" rtlCol="0" anchor="ctr"/>
          <a:lstStyle/>
          <a:p>
            <a:pPr indent="0" marL="0">
              <a:buNone/>
            </a:pPr>
            <a:r>
              <a:rPr lang="en-US" sz="3400" b="1" dirty="0">
                <a:solidFill>
                  <a:srgbClr val="1E293B"/>
                </a:solidFill>
                <a:latin typeface="Calibri" pitchFamily="34" charset="0"/>
                <a:ea typeface="Calibri" pitchFamily="34" charset="-122"/>
                <a:cs typeface="Calibri" pitchFamily="34" charset="-120"/>
              </a:rPr>
              <a:t>QAM16 at 10 dB, in detection terms</a:t>
            </a:r>
            <a:endParaRPr lang="en-US" sz="3400" dirty="0"/>
          </a:p>
        </p:txBody>
      </p:sp>
      <p:sp>
        <p:nvSpPr>
          <p:cNvPr id="4" name="Shape 2"/>
          <p:cNvSpPr/>
          <p:nvPr/>
        </p:nvSpPr>
        <p:spPr>
          <a:xfrm>
            <a:off x="548640" y="1554480"/>
            <a:ext cx="3520440" cy="2103120"/>
          </a:xfrm>
          <a:prstGeom prst="roundRect">
            <a:avLst>
              <a:gd name="adj" fmla="val 5217"/>
            </a:avLst>
          </a:prstGeom>
          <a:solidFill>
            <a:srgbClr val="EEF2F6"/>
          </a:solidFill>
          <a:ln w="12700">
            <a:solidFill>
              <a:srgbClr val="EEF2F6"/>
            </a:solidFill>
            <a:prstDash val="solid"/>
          </a:ln>
        </p:spPr>
      </p:sp>
      <p:sp>
        <p:nvSpPr>
          <p:cNvPr id="5" name="Text 3"/>
          <p:cNvSpPr txBox="1"/>
          <p:nvPr/>
        </p:nvSpPr>
        <p:spPr>
          <a:xfrm>
            <a:off x="822960" y="1691640"/>
            <a:ext cx="3017520" cy="914400"/>
          </a:xfrm>
          <a:prstGeom prst="rect">
            <a:avLst/>
          </a:prstGeom>
          <a:noFill/>
          <a:ln/>
        </p:spPr>
        <p:txBody>
          <a:bodyPr wrap="square" lIns="0" tIns="0" rIns="0" bIns="0" rtlCol="0" anchor="b"/>
          <a:lstStyle/>
          <a:p>
            <a:pPr algn="l" indent="0" marL="0">
              <a:buNone/>
            </a:pPr>
            <a:r>
              <a:rPr lang="en-US" sz="3800" b="1" dirty="0">
                <a:solidFill>
                  <a:srgbClr val="F08A24"/>
                </a:solidFill>
                <a:latin typeface="Calibri" pitchFamily="34" charset="0"/>
                <a:ea typeface="Calibri" pitchFamily="34" charset="-122"/>
                <a:cs typeface="Calibri" pitchFamily="34" charset="-120"/>
              </a:rPr>
              <a:t>292 / 2,100</a:t>
            </a:r>
            <a:endParaRPr lang="en-US" sz="3800" dirty="0"/>
          </a:p>
        </p:txBody>
      </p:sp>
      <p:sp>
        <p:nvSpPr>
          <p:cNvPr id="6" name="Text 4"/>
          <p:cNvSpPr txBox="1"/>
          <p:nvPr/>
        </p:nvSpPr>
        <p:spPr>
          <a:xfrm>
            <a:off x="822960" y="2651760"/>
            <a:ext cx="301752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missed: miss rate 13.9%</a:t>
            </a:r>
            <a:endParaRPr lang="en-US" sz="1900" dirty="0"/>
          </a:p>
        </p:txBody>
      </p:sp>
      <p:sp>
        <p:nvSpPr>
          <p:cNvPr id="7" name="Shape 5"/>
          <p:cNvSpPr/>
          <p:nvPr/>
        </p:nvSpPr>
        <p:spPr>
          <a:xfrm>
            <a:off x="4343400" y="1554480"/>
            <a:ext cx="3520440" cy="2103120"/>
          </a:xfrm>
          <a:prstGeom prst="roundRect">
            <a:avLst>
              <a:gd name="adj" fmla="val 5217"/>
            </a:avLst>
          </a:prstGeom>
          <a:solidFill>
            <a:srgbClr val="EEF2F6"/>
          </a:solidFill>
          <a:ln w="12700">
            <a:solidFill>
              <a:srgbClr val="EEF2F6"/>
            </a:solidFill>
            <a:prstDash val="solid"/>
          </a:ln>
        </p:spPr>
      </p:sp>
      <p:sp>
        <p:nvSpPr>
          <p:cNvPr id="8" name="Text 6"/>
          <p:cNvSpPr txBox="1"/>
          <p:nvPr/>
        </p:nvSpPr>
        <p:spPr>
          <a:xfrm>
            <a:off x="4617720" y="1691640"/>
            <a:ext cx="3017520" cy="914400"/>
          </a:xfrm>
          <a:prstGeom prst="rect">
            <a:avLst/>
          </a:prstGeom>
          <a:noFill/>
          <a:ln/>
        </p:spPr>
        <p:txBody>
          <a:bodyPr wrap="square" lIns="0" tIns="0" rIns="0" bIns="0" rtlCol="0" anchor="b"/>
          <a:lstStyle/>
          <a:p>
            <a:pPr algn="l" indent="0" marL="0">
              <a:buNone/>
            </a:pPr>
            <a:r>
              <a:rPr lang="en-US" sz="3800" b="1" dirty="0">
                <a:solidFill>
                  <a:srgbClr val="1E293B"/>
                </a:solidFill>
                <a:latin typeface="Calibri" pitchFamily="34" charset="0"/>
                <a:ea typeface="Calibri" pitchFamily="34" charset="-122"/>
                <a:cs typeface="Calibri" pitchFamily="34" charset="-120"/>
              </a:rPr>
              <a:t>128 / 6,300</a:t>
            </a:r>
            <a:endParaRPr lang="en-US" sz="3800" dirty="0"/>
          </a:p>
        </p:txBody>
      </p:sp>
      <p:sp>
        <p:nvSpPr>
          <p:cNvPr id="9" name="Text 7"/>
          <p:cNvSpPr txBox="1"/>
          <p:nvPr/>
        </p:nvSpPr>
        <p:spPr>
          <a:xfrm>
            <a:off x="4617720" y="2651760"/>
            <a:ext cx="301752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false alarms: rate 2.0%</a:t>
            </a:r>
            <a:endParaRPr lang="en-US" sz="1900" dirty="0"/>
          </a:p>
        </p:txBody>
      </p:sp>
      <p:sp>
        <p:nvSpPr>
          <p:cNvPr id="10" name="Shape 8"/>
          <p:cNvSpPr/>
          <p:nvPr/>
        </p:nvSpPr>
        <p:spPr>
          <a:xfrm>
            <a:off x="8138160" y="1554480"/>
            <a:ext cx="3520440" cy="2103120"/>
          </a:xfrm>
          <a:prstGeom prst="roundRect">
            <a:avLst>
              <a:gd name="adj" fmla="val 5217"/>
            </a:avLst>
          </a:prstGeom>
          <a:solidFill>
            <a:srgbClr val="EEF2F6"/>
          </a:solidFill>
          <a:ln w="12700">
            <a:solidFill>
              <a:srgbClr val="EEF2F6"/>
            </a:solidFill>
            <a:prstDash val="solid"/>
          </a:ln>
        </p:spPr>
      </p:sp>
      <p:sp>
        <p:nvSpPr>
          <p:cNvPr id="11" name="Text 9"/>
          <p:cNvSpPr txBox="1"/>
          <p:nvPr/>
        </p:nvSpPr>
        <p:spPr>
          <a:xfrm>
            <a:off x="8412480" y="1691640"/>
            <a:ext cx="3017520" cy="914400"/>
          </a:xfrm>
          <a:prstGeom prst="rect">
            <a:avLst/>
          </a:prstGeom>
          <a:noFill/>
          <a:ln/>
        </p:spPr>
        <p:txBody>
          <a:bodyPr wrap="square" lIns="0" tIns="0" rIns="0" bIns="0" rtlCol="0" anchor="b"/>
          <a:lstStyle/>
          <a:p>
            <a:pPr algn="l" indent="0" marL="0">
              <a:buNone/>
            </a:pPr>
            <a:r>
              <a:rPr lang="en-US" sz="3800" b="1" dirty="0">
                <a:solidFill>
                  <a:srgbClr val="1E293B"/>
                </a:solidFill>
                <a:latin typeface="Calibri" pitchFamily="34" charset="0"/>
                <a:ea typeface="Calibri" pitchFamily="34" charset="-122"/>
                <a:cs typeface="Calibri" pitchFamily="34" charset="-120"/>
              </a:rPr>
              <a:t>1,808 / 1,936</a:t>
            </a:r>
            <a:endParaRPr lang="en-US" sz="3800" dirty="0"/>
          </a:p>
        </p:txBody>
      </p:sp>
      <p:sp>
        <p:nvSpPr>
          <p:cNvPr id="12" name="Text 10"/>
          <p:cNvSpPr txBox="1"/>
          <p:nvPr/>
        </p:nvSpPr>
        <p:spPr>
          <a:xfrm>
            <a:off x="8412480" y="2651760"/>
            <a:ext cx="3017520" cy="731520"/>
          </a:xfrm>
          <a:prstGeom prst="rect">
            <a:avLst/>
          </a:prstGeom>
          <a:noFill/>
          <a:ln/>
        </p:spPr>
        <p:txBody>
          <a:bodyPr wrap="square" lIns="0" tIns="0" rIns="0" bIns="0" rtlCol="0" anchor="t"/>
          <a:lstStyle/>
          <a:p>
            <a:pPr algn="l" indent="0" marL="0">
              <a:buNone/>
            </a:pPr>
            <a:r>
              <a:rPr lang="en-US" sz="1900" dirty="0">
                <a:solidFill>
                  <a:srgbClr val="5B6B7F"/>
                </a:solidFill>
                <a:latin typeface="Calibri" pitchFamily="34" charset="0"/>
                <a:ea typeface="Calibri" pitchFamily="34" charset="-122"/>
                <a:cs typeface="Calibri" pitchFamily="34" charset="-120"/>
              </a:rPr>
              <a:t>of the “QAM16” calls were right: precision 93.4%</a:t>
            </a:r>
            <a:endParaRPr lang="en-US" sz="1900" dirty="0"/>
          </a:p>
        </p:txBody>
      </p:sp>
      <p:sp>
        <p:nvSpPr>
          <p:cNvPr id="13" name="Text 11"/>
          <p:cNvSpPr txBox="1"/>
          <p:nvPr/>
        </p:nvSpPr>
        <p:spPr>
          <a:xfrm>
            <a:off x="548640" y="3886200"/>
            <a:ext cx="11091672" cy="457200"/>
          </a:xfrm>
          <a:prstGeom prst="rect">
            <a:avLst/>
          </a:prstGeom>
          <a:noFill/>
          <a:ln/>
        </p:spPr>
        <p:txBody>
          <a:bodyPr wrap="square" lIns="0" tIns="0" rIns="0" bIns="0" rtlCol="0" anchor="t"/>
          <a:lstStyle/>
          <a:p>
            <a:pPr indent="0" marL="0">
              <a:buNone/>
            </a:pPr>
            <a:r>
              <a:rPr lang="en-US" sz="1900" dirty="0">
                <a:solidFill>
                  <a:srgbClr val="5B6B7F"/>
                </a:solidFill>
                <a:latin typeface="Calibri" pitchFamily="34" charset="0"/>
                <a:ea typeface="Calibri" pitchFamily="34" charset="-122"/>
                <a:cs typeface="Calibri" pitchFamily="34" charset="-120"/>
              </a:rPr>
              <a:t>False alarms are counted against the 6,300 frames that were not QAM16.</a:t>
            </a:r>
            <a:endParaRPr lang="en-US" sz="1900" dirty="0"/>
          </a:p>
        </p:txBody>
      </p:sp>
      <p:sp>
        <p:nvSpPr>
          <p:cNvPr id="14" name="Text 12"/>
          <p:cNvSpPr txBox="1"/>
          <p:nvPr/>
        </p:nvSpPr>
        <p:spPr>
          <a:xfrm>
            <a:off x="548640" y="4572000"/>
            <a:ext cx="11091672" cy="640080"/>
          </a:xfrm>
          <a:prstGeom prst="rect">
            <a:avLst/>
          </a:prstGeom>
          <a:noFill/>
          <a:ln/>
        </p:spPr>
        <p:txBody>
          <a:bodyPr wrap="square" lIns="0" tIns="0" rIns="0" bIns="0" rtlCol="0" anchor="ctr"/>
          <a:lstStyle/>
          <a:p>
            <a:pPr indent="0" marL="0">
              <a:buNone/>
            </a:pPr>
            <a:r>
              <a:rPr lang="en-US" sz="2400" b="1" dirty="0">
                <a:solidFill>
                  <a:srgbClr val="0F1B2D"/>
                </a:solidFill>
                <a:latin typeface="Calibri" pitchFamily="34" charset="0"/>
                <a:ea typeface="Calibri" pitchFamily="34" charset="-122"/>
                <a:cs typeface="Calibri" pitchFamily="34" charset="-120"/>
              </a:rPr>
              <a:t>Recall = 1 − miss rate.</a:t>
            </a:r>
            <a:endParaRPr lang="en-US" sz="2400" dirty="0"/>
          </a:p>
        </p:txBody>
      </p:sp>
      <p:sp>
        <p:nvSpPr>
          <p:cNvPr id="16" name="Text 13"/>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5B6B7F"/>
                </a:solidFill>
                <a:latin typeface="Calibri" pitchFamily="34" charset="0"/>
                <a:ea typeface="Calibri" pitchFamily="34" charset="-122"/>
                <a:cs typeface="Calibri"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8229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In short</a:t>
            </a:r>
            <a:endParaRPr lang="en-US" sz="4000" dirty="0"/>
          </a:p>
        </p:txBody>
      </p:sp>
      <p:sp>
        <p:nvSpPr>
          <p:cNvPr id="3" name="Shape 1"/>
          <p:cNvSpPr/>
          <p:nvPr/>
        </p:nvSpPr>
        <p:spPr>
          <a:xfrm>
            <a:off x="548640" y="1691640"/>
            <a:ext cx="640080" cy="640080"/>
          </a:xfrm>
          <a:prstGeom prst="ellipse">
            <a:avLst/>
          </a:prstGeom>
          <a:solidFill>
            <a:srgbClr val="F08A24"/>
          </a:solidFill>
          <a:ln w="12700">
            <a:solidFill>
              <a:srgbClr val="F08A24"/>
            </a:solidFill>
            <a:prstDash val="solid"/>
          </a:ln>
        </p:spPr>
      </p:sp>
      <p:sp>
        <p:nvSpPr>
          <p:cNvPr id="4" name="Text 2"/>
          <p:cNvSpPr txBox="1"/>
          <p:nvPr/>
        </p:nvSpPr>
        <p:spPr>
          <a:xfrm>
            <a:off x="548640" y="1691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5" name="Text 3"/>
          <p:cNvSpPr txBox="1"/>
          <p:nvPr/>
        </p:nvSpPr>
        <p:spPr>
          <a:xfrm>
            <a:off x="1463040" y="1600200"/>
            <a:ext cx="10177272" cy="822960"/>
          </a:xfrm>
          <a:prstGeom prst="rect">
            <a:avLst/>
          </a:prstGeom>
          <a:noFill/>
          <a:ln/>
        </p:spPr>
        <p:txBody>
          <a:bodyPr wrap="square" lIns="0" tIns="0" rIns="0" bIns="0" rtlCol="0" anchor="ctr"/>
          <a:lstStyle/>
          <a:p>
            <a:pPr indent="0" marL="0">
              <a:buNone/>
            </a:pPr>
            <a:r>
              <a:rPr lang="en-US" sz="2700" dirty="0">
                <a:solidFill>
                  <a:srgbClr val="FFFFFF"/>
                </a:solidFill>
                <a:latin typeface="Calibri" pitchFamily="34" charset="0"/>
                <a:ea typeface="Calibri" pitchFamily="34" charset="-122"/>
                <a:cs typeface="Calibri" pitchFamily="34" charset="-120"/>
              </a:rPr>
              <a:t>The four-signal table came from a network trained only on those four.</a:t>
            </a:r>
            <a:endParaRPr lang="en-US" sz="2700" dirty="0"/>
          </a:p>
        </p:txBody>
      </p:sp>
      <p:sp>
        <p:nvSpPr>
          <p:cNvPr id="6" name="Shape 4"/>
          <p:cNvSpPr/>
          <p:nvPr/>
        </p:nvSpPr>
        <p:spPr>
          <a:xfrm>
            <a:off x="548640" y="2834640"/>
            <a:ext cx="640080" cy="640080"/>
          </a:xfrm>
          <a:prstGeom prst="ellipse">
            <a:avLst/>
          </a:prstGeom>
          <a:solidFill>
            <a:srgbClr val="F08A24"/>
          </a:solidFill>
          <a:ln w="12700">
            <a:solidFill>
              <a:srgbClr val="F08A24"/>
            </a:solidFill>
            <a:prstDash val="solid"/>
          </a:ln>
        </p:spPr>
      </p:sp>
      <p:sp>
        <p:nvSpPr>
          <p:cNvPr id="7" name="Text 5"/>
          <p:cNvSpPr txBox="1"/>
          <p:nvPr/>
        </p:nvSpPr>
        <p:spPr>
          <a:xfrm>
            <a:off x="548640" y="2834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8" name="Text 6"/>
          <p:cNvSpPr txBox="1"/>
          <p:nvPr/>
        </p:nvSpPr>
        <p:spPr>
          <a:xfrm>
            <a:off x="1463040" y="2743200"/>
            <a:ext cx="10177272" cy="822960"/>
          </a:xfrm>
          <a:prstGeom prst="rect">
            <a:avLst/>
          </a:prstGeom>
          <a:noFill/>
          <a:ln/>
        </p:spPr>
        <p:txBody>
          <a:bodyPr wrap="square" lIns="0" tIns="0" rIns="0" bIns="0" rtlCol="0" anchor="ctr"/>
          <a:lstStyle/>
          <a:p>
            <a:pPr indent="0" marL="0">
              <a:buNone/>
            </a:pPr>
            <a:r>
              <a:rPr lang="en-US" sz="2700" dirty="0">
                <a:solidFill>
                  <a:srgbClr val="FFFFFF"/>
                </a:solidFill>
                <a:latin typeface="Calibri" pitchFamily="34" charset="0"/>
                <a:ea typeface="Calibri" pitchFamily="34" charset="-122"/>
                <a:cs typeface="Calibri" pitchFamily="34" charset="-120"/>
              </a:rPr>
              <a:t>Every network was trained by us, from a random start. No outside weights.</a:t>
            </a:r>
            <a:endParaRPr lang="en-US" sz="2700" dirty="0"/>
          </a:p>
        </p:txBody>
      </p:sp>
      <p:sp>
        <p:nvSpPr>
          <p:cNvPr id="9" name="Shape 7"/>
          <p:cNvSpPr/>
          <p:nvPr/>
        </p:nvSpPr>
        <p:spPr>
          <a:xfrm>
            <a:off x="548640" y="3977640"/>
            <a:ext cx="640080" cy="640080"/>
          </a:xfrm>
          <a:prstGeom prst="ellipse">
            <a:avLst/>
          </a:prstGeom>
          <a:solidFill>
            <a:srgbClr val="F08A24"/>
          </a:solidFill>
          <a:ln w="12700">
            <a:solidFill>
              <a:srgbClr val="F08A24"/>
            </a:solidFill>
            <a:prstDash val="solid"/>
          </a:ln>
        </p:spPr>
      </p:sp>
      <p:sp>
        <p:nvSpPr>
          <p:cNvPr id="10" name="Text 8"/>
          <p:cNvSpPr txBox="1"/>
          <p:nvPr/>
        </p:nvSpPr>
        <p:spPr>
          <a:xfrm>
            <a:off x="548640" y="397764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1" name="Text 9"/>
          <p:cNvSpPr txBox="1"/>
          <p:nvPr/>
        </p:nvSpPr>
        <p:spPr>
          <a:xfrm>
            <a:off x="1463040" y="3886200"/>
            <a:ext cx="10177272" cy="822960"/>
          </a:xfrm>
          <a:prstGeom prst="rect">
            <a:avLst/>
          </a:prstGeom>
          <a:noFill/>
          <a:ln/>
        </p:spPr>
        <p:txBody>
          <a:bodyPr wrap="square" lIns="0" tIns="0" rIns="0" bIns="0" rtlCol="0" anchor="ctr"/>
          <a:lstStyle/>
          <a:p>
            <a:pPr indent="0" marL="0">
              <a:buNone/>
            </a:pPr>
            <a:r>
              <a:rPr lang="en-US" sz="2700" dirty="0">
                <a:solidFill>
                  <a:srgbClr val="FFFFFF"/>
                </a:solidFill>
                <a:latin typeface="Calibri" pitchFamily="34" charset="0"/>
                <a:ea typeface="Calibri" pitchFamily="34" charset="-122"/>
                <a:cs typeface="Calibri" pitchFamily="34" charset="-120"/>
              </a:rPr>
              <a:t>One network for all classes: no piece per modulation.</a:t>
            </a:r>
            <a:endParaRPr lang="en-US" sz="2700" dirty="0"/>
          </a:p>
        </p:txBody>
      </p:sp>
      <p:sp>
        <p:nvSpPr>
          <p:cNvPr id="12" name="Text 10"/>
          <p:cNvSpPr txBox="1"/>
          <p:nvPr/>
        </p:nvSpPr>
        <p:spPr>
          <a:xfrm>
            <a:off x="548640" y="5257800"/>
            <a:ext cx="11091672" cy="640080"/>
          </a:xfrm>
          <a:prstGeom prst="rect">
            <a:avLst/>
          </a:prstGeom>
          <a:noFill/>
          <a:ln/>
        </p:spPr>
        <p:txBody>
          <a:bodyPr wrap="square" lIns="0" tIns="0" rIns="0" bIns="0" rtlCol="0" anchor="t"/>
          <a:lstStyle/>
          <a:p>
            <a:pPr indent="0" marL="0">
              <a:buNone/>
            </a:pPr>
            <a:r>
              <a:rPr lang="en-US" sz="2400" b="1" dirty="0">
                <a:solidFill>
                  <a:srgbClr val="F08A24"/>
                </a:solidFill>
                <a:latin typeface="Calibri" pitchFamily="34" charset="0"/>
                <a:ea typeface="Calibri" pitchFamily="34" charset="-122"/>
                <a:cs typeface="Calibri" pitchFamily="34" charset="-120"/>
              </a:rPr>
              <a:t>Next: </a:t>
            </a:r>
            <a:pPr indent="0" marL="0">
              <a:buNone/>
            </a:pPr>
            <a:r>
              <a:rPr lang="en-US" sz="2400" dirty="0">
                <a:solidFill>
                  <a:srgbClr val="C9D3E0"/>
                </a:solidFill>
                <a:latin typeface="Calibri" pitchFamily="34" charset="0"/>
                <a:ea typeface="Calibri" pitchFamily="34" charset="-122"/>
                <a:cs typeface="Calibri" pitchFamily="34" charset="-120"/>
              </a:rPr>
              <a:t>any step you'd like explained in more depth.</a:t>
            </a:r>
            <a:endParaRPr lang="en-US" sz="2400" dirty="0"/>
          </a:p>
        </p:txBody>
      </p:sp>
      <p:sp>
        <p:nvSpPr>
          <p:cNvPr id="14" name="Text 11"/>
          <p:cNvSpPr txBox="1"/>
          <p:nvPr/>
        </p:nvSpPr>
        <p:spPr>
          <a:xfrm>
            <a:off x="11183112" y="6400800"/>
            <a:ext cx="457200" cy="274320"/>
          </a:xfrm>
          <a:prstGeom prst="rect">
            <a:avLst/>
          </a:prstGeom>
          <a:noFill/>
          <a:ln/>
        </p:spPr>
        <p:txBody>
          <a:bodyPr wrap="square" lIns="0" tIns="0" rIns="0" bIns="0" rtlCol="0" anchor="t"/>
          <a:lstStyle/>
          <a:p>
            <a:pPr algn="r" indent="0" marL="0">
              <a:buNone/>
            </a:pPr>
            <a:r>
              <a:rPr lang="en-US" sz="1200" dirty="0">
                <a:solidFill>
                  <a:srgbClr val="8FA0B5"/>
                </a:solidFill>
                <a:latin typeface="Calibri" pitchFamily="34" charset="0"/>
                <a:ea typeface="Calibri" pitchFamily="34" charset="-122"/>
                <a:cs typeface="Calibri" pitchFamily="34" charset="-120"/>
              </a:rPr>
              <a:t>15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we did, step by step</dc:title>
  <dc:subject>PptxGenJS Presentation</dc:subject>
  <dc:creator>Yusuf Bilal Cetinkaya</dc:creator>
  <cp:lastModifiedBy>Yusuf Bilal Cetinkaya</cp:lastModifiedBy>
  <cp:revision>1</cp:revision>
  <dcterms:created xsi:type="dcterms:W3CDTF">2026-10-12T19:57:36Z</dcterms:created>
  <dcterms:modified xsi:type="dcterms:W3CDTF">2026-10-12T19:57:36Z</dcterms:modified>
</cp:coreProperties>
</file>