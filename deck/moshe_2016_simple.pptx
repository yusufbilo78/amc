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wrong of 8,400</c:v>
                </c:pt>
              </c:strCache>
            </c:strRef>
          </c:tx>
          <c:spPr>
            <a:solidFill>
              <a:srgbClr val="0F1B2D"/>
            </a:solidFill>
            <a:effectLst/>
          </c:spPr>
          <c:invertIfNegative val="0"/>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F08A24"/>
              </a:solidFill>
              <a:effectLst/>
            </c:spPr>
          </c:dPt>
          <c:dPt>
            <c:idx val="5"/>
            <c:invertIfNegative val="0"/>
            <c:bubble3D val="0"/>
            <c:spPr>
              <a:solidFill>
                <a:srgbClr val="F08A24"/>
              </a:solidFill>
              <a:effectLst/>
            </c:spPr>
          </c:dPt>
          <c:dPt>
            <c:idx val="6"/>
            <c:invertIfNegative val="0"/>
            <c:bubble3D val="0"/>
            <c:spPr>
              <a:solidFill>
                <a:srgbClr val="F08A24"/>
              </a:solidFill>
              <a:effectLst/>
            </c:spPr>
          </c:dPt>
          <c:dPt>
            <c:idx val="7"/>
            <c:invertIfNegative val="0"/>
            <c:bubble3D val="0"/>
            <c:spPr>
              <a:solidFill>
                <a:srgbClr val="F08A24"/>
              </a:solidFill>
              <a:effectLst/>
            </c:spPr>
          </c:dPt>
          <c:cat>
            <c:multiLvlStrRef>
              <c:f>Sheet1!$A$2:$A$9</c:f>
              <c:multiLvlStrCache>
                <c:ptCount val="8"/>
                <c:lvl>
                  <c:pt idx="0">
                    <c:v>+10 dB</c:v>
                  </c:pt>
                  <c:pt idx="1">
                    <c:v>+6 dB</c:v>
                  </c:pt>
                  <c:pt idx="2">
                    <c:v>+4 dB</c:v>
                  </c:pt>
                  <c:pt idx="3">
                    <c:v>+2 dB</c:v>
                  </c:pt>
                  <c:pt idx="4">
                    <c:v>0 dB</c:v>
                  </c:pt>
                  <c:pt idx="5">
                    <c:v>-2 dB</c:v>
                  </c:pt>
                  <c:pt idx="6">
                    <c:v>-4 dB</c:v>
                  </c:pt>
                  <c:pt idx="7">
                    <c:v>-6 dB</c:v>
                  </c:pt>
                </c:lvl>
              </c:multiLvlStrCache>
            </c:multiLvlStrRef>
          </c:cat>
          <c:val>
            <c:numRef>
              <c:f>Sheet1!$B$2:$B$9</c:f>
              <c:numCache>
                <c:formatCode>General</c:formatCode>
                <c:ptCount val="8"/>
                <c:pt idx="0">
                  <c:v>448</c:v>
                </c:pt>
                <c:pt idx="1">
                  <c:v>473</c:v>
                </c:pt>
                <c:pt idx="2">
                  <c:v>453</c:v>
                </c:pt>
                <c:pt idx="3">
                  <c:v>486</c:v>
                </c:pt>
                <c:pt idx="4">
                  <c:v>609</c:v>
                </c:pt>
                <c:pt idx="5">
                  <c:v>1042</c:v>
                </c:pt>
                <c:pt idx="6">
                  <c:v>2174</c:v>
                </c:pt>
                <c:pt idx="7">
                  <c:v>2842</c:v>
                </c:pt>
              </c:numCache>
            </c:numRef>
          </c:val>
        </c:ser>
        <c:dLbls>
          <c:numFmt formatCode="#,##0" sourceLinked="0"/>
          <c:txPr>
            <a:bodyPr/>
            <a:lstStyle/>
            <a:p>
              <a:pPr>
                <a:defRPr b="0" i="0" strike="noStrike" sz="1300" u="none">
                  <a:solidFill>
                    <a:srgbClr val="1E293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16 symbols</c:v>
                </c:pt>
              </c:strCache>
            </c:strRef>
          </c:tx>
          <c:spPr>
            <a:solidFill>
              <a:srgbClr val="0F1B2D"/>
            </a:solidFill>
            <a:ln w="31750" cap="flat">
              <a:solidFill>
                <a:srgbClr val="0F1B2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F1B2D"/>
              </a:solidFill>
              <a:ln w="9525" cap="flat">
                <a:solidFill>
                  <a:srgbClr val="0F1B2D"/>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Sheet1!$B$2:$B$21</c:f>
              <c:numCache>
                <c:formatCode>General</c:formatCode>
                <c:ptCount val="20"/>
                <c:pt idx="0">
                  <c:v>74.9</c:v>
                </c:pt>
                <c:pt idx="1">
                  <c:v>74.5</c:v>
                </c:pt>
                <c:pt idx="2">
                  <c:v>72.5</c:v>
                </c:pt>
                <c:pt idx="3">
                  <c:v>68</c:v>
                </c:pt>
                <c:pt idx="4">
                  <c:v>61.1</c:v>
                </c:pt>
                <c:pt idx="5">
                  <c:v>55.6</c:v>
                </c:pt>
                <c:pt idx="6">
                  <c:v>46.4</c:v>
                </c:pt>
                <c:pt idx="7">
                  <c:v>33.8</c:v>
                </c:pt>
                <c:pt idx="8">
                  <c:v>25.9</c:v>
                </c:pt>
                <c:pt idx="9">
                  <c:v>12.4</c:v>
                </c:pt>
                <c:pt idx="10">
                  <c:v>7.3</c:v>
                </c:pt>
                <c:pt idx="11">
                  <c:v>5.8</c:v>
                </c:pt>
                <c:pt idx="12">
                  <c:v>5.4</c:v>
                </c:pt>
                <c:pt idx="13">
                  <c:v>5.6</c:v>
                </c:pt>
                <c:pt idx="14">
                  <c:v>5.9</c:v>
                </c:pt>
                <c:pt idx="15">
                  <c:v>5.3</c:v>
                </c:pt>
                <c:pt idx="16">
                  <c:v>5.8</c:v>
                </c:pt>
                <c:pt idx="17">
                  <c:v>6.2</c:v>
                </c:pt>
                <c:pt idx="18">
                  <c:v>5.6</c:v>
                </c:pt>
                <c:pt idx="19">
                  <c:v>6</c:v>
                </c:pt>
              </c:numCache>
            </c:numRef>
          </c:val>
          <c:smooth val="0"/>
        </c:ser>
        <c:ser>
          <c:idx val="1"/>
          <c:order val="1"/>
          <c:tx>
            <c:strRef>
              <c:f>Sheet1!$C$1</c:f>
              <c:strCache>
                <c:ptCount val="1"/>
                <c:pt idx="0">
                  <c:v>8 symbols</c:v>
                </c:pt>
              </c:strCache>
            </c:strRef>
          </c:tx>
          <c:spPr>
            <a:solidFill>
              <a:srgbClr val="F08A24"/>
            </a:solidFill>
            <a:ln w="31750" cap="flat">
              <a:solidFill>
                <a:srgbClr val="F08A2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08A24"/>
              </a:solidFill>
              <a:ln w="9525" cap="flat">
                <a:solidFill>
                  <a:srgbClr val="F08A24"/>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Sheet1!$C$2:$C$21</c:f>
              <c:numCache>
                <c:formatCode>General</c:formatCode>
                <c:ptCount val="20"/>
                <c:pt idx="0">
                  <c:v>74.5</c:v>
                </c:pt>
                <c:pt idx="1">
                  <c:v>74.7</c:v>
                </c:pt>
                <c:pt idx="2">
                  <c:v>73.9</c:v>
                </c:pt>
                <c:pt idx="3">
                  <c:v>71.5</c:v>
                </c:pt>
                <c:pt idx="4">
                  <c:v>64.9</c:v>
                </c:pt>
                <c:pt idx="5">
                  <c:v>58.3</c:v>
                </c:pt>
                <c:pt idx="6">
                  <c:v>51.4</c:v>
                </c:pt>
                <c:pt idx="7">
                  <c:v>42.3</c:v>
                </c:pt>
                <c:pt idx="8">
                  <c:v>34.7</c:v>
                </c:pt>
                <c:pt idx="9">
                  <c:v>24.5</c:v>
                </c:pt>
                <c:pt idx="10">
                  <c:v>17.7</c:v>
                </c:pt>
                <c:pt idx="11">
                  <c:v>15.2</c:v>
                </c:pt>
                <c:pt idx="12">
                  <c:v>15.9</c:v>
                </c:pt>
                <c:pt idx="13">
                  <c:v>15.7</c:v>
                </c:pt>
                <c:pt idx="14">
                  <c:v>16</c:v>
                </c:pt>
                <c:pt idx="15">
                  <c:v>15</c:v>
                </c:pt>
                <c:pt idx="16">
                  <c:v>15.5</c:v>
                </c:pt>
                <c:pt idx="17">
                  <c:v>15.8</c:v>
                </c:pt>
                <c:pt idx="18">
                  <c:v>15.3</c:v>
                </c:pt>
                <c:pt idx="19">
                  <c:v>15.2</c:v>
                </c:pt>
              </c:numCache>
            </c:numRef>
          </c:val>
          <c:smooth val="0"/>
        </c:ser>
        <c:ser>
          <c:idx val="2"/>
          <c:order val="2"/>
          <c:tx>
            <c:strRef>
              <c:f>Sheet1!$D$1</c:f>
              <c:strCache>
                <c:ptCount val="1"/>
                <c:pt idx="0">
                  <c:v>4 symbols</c:v>
                </c:pt>
              </c:strCache>
            </c:strRef>
          </c:tx>
          <c:spPr>
            <a:solidFill>
              <a:srgbClr val="8FA0B5"/>
            </a:solidFill>
            <a:ln w="31750" cap="flat">
              <a:solidFill>
                <a:srgbClr val="8FA0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8FA0B5"/>
              </a:solidFill>
              <a:ln w="9525" cap="flat">
                <a:solidFill>
                  <a:srgbClr val="8FA0B5"/>
                </a:solidFill>
                <a:prstDash val="solid"/>
                <a:round/>
              </a:ln>
              <a:effectLst/>
            </c:spPr>
          </c:marker>
          <c:cat>
            <c:multiLvlStrRef>
              <c:f>Sheet1!$A$2:$A$21</c:f>
              <c:multiLvlStrCache>
                <c:ptCount val="20"/>
                <c:lvl>
                  <c:pt idx="0">
                    <c:v>-20</c:v>
                  </c:pt>
                  <c:pt idx="1">
                    <c:v>-18</c:v>
                  </c:pt>
                  <c:pt idx="2">
                    <c:v>-16</c:v>
                  </c:pt>
                  <c:pt idx="3">
                    <c:v>-14</c:v>
                  </c:pt>
                  <c:pt idx="4">
                    <c:v>-12</c:v>
                  </c:pt>
                  <c:pt idx="5">
                    <c:v>-10</c:v>
                  </c:pt>
                  <c:pt idx="6">
                    <c:v>-8</c:v>
                  </c:pt>
                  <c:pt idx="7">
                    <c:v>-6</c:v>
                  </c:pt>
                  <c:pt idx="8">
                    <c:v>-4</c:v>
                  </c:pt>
                  <c:pt idx="9">
                    <c:v>-2</c:v>
                  </c:pt>
                  <c:pt idx="10">
                    <c:v>0</c:v>
                  </c:pt>
                  <c:pt idx="11">
                    <c:v>2</c:v>
                  </c:pt>
                  <c:pt idx="12">
                    <c:v>4</c:v>
                  </c:pt>
                  <c:pt idx="13">
                    <c:v>6</c:v>
                  </c:pt>
                  <c:pt idx="14">
                    <c:v>8</c:v>
                  </c:pt>
                  <c:pt idx="15">
                    <c:v>10</c:v>
                  </c:pt>
                  <c:pt idx="16">
                    <c:v>12</c:v>
                  </c:pt>
                  <c:pt idx="17">
                    <c:v>14</c:v>
                  </c:pt>
                  <c:pt idx="18">
                    <c:v>16</c:v>
                  </c:pt>
                  <c:pt idx="19">
                    <c:v>18</c:v>
                  </c:pt>
                </c:lvl>
              </c:multiLvlStrCache>
            </c:multiLvlStrRef>
          </c:cat>
          <c:val>
            <c:numRef>
              <c:f>Sheet1!$D$2:$D$21</c:f>
              <c:numCache>
                <c:formatCode>General</c:formatCode>
                <c:ptCount val="20"/>
                <c:pt idx="0">
                  <c:v>75.9</c:v>
                </c:pt>
                <c:pt idx="1">
                  <c:v>74.8</c:v>
                </c:pt>
                <c:pt idx="2">
                  <c:v>74.7</c:v>
                </c:pt>
                <c:pt idx="3">
                  <c:v>72.2</c:v>
                </c:pt>
                <c:pt idx="4">
                  <c:v>68.3</c:v>
                </c:pt>
                <c:pt idx="5">
                  <c:v>63.3</c:v>
                </c:pt>
                <c:pt idx="6">
                  <c:v>56.8</c:v>
                </c:pt>
                <c:pt idx="7">
                  <c:v>50.9</c:v>
                </c:pt>
                <c:pt idx="8">
                  <c:v>45</c:v>
                </c:pt>
                <c:pt idx="9">
                  <c:v>37.9</c:v>
                </c:pt>
                <c:pt idx="10">
                  <c:v>28.8</c:v>
                </c:pt>
                <c:pt idx="11">
                  <c:v>26</c:v>
                </c:pt>
                <c:pt idx="12">
                  <c:v>25.4</c:v>
                </c:pt>
                <c:pt idx="13">
                  <c:v>24.9</c:v>
                </c:pt>
                <c:pt idx="14">
                  <c:v>26.1</c:v>
                </c:pt>
                <c:pt idx="15">
                  <c:v>25</c:v>
                </c:pt>
                <c:pt idx="16">
                  <c:v>24</c:v>
                </c:pt>
                <c:pt idx="17">
                  <c:v>24.7</c:v>
                </c:pt>
                <c:pt idx="18">
                  <c:v>24.7</c:v>
                </c:pt>
                <c:pt idx="19">
                  <c:v>25.8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B7F"/>
                    </a:solidFill>
                    <a:latin typeface="Arial"/>
                  </a:defRPr>
                </a:pPr>
                <a:r>
                  <a:rPr sz="1100" b="0" i="0" u="none" strike="noStrike">
                    <a:solidFill>
                      <a:srgbClr val="5B6B7F"/>
                    </a:solidFill>
                    <a:latin typeface="Arial"/>
                  </a:rPr>
                  <a:t>label (dB)</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E3E8EE"/>
              </a:solidFill>
              <a:prstDash val="solid"/>
              <a:round/>
            </a:ln>
          </c:spPr>
        </c:majorGridlines>
        <c:title>
          <c:tx>
            <c:rich>
              <a:bodyPr/>
              <a:lstStyle/>
              <a:p>
                <a:pPr>
                  <a:defRPr sz="1100" b="0" i="0" u="none" strike="noStrike">
                    <a:solidFill>
                      <a:srgbClr val="5B6B7F"/>
                    </a:solidFill>
                    <a:latin typeface="Arial"/>
                  </a:defRPr>
                </a:pPr>
                <a:r>
                  <a:rPr sz="1100" b="0" i="0" u="none" strike="noStrike">
                    <a:solidFill>
                      <a:srgbClr val="5B6B7F"/>
                    </a:solidFill>
                    <a:latin typeface="Arial"/>
                  </a:rPr>
                  <a:t>% wrong</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7F"/>
                </a:solidFill>
                <a:latin typeface="Arial"/>
              </a:defRPr>
            </a:pPr>
            <a:endParaRPr lang="en-US"/>
          </a:p>
        </c:txPr>
        <c:crossAx val="2094734554"/>
        <c:crosses val="autoZero"/>
        <c:crossBetween val="between"/>
        <c:majorUnit val="20"/>
      </c:valAx>
      <c:spPr>
        <a:noFill/>
        <a:ln>
          <a:noFill/>
        </a:ln>
        <a:effectLst/>
      </c:spPr>
    </c:plotArea>
    <c:legend>
      <c:legendPos val="t"/>
      <c:overlay val="0"/>
      <c:txPr>
        <a:bodyPr/>
        <a:lstStyle/>
        <a:p>
          <a:pPr>
            <a:defRPr sz="1200">
              <a:solidFill>
                <a:srgbClr val="1E293B"/>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I'll open up our detector, step by step, on the four signals you asked about: BPSK, QPSK, QAM16 and QAM64. The picture is one QAM16 frame: sixteen points, spreading out as the noise grows. That's the whole talk: how many symbols, and how much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AMC means automatic modulation classification. A receiver gets a signal and has to say how it was modulated. You need that to watch the spectrum, to find interference, and for radios that adapt. My work has three steps: build a detector, open it up, then ask why it gets worse on a different transmitter. Today is the first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RML2016.10a, from DeepSig. It's simulated, and most papers use it. Eleven signal types, twenty noise levels, a thousand frames each. One frame is 128 samples: only sixteen symbols. Remember that. Today, the four in orange. BPSK and QPSK change only the phase; the QAMs also change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works in three steps. It looks at short pieces of the frame. It reads them in order, forwards and backwards; that's where most of the model is. Then it gives four scores, and the biggest wins. Once trained: same frame, same answer. And it can never say "I don't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is from a 2025 paper; the model is called ICRNNA. Our code comes from a colleague's version, with five small differences. I rebuilt it from the paper alone: 63.21 percent, against the paper's 63.24. So the number is real. The code and slides were written with Claude Code, an AI assistant. The numbers come from running that code, and what to test was my choice. [Say here who the colleague is and how the work before September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experiment: the detector learns on 70 percent of the frames, uses 15 to decide when to stop, and is tested on 15 it never saw. Fourteen times, with different splits. Result: 94 percent right at 10 dB and above. BPSK and QPSK almost perfect. At minus 20 dB, 25 percent: a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QAM16 frame, without noise. A symbol every eight samples, each on one of four levels. Four times four: sixteen points. Now the key point. QAM64 has sixty-four points, but a frame has only sixteen symbols. So a QAM64 frame can look like QAM16 even with no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what "10 dB" is. It's a setting in their code, not a measurement. It sets the noise amplitude, not the power, so one dB of label is really about two. I measured it in the file: 1.9. And at the same label, QAM64 has about 15 dB more signal than BPSK and QPSK. So "10 dB" is a different noise level for each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10 dB: rows are what was sent, columns what it said. Recall is a row, precision is a column. BPSK and QPSK: 99.6 percent. 448 mistakes out of 8,400, and 395 of them are QAM16 and QAM64 mixed up. One problem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turned the noise up. From 10 down to 2 dB the mistakes stay around 450 to 490. Nothing changes. It only breaks below 0 dB. So the mistakes at 10 dB are not noise. Then what are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length. I cut the frames to eight symbols, then four, and trained again. At low noise every curve goes flat: 5.7 percent wrong with sixteen symbols, 15.5 with eight, 25 with four. Almost all of it is the QAM pair. Noise decides where the curve drops. Symbols decide how low it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minus 20 dB there's no signal, but it still has to pick one. QPSK recall is 52 percent, which looks good. But precision is 25 percent: a guess. It just says BPSK or QPSK almost every time. So now every chart shows precision next to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ICRNNA a good choice? I trained four published models the same way, on all eleven types. They have the same parameter counts as in their papers, and accuracy within one point of what the papers publish. ICRNNA is first, but the top four are within one point, and above 10 dB they all stop near 91 percent. That limit is in the data, not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BPSK and QPSK are solved; the mistakes are QAM16 against QAM64. Those come from having only sixteen symbols, not from noise. And "10 dB" is a setting, not a measurement. Next: switch off the channel effects one at a time, and see which one the QAM mistakes follow.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1143000"/>
            <a:ext cx="6400800" cy="320040"/>
          </a:xfrm>
          <a:prstGeom prst="rect">
            <a:avLst/>
          </a:prstGeom>
          <a:noFill/>
          <a:ln/>
        </p:spPr>
        <p:txBody>
          <a:bodyPr wrap="square" lIns="0" tIns="0" rIns="0" bIns="0" rtlCol="0" anchor="t"/>
          <a:lstStyle/>
          <a:p>
            <a:pPr indent="0" marL="0">
              <a:buNone/>
            </a:pPr>
            <a:r>
              <a:rPr lang="en-US" sz="1300" b="1" spc="400" kern="0" dirty="0">
                <a:solidFill>
                  <a:srgbClr val="F08A24"/>
                </a:solidFill>
                <a:latin typeface="Calibri" pitchFamily="34" charset="0"/>
                <a:ea typeface="Calibri" pitchFamily="34" charset="-122"/>
                <a:cs typeface="Calibri" pitchFamily="34" charset="-120"/>
              </a:rPr>
              <a:t>AMC  ·  DATA FUSION LAB</a:t>
            </a:r>
            <a:endParaRPr lang="en-US" sz="1300" dirty="0"/>
          </a:p>
        </p:txBody>
      </p:sp>
      <p:sp>
        <p:nvSpPr>
          <p:cNvPr id="3" name="Text 1"/>
          <p:cNvSpPr txBox="1"/>
          <p:nvPr/>
        </p:nvSpPr>
        <p:spPr>
          <a:xfrm>
            <a:off x="548640" y="1554480"/>
            <a:ext cx="6583680" cy="155448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Telling four radio signals apart</a:t>
            </a:r>
            <a:endParaRPr lang="en-US" sz="4200" dirty="0"/>
          </a:p>
        </p:txBody>
      </p:sp>
      <p:sp>
        <p:nvSpPr>
          <p:cNvPr id="4" name="Text 2"/>
          <p:cNvSpPr txBox="1"/>
          <p:nvPr/>
        </p:nvSpPr>
        <p:spPr>
          <a:xfrm>
            <a:off x="548640" y="3246120"/>
            <a:ext cx="6400800" cy="457200"/>
          </a:xfrm>
          <a:prstGeom prst="rect">
            <a:avLst/>
          </a:prstGeom>
          <a:noFill/>
          <a:ln/>
        </p:spPr>
        <p:txBody>
          <a:bodyPr wrap="square" lIns="0" tIns="0" rIns="0" bIns="0" rtlCol="0" anchor="t"/>
          <a:lstStyle/>
          <a:p>
            <a:pPr indent="0" marL="0">
              <a:buNone/>
            </a:pPr>
            <a:r>
              <a:rPr lang="en-US" sz="2000" dirty="0">
                <a:solidFill>
                  <a:srgbClr val="C9D3E0"/>
                </a:solidFill>
                <a:latin typeface="Calibri" pitchFamily="34" charset="0"/>
                <a:ea typeface="Calibri" pitchFamily="34" charset="-122"/>
                <a:cs typeface="Calibri" pitchFamily="34" charset="-120"/>
              </a:rPr>
              <a:t>What our detector does, step by step</a:t>
            </a:r>
            <a:endParaRPr lang="en-US" sz="2000" dirty="0"/>
          </a:p>
        </p:txBody>
      </p:sp>
      <p:sp>
        <p:nvSpPr>
          <p:cNvPr id="5" name="Text 3"/>
          <p:cNvSpPr txBox="1"/>
          <p:nvPr/>
        </p:nvSpPr>
        <p:spPr>
          <a:xfrm>
            <a:off x="548640" y="3840480"/>
            <a:ext cx="6400800" cy="36576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BPSK  ·  QPSK  ·  QAM16  ·  QAM64</a:t>
            </a:r>
            <a:endParaRPr lang="en-US" sz="1600" dirty="0"/>
          </a:p>
        </p:txBody>
      </p:sp>
      <p:pic>
        <p:nvPicPr>
          <p:cNvPr id="6" name="Image 0" descr="simple/noise.gif">    </p:cNvPr>
          <p:cNvPicPr>
            <a:picLocks noChangeAspect="1"/>
          </p:cNvPicPr>
          <p:nvPr/>
        </p:nvPicPr>
        <p:blipFill>
          <a:blip r:embed="rId1"/>
          <a:stretch>
            <a:fillRect/>
          </a:stretch>
        </p:blipFill>
        <p:spPr>
          <a:xfrm>
            <a:off x="7635240" y="914400"/>
            <a:ext cx="3657600" cy="3931920"/>
          </a:xfrm>
          <a:prstGeom prst="rect">
            <a:avLst/>
          </a:prstGeom>
        </p:spPr>
      </p:pic>
      <p:sp>
        <p:nvSpPr>
          <p:cNvPr id="7" name="Text 4"/>
          <p:cNvSpPr txBox="1"/>
          <p:nvPr/>
        </p:nvSpPr>
        <p:spPr>
          <a:xfrm>
            <a:off x="7635240" y="4937760"/>
            <a:ext cx="3657600" cy="32004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16 symbols of one QAM16 frame, as the noise grows</a:t>
            </a:r>
            <a:endParaRPr lang="en-US" sz="1100" dirty="0"/>
          </a:p>
        </p:txBody>
      </p:sp>
      <p:sp>
        <p:nvSpPr>
          <p:cNvPr id="8" name="Text 5"/>
          <p:cNvSpPr txBox="1"/>
          <p:nvPr/>
        </p:nvSpPr>
        <p:spPr>
          <a:xfrm>
            <a:off x="548640" y="6035040"/>
            <a:ext cx="8229600" cy="274320"/>
          </a:xfrm>
          <a:prstGeom prst="rect">
            <a:avLst/>
          </a:prstGeom>
          <a:noFill/>
          <a:ln/>
        </p:spPr>
        <p:txBody>
          <a:bodyPr wrap="square" lIns="0" tIns="0" rIns="0" bIns="0" rtlCol="0" anchor="t"/>
          <a:lstStyle/>
          <a:p>
            <a:pPr indent="0" marL="0">
              <a:buNone/>
            </a:pPr>
            <a:r>
              <a:rPr lang="en-US" sz="1100" dirty="0">
                <a:solidFill>
                  <a:srgbClr val="9AA8BA"/>
                </a:solidFill>
                <a:latin typeface="Calibri" pitchFamily="34" charset="0"/>
                <a:ea typeface="Calibri" pitchFamily="34" charset="-122"/>
                <a:cs typeface="Calibri" pitchFamily="34" charset="-120"/>
              </a:rPr>
              <a:t>Prepared for Dr. Moshe Kam's research group  ·  NJIT  ·  October 2026</a:t>
            </a:r>
            <a:endParaRPr lang="en-US" sz="1100" dirty="0"/>
          </a:p>
        </p:txBody>
      </p:sp>
      <p:sp>
        <p:nvSpPr>
          <p:cNvPr id="10" name="Text 6"/>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THIS IS ABOUT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is AMC, and what am I working on?</a:t>
            </a:r>
            <a:endParaRPr lang="en-US" sz="3000" dirty="0"/>
          </a:p>
        </p:txBody>
      </p:sp>
      <p:sp>
        <p:nvSpPr>
          <p:cNvPr id="4" name="Shape 2"/>
          <p:cNvSpPr/>
          <p:nvPr/>
        </p:nvSpPr>
        <p:spPr>
          <a:xfrm>
            <a:off x="548640" y="1554480"/>
            <a:ext cx="5486400" cy="4160520"/>
          </a:xfrm>
          <a:prstGeom prst="roundRect">
            <a:avLst>
              <a:gd name="adj" fmla="val 2198"/>
            </a:avLst>
          </a:prstGeom>
          <a:solidFill>
            <a:srgbClr val="EEF2F6"/>
          </a:solidFill>
          <a:ln w="12700">
            <a:solidFill>
              <a:srgbClr val="EEF2F6"/>
            </a:solidFill>
            <a:prstDash val="solid"/>
          </a:ln>
        </p:spPr>
      </p:sp>
      <p:sp>
        <p:nvSpPr>
          <p:cNvPr id="5" name="Text 3"/>
          <p:cNvSpPr txBox="1"/>
          <p:nvPr/>
        </p:nvSpPr>
        <p:spPr>
          <a:xfrm>
            <a:off x="822960" y="1691640"/>
            <a:ext cx="4937760" cy="777240"/>
          </a:xfrm>
          <a:prstGeom prst="rect">
            <a:avLst/>
          </a:prstGeom>
          <a:noFill/>
          <a:ln/>
        </p:spPr>
        <p:txBody>
          <a:bodyPr wrap="square" lIns="0" tIns="0" rIns="0" bIns="0" rtlCol="0" anchor="t"/>
          <a:lstStyle/>
          <a:p>
            <a:pPr indent="0" marL="0">
              <a:buNone/>
            </a:pPr>
            <a:r>
              <a:rPr lang="en-US" sz="2200" b="1" dirty="0">
                <a:solidFill>
                  <a:srgbClr val="F08A24"/>
                </a:solidFill>
                <a:latin typeface="Calibri" pitchFamily="34" charset="0"/>
                <a:ea typeface="Calibri" pitchFamily="34" charset="-122"/>
                <a:cs typeface="Calibri" pitchFamily="34" charset="-120"/>
              </a:rPr>
              <a:t>AMC</a:t>
            </a:r>
            <a:endParaRPr lang="en-US" sz="1400" dirty="0"/>
          </a:p>
          <a:p>
            <a:pPr indent="0" marL="0">
              <a:buNone/>
            </a:pPr>
            <a:r>
              <a:rPr lang="en-US" sz="1600" b="1" dirty="0">
                <a:solidFill>
                  <a:srgbClr val="1E293B"/>
                </a:solidFill>
                <a:latin typeface="Calibri" pitchFamily="34" charset="0"/>
                <a:ea typeface="Calibri" pitchFamily="34" charset="-122"/>
                <a:cs typeface="Calibri" pitchFamily="34" charset="-120"/>
              </a:rPr>
              <a:t>Automatic Modulation Classification</a:t>
            </a:r>
            <a:endParaRPr lang="en-US" sz="1400" dirty="0"/>
          </a:p>
        </p:txBody>
      </p:sp>
      <p:sp>
        <p:nvSpPr>
          <p:cNvPr id="6" name="Text 4"/>
          <p:cNvSpPr txBox="1"/>
          <p:nvPr/>
        </p:nvSpPr>
        <p:spPr>
          <a:xfrm>
            <a:off x="822960" y="2560320"/>
            <a:ext cx="4937760" cy="73152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A receiver picks up a radio signal nobody described to it. AMC answers one question: how was it modulated?</a:t>
            </a:r>
            <a:endParaRPr lang="en-US" sz="1350" dirty="0"/>
          </a:p>
        </p:txBody>
      </p:sp>
      <p:sp>
        <p:nvSpPr>
          <p:cNvPr id="7" name="Shape 5"/>
          <p:cNvSpPr/>
          <p:nvPr/>
        </p:nvSpPr>
        <p:spPr>
          <a:xfrm>
            <a:off x="786384" y="3392424"/>
            <a:ext cx="1993392" cy="755904"/>
          </a:xfrm>
          <a:prstGeom prst="roundRect">
            <a:avLst>
              <a:gd name="adj" fmla="val 7258"/>
            </a:avLst>
          </a:prstGeom>
          <a:solidFill>
            <a:srgbClr val="0F1B2D"/>
          </a:solidFill>
          <a:ln w="12700">
            <a:solidFill>
              <a:srgbClr val="0F1B2D"/>
            </a:solidFill>
            <a:prstDash val="solid"/>
          </a:ln>
        </p:spPr>
      </p:sp>
      <p:pic>
        <p:nvPicPr>
          <p:cNvPr id="8" name="Image 0" descr="simple/frame.png">    </p:cNvPr>
          <p:cNvPicPr>
            <a:picLocks noChangeAspect="1"/>
          </p:cNvPicPr>
          <p:nvPr/>
        </p:nvPicPr>
        <p:blipFill>
          <a:blip r:embed="rId1"/>
          <a:stretch>
            <a:fillRect/>
          </a:stretch>
        </p:blipFill>
        <p:spPr>
          <a:xfrm>
            <a:off x="822960" y="3429000"/>
            <a:ext cx="1920240" cy="682752"/>
          </a:xfrm>
          <a:prstGeom prst="rect">
            <a:avLst/>
          </a:prstGeom>
        </p:spPr>
      </p:pic>
      <p:sp>
        <p:nvSpPr>
          <p:cNvPr id="9" name="Text 6"/>
          <p:cNvSpPr txBox="1"/>
          <p:nvPr/>
        </p:nvSpPr>
        <p:spPr>
          <a:xfrm>
            <a:off x="822960" y="4160520"/>
            <a:ext cx="1920240" cy="274320"/>
          </a:xfrm>
          <a:prstGeom prst="rect">
            <a:avLst/>
          </a:prstGeom>
          <a:noFill/>
          <a:ln/>
        </p:spPr>
        <p:txBody>
          <a:bodyPr wrap="square" lIns="0" tIns="0" rIns="0" bIns="0" rtlCol="0" anchor="t"/>
          <a:lstStyle/>
          <a:p>
            <a:pPr algn="ctr" indent="0" marL="0">
              <a:buNone/>
            </a:pPr>
            <a:r>
              <a:rPr lang="en-US" sz="1050" dirty="0">
                <a:solidFill>
                  <a:srgbClr val="5B6B7F"/>
                </a:solidFill>
                <a:latin typeface="Calibri" pitchFamily="34" charset="0"/>
                <a:ea typeface="Calibri" pitchFamily="34" charset="-122"/>
                <a:cs typeface="Calibri" pitchFamily="34" charset="-120"/>
              </a:rPr>
              <a:t>a few samples of signal</a:t>
            </a:r>
            <a:endParaRPr lang="en-US" sz="1050" dirty="0"/>
          </a:p>
        </p:txBody>
      </p:sp>
      <p:sp>
        <p:nvSpPr>
          <p:cNvPr id="10" name="Shape 7"/>
          <p:cNvSpPr/>
          <p:nvPr/>
        </p:nvSpPr>
        <p:spPr>
          <a:xfrm>
            <a:off x="2834640" y="3566160"/>
            <a:ext cx="502920" cy="384048"/>
          </a:xfrm>
          <a:prstGeom prst="rightArrow">
            <a:avLst/>
          </a:prstGeom>
          <a:solidFill>
            <a:srgbClr val="F08A24"/>
          </a:solidFill>
          <a:ln w="12700">
            <a:solidFill>
              <a:srgbClr val="F08A24"/>
            </a:solidFill>
            <a:prstDash val="solid"/>
          </a:ln>
        </p:spPr>
      </p:sp>
      <p:sp>
        <p:nvSpPr>
          <p:cNvPr id="11" name="Shape 8"/>
          <p:cNvSpPr/>
          <p:nvPr/>
        </p:nvSpPr>
        <p:spPr>
          <a:xfrm>
            <a:off x="3429000" y="3410712"/>
            <a:ext cx="1051560" cy="713232"/>
          </a:xfrm>
          <a:prstGeom prst="roundRect">
            <a:avLst>
              <a:gd name="adj" fmla="val 10256"/>
            </a:avLst>
          </a:prstGeom>
          <a:solidFill>
            <a:srgbClr val="0F1B2D"/>
          </a:solidFill>
          <a:ln w="12700">
            <a:solidFill>
              <a:srgbClr val="0F1B2D"/>
            </a:solidFill>
            <a:prstDash val="solid"/>
          </a:ln>
        </p:spPr>
      </p:sp>
      <p:sp>
        <p:nvSpPr>
          <p:cNvPr id="12" name="Text 9"/>
          <p:cNvSpPr txBox="1"/>
          <p:nvPr/>
        </p:nvSpPr>
        <p:spPr>
          <a:xfrm>
            <a:off x="3429000" y="3410712"/>
            <a:ext cx="105156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detector</a:t>
            </a:r>
            <a:endParaRPr lang="en-US" sz="1300" dirty="0"/>
          </a:p>
        </p:txBody>
      </p:sp>
      <p:sp>
        <p:nvSpPr>
          <p:cNvPr id="13" name="Shape 10"/>
          <p:cNvSpPr/>
          <p:nvPr/>
        </p:nvSpPr>
        <p:spPr>
          <a:xfrm>
            <a:off x="4553712" y="3566160"/>
            <a:ext cx="502920" cy="384048"/>
          </a:xfrm>
          <a:prstGeom prst="rightArrow">
            <a:avLst/>
          </a:prstGeom>
          <a:solidFill>
            <a:srgbClr val="F08A24"/>
          </a:solidFill>
          <a:ln w="12700">
            <a:solidFill>
              <a:srgbClr val="F08A24"/>
            </a:solidFill>
            <a:prstDash val="solid"/>
          </a:ln>
        </p:spPr>
      </p:sp>
      <p:sp>
        <p:nvSpPr>
          <p:cNvPr id="14" name="Shape 11"/>
          <p:cNvSpPr/>
          <p:nvPr/>
        </p:nvSpPr>
        <p:spPr>
          <a:xfrm>
            <a:off x="5120640" y="3621024"/>
            <a:ext cx="777240" cy="292608"/>
          </a:xfrm>
          <a:prstGeom prst="roundRect">
            <a:avLst>
              <a:gd name="adj" fmla="val 50000"/>
            </a:avLst>
          </a:prstGeom>
          <a:solidFill>
            <a:srgbClr val="F08A24"/>
          </a:solidFill>
          <a:ln w="12700">
            <a:solidFill>
              <a:srgbClr val="F08A24"/>
            </a:solidFill>
            <a:prstDash val="solid"/>
          </a:ln>
        </p:spPr>
      </p:sp>
      <p:sp>
        <p:nvSpPr>
          <p:cNvPr id="15" name="Text 12"/>
          <p:cNvSpPr txBox="1"/>
          <p:nvPr/>
        </p:nvSpPr>
        <p:spPr>
          <a:xfrm>
            <a:off x="5120640" y="3621024"/>
            <a:ext cx="77724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QPSK</a:t>
            </a:r>
            <a:endParaRPr lang="en-US" sz="1100" dirty="0"/>
          </a:p>
        </p:txBody>
      </p:sp>
      <p:sp>
        <p:nvSpPr>
          <p:cNvPr id="16" name="Text 13"/>
          <p:cNvSpPr txBox="1"/>
          <p:nvPr/>
        </p:nvSpPr>
        <p:spPr>
          <a:xfrm>
            <a:off x="822960" y="4663440"/>
            <a:ext cx="493776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Used for watching the spectrum, finding interference, and radios that adapt to what they hear.</a:t>
            </a:r>
            <a:endParaRPr lang="en-US" sz="1300" dirty="0"/>
          </a:p>
        </p:txBody>
      </p:sp>
      <p:sp>
        <p:nvSpPr>
          <p:cNvPr id="17" name="Text 14"/>
          <p:cNvSpPr txBox="1"/>
          <p:nvPr/>
        </p:nvSpPr>
        <p:spPr>
          <a:xfrm>
            <a:off x="6400800" y="1600200"/>
            <a:ext cx="5212080" cy="411480"/>
          </a:xfrm>
          <a:prstGeom prst="rect">
            <a:avLst/>
          </a:prstGeom>
          <a:noFill/>
          <a:ln/>
        </p:spPr>
        <p:txBody>
          <a:bodyPr wrap="square" lIns="0" tIns="0" rIns="0" bIns="0" rtlCol="0" anchor="t"/>
          <a:lstStyle/>
          <a:p>
            <a:pPr indent="0" marL="0">
              <a:buNone/>
            </a:pPr>
            <a:r>
              <a:rPr lang="en-US" sz="1700" b="1" dirty="0">
                <a:solidFill>
                  <a:srgbClr val="1E293B"/>
                </a:solidFill>
                <a:latin typeface="Calibri" pitchFamily="34" charset="0"/>
                <a:ea typeface="Calibri" pitchFamily="34" charset="-122"/>
                <a:cs typeface="Calibri" pitchFamily="34" charset="-120"/>
              </a:rPr>
              <a:t>What I am working on</a:t>
            </a:r>
            <a:endParaRPr lang="en-US" sz="1700" dirty="0"/>
          </a:p>
        </p:txBody>
      </p:sp>
      <p:sp>
        <p:nvSpPr>
          <p:cNvPr id="18" name="Shape 15"/>
          <p:cNvSpPr/>
          <p:nvPr/>
        </p:nvSpPr>
        <p:spPr>
          <a:xfrm>
            <a:off x="6400800" y="2194560"/>
            <a:ext cx="411480" cy="411480"/>
          </a:xfrm>
          <a:prstGeom prst="ellipse">
            <a:avLst/>
          </a:prstGeom>
          <a:solidFill>
            <a:srgbClr val="0F1B2D"/>
          </a:solidFill>
          <a:ln w="12700">
            <a:solidFill>
              <a:srgbClr val="0F1B2D"/>
            </a:solidFill>
            <a:prstDash val="solid"/>
          </a:ln>
        </p:spPr>
      </p:sp>
      <p:sp>
        <p:nvSpPr>
          <p:cNvPr id="19" name="Text 16"/>
          <p:cNvSpPr txBox="1"/>
          <p:nvPr/>
        </p:nvSpPr>
        <p:spPr>
          <a:xfrm>
            <a:off x="6400800" y="2194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7"/>
          <p:cNvSpPr txBox="1"/>
          <p:nvPr/>
        </p:nvSpPr>
        <p:spPr>
          <a:xfrm>
            <a:off x="6995160" y="2130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A detector</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trained on a standard, simulated dataset (RML2016.10a, DeepSig).</a:t>
            </a:r>
            <a:endParaRPr lang="en-US" sz="1350" dirty="0"/>
          </a:p>
        </p:txBody>
      </p:sp>
      <p:sp>
        <p:nvSpPr>
          <p:cNvPr id="21" name="Shape 18"/>
          <p:cNvSpPr/>
          <p:nvPr/>
        </p:nvSpPr>
        <p:spPr>
          <a:xfrm>
            <a:off x="6400800" y="3337560"/>
            <a:ext cx="411480" cy="411480"/>
          </a:xfrm>
          <a:prstGeom prst="ellipse">
            <a:avLst/>
          </a:prstGeom>
          <a:solidFill>
            <a:srgbClr val="F08A24"/>
          </a:solidFill>
          <a:ln w="12700">
            <a:solidFill>
              <a:srgbClr val="F08A24"/>
            </a:solidFill>
            <a:prstDash val="solid"/>
          </a:ln>
        </p:spPr>
      </p:sp>
      <p:sp>
        <p:nvSpPr>
          <p:cNvPr id="22" name="Text 19"/>
          <p:cNvSpPr txBox="1"/>
          <p:nvPr/>
        </p:nvSpPr>
        <p:spPr>
          <a:xfrm>
            <a:off x="6400800" y="3337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Text 20"/>
          <p:cNvSpPr txBox="1"/>
          <p:nvPr/>
        </p:nvSpPr>
        <p:spPr>
          <a:xfrm>
            <a:off x="6995160" y="3273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Open it up</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what it does, what the noise is, where it fails. This is today.</a:t>
            </a:r>
            <a:endParaRPr lang="en-US" sz="1350" dirty="0"/>
          </a:p>
        </p:txBody>
      </p:sp>
      <p:sp>
        <p:nvSpPr>
          <p:cNvPr id="24" name="Shape 21"/>
          <p:cNvSpPr/>
          <p:nvPr/>
        </p:nvSpPr>
        <p:spPr>
          <a:xfrm>
            <a:off x="6400800" y="4480560"/>
            <a:ext cx="411480" cy="411480"/>
          </a:xfrm>
          <a:prstGeom prst="ellipse">
            <a:avLst/>
          </a:prstGeom>
          <a:solidFill>
            <a:srgbClr val="0F1B2D"/>
          </a:solidFill>
          <a:ln w="12700">
            <a:solidFill>
              <a:srgbClr val="0F1B2D"/>
            </a:solidFill>
            <a:prstDash val="solid"/>
          </a:ln>
        </p:spPr>
      </p:sp>
      <p:sp>
        <p:nvSpPr>
          <p:cNvPr id="25" name="Text 22"/>
          <p:cNvSpPr txBox="1"/>
          <p:nvPr/>
        </p:nvSpPr>
        <p:spPr>
          <a:xfrm>
            <a:off x="6400800" y="44805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3"/>
          <p:cNvSpPr txBox="1"/>
          <p:nvPr/>
        </p:nvSpPr>
        <p:spPr>
          <a:xfrm>
            <a:off x="6995160" y="4416552"/>
            <a:ext cx="4617720" cy="1005840"/>
          </a:xfrm>
          <a:prstGeom prst="rect">
            <a:avLst/>
          </a:prstGeom>
          <a:noFill/>
          <a:ln/>
        </p:spPr>
        <p:txBody>
          <a:bodyPr wrap="square" lIns="0" tIns="0" rIns="0" bIns="0" rtlCol="0" anchor="t"/>
          <a:lstStyle/>
          <a:p>
            <a:pPr indent="0" marL="0">
              <a:buNone/>
            </a:pPr>
            <a:r>
              <a:rPr lang="en-US" sz="1350" b="1" dirty="0">
                <a:solidFill>
                  <a:srgbClr val="1E293B"/>
                </a:solidFill>
                <a:latin typeface="Calibri" pitchFamily="34" charset="0"/>
                <a:ea typeface="Calibri" pitchFamily="34" charset="-122"/>
                <a:cs typeface="Calibri" pitchFamily="34" charset="-120"/>
              </a:rPr>
              <a:t>The bigger question</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why such detectors lose accuracy on signals from a different transmitter, and what fixes it.</a:t>
            </a:r>
            <a:endParaRPr lang="en-US" sz="1350" dirty="0"/>
          </a:p>
        </p:txBody>
      </p:sp>
      <p:sp>
        <p:nvSpPr>
          <p:cNvPr id="27" name="Text 24"/>
          <p:cNvSpPr txBox="1"/>
          <p:nvPr/>
        </p:nvSpPr>
        <p:spPr>
          <a:xfrm>
            <a:off x="548640" y="58978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Today: only steps 1 and 2,</a:t>
            </a:r>
            <a:pPr indent="0" marL="0">
              <a:buNone/>
            </a:pPr>
            <a:r>
              <a:rPr lang="en-US" sz="1500" dirty="0">
                <a:solidFill>
                  <a:srgbClr val="1E293B"/>
                </a:solidFill>
                <a:latin typeface="Calibri" pitchFamily="34" charset="0"/>
                <a:ea typeface="Calibri" pitchFamily="34" charset="-122"/>
                <a:cs typeface="Calibri" pitchFamily="34" charset="-120"/>
              </a:rPr>
              <a:t>  on four signals: BPSK, QPSK, QAM16 and QAM64.</a:t>
            </a:r>
            <a:endParaRPr lang="en-US" sz="1500" dirty="0"/>
          </a:p>
        </p:txBody>
      </p:sp>
      <p:sp>
        <p:nvSpPr>
          <p:cNvPr id="29" name="Text 2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DATA</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data do I use?</a:t>
            </a:r>
            <a:endParaRPr lang="en-US" sz="3000" dirty="0"/>
          </a:p>
        </p:txBody>
      </p:sp>
      <p:sp>
        <p:nvSpPr>
          <p:cNvPr id="4" name="Shape 2"/>
          <p:cNvSpPr/>
          <p:nvPr/>
        </p:nvSpPr>
        <p:spPr>
          <a:xfrm>
            <a:off x="9079992" y="347472"/>
            <a:ext cx="2560320"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079992" y="347472"/>
            <a:ext cx="2560320"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RML2016.10a_dict.pkl</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RML2016.10a — made by DeepSig in a radio simulator (GNU Radio), 2016. The dataset most AMC papers report on.</a:t>
            </a:r>
            <a:endParaRPr lang="en-US" sz="1400" dirty="0"/>
          </a:p>
        </p:txBody>
      </p:sp>
      <p:sp>
        <p:nvSpPr>
          <p:cNvPr id="7" name="Shape 5"/>
          <p:cNvSpPr/>
          <p:nvPr/>
        </p:nvSpPr>
        <p:spPr>
          <a:xfrm>
            <a:off x="548640" y="1874520"/>
            <a:ext cx="2057400" cy="1325880"/>
          </a:xfrm>
          <a:prstGeom prst="roundRect">
            <a:avLst>
              <a:gd name="adj" fmla="val 6897"/>
            </a:avLst>
          </a:prstGeom>
          <a:solidFill>
            <a:srgbClr val="EEF2F6"/>
          </a:solidFill>
          <a:ln w="12700">
            <a:solidFill>
              <a:srgbClr val="EEF2F6"/>
            </a:solidFill>
            <a:prstDash val="solid"/>
          </a:ln>
        </p:spPr>
      </p:sp>
      <p:sp>
        <p:nvSpPr>
          <p:cNvPr id="8" name="Text 6"/>
          <p:cNvSpPr txBox="1"/>
          <p:nvPr/>
        </p:nvSpPr>
        <p:spPr>
          <a:xfrm>
            <a:off x="685800" y="1938528"/>
            <a:ext cx="1783080" cy="640080"/>
          </a:xfrm>
          <a:prstGeom prst="rect">
            <a:avLst/>
          </a:prstGeom>
          <a:noFill/>
          <a:ln/>
        </p:spPr>
        <p:txBody>
          <a:bodyPr wrap="square" lIns="0" tIns="0" rIns="0" bIns="0" rtlCol="0" anchor="b"/>
          <a:lstStyle/>
          <a:p>
            <a:pPr indent="0" marL="0">
              <a:buNone/>
            </a:pPr>
            <a:r>
              <a:rPr lang="en-US" sz="3000" b="1" dirty="0">
                <a:solidFill>
                  <a:srgbClr val="F08A24"/>
                </a:solidFill>
                <a:latin typeface="Calibri" pitchFamily="34" charset="0"/>
                <a:ea typeface="Calibri" pitchFamily="34" charset="-122"/>
                <a:cs typeface="Calibri" pitchFamily="34" charset="-120"/>
              </a:rPr>
              <a:t>11</a:t>
            </a:r>
            <a:endParaRPr lang="en-US" sz="3000" dirty="0"/>
          </a:p>
        </p:txBody>
      </p:sp>
      <p:sp>
        <p:nvSpPr>
          <p:cNvPr id="9" name="Text 7"/>
          <p:cNvSpPr txBox="1"/>
          <p:nvPr/>
        </p:nvSpPr>
        <p:spPr>
          <a:xfrm>
            <a:off x="68580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modulation types</a:t>
            </a:r>
            <a:endParaRPr lang="en-US" sz="1150" dirty="0"/>
          </a:p>
        </p:txBody>
      </p:sp>
      <p:sp>
        <p:nvSpPr>
          <p:cNvPr id="10" name="Shape 8"/>
          <p:cNvSpPr/>
          <p:nvPr/>
        </p:nvSpPr>
        <p:spPr>
          <a:xfrm>
            <a:off x="2788920" y="1874520"/>
            <a:ext cx="2057400" cy="1325880"/>
          </a:xfrm>
          <a:prstGeom prst="roundRect">
            <a:avLst>
              <a:gd name="adj" fmla="val 6897"/>
            </a:avLst>
          </a:prstGeom>
          <a:solidFill>
            <a:srgbClr val="EEF2F6"/>
          </a:solidFill>
          <a:ln w="12700">
            <a:solidFill>
              <a:srgbClr val="EEF2F6"/>
            </a:solidFill>
            <a:prstDash val="solid"/>
          </a:ln>
        </p:spPr>
      </p:sp>
      <p:sp>
        <p:nvSpPr>
          <p:cNvPr id="11" name="Text 9"/>
          <p:cNvSpPr txBox="1"/>
          <p:nvPr/>
        </p:nvSpPr>
        <p:spPr>
          <a:xfrm>
            <a:off x="292608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20</a:t>
            </a:r>
            <a:endParaRPr lang="en-US" sz="3000" dirty="0"/>
          </a:p>
        </p:txBody>
      </p:sp>
      <p:sp>
        <p:nvSpPr>
          <p:cNvPr id="12" name="Text 10"/>
          <p:cNvSpPr txBox="1"/>
          <p:nvPr/>
        </p:nvSpPr>
        <p:spPr>
          <a:xfrm>
            <a:off x="292608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noise levels, −20 to +18 dB</a:t>
            </a:r>
            <a:endParaRPr lang="en-US" sz="1150" dirty="0"/>
          </a:p>
        </p:txBody>
      </p:sp>
      <p:sp>
        <p:nvSpPr>
          <p:cNvPr id="13" name="Shape 11"/>
          <p:cNvSpPr/>
          <p:nvPr/>
        </p:nvSpPr>
        <p:spPr>
          <a:xfrm>
            <a:off x="5029200" y="1874520"/>
            <a:ext cx="2057400" cy="1325880"/>
          </a:xfrm>
          <a:prstGeom prst="roundRect">
            <a:avLst>
              <a:gd name="adj" fmla="val 6897"/>
            </a:avLst>
          </a:prstGeom>
          <a:solidFill>
            <a:srgbClr val="EEF2F6"/>
          </a:solidFill>
          <a:ln w="12700">
            <a:solidFill>
              <a:srgbClr val="EEF2F6"/>
            </a:solidFill>
            <a:prstDash val="solid"/>
          </a:ln>
        </p:spPr>
      </p:sp>
      <p:sp>
        <p:nvSpPr>
          <p:cNvPr id="14" name="Text 12"/>
          <p:cNvSpPr txBox="1"/>
          <p:nvPr/>
        </p:nvSpPr>
        <p:spPr>
          <a:xfrm>
            <a:off x="516636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1,000</a:t>
            </a:r>
            <a:endParaRPr lang="en-US" sz="3000" dirty="0"/>
          </a:p>
        </p:txBody>
      </p:sp>
      <p:sp>
        <p:nvSpPr>
          <p:cNvPr id="15" name="Text 13"/>
          <p:cNvSpPr txBox="1"/>
          <p:nvPr/>
        </p:nvSpPr>
        <p:spPr>
          <a:xfrm>
            <a:off x="516636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of each type at each level</a:t>
            </a:r>
            <a:endParaRPr lang="en-US" sz="1150" dirty="0"/>
          </a:p>
        </p:txBody>
      </p:sp>
      <p:sp>
        <p:nvSpPr>
          <p:cNvPr id="16" name="Shape 14"/>
          <p:cNvSpPr/>
          <p:nvPr/>
        </p:nvSpPr>
        <p:spPr>
          <a:xfrm>
            <a:off x="7269480" y="1874520"/>
            <a:ext cx="2057400" cy="1325880"/>
          </a:xfrm>
          <a:prstGeom prst="roundRect">
            <a:avLst>
              <a:gd name="adj" fmla="val 6897"/>
            </a:avLst>
          </a:prstGeom>
          <a:solidFill>
            <a:srgbClr val="EEF2F6"/>
          </a:solidFill>
          <a:ln w="12700">
            <a:solidFill>
              <a:srgbClr val="EEF2F6"/>
            </a:solidFill>
            <a:prstDash val="solid"/>
          </a:ln>
        </p:spPr>
      </p:sp>
      <p:sp>
        <p:nvSpPr>
          <p:cNvPr id="17" name="Text 15"/>
          <p:cNvSpPr txBox="1"/>
          <p:nvPr/>
        </p:nvSpPr>
        <p:spPr>
          <a:xfrm>
            <a:off x="740664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220,000</a:t>
            </a:r>
            <a:endParaRPr lang="en-US" sz="3000" dirty="0"/>
          </a:p>
        </p:txBody>
      </p:sp>
      <p:sp>
        <p:nvSpPr>
          <p:cNvPr id="18" name="Text 16"/>
          <p:cNvSpPr txBox="1"/>
          <p:nvPr/>
        </p:nvSpPr>
        <p:spPr>
          <a:xfrm>
            <a:off x="740664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frames in total</a:t>
            </a:r>
            <a:endParaRPr lang="en-US" sz="1150" dirty="0"/>
          </a:p>
        </p:txBody>
      </p:sp>
      <p:sp>
        <p:nvSpPr>
          <p:cNvPr id="19" name="Shape 17"/>
          <p:cNvSpPr/>
          <p:nvPr/>
        </p:nvSpPr>
        <p:spPr>
          <a:xfrm>
            <a:off x="9509760" y="1874520"/>
            <a:ext cx="2057400" cy="1325880"/>
          </a:xfrm>
          <a:prstGeom prst="roundRect">
            <a:avLst>
              <a:gd name="adj" fmla="val 6897"/>
            </a:avLst>
          </a:prstGeom>
          <a:solidFill>
            <a:srgbClr val="EEF2F6"/>
          </a:solidFill>
          <a:ln w="12700">
            <a:solidFill>
              <a:srgbClr val="EEF2F6"/>
            </a:solidFill>
            <a:prstDash val="solid"/>
          </a:ln>
        </p:spPr>
      </p:sp>
      <p:sp>
        <p:nvSpPr>
          <p:cNvPr id="20" name="Text 18"/>
          <p:cNvSpPr txBox="1"/>
          <p:nvPr/>
        </p:nvSpPr>
        <p:spPr>
          <a:xfrm>
            <a:off x="9646920" y="1938528"/>
            <a:ext cx="1783080" cy="640080"/>
          </a:xfrm>
          <a:prstGeom prst="rect">
            <a:avLst/>
          </a:prstGeom>
          <a:noFill/>
          <a:ln/>
        </p:spPr>
        <p:txBody>
          <a:bodyPr wrap="square" lIns="0" tIns="0" rIns="0" bIns="0" rtlCol="0" anchor="b"/>
          <a:lstStyle/>
          <a:p>
            <a:pPr indent="0" marL="0">
              <a:buNone/>
            </a:pPr>
            <a:r>
              <a:rPr lang="en-US" sz="3000" b="1" dirty="0">
                <a:solidFill>
                  <a:srgbClr val="1E293B"/>
                </a:solidFill>
                <a:latin typeface="Calibri" pitchFamily="34" charset="0"/>
                <a:ea typeface="Calibri" pitchFamily="34" charset="-122"/>
                <a:cs typeface="Calibri" pitchFamily="34" charset="-120"/>
              </a:rPr>
              <a:t>128</a:t>
            </a:r>
            <a:endParaRPr lang="en-US" sz="3000" dirty="0"/>
          </a:p>
        </p:txBody>
      </p:sp>
      <p:sp>
        <p:nvSpPr>
          <p:cNvPr id="21" name="Text 19"/>
          <p:cNvSpPr txBox="1"/>
          <p:nvPr/>
        </p:nvSpPr>
        <p:spPr>
          <a:xfrm>
            <a:off x="9646920" y="2606040"/>
            <a:ext cx="178308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samples per frame = 16 symbols</a:t>
            </a:r>
            <a:endParaRPr lang="en-US" sz="1150" dirty="0"/>
          </a:p>
        </p:txBody>
      </p:sp>
      <p:sp>
        <p:nvSpPr>
          <p:cNvPr id="22" name="Text 20"/>
          <p:cNvSpPr txBox="1"/>
          <p:nvPr/>
        </p:nvSpPr>
        <p:spPr>
          <a:xfrm>
            <a:off x="548640" y="352044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8 digital</a:t>
            </a:r>
            <a:endParaRPr lang="en-US" sz="1500" dirty="0"/>
          </a:p>
        </p:txBody>
      </p:sp>
      <p:sp>
        <p:nvSpPr>
          <p:cNvPr id="23" name="Shape 21"/>
          <p:cNvSpPr/>
          <p:nvPr/>
        </p:nvSpPr>
        <p:spPr>
          <a:xfrm>
            <a:off x="2103120" y="3520440"/>
            <a:ext cx="1078992" cy="411480"/>
          </a:xfrm>
          <a:prstGeom prst="roundRect">
            <a:avLst>
              <a:gd name="adj" fmla="val 26667"/>
            </a:avLst>
          </a:prstGeom>
          <a:solidFill>
            <a:srgbClr val="F08A24"/>
          </a:solidFill>
          <a:ln w="12700">
            <a:solidFill>
              <a:srgbClr val="F08A24"/>
            </a:solidFill>
            <a:prstDash val="solid"/>
          </a:ln>
        </p:spPr>
      </p:sp>
      <p:sp>
        <p:nvSpPr>
          <p:cNvPr id="24" name="Text 22"/>
          <p:cNvSpPr txBox="1"/>
          <p:nvPr/>
        </p:nvSpPr>
        <p:spPr>
          <a:xfrm>
            <a:off x="210312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BPSK</a:t>
            </a:r>
            <a:endParaRPr lang="en-US" sz="1300" dirty="0"/>
          </a:p>
        </p:txBody>
      </p:sp>
      <p:sp>
        <p:nvSpPr>
          <p:cNvPr id="25" name="Shape 23"/>
          <p:cNvSpPr/>
          <p:nvPr/>
        </p:nvSpPr>
        <p:spPr>
          <a:xfrm>
            <a:off x="3291840" y="3520440"/>
            <a:ext cx="1078992" cy="411480"/>
          </a:xfrm>
          <a:prstGeom prst="roundRect">
            <a:avLst>
              <a:gd name="adj" fmla="val 26667"/>
            </a:avLst>
          </a:prstGeom>
          <a:solidFill>
            <a:srgbClr val="F08A24"/>
          </a:solidFill>
          <a:ln w="12700">
            <a:solidFill>
              <a:srgbClr val="F08A24"/>
            </a:solidFill>
            <a:prstDash val="solid"/>
          </a:ln>
        </p:spPr>
      </p:sp>
      <p:sp>
        <p:nvSpPr>
          <p:cNvPr id="26" name="Text 24"/>
          <p:cNvSpPr txBox="1"/>
          <p:nvPr/>
        </p:nvSpPr>
        <p:spPr>
          <a:xfrm>
            <a:off x="329184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QPSK</a:t>
            </a:r>
            <a:endParaRPr lang="en-US" sz="1300" dirty="0"/>
          </a:p>
        </p:txBody>
      </p:sp>
      <p:sp>
        <p:nvSpPr>
          <p:cNvPr id="27" name="Shape 25"/>
          <p:cNvSpPr/>
          <p:nvPr/>
        </p:nvSpPr>
        <p:spPr>
          <a:xfrm>
            <a:off x="4480560" y="3520440"/>
            <a:ext cx="1078992" cy="411480"/>
          </a:xfrm>
          <a:prstGeom prst="roundRect">
            <a:avLst>
              <a:gd name="adj" fmla="val 26667"/>
            </a:avLst>
          </a:prstGeom>
          <a:solidFill>
            <a:srgbClr val="EEF2F6"/>
          </a:solidFill>
          <a:ln w="12700">
            <a:solidFill>
              <a:srgbClr val="EEF2F6"/>
            </a:solidFill>
            <a:prstDash val="solid"/>
          </a:ln>
        </p:spPr>
      </p:sp>
      <p:sp>
        <p:nvSpPr>
          <p:cNvPr id="28" name="Text 26"/>
          <p:cNvSpPr txBox="1"/>
          <p:nvPr/>
        </p:nvSpPr>
        <p:spPr>
          <a:xfrm>
            <a:off x="44805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8PSK</a:t>
            </a:r>
            <a:endParaRPr lang="en-US" sz="1300" dirty="0"/>
          </a:p>
        </p:txBody>
      </p:sp>
      <p:sp>
        <p:nvSpPr>
          <p:cNvPr id="29" name="Shape 27"/>
          <p:cNvSpPr/>
          <p:nvPr/>
        </p:nvSpPr>
        <p:spPr>
          <a:xfrm>
            <a:off x="5669280" y="3520440"/>
            <a:ext cx="1078992" cy="411480"/>
          </a:xfrm>
          <a:prstGeom prst="roundRect">
            <a:avLst>
              <a:gd name="adj" fmla="val 26667"/>
            </a:avLst>
          </a:prstGeom>
          <a:solidFill>
            <a:srgbClr val="F08A24"/>
          </a:solidFill>
          <a:ln w="12700">
            <a:solidFill>
              <a:srgbClr val="F08A24"/>
            </a:solidFill>
            <a:prstDash val="solid"/>
          </a:ln>
        </p:spPr>
      </p:sp>
      <p:sp>
        <p:nvSpPr>
          <p:cNvPr id="30" name="Text 28"/>
          <p:cNvSpPr txBox="1"/>
          <p:nvPr/>
        </p:nvSpPr>
        <p:spPr>
          <a:xfrm>
            <a:off x="566928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QAM16</a:t>
            </a:r>
            <a:endParaRPr lang="en-US" sz="1300" dirty="0"/>
          </a:p>
        </p:txBody>
      </p:sp>
      <p:sp>
        <p:nvSpPr>
          <p:cNvPr id="31" name="Shape 29"/>
          <p:cNvSpPr/>
          <p:nvPr/>
        </p:nvSpPr>
        <p:spPr>
          <a:xfrm>
            <a:off x="6858000" y="3520440"/>
            <a:ext cx="1078992" cy="411480"/>
          </a:xfrm>
          <a:prstGeom prst="roundRect">
            <a:avLst>
              <a:gd name="adj" fmla="val 26667"/>
            </a:avLst>
          </a:prstGeom>
          <a:solidFill>
            <a:srgbClr val="F08A24"/>
          </a:solidFill>
          <a:ln w="12700">
            <a:solidFill>
              <a:srgbClr val="F08A24"/>
            </a:solidFill>
            <a:prstDash val="solid"/>
          </a:ln>
        </p:spPr>
      </p:sp>
      <p:sp>
        <p:nvSpPr>
          <p:cNvPr id="32" name="Text 30"/>
          <p:cNvSpPr txBox="1"/>
          <p:nvPr/>
        </p:nvSpPr>
        <p:spPr>
          <a:xfrm>
            <a:off x="6858000" y="3520440"/>
            <a:ext cx="1078992"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QAM64</a:t>
            </a:r>
            <a:endParaRPr lang="en-US" sz="1300" dirty="0"/>
          </a:p>
        </p:txBody>
      </p:sp>
      <p:sp>
        <p:nvSpPr>
          <p:cNvPr id="33" name="Shape 31"/>
          <p:cNvSpPr/>
          <p:nvPr/>
        </p:nvSpPr>
        <p:spPr>
          <a:xfrm>
            <a:off x="8046720" y="3520440"/>
            <a:ext cx="1078992" cy="411480"/>
          </a:xfrm>
          <a:prstGeom prst="roundRect">
            <a:avLst>
              <a:gd name="adj" fmla="val 26667"/>
            </a:avLst>
          </a:prstGeom>
          <a:solidFill>
            <a:srgbClr val="EEF2F6"/>
          </a:solidFill>
          <a:ln w="12700">
            <a:solidFill>
              <a:srgbClr val="EEF2F6"/>
            </a:solidFill>
            <a:prstDash val="solid"/>
          </a:ln>
        </p:spPr>
      </p:sp>
      <p:sp>
        <p:nvSpPr>
          <p:cNvPr id="34" name="Text 32"/>
          <p:cNvSpPr txBox="1"/>
          <p:nvPr/>
        </p:nvSpPr>
        <p:spPr>
          <a:xfrm>
            <a:off x="804672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PAM4</a:t>
            </a:r>
            <a:endParaRPr lang="en-US" sz="1300" dirty="0"/>
          </a:p>
        </p:txBody>
      </p:sp>
      <p:sp>
        <p:nvSpPr>
          <p:cNvPr id="35" name="Shape 33"/>
          <p:cNvSpPr/>
          <p:nvPr/>
        </p:nvSpPr>
        <p:spPr>
          <a:xfrm>
            <a:off x="9235440" y="3520440"/>
            <a:ext cx="1078992" cy="411480"/>
          </a:xfrm>
          <a:prstGeom prst="roundRect">
            <a:avLst>
              <a:gd name="adj" fmla="val 26667"/>
            </a:avLst>
          </a:prstGeom>
          <a:solidFill>
            <a:srgbClr val="EEF2F6"/>
          </a:solidFill>
          <a:ln w="12700">
            <a:solidFill>
              <a:srgbClr val="EEF2F6"/>
            </a:solidFill>
            <a:prstDash val="solid"/>
          </a:ln>
        </p:spPr>
      </p:sp>
      <p:sp>
        <p:nvSpPr>
          <p:cNvPr id="36" name="Text 34"/>
          <p:cNvSpPr txBox="1"/>
          <p:nvPr/>
        </p:nvSpPr>
        <p:spPr>
          <a:xfrm>
            <a:off x="923544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GFSK</a:t>
            </a:r>
            <a:endParaRPr lang="en-US" sz="1300" dirty="0"/>
          </a:p>
        </p:txBody>
      </p:sp>
      <p:sp>
        <p:nvSpPr>
          <p:cNvPr id="37" name="Shape 35"/>
          <p:cNvSpPr/>
          <p:nvPr/>
        </p:nvSpPr>
        <p:spPr>
          <a:xfrm>
            <a:off x="10424160" y="3520440"/>
            <a:ext cx="1078992" cy="411480"/>
          </a:xfrm>
          <a:prstGeom prst="roundRect">
            <a:avLst>
              <a:gd name="adj" fmla="val 26667"/>
            </a:avLst>
          </a:prstGeom>
          <a:solidFill>
            <a:srgbClr val="EEF2F6"/>
          </a:solidFill>
          <a:ln w="12700">
            <a:solidFill>
              <a:srgbClr val="EEF2F6"/>
            </a:solidFill>
            <a:prstDash val="solid"/>
          </a:ln>
        </p:spPr>
      </p:sp>
      <p:sp>
        <p:nvSpPr>
          <p:cNvPr id="38" name="Text 36"/>
          <p:cNvSpPr txBox="1"/>
          <p:nvPr/>
        </p:nvSpPr>
        <p:spPr>
          <a:xfrm>
            <a:off x="10424160" y="352044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CPFSK</a:t>
            </a:r>
            <a:endParaRPr lang="en-US" sz="1300" dirty="0"/>
          </a:p>
        </p:txBody>
      </p:sp>
      <p:sp>
        <p:nvSpPr>
          <p:cNvPr id="39" name="Text 37"/>
          <p:cNvSpPr txBox="1"/>
          <p:nvPr/>
        </p:nvSpPr>
        <p:spPr>
          <a:xfrm>
            <a:off x="548640" y="4114800"/>
            <a:ext cx="1463040" cy="41148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3 analog</a:t>
            </a:r>
            <a:endParaRPr lang="en-US" sz="1500" dirty="0"/>
          </a:p>
        </p:txBody>
      </p:sp>
      <p:sp>
        <p:nvSpPr>
          <p:cNvPr id="40" name="Shape 38"/>
          <p:cNvSpPr/>
          <p:nvPr/>
        </p:nvSpPr>
        <p:spPr>
          <a:xfrm>
            <a:off x="2103120" y="4114800"/>
            <a:ext cx="1078992" cy="411480"/>
          </a:xfrm>
          <a:prstGeom prst="roundRect">
            <a:avLst>
              <a:gd name="adj" fmla="val 26667"/>
            </a:avLst>
          </a:prstGeom>
          <a:solidFill>
            <a:srgbClr val="EEF2F6"/>
          </a:solidFill>
          <a:ln w="12700">
            <a:solidFill>
              <a:srgbClr val="EEF2F6"/>
            </a:solidFill>
            <a:prstDash val="solid"/>
          </a:ln>
        </p:spPr>
      </p:sp>
      <p:sp>
        <p:nvSpPr>
          <p:cNvPr id="41" name="Text 39"/>
          <p:cNvSpPr txBox="1"/>
          <p:nvPr/>
        </p:nvSpPr>
        <p:spPr>
          <a:xfrm>
            <a:off x="210312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WBFM</a:t>
            </a:r>
            <a:endParaRPr lang="en-US" sz="1300" dirty="0"/>
          </a:p>
        </p:txBody>
      </p:sp>
      <p:sp>
        <p:nvSpPr>
          <p:cNvPr id="42" name="Shape 40"/>
          <p:cNvSpPr/>
          <p:nvPr/>
        </p:nvSpPr>
        <p:spPr>
          <a:xfrm>
            <a:off x="3291840" y="4114800"/>
            <a:ext cx="1078992" cy="411480"/>
          </a:xfrm>
          <a:prstGeom prst="roundRect">
            <a:avLst>
              <a:gd name="adj" fmla="val 26667"/>
            </a:avLst>
          </a:prstGeom>
          <a:solidFill>
            <a:srgbClr val="EEF2F6"/>
          </a:solidFill>
          <a:ln w="12700">
            <a:solidFill>
              <a:srgbClr val="EEF2F6"/>
            </a:solidFill>
            <a:prstDash val="solid"/>
          </a:ln>
        </p:spPr>
      </p:sp>
      <p:sp>
        <p:nvSpPr>
          <p:cNvPr id="43" name="Text 41"/>
          <p:cNvSpPr txBox="1"/>
          <p:nvPr/>
        </p:nvSpPr>
        <p:spPr>
          <a:xfrm>
            <a:off x="329184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AM-DSB</a:t>
            </a:r>
            <a:endParaRPr lang="en-US" sz="1300" dirty="0"/>
          </a:p>
        </p:txBody>
      </p:sp>
      <p:sp>
        <p:nvSpPr>
          <p:cNvPr id="44" name="Shape 42"/>
          <p:cNvSpPr/>
          <p:nvPr/>
        </p:nvSpPr>
        <p:spPr>
          <a:xfrm>
            <a:off x="4480560" y="4114800"/>
            <a:ext cx="1078992" cy="411480"/>
          </a:xfrm>
          <a:prstGeom prst="roundRect">
            <a:avLst>
              <a:gd name="adj" fmla="val 26667"/>
            </a:avLst>
          </a:prstGeom>
          <a:solidFill>
            <a:srgbClr val="EEF2F6"/>
          </a:solidFill>
          <a:ln w="12700">
            <a:solidFill>
              <a:srgbClr val="EEF2F6"/>
            </a:solidFill>
            <a:prstDash val="solid"/>
          </a:ln>
        </p:spPr>
      </p:sp>
      <p:sp>
        <p:nvSpPr>
          <p:cNvPr id="45" name="Text 43"/>
          <p:cNvSpPr txBox="1"/>
          <p:nvPr/>
        </p:nvSpPr>
        <p:spPr>
          <a:xfrm>
            <a:off x="4480560" y="4114800"/>
            <a:ext cx="1078992" cy="411480"/>
          </a:xfrm>
          <a:prstGeom prst="rect">
            <a:avLst/>
          </a:prstGeom>
          <a:noFill/>
          <a:ln/>
        </p:spPr>
        <p:txBody>
          <a:bodyPr wrap="square" lIns="0" tIns="0" rIns="0" bIns="0" rtlCol="0" anchor="ctr"/>
          <a:lstStyle/>
          <a:p>
            <a:pPr algn="ctr" indent="0" marL="0">
              <a:buNone/>
            </a:pPr>
            <a:r>
              <a:rPr lang="en-US" sz="1300" dirty="0">
                <a:solidFill>
                  <a:srgbClr val="1E293B"/>
                </a:solidFill>
                <a:latin typeface="Calibri" pitchFamily="34" charset="0"/>
                <a:ea typeface="Calibri" pitchFamily="34" charset="-122"/>
                <a:cs typeface="Calibri" pitchFamily="34" charset="-120"/>
              </a:rPr>
              <a:t>AM-SSB</a:t>
            </a:r>
            <a:endParaRPr lang="en-US" sz="1300" dirty="0"/>
          </a:p>
        </p:txBody>
      </p:sp>
      <p:sp>
        <p:nvSpPr>
          <p:cNvPr id="46" name="Text 44"/>
          <p:cNvSpPr txBox="1"/>
          <p:nvPr/>
        </p:nvSpPr>
        <p:spPr>
          <a:xfrm>
            <a:off x="548640" y="49834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Orange: the four I use today.</a:t>
            </a:r>
            <a:pPr indent="0" marL="0">
              <a:buNone/>
            </a:pPr>
            <a:r>
              <a:rPr lang="en-US" sz="1500" dirty="0">
                <a:solidFill>
                  <a:srgbClr val="1E293B"/>
                </a:solidFill>
                <a:latin typeface="Calibri" pitchFamily="34" charset="0"/>
                <a:ea typeface="Calibri" pitchFamily="34" charset="-122"/>
                <a:cs typeface="Calibri" pitchFamily="34" charset="-120"/>
              </a:rPr>
              <a:t>  Two phase-only signals (BPSK, QPSK) and two that also change amplitude (QAM16, QAM64).</a:t>
            </a:r>
            <a:endParaRPr lang="en-US" sz="1500" dirty="0"/>
          </a:p>
        </p:txBody>
      </p:sp>
      <p:sp>
        <p:nvSpPr>
          <p:cNvPr id="48" name="Text 45"/>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WHAT IT IS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the detector do?</a:t>
            </a:r>
            <a:endParaRPr lang="en-US" sz="3000" dirty="0"/>
          </a:p>
        </p:txBody>
      </p:sp>
      <p:sp>
        <p:nvSpPr>
          <p:cNvPr id="4" name="Text 2"/>
          <p:cNvSpPr txBox="1"/>
          <p:nvPr/>
        </p:nvSpPr>
        <p:spPr>
          <a:xfrm>
            <a:off x="548640" y="1325880"/>
            <a:ext cx="11091672"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It is given 128 samples of a radio signal and says which of four modulations sent them.</a:t>
            </a:r>
            <a:endParaRPr lang="en-US" sz="1500" dirty="0"/>
          </a:p>
        </p:txBody>
      </p:sp>
      <p:sp>
        <p:nvSpPr>
          <p:cNvPr id="5" name="Shape 3"/>
          <p:cNvSpPr/>
          <p:nvPr/>
        </p:nvSpPr>
        <p:spPr>
          <a:xfrm>
            <a:off x="8970264" y="347472"/>
            <a:ext cx="2670048" cy="329184"/>
          </a:xfrm>
          <a:prstGeom prst="roundRect">
            <a:avLst>
              <a:gd name="adj" fmla="val 33333"/>
            </a:avLst>
          </a:prstGeom>
          <a:solidFill>
            <a:srgbClr val="EEF2F6"/>
          </a:solidFill>
          <a:ln w="12700">
            <a:solidFill>
              <a:srgbClr val="EEF2F6"/>
            </a:solidFill>
            <a:prstDash val="solid"/>
          </a:ln>
        </p:spPr>
      </p:sp>
      <p:sp>
        <p:nvSpPr>
          <p:cNvPr id="6" name="Text 4"/>
          <p:cNvSpPr txBox="1"/>
          <p:nvPr/>
        </p:nvSpPr>
        <p:spPr>
          <a:xfrm>
            <a:off x="8970264" y="347472"/>
            <a:ext cx="267004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model_zoo.backbone(4)</a:t>
            </a:r>
            <a:endParaRPr lang="en-US" sz="1100" dirty="0"/>
          </a:p>
        </p:txBody>
      </p:sp>
      <p:sp>
        <p:nvSpPr>
          <p:cNvPr id="7" name="Shape 5"/>
          <p:cNvSpPr/>
          <p:nvPr/>
        </p:nvSpPr>
        <p:spPr>
          <a:xfrm>
            <a:off x="548640" y="1920240"/>
            <a:ext cx="3200400" cy="3291840"/>
          </a:xfrm>
          <a:prstGeom prst="roundRect">
            <a:avLst>
              <a:gd name="adj" fmla="val 2857"/>
            </a:avLst>
          </a:prstGeom>
          <a:solidFill>
            <a:srgbClr val="EEF2F6"/>
          </a:solidFill>
          <a:ln w="12700">
            <a:solidFill>
              <a:srgbClr val="EEF2F6"/>
            </a:solidFill>
            <a:prstDash val="solid"/>
          </a:ln>
        </p:spPr>
      </p:sp>
      <p:sp>
        <p:nvSpPr>
          <p:cNvPr id="8" name="Shape 6"/>
          <p:cNvSpPr/>
          <p:nvPr/>
        </p:nvSpPr>
        <p:spPr>
          <a:xfrm>
            <a:off x="777240" y="2148840"/>
            <a:ext cx="384048" cy="384048"/>
          </a:xfrm>
          <a:prstGeom prst="ellipse">
            <a:avLst/>
          </a:prstGeom>
          <a:solidFill>
            <a:srgbClr val="0F1B2D"/>
          </a:solidFill>
          <a:ln w="12700">
            <a:solidFill>
              <a:srgbClr val="0F1B2D"/>
            </a:solidFill>
            <a:prstDash val="solid"/>
          </a:ln>
        </p:spPr>
      </p:sp>
      <p:sp>
        <p:nvSpPr>
          <p:cNvPr id="9" name="Text 7"/>
          <p:cNvSpPr txBox="1"/>
          <p:nvPr/>
        </p:nvSpPr>
        <p:spPr>
          <a:xfrm>
            <a:off x="77724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0" name="Text 8"/>
          <p:cNvSpPr txBox="1"/>
          <p:nvPr/>
        </p:nvSpPr>
        <p:spPr>
          <a:xfrm>
            <a:off x="128016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Look at short pieces</a:t>
            </a:r>
            <a:endParaRPr lang="en-US" sz="1800" dirty="0"/>
          </a:p>
        </p:txBody>
      </p:sp>
      <p:sp>
        <p:nvSpPr>
          <p:cNvPr id="11" name="Text 9"/>
          <p:cNvSpPr txBox="1"/>
          <p:nvPr/>
        </p:nvSpPr>
        <p:spPr>
          <a:xfrm>
            <a:off x="77724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2 convolution layers</a:t>
            </a:r>
            <a:endParaRPr lang="en-US" sz="1100" dirty="0"/>
          </a:p>
        </p:txBody>
      </p:sp>
      <p:sp>
        <p:nvSpPr>
          <p:cNvPr id="12" name="Text 10"/>
          <p:cNvSpPr txBox="1"/>
          <p:nvPr/>
        </p:nvSpPr>
        <p:spPr>
          <a:xfrm>
            <a:off x="77724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12 samples, about 1.5 symbols. The frame becomes 32 pieces.</a:t>
            </a:r>
            <a:endParaRPr lang="en-US" sz="1400" dirty="0"/>
          </a:p>
        </p:txBody>
      </p:sp>
      <p:sp>
        <p:nvSpPr>
          <p:cNvPr id="13" name="Text 11"/>
          <p:cNvSpPr txBox="1"/>
          <p:nvPr/>
        </p:nvSpPr>
        <p:spPr>
          <a:xfrm>
            <a:off x="77724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25,792 numbers learned</a:t>
            </a:r>
            <a:endParaRPr lang="en-US" sz="1200" dirty="0"/>
          </a:p>
        </p:txBody>
      </p:sp>
      <p:sp>
        <p:nvSpPr>
          <p:cNvPr id="14" name="Shape 12"/>
          <p:cNvSpPr/>
          <p:nvPr/>
        </p:nvSpPr>
        <p:spPr>
          <a:xfrm>
            <a:off x="3858768" y="3383280"/>
            <a:ext cx="502920" cy="384048"/>
          </a:xfrm>
          <a:prstGeom prst="rightArrow">
            <a:avLst/>
          </a:prstGeom>
          <a:solidFill>
            <a:srgbClr val="F08A24"/>
          </a:solidFill>
          <a:ln w="12700">
            <a:solidFill>
              <a:srgbClr val="F08A24"/>
            </a:solidFill>
            <a:prstDash val="solid"/>
          </a:ln>
        </p:spPr>
      </p:sp>
      <p:sp>
        <p:nvSpPr>
          <p:cNvPr id="15" name="Shape 13"/>
          <p:cNvSpPr/>
          <p:nvPr/>
        </p:nvSpPr>
        <p:spPr>
          <a:xfrm>
            <a:off x="4389120" y="1920240"/>
            <a:ext cx="3200400" cy="3291840"/>
          </a:xfrm>
          <a:prstGeom prst="roundRect">
            <a:avLst>
              <a:gd name="adj" fmla="val 2857"/>
            </a:avLst>
          </a:prstGeom>
          <a:solidFill>
            <a:srgbClr val="EEF2F6"/>
          </a:solidFill>
          <a:ln w="12700">
            <a:solidFill>
              <a:srgbClr val="EEF2F6"/>
            </a:solidFill>
            <a:prstDash val="solid"/>
          </a:ln>
        </p:spPr>
      </p:sp>
      <p:sp>
        <p:nvSpPr>
          <p:cNvPr id="16" name="Shape 14"/>
          <p:cNvSpPr/>
          <p:nvPr/>
        </p:nvSpPr>
        <p:spPr>
          <a:xfrm>
            <a:off x="4617720" y="2148840"/>
            <a:ext cx="384048" cy="384048"/>
          </a:xfrm>
          <a:prstGeom prst="ellipse">
            <a:avLst/>
          </a:prstGeom>
          <a:solidFill>
            <a:srgbClr val="0F1B2D"/>
          </a:solidFill>
          <a:ln w="12700">
            <a:solidFill>
              <a:srgbClr val="0F1B2D"/>
            </a:solidFill>
            <a:prstDash val="solid"/>
          </a:ln>
        </p:spPr>
      </p:sp>
      <p:sp>
        <p:nvSpPr>
          <p:cNvPr id="17" name="Text 15"/>
          <p:cNvSpPr txBox="1"/>
          <p:nvPr/>
        </p:nvSpPr>
        <p:spPr>
          <a:xfrm>
            <a:off x="461772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6"/>
          <p:cNvSpPr txBox="1"/>
          <p:nvPr/>
        </p:nvSpPr>
        <p:spPr>
          <a:xfrm>
            <a:off x="512064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Read the pieces in order</a:t>
            </a:r>
            <a:endParaRPr lang="en-US" sz="1800" dirty="0"/>
          </a:p>
        </p:txBody>
      </p:sp>
      <p:sp>
        <p:nvSpPr>
          <p:cNvPr id="19" name="Text 17"/>
          <p:cNvSpPr txBox="1"/>
          <p:nvPr/>
        </p:nvSpPr>
        <p:spPr>
          <a:xfrm>
            <a:off x="461772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BiLSTM, forwards and backwards</a:t>
            </a:r>
            <a:endParaRPr lang="en-US" sz="1100" dirty="0"/>
          </a:p>
        </p:txBody>
      </p:sp>
      <p:sp>
        <p:nvSpPr>
          <p:cNvPr id="20" name="Text 18"/>
          <p:cNvSpPr txBox="1"/>
          <p:nvPr/>
        </p:nvSpPr>
        <p:spPr>
          <a:xfrm>
            <a:off x="461772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Each piece now knows about the whole frame.</a:t>
            </a:r>
            <a:endParaRPr lang="en-US" sz="1400" dirty="0"/>
          </a:p>
        </p:txBody>
      </p:sp>
      <p:sp>
        <p:nvSpPr>
          <p:cNvPr id="21" name="Text 19"/>
          <p:cNvSpPr txBox="1"/>
          <p:nvPr/>
        </p:nvSpPr>
        <p:spPr>
          <a:xfrm>
            <a:off x="461772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659,968 numbers learned</a:t>
            </a:r>
            <a:endParaRPr lang="en-US" sz="1200" dirty="0"/>
          </a:p>
        </p:txBody>
      </p:sp>
      <p:sp>
        <p:nvSpPr>
          <p:cNvPr id="22" name="Shape 20"/>
          <p:cNvSpPr/>
          <p:nvPr/>
        </p:nvSpPr>
        <p:spPr>
          <a:xfrm>
            <a:off x="7699248" y="3383280"/>
            <a:ext cx="502920" cy="384048"/>
          </a:xfrm>
          <a:prstGeom prst="rightArrow">
            <a:avLst/>
          </a:prstGeom>
          <a:solidFill>
            <a:srgbClr val="F08A24"/>
          </a:solidFill>
          <a:ln w="12700">
            <a:solidFill>
              <a:srgbClr val="F08A24"/>
            </a:solidFill>
            <a:prstDash val="solid"/>
          </a:ln>
        </p:spPr>
      </p:sp>
      <p:sp>
        <p:nvSpPr>
          <p:cNvPr id="23" name="Shape 21"/>
          <p:cNvSpPr/>
          <p:nvPr/>
        </p:nvSpPr>
        <p:spPr>
          <a:xfrm>
            <a:off x="8229600" y="1920240"/>
            <a:ext cx="3200400" cy="3291840"/>
          </a:xfrm>
          <a:prstGeom prst="roundRect">
            <a:avLst>
              <a:gd name="adj" fmla="val 2857"/>
            </a:avLst>
          </a:prstGeom>
          <a:solidFill>
            <a:srgbClr val="EEF2F6"/>
          </a:solidFill>
          <a:ln w="12700">
            <a:solidFill>
              <a:srgbClr val="EEF2F6"/>
            </a:solidFill>
            <a:prstDash val="solid"/>
          </a:ln>
        </p:spPr>
      </p:sp>
      <p:sp>
        <p:nvSpPr>
          <p:cNvPr id="24" name="Shape 22"/>
          <p:cNvSpPr/>
          <p:nvPr/>
        </p:nvSpPr>
        <p:spPr>
          <a:xfrm>
            <a:off x="8458200" y="2148840"/>
            <a:ext cx="384048" cy="384048"/>
          </a:xfrm>
          <a:prstGeom prst="ellipse">
            <a:avLst/>
          </a:prstGeom>
          <a:solidFill>
            <a:srgbClr val="0F1B2D"/>
          </a:solidFill>
          <a:ln w="12700">
            <a:solidFill>
              <a:srgbClr val="0F1B2D"/>
            </a:solidFill>
            <a:prstDash val="solid"/>
          </a:ln>
        </p:spPr>
      </p:sp>
      <p:sp>
        <p:nvSpPr>
          <p:cNvPr id="25" name="Text 23"/>
          <p:cNvSpPr txBox="1"/>
          <p:nvPr/>
        </p:nvSpPr>
        <p:spPr>
          <a:xfrm>
            <a:off x="8458200" y="214884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Text 24"/>
          <p:cNvSpPr txBox="1"/>
          <p:nvPr/>
        </p:nvSpPr>
        <p:spPr>
          <a:xfrm>
            <a:off x="8961120" y="2121408"/>
            <a:ext cx="2331720" cy="45720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Decide</a:t>
            </a:r>
            <a:endParaRPr lang="en-US" sz="1800" dirty="0"/>
          </a:p>
        </p:txBody>
      </p:sp>
      <p:sp>
        <p:nvSpPr>
          <p:cNvPr id="27" name="Text 25"/>
          <p:cNvSpPr txBox="1"/>
          <p:nvPr/>
        </p:nvSpPr>
        <p:spPr>
          <a:xfrm>
            <a:off x="8458200" y="2743200"/>
            <a:ext cx="2743200" cy="320040"/>
          </a:xfrm>
          <a:prstGeom prst="rect">
            <a:avLst/>
          </a:prstGeom>
          <a:noFill/>
          <a:ln/>
        </p:spPr>
        <p:txBody>
          <a:bodyPr wrap="square" lIns="0" tIns="0" rIns="0" bIns="0" rtlCol="0" anchor="t"/>
          <a:lstStyle/>
          <a:p>
            <a:pPr indent="0" marL="0">
              <a:buNone/>
            </a:pPr>
            <a:r>
              <a:rPr lang="en-US" sz="1100" dirty="0">
                <a:solidFill>
                  <a:srgbClr val="5B6B7F"/>
                </a:solidFill>
                <a:latin typeface="Consolas" pitchFamily="34" charset="0"/>
                <a:ea typeface="Consolas" pitchFamily="34" charset="-122"/>
                <a:cs typeface="Consolas" pitchFamily="34" charset="-120"/>
              </a:rPr>
              <a:t>attention + 2 dense layers</a:t>
            </a:r>
            <a:endParaRPr lang="en-US" sz="1100" dirty="0"/>
          </a:p>
        </p:txBody>
      </p:sp>
      <p:sp>
        <p:nvSpPr>
          <p:cNvPr id="28" name="Text 26"/>
          <p:cNvSpPr txBox="1"/>
          <p:nvPr/>
        </p:nvSpPr>
        <p:spPr>
          <a:xfrm>
            <a:off x="8458200" y="3200400"/>
            <a:ext cx="2743200" cy="1188720"/>
          </a:xfrm>
          <a:prstGeom prst="rect">
            <a:avLst/>
          </a:prstGeom>
          <a:noFill/>
          <a:ln/>
        </p:spPr>
        <p:txBody>
          <a:bodyPr wrap="square" lIns="0" tIns="0" rIns="0" bIns="0" rtlCol="0" anchor="t"/>
          <a:lstStyle/>
          <a:p>
            <a:pPr indent="0" marL="0">
              <a:buNone/>
            </a:pPr>
            <a:r>
              <a:rPr lang="en-US" sz="1400" dirty="0">
                <a:solidFill>
                  <a:srgbClr val="1E293B"/>
                </a:solidFill>
                <a:latin typeface="Calibri" pitchFamily="34" charset="0"/>
                <a:ea typeface="Calibri" pitchFamily="34" charset="-122"/>
                <a:cs typeface="Calibri" pitchFamily="34" charset="-120"/>
              </a:rPr>
              <a:t>Weighted average of the 32 pieces → 4 scores. The largest score wins.</a:t>
            </a:r>
            <a:endParaRPr lang="en-US" sz="1400" dirty="0"/>
          </a:p>
        </p:txBody>
      </p:sp>
      <p:sp>
        <p:nvSpPr>
          <p:cNvPr id="29" name="Text 27"/>
          <p:cNvSpPr txBox="1"/>
          <p:nvPr/>
        </p:nvSpPr>
        <p:spPr>
          <a:xfrm>
            <a:off x="8458200" y="4663440"/>
            <a:ext cx="2743200" cy="3200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99,716 numbers learned</a:t>
            </a:r>
            <a:endParaRPr lang="en-US" sz="1200" dirty="0"/>
          </a:p>
        </p:txBody>
      </p:sp>
      <p:sp>
        <p:nvSpPr>
          <p:cNvPr id="30" name="Text 28"/>
          <p:cNvSpPr txBox="1"/>
          <p:nvPr/>
        </p:nvSpPr>
        <p:spPr>
          <a:xfrm>
            <a:off x="548640" y="55778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785,476 numbers learned in total.</a:t>
            </a:r>
            <a:pPr indent="0" marL="0">
              <a:buNone/>
            </a:pPr>
            <a:r>
              <a:rPr lang="en-US" sz="1500" dirty="0">
                <a:solidFill>
                  <a:srgbClr val="1E293B"/>
                </a:solidFill>
                <a:latin typeface="Calibri" pitchFamily="34" charset="0"/>
                <a:ea typeface="Calibri" pitchFamily="34" charset="-122"/>
                <a:cs typeface="Calibri" pitchFamily="34" charset="-120"/>
              </a:rPr>
              <a:t>  Most of them, 84%, are in step 2. Nothing in it is random once trained: the same frame always gets the same answer.</a:t>
            </a:r>
            <a:endParaRPr lang="en-US" sz="1500" dirty="0"/>
          </a:p>
        </p:txBody>
      </p:sp>
      <p:sp>
        <p:nvSpPr>
          <p:cNvPr id="32" name="Text 29"/>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WHERE IT CAME FROM</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Who designed it, and who wrote the code?</a:t>
            </a:r>
            <a:endParaRPr lang="en-US" sz="3000" dirty="0"/>
          </a:p>
        </p:txBody>
      </p:sp>
      <p:sp>
        <p:nvSpPr>
          <p:cNvPr id="4" name="Shape 2"/>
          <p:cNvSpPr/>
          <p:nvPr/>
        </p:nvSpPr>
        <p:spPr>
          <a:xfrm>
            <a:off x="8092440" y="347472"/>
            <a:ext cx="354787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092440" y="347472"/>
            <a:ext cx="354787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colab/icrnna_faithful_2016.py</a:t>
            </a:r>
            <a:endParaRPr lang="en-US" sz="1100" dirty="0"/>
          </a:p>
        </p:txBody>
      </p:sp>
      <p:sp>
        <p:nvSpPr>
          <p:cNvPr id="6" name="Shape 4"/>
          <p:cNvSpPr/>
          <p:nvPr/>
        </p:nvSpPr>
        <p:spPr>
          <a:xfrm>
            <a:off x="548640" y="1828800"/>
            <a:ext cx="3200400" cy="2011680"/>
          </a:xfrm>
          <a:prstGeom prst="roundRect">
            <a:avLst>
              <a:gd name="adj" fmla="val 4545"/>
            </a:avLst>
          </a:prstGeom>
          <a:solidFill>
            <a:srgbClr val="EEF2F6"/>
          </a:solidFill>
          <a:ln w="12700">
            <a:solidFill>
              <a:srgbClr val="EEF2F6"/>
            </a:solidFill>
            <a:prstDash val="solid"/>
          </a:ln>
        </p:spPr>
      </p:sp>
      <p:sp>
        <p:nvSpPr>
          <p:cNvPr id="7" name="Text 5"/>
          <p:cNvSpPr txBox="1"/>
          <p:nvPr/>
        </p:nvSpPr>
        <p:spPr>
          <a:xfrm>
            <a:off x="77724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paper</a:t>
            </a:r>
            <a:endParaRPr lang="en-US" sz="1800" dirty="0"/>
          </a:p>
        </p:txBody>
      </p:sp>
      <p:sp>
        <p:nvSpPr>
          <p:cNvPr id="8" name="Text 6"/>
          <p:cNvSpPr txBox="1"/>
          <p:nvPr/>
        </p:nvSpPr>
        <p:spPr>
          <a:xfrm>
            <a:off x="77724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El-Haryqy et al., Results in Engineering, 2025. Model name: ICRNNA. Reported 63.24% on 11 classes.</a:t>
            </a:r>
            <a:endParaRPr lang="en-US" sz="1350" dirty="0"/>
          </a:p>
        </p:txBody>
      </p:sp>
      <p:sp>
        <p:nvSpPr>
          <p:cNvPr id="9" name="Shape 7"/>
          <p:cNvSpPr/>
          <p:nvPr/>
        </p:nvSpPr>
        <p:spPr>
          <a:xfrm>
            <a:off x="3858768" y="2606040"/>
            <a:ext cx="502920" cy="384048"/>
          </a:xfrm>
          <a:prstGeom prst="rightArrow">
            <a:avLst/>
          </a:prstGeom>
          <a:solidFill>
            <a:srgbClr val="F08A24"/>
          </a:solidFill>
          <a:ln w="12700">
            <a:solidFill>
              <a:srgbClr val="F08A24"/>
            </a:solidFill>
            <a:prstDash val="solid"/>
          </a:ln>
        </p:spPr>
      </p:sp>
      <p:sp>
        <p:nvSpPr>
          <p:cNvPr id="10" name="Shape 8"/>
          <p:cNvSpPr/>
          <p:nvPr/>
        </p:nvSpPr>
        <p:spPr>
          <a:xfrm>
            <a:off x="4389120" y="1828800"/>
            <a:ext cx="3200400" cy="2011680"/>
          </a:xfrm>
          <a:prstGeom prst="roundRect">
            <a:avLst>
              <a:gd name="adj" fmla="val 4545"/>
            </a:avLst>
          </a:prstGeom>
          <a:solidFill>
            <a:srgbClr val="EEF2F6"/>
          </a:solidFill>
          <a:ln w="12700">
            <a:solidFill>
              <a:srgbClr val="EEF2F6"/>
            </a:solidFill>
            <a:prstDash val="solid"/>
          </a:ln>
        </p:spPr>
      </p:sp>
      <p:sp>
        <p:nvSpPr>
          <p:cNvPr id="11" name="Text 9"/>
          <p:cNvSpPr txBox="1"/>
          <p:nvPr/>
        </p:nvSpPr>
        <p:spPr>
          <a:xfrm>
            <a:off x="461772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A colleague's code</a:t>
            </a:r>
            <a:endParaRPr lang="en-US" sz="1800" dirty="0"/>
          </a:p>
        </p:txBody>
      </p:sp>
      <p:sp>
        <p:nvSpPr>
          <p:cNvPr id="12" name="Text 10"/>
          <p:cNvSpPr txBox="1"/>
          <p:nvPr/>
        </p:nvSpPr>
        <p:spPr>
          <a:xfrm>
            <a:off x="461772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Their re-implementation of the paper. Our code is copied from it.</a:t>
            </a:r>
            <a:endParaRPr lang="en-US" sz="1350" dirty="0"/>
          </a:p>
        </p:txBody>
      </p:sp>
      <p:sp>
        <p:nvSpPr>
          <p:cNvPr id="13" name="Shape 11"/>
          <p:cNvSpPr/>
          <p:nvPr/>
        </p:nvSpPr>
        <p:spPr>
          <a:xfrm>
            <a:off x="7699248" y="2606040"/>
            <a:ext cx="502920" cy="384048"/>
          </a:xfrm>
          <a:prstGeom prst="rightArrow">
            <a:avLst/>
          </a:prstGeom>
          <a:solidFill>
            <a:srgbClr val="F08A24"/>
          </a:solidFill>
          <a:ln w="12700">
            <a:solidFill>
              <a:srgbClr val="F08A24"/>
            </a:solidFill>
            <a:prstDash val="solid"/>
          </a:ln>
        </p:spPr>
      </p:sp>
      <p:sp>
        <p:nvSpPr>
          <p:cNvPr id="14" name="Shape 12"/>
          <p:cNvSpPr/>
          <p:nvPr/>
        </p:nvSpPr>
        <p:spPr>
          <a:xfrm>
            <a:off x="8229600" y="1828800"/>
            <a:ext cx="3200400" cy="2011680"/>
          </a:xfrm>
          <a:prstGeom prst="roundRect">
            <a:avLst>
              <a:gd name="adj" fmla="val 4545"/>
            </a:avLst>
          </a:prstGeom>
          <a:solidFill>
            <a:srgbClr val="EEF2F6"/>
          </a:solidFill>
          <a:ln w="12700">
            <a:solidFill>
              <a:srgbClr val="EEF2F6"/>
            </a:solidFill>
            <a:prstDash val="solid"/>
          </a:ln>
        </p:spPr>
      </p:sp>
      <p:sp>
        <p:nvSpPr>
          <p:cNvPr id="15" name="Text 13"/>
          <p:cNvSpPr txBox="1"/>
          <p:nvPr/>
        </p:nvSpPr>
        <p:spPr>
          <a:xfrm>
            <a:off x="8458200" y="2011680"/>
            <a:ext cx="2743200" cy="41148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Our code</a:t>
            </a:r>
            <a:endParaRPr lang="en-US" sz="1800" dirty="0"/>
          </a:p>
        </p:txBody>
      </p:sp>
      <p:sp>
        <p:nvSpPr>
          <p:cNvPr id="16" name="Text 14"/>
          <p:cNvSpPr txBox="1"/>
          <p:nvPr/>
        </p:nvSpPr>
        <p:spPr>
          <a:xfrm>
            <a:off x="8458200" y="2514600"/>
            <a:ext cx="2743200" cy="1280160"/>
          </a:xfrm>
          <a:prstGeom prst="rect">
            <a:avLst/>
          </a:prstGeom>
          <a:noFill/>
          <a:ln/>
        </p:spPr>
        <p:txBody>
          <a:bodyPr wrap="square" lIns="0" tIns="0" rIns="0" bIns="0" rtlCol="0" anchor="t"/>
          <a:lstStyle/>
          <a:p>
            <a:pPr indent="0" marL="0">
              <a:buNone/>
            </a:pPr>
            <a:r>
              <a:rPr lang="en-US" sz="1350" dirty="0">
                <a:solidFill>
                  <a:srgbClr val="1E293B"/>
                </a:solidFill>
                <a:latin typeface="Calibri" pitchFamily="34" charset="0"/>
                <a:ea typeface="Calibri" pitchFamily="34" charset="-122"/>
                <a:cs typeface="Calibri" pitchFamily="34" charset="-120"/>
              </a:rPr>
              <a:t>Differs from the paper in 5 small places (filter size, pooling, normalisation, dropout, one layer fewer).</a:t>
            </a:r>
            <a:endParaRPr lang="en-US" sz="1350" dirty="0"/>
          </a:p>
        </p:txBody>
      </p:sp>
      <p:sp>
        <p:nvSpPr>
          <p:cNvPr id="17" name="Shape 15"/>
          <p:cNvSpPr/>
          <p:nvPr/>
        </p:nvSpPr>
        <p:spPr>
          <a:xfrm>
            <a:off x="548640" y="4114800"/>
            <a:ext cx="5486400" cy="1691640"/>
          </a:xfrm>
          <a:prstGeom prst="roundRect">
            <a:avLst>
              <a:gd name="adj" fmla="val 5405"/>
            </a:avLst>
          </a:prstGeom>
          <a:solidFill>
            <a:srgbClr val="EEF2F6"/>
          </a:solidFill>
          <a:ln w="12700">
            <a:solidFill>
              <a:srgbClr val="EEF2F6"/>
            </a:solidFill>
            <a:prstDash val="solid"/>
          </a:ln>
        </p:spPr>
      </p:sp>
      <p:sp>
        <p:nvSpPr>
          <p:cNvPr id="18" name="Text 16"/>
          <p:cNvSpPr txBox="1"/>
          <p:nvPr/>
        </p:nvSpPr>
        <p:spPr>
          <a:xfrm>
            <a:off x="777240" y="4224528"/>
            <a:ext cx="50292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Is the paper's number real?</a:t>
            </a:r>
            <a:endParaRPr lang="en-US" sz="1500" dirty="0"/>
          </a:p>
        </p:txBody>
      </p:sp>
      <p:sp>
        <p:nvSpPr>
          <p:cNvPr id="19" name="Text 17"/>
          <p:cNvSpPr txBox="1"/>
          <p:nvPr/>
        </p:nvSpPr>
        <p:spPr>
          <a:xfrm>
            <a:off x="777240" y="4590288"/>
            <a:ext cx="5029200" cy="457200"/>
          </a:xfrm>
          <a:prstGeom prst="rect">
            <a:avLst/>
          </a:prstGeom>
          <a:noFill/>
          <a:ln/>
        </p:spPr>
        <p:txBody>
          <a:bodyPr wrap="square" lIns="0" tIns="0" rIns="0" bIns="0" rtlCol="0" anchor="t"/>
          <a:lstStyle/>
          <a:p>
            <a:pPr indent="0" marL="0">
              <a:buNone/>
            </a:pPr>
            <a:r>
              <a:rPr lang="en-US" sz="1250" dirty="0">
                <a:solidFill>
                  <a:srgbClr val="5B6B7F"/>
                </a:solidFill>
                <a:latin typeface="Calibri" pitchFamily="34" charset="0"/>
                <a:ea typeface="Calibri" pitchFamily="34" charset="-122"/>
                <a:cs typeface="Calibri" pitchFamily="34" charset="-120"/>
              </a:rPr>
              <a:t>I rebuilt the model from the paper alone and trained it until it stopped improving:</a:t>
            </a:r>
            <a:endParaRPr lang="en-US" sz="1250" dirty="0"/>
          </a:p>
        </p:txBody>
      </p:sp>
      <p:sp>
        <p:nvSpPr>
          <p:cNvPr id="20" name="Text 18"/>
          <p:cNvSpPr txBox="1"/>
          <p:nvPr/>
        </p:nvSpPr>
        <p:spPr>
          <a:xfrm>
            <a:off x="777240" y="5029200"/>
            <a:ext cx="5120640" cy="640080"/>
          </a:xfrm>
          <a:prstGeom prst="rect">
            <a:avLst/>
          </a:prstGeom>
          <a:noFill/>
          <a:ln/>
        </p:spPr>
        <p:txBody>
          <a:bodyPr wrap="square" lIns="0" tIns="0" rIns="0" bIns="0" rtlCol="0" anchor="ctr"/>
          <a:lstStyle/>
          <a:p>
            <a:pPr indent="0" marL="0">
              <a:buNone/>
            </a:pPr>
            <a:r>
              <a:rPr lang="en-US" sz="3000" b="1" dirty="0">
                <a:solidFill>
                  <a:srgbClr val="F08A24"/>
                </a:solidFill>
                <a:latin typeface="Calibri" pitchFamily="34" charset="0"/>
                <a:ea typeface="Calibri" pitchFamily="34" charset="-122"/>
                <a:cs typeface="Calibri" pitchFamily="34" charset="-120"/>
              </a:rPr>
              <a:t>63.21%</a:t>
            </a:r>
            <a:pPr indent="0" marL="0">
              <a:buNone/>
            </a:pPr>
            <a:r>
              <a:rPr lang="en-US" sz="1500" dirty="0">
                <a:solidFill>
                  <a:srgbClr val="1E293B"/>
                </a:solidFill>
                <a:latin typeface="Calibri" pitchFamily="34" charset="0"/>
                <a:ea typeface="Calibri" pitchFamily="34" charset="-122"/>
                <a:cs typeface="Calibri" pitchFamily="34" charset="-120"/>
              </a:rPr>
              <a:t>   against the paper's 63.24%</a:t>
            </a:r>
            <a:endParaRPr lang="en-US" sz="1400" dirty="0"/>
          </a:p>
        </p:txBody>
      </p:sp>
      <p:sp>
        <p:nvSpPr>
          <p:cNvPr id="21" name="Shape 19"/>
          <p:cNvSpPr/>
          <p:nvPr/>
        </p:nvSpPr>
        <p:spPr>
          <a:xfrm>
            <a:off x="6336792" y="4114800"/>
            <a:ext cx="5303520" cy="1691640"/>
          </a:xfrm>
          <a:prstGeom prst="roundRect">
            <a:avLst>
              <a:gd name="adj" fmla="val 5405"/>
            </a:avLst>
          </a:prstGeom>
          <a:solidFill>
            <a:srgbClr val="EEF2F6"/>
          </a:solidFill>
          <a:ln w="12700">
            <a:solidFill>
              <a:srgbClr val="EEF2F6"/>
            </a:solidFill>
            <a:prstDash val="solid"/>
          </a:ln>
        </p:spPr>
      </p:sp>
      <p:sp>
        <p:nvSpPr>
          <p:cNvPr id="22" name="Text 20"/>
          <p:cNvSpPr txBox="1"/>
          <p:nvPr/>
        </p:nvSpPr>
        <p:spPr>
          <a:xfrm>
            <a:off x="6565392" y="4224528"/>
            <a:ext cx="51206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Written with an AI assistant</a:t>
            </a:r>
            <a:endParaRPr lang="en-US" sz="1500" dirty="0"/>
          </a:p>
        </p:txBody>
      </p:sp>
      <p:sp>
        <p:nvSpPr>
          <p:cNvPr id="23" name="Text 21"/>
          <p:cNvSpPr txBox="1"/>
          <p:nvPr/>
        </p:nvSpPr>
        <p:spPr>
          <a:xfrm>
            <a:off x="6565392" y="4590288"/>
            <a:ext cx="4846320" cy="118872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The code, the plots and these slides were written with Claude Code (Anthropic). Every number comes from running that code on a GPU. The choices of what to test are mine.</a:t>
            </a:r>
            <a:endParaRPr lang="en-US" sz="13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THE BIG PICTURE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we gave it, and what came out</a:t>
            </a:r>
            <a:endParaRPr lang="en-US" sz="3000" dirty="0"/>
          </a:p>
        </p:txBody>
      </p:sp>
      <p:sp>
        <p:nvSpPr>
          <p:cNvPr id="4" name="Shape 2"/>
          <p:cNvSpPr/>
          <p:nvPr/>
        </p:nvSpPr>
        <p:spPr>
          <a:xfrm>
            <a:off x="5897880" y="347472"/>
            <a:ext cx="57424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5897880" y="347472"/>
            <a:ext cx="57424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--classes BPSK,QPSK,QAM16,QAM64</a:t>
            </a:r>
            <a:endParaRPr lang="en-US" sz="1100" dirty="0"/>
          </a:p>
        </p:txBody>
      </p:sp>
      <p:sp>
        <p:nvSpPr>
          <p:cNvPr id="6" name="Shape 4"/>
          <p:cNvSpPr/>
          <p:nvPr/>
        </p:nvSpPr>
        <p:spPr>
          <a:xfrm>
            <a:off x="548640" y="1600200"/>
            <a:ext cx="1097280" cy="292608"/>
          </a:xfrm>
          <a:prstGeom prst="roundRect">
            <a:avLst>
              <a:gd name="adj" fmla="val 50000"/>
            </a:avLst>
          </a:prstGeom>
          <a:solidFill>
            <a:srgbClr val="F08A24"/>
          </a:solidFill>
          <a:ln w="12700">
            <a:solidFill>
              <a:srgbClr val="F08A24"/>
            </a:solidFill>
            <a:prstDash val="solid"/>
          </a:ln>
        </p:spPr>
      </p:sp>
      <p:sp>
        <p:nvSpPr>
          <p:cNvPr id="7" name="Text 5"/>
          <p:cNvSpPr txBox="1"/>
          <p:nvPr/>
        </p:nvSpPr>
        <p:spPr>
          <a:xfrm>
            <a:off x="54864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INPUT</a:t>
            </a:r>
            <a:endParaRPr lang="en-US" sz="1100" dirty="0"/>
          </a:p>
        </p:txBody>
      </p:sp>
      <p:sp>
        <p:nvSpPr>
          <p:cNvPr id="8" name="Shape 6"/>
          <p:cNvSpPr/>
          <p:nvPr/>
        </p:nvSpPr>
        <p:spPr>
          <a:xfrm>
            <a:off x="512064" y="1975104"/>
            <a:ext cx="3639312" cy="1341120"/>
          </a:xfrm>
          <a:prstGeom prst="roundRect">
            <a:avLst>
              <a:gd name="adj" fmla="val 4091"/>
            </a:avLst>
          </a:prstGeom>
          <a:solidFill>
            <a:srgbClr val="0F1B2D"/>
          </a:solidFill>
          <a:ln w="12700">
            <a:solidFill>
              <a:srgbClr val="0F1B2D"/>
            </a:solidFill>
            <a:prstDash val="solid"/>
          </a:ln>
        </p:spPr>
      </p:sp>
      <p:pic>
        <p:nvPicPr>
          <p:cNvPr id="9" name="Image 0" descr="simple/frame.png">    </p:cNvPr>
          <p:cNvPicPr>
            <a:picLocks noChangeAspect="1"/>
          </p:cNvPicPr>
          <p:nvPr/>
        </p:nvPicPr>
        <p:blipFill>
          <a:blip r:embed="rId1"/>
          <a:stretch>
            <a:fillRect/>
          </a:stretch>
        </p:blipFill>
        <p:spPr>
          <a:xfrm>
            <a:off x="548640" y="2011680"/>
            <a:ext cx="3566160" cy="1267968"/>
          </a:xfrm>
          <a:prstGeom prst="rect">
            <a:avLst/>
          </a:prstGeom>
        </p:spPr>
      </p:pic>
      <p:sp>
        <p:nvSpPr>
          <p:cNvPr id="10" name="Text 7"/>
          <p:cNvSpPr txBox="1"/>
          <p:nvPr/>
        </p:nvSpPr>
        <p:spPr>
          <a:xfrm>
            <a:off x="548640" y="3429000"/>
            <a:ext cx="3611880" cy="1097280"/>
          </a:xfrm>
          <a:prstGeom prst="rect">
            <a:avLst/>
          </a:prstGeom>
          <a:noFill/>
          <a:ln/>
        </p:spPr>
        <p:txBody>
          <a:bodyPr wrap="square" lIns="0" tIns="0" rIns="0" bIns="0" rtlCol="0" anchor="t"/>
          <a:lstStyle/>
          <a:p>
            <a:pPr indent="0" marL="0">
              <a:buNone/>
            </a:pPr>
            <a:r>
              <a:rPr lang="en-US" sz="1250" b="1" dirty="0">
                <a:solidFill>
                  <a:srgbClr val="1E293B"/>
                </a:solidFill>
                <a:latin typeface="Calibri" pitchFamily="34" charset="0"/>
                <a:ea typeface="Calibri" pitchFamily="34" charset="-122"/>
                <a:cs typeface="Calibri" pitchFamily="34" charset="-120"/>
              </a:rPr>
              <a:t>Data: </a:t>
            </a:r>
            <a:pPr indent="0" marL="0">
              <a:buNone/>
            </a:pPr>
            <a:r>
              <a:rPr lang="en-US" sz="1250" dirty="0">
                <a:solidFill>
                  <a:srgbClr val="1E293B"/>
                </a:solidFill>
                <a:latin typeface="Calibri" pitchFamily="34" charset="0"/>
                <a:ea typeface="Calibri" pitchFamily="34" charset="-122"/>
                <a:cs typeface="Calibri" pitchFamily="34" charset="-120"/>
              </a:rPr>
              <a:t>RML2016.10a (DeepSig, simulated)</a:t>
            </a:r>
            <a:endParaRPr lang="en-US" sz="1250" dirty="0"/>
          </a:p>
          <a:p>
            <a:pPr indent="0" marL="0">
              <a:buNone/>
            </a:pPr>
            <a:r>
              <a:rPr lang="en-US" sz="1250" dirty="0">
                <a:solidFill>
                  <a:srgbClr val="1E293B"/>
                </a:solidFill>
                <a:latin typeface="Calibri" pitchFamily="34" charset="0"/>
                <a:ea typeface="Calibri" pitchFamily="34" charset="-122"/>
                <a:cs typeface="Calibri" pitchFamily="34" charset="-120"/>
              </a:rPr>
              <a:t>4 kinds × 20 noise levels × 1,000 frames</a:t>
            </a:r>
            <a:endParaRPr lang="en-US" sz="1250" dirty="0"/>
          </a:p>
          <a:p>
            <a:pPr indent="0" marL="0">
              <a:buNone/>
            </a:pPr>
            <a:r>
              <a:rPr lang="en-US" sz="1250" b="1" dirty="0">
                <a:solidFill>
                  <a:srgbClr val="1E293B"/>
                </a:solidFill>
                <a:latin typeface="Calibri" pitchFamily="34" charset="0"/>
                <a:ea typeface="Calibri" pitchFamily="34" charset="-122"/>
                <a:cs typeface="Calibri" pitchFamily="34" charset="-120"/>
              </a:rPr>
              <a:t>One frame: </a:t>
            </a:r>
            <a:pPr indent="0" marL="0">
              <a:buNone/>
            </a:pPr>
            <a:r>
              <a:rPr lang="en-US" sz="1250" dirty="0">
                <a:solidFill>
                  <a:srgbClr val="1E293B"/>
                </a:solidFill>
                <a:latin typeface="Calibri" pitchFamily="34" charset="0"/>
                <a:ea typeface="Calibri" pitchFamily="34" charset="-122"/>
                <a:cs typeface="Calibri" pitchFamily="34" charset="-120"/>
              </a:rPr>
              <a:t>128 samples = 16 symbols</a:t>
            </a:r>
            <a:endParaRPr lang="en-US" sz="1250" dirty="0"/>
          </a:p>
        </p:txBody>
      </p:sp>
      <p:sp>
        <p:nvSpPr>
          <p:cNvPr id="11" name="Shape 8"/>
          <p:cNvSpPr/>
          <p:nvPr/>
        </p:nvSpPr>
        <p:spPr>
          <a:xfrm>
            <a:off x="4297680" y="2743200"/>
            <a:ext cx="502920" cy="384048"/>
          </a:xfrm>
          <a:prstGeom prst="rightArrow">
            <a:avLst/>
          </a:prstGeom>
          <a:solidFill>
            <a:srgbClr val="F08A24"/>
          </a:solidFill>
          <a:ln w="12700">
            <a:solidFill>
              <a:srgbClr val="F08A24"/>
            </a:solidFill>
            <a:prstDash val="solid"/>
          </a:ln>
        </p:spPr>
      </p:sp>
      <p:sp>
        <p:nvSpPr>
          <p:cNvPr id="12" name="Shape 9"/>
          <p:cNvSpPr/>
          <p:nvPr/>
        </p:nvSpPr>
        <p:spPr>
          <a:xfrm>
            <a:off x="4983480" y="1600200"/>
            <a:ext cx="1371600" cy="292608"/>
          </a:xfrm>
          <a:prstGeom prst="roundRect">
            <a:avLst>
              <a:gd name="adj" fmla="val 50000"/>
            </a:avLst>
          </a:prstGeom>
          <a:solidFill>
            <a:srgbClr val="F08A24"/>
          </a:solidFill>
          <a:ln w="12700">
            <a:solidFill>
              <a:srgbClr val="F08A24"/>
            </a:solidFill>
            <a:prstDash val="solid"/>
          </a:ln>
        </p:spPr>
      </p:sp>
      <p:sp>
        <p:nvSpPr>
          <p:cNvPr id="13" name="Text 10"/>
          <p:cNvSpPr txBox="1"/>
          <p:nvPr/>
        </p:nvSpPr>
        <p:spPr>
          <a:xfrm>
            <a:off x="4983480" y="1600200"/>
            <a:ext cx="137160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DETECTOR</a:t>
            </a:r>
            <a:endParaRPr lang="en-US" sz="1100" dirty="0"/>
          </a:p>
        </p:txBody>
      </p:sp>
      <p:sp>
        <p:nvSpPr>
          <p:cNvPr id="14" name="Shape 11"/>
          <p:cNvSpPr/>
          <p:nvPr/>
        </p:nvSpPr>
        <p:spPr>
          <a:xfrm>
            <a:off x="4983480" y="2011680"/>
            <a:ext cx="2834640" cy="658368"/>
          </a:xfrm>
          <a:prstGeom prst="roundRect">
            <a:avLst>
              <a:gd name="adj" fmla="val 13889"/>
            </a:avLst>
          </a:prstGeom>
          <a:solidFill>
            <a:srgbClr val="EEF2F6"/>
          </a:solidFill>
          <a:ln w="12700">
            <a:solidFill>
              <a:srgbClr val="EEF2F6"/>
            </a:solidFill>
            <a:prstDash val="solid"/>
          </a:ln>
        </p:spPr>
      </p:sp>
      <p:sp>
        <p:nvSpPr>
          <p:cNvPr id="15" name="Shape 12"/>
          <p:cNvSpPr/>
          <p:nvPr/>
        </p:nvSpPr>
        <p:spPr>
          <a:xfrm>
            <a:off x="5120640" y="2148840"/>
            <a:ext cx="365760" cy="365760"/>
          </a:xfrm>
          <a:prstGeom prst="ellipse">
            <a:avLst/>
          </a:prstGeom>
          <a:solidFill>
            <a:srgbClr val="0F1B2D"/>
          </a:solidFill>
          <a:ln w="12700">
            <a:solidFill>
              <a:srgbClr val="0F1B2D"/>
            </a:solidFill>
            <a:prstDash val="solid"/>
          </a:ln>
        </p:spPr>
      </p:sp>
      <p:sp>
        <p:nvSpPr>
          <p:cNvPr id="16" name="Text 13"/>
          <p:cNvSpPr txBox="1"/>
          <p:nvPr/>
        </p:nvSpPr>
        <p:spPr>
          <a:xfrm>
            <a:off x="5120640" y="21488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7" name="Text 14"/>
          <p:cNvSpPr txBox="1"/>
          <p:nvPr/>
        </p:nvSpPr>
        <p:spPr>
          <a:xfrm>
            <a:off x="5623560" y="201168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Learn  </a:t>
            </a:r>
            <a:pPr indent="0" marL="0">
              <a:buNone/>
            </a:pPr>
            <a:r>
              <a:rPr lang="en-US" sz="1300" dirty="0">
                <a:solidFill>
                  <a:srgbClr val="5B6B7F"/>
                </a:solidFill>
                <a:latin typeface="Calibri" pitchFamily="34" charset="0"/>
                <a:ea typeface="Calibri" pitchFamily="34" charset="-122"/>
                <a:cs typeface="Calibri" pitchFamily="34" charset="-120"/>
              </a:rPr>
              <a:t>on 70% of the frames</a:t>
            </a:r>
            <a:endParaRPr lang="en-US" sz="1300" dirty="0"/>
          </a:p>
        </p:txBody>
      </p:sp>
      <p:sp>
        <p:nvSpPr>
          <p:cNvPr id="18" name="Shape 15"/>
          <p:cNvSpPr/>
          <p:nvPr/>
        </p:nvSpPr>
        <p:spPr>
          <a:xfrm>
            <a:off x="4983480" y="2788920"/>
            <a:ext cx="2834640" cy="658368"/>
          </a:xfrm>
          <a:prstGeom prst="roundRect">
            <a:avLst>
              <a:gd name="adj" fmla="val 13889"/>
            </a:avLst>
          </a:prstGeom>
          <a:solidFill>
            <a:srgbClr val="EEF2F6"/>
          </a:solidFill>
          <a:ln w="12700">
            <a:solidFill>
              <a:srgbClr val="EEF2F6"/>
            </a:solidFill>
            <a:prstDash val="solid"/>
          </a:ln>
        </p:spPr>
      </p:sp>
      <p:sp>
        <p:nvSpPr>
          <p:cNvPr id="19" name="Shape 16"/>
          <p:cNvSpPr/>
          <p:nvPr/>
        </p:nvSpPr>
        <p:spPr>
          <a:xfrm>
            <a:off x="5120640" y="2926080"/>
            <a:ext cx="365760" cy="365760"/>
          </a:xfrm>
          <a:prstGeom prst="ellipse">
            <a:avLst/>
          </a:prstGeom>
          <a:solidFill>
            <a:srgbClr val="0F1B2D"/>
          </a:solidFill>
          <a:ln w="12700">
            <a:solidFill>
              <a:srgbClr val="0F1B2D"/>
            </a:solidFill>
            <a:prstDash val="solid"/>
          </a:ln>
        </p:spPr>
      </p:sp>
      <p:sp>
        <p:nvSpPr>
          <p:cNvPr id="20" name="Text 17"/>
          <p:cNvSpPr txBox="1"/>
          <p:nvPr/>
        </p:nvSpPr>
        <p:spPr>
          <a:xfrm>
            <a:off x="5120640" y="292608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1" name="Text 18"/>
          <p:cNvSpPr txBox="1"/>
          <p:nvPr/>
        </p:nvSpPr>
        <p:spPr>
          <a:xfrm>
            <a:off x="5623560" y="278892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Tune  </a:t>
            </a:r>
            <a:pPr indent="0" marL="0">
              <a:buNone/>
            </a:pPr>
            <a:r>
              <a:rPr lang="en-US" sz="1300" dirty="0">
                <a:solidFill>
                  <a:srgbClr val="5B6B7F"/>
                </a:solidFill>
                <a:latin typeface="Calibri" pitchFamily="34" charset="0"/>
                <a:ea typeface="Calibri" pitchFamily="34" charset="-122"/>
                <a:cs typeface="Calibri" pitchFamily="34" charset="-120"/>
              </a:rPr>
              <a:t>on 15%: when to stop</a:t>
            </a:r>
            <a:endParaRPr lang="en-US" sz="1300" dirty="0"/>
          </a:p>
        </p:txBody>
      </p:sp>
      <p:sp>
        <p:nvSpPr>
          <p:cNvPr id="22" name="Shape 19"/>
          <p:cNvSpPr/>
          <p:nvPr/>
        </p:nvSpPr>
        <p:spPr>
          <a:xfrm>
            <a:off x="4983480" y="3566160"/>
            <a:ext cx="2834640" cy="658368"/>
          </a:xfrm>
          <a:prstGeom prst="roundRect">
            <a:avLst>
              <a:gd name="adj" fmla="val 13889"/>
            </a:avLst>
          </a:prstGeom>
          <a:solidFill>
            <a:srgbClr val="EEF2F6"/>
          </a:solidFill>
          <a:ln w="12700">
            <a:solidFill>
              <a:srgbClr val="EEF2F6"/>
            </a:solidFill>
            <a:prstDash val="solid"/>
          </a:ln>
        </p:spPr>
      </p:sp>
      <p:sp>
        <p:nvSpPr>
          <p:cNvPr id="23" name="Shape 20"/>
          <p:cNvSpPr/>
          <p:nvPr/>
        </p:nvSpPr>
        <p:spPr>
          <a:xfrm>
            <a:off x="5120640" y="3703320"/>
            <a:ext cx="365760" cy="365760"/>
          </a:xfrm>
          <a:prstGeom prst="ellipse">
            <a:avLst/>
          </a:prstGeom>
          <a:solidFill>
            <a:srgbClr val="0F1B2D"/>
          </a:solidFill>
          <a:ln w="12700">
            <a:solidFill>
              <a:srgbClr val="0F1B2D"/>
            </a:solidFill>
            <a:prstDash val="solid"/>
          </a:ln>
        </p:spPr>
      </p:sp>
      <p:sp>
        <p:nvSpPr>
          <p:cNvPr id="24" name="Text 21"/>
          <p:cNvSpPr txBox="1"/>
          <p:nvPr/>
        </p:nvSpPr>
        <p:spPr>
          <a:xfrm>
            <a:off x="5120640" y="37033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5" name="Text 22"/>
          <p:cNvSpPr txBox="1"/>
          <p:nvPr/>
        </p:nvSpPr>
        <p:spPr>
          <a:xfrm>
            <a:off x="5623560" y="3566160"/>
            <a:ext cx="2148840" cy="65836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Test  </a:t>
            </a:r>
            <a:pPr indent="0" marL="0">
              <a:buNone/>
            </a:pPr>
            <a:r>
              <a:rPr lang="en-US" sz="1300" dirty="0">
                <a:solidFill>
                  <a:srgbClr val="5B6B7F"/>
                </a:solidFill>
                <a:latin typeface="Calibri" pitchFamily="34" charset="0"/>
                <a:ea typeface="Calibri" pitchFamily="34" charset="-122"/>
                <a:cs typeface="Calibri" pitchFamily="34" charset="-120"/>
              </a:rPr>
              <a:t>on 15% it never saw</a:t>
            </a:r>
            <a:endParaRPr lang="en-US" sz="1300" dirty="0"/>
          </a:p>
        </p:txBody>
      </p:sp>
      <p:sp>
        <p:nvSpPr>
          <p:cNvPr id="26" name="Text 23"/>
          <p:cNvSpPr txBox="1"/>
          <p:nvPr/>
        </p:nvSpPr>
        <p:spPr>
          <a:xfrm>
            <a:off x="4983480" y="4389120"/>
            <a:ext cx="2834640" cy="45720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Repeated 14 times, a different split each time.</a:t>
            </a:r>
            <a:endParaRPr lang="en-US" sz="1200" dirty="0"/>
          </a:p>
        </p:txBody>
      </p:sp>
      <p:sp>
        <p:nvSpPr>
          <p:cNvPr id="27" name="Shape 24"/>
          <p:cNvSpPr/>
          <p:nvPr/>
        </p:nvSpPr>
        <p:spPr>
          <a:xfrm>
            <a:off x="8001000" y="2743200"/>
            <a:ext cx="502920" cy="384048"/>
          </a:xfrm>
          <a:prstGeom prst="rightArrow">
            <a:avLst/>
          </a:prstGeom>
          <a:solidFill>
            <a:srgbClr val="F08A24"/>
          </a:solidFill>
          <a:ln w="12700">
            <a:solidFill>
              <a:srgbClr val="F08A24"/>
            </a:solidFill>
            <a:prstDash val="solid"/>
          </a:ln>
        </p:spPr>
      </p:sp>
      <p:sp>
        <p:nvSpPr>
          <p:cNvPr id="28" name="Shape 25"/>
          <p:cNvSpPr/>
          <p:nvPr/>
        </p:nvSpPr>
        <p:spPr>
          <a:xfrm>
            <a:off x="8686800" y="1600200"/>
            <a:ext cx="1097280" cy="292608"/>
          </a:xfrm>
          <a:prstGeom prst="roundRect">
            <a:avLst>
              <a:gd name="adj" fmla="val 50000"/>
            </a:avLst>
          </a:prstGeom>
          <a:solidFill>
            <a:srgbClr val="F08A24"/>
          </a:solidFill>
          <a:ln w="12700">
            <a:solidFill>
              <a:srgbClr val="F08A24"/>
            </a:solidFill>
            <a:prstDash val="solid"/>
          </a:ln>
        </p:spPr>
      </p:sp>
      <p:sp>
        <p:nvSpPr>
          <p:cNvPr id="29" name="Text 26"/>
          <p:cNvSpPr txBox="1"/>
          <p:nvPr/>
        </p:nvSpPr>
        <p:spPr>
          <a:xfrm>
            <a:off x="8686800" y="1600200"/>
            <a:ext cx="1097280" cy="29260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alibri" pitchFamily="34" charset="0"/>
                <a:ea typeface="Calibri" pitchFamily="34" charset="-122"/>
                <a:cs typeface="Calibri" pitchFamily="34" charset="-120"/>
              </a:rPr>
              <a:t>OUTPUT</a:t>
            </a:r>
            <a:endParaRPr lang="en-US" sz="1100" dirty="0"/>
          </a:p>
        </p:txBody>
      </p:sp>
      <p:sp>
        <p:nvSpPr>
          <p:cNvPr id="30" name="Shape 27"/>
          <p:cNvSpPr/>
          <p:nvPr/>
        </p:nvSpPr>
        <p:spPr>
          <a:xfrm>
            <a:off x="8686800" y="2011680"/>
            <a:ext cx="1417320" cy="1115568"/>
          </a:xfrm>
          <a:prstGeom prst="roundRect">
            <a:avLst>
              <a:gd name="adj" fmla="val 8197"/>
            </a:avLst>
          </a:prstGeom>
          <a:solidFill>
            <a:srgbClr val="EEF2F6"/>
          </a:solidFill>
          <a:ln w="12700">
            <a:solidFill>
              <a:srgbClr val="EEF2F6"/>
            </a:solidFill>
            <a:prstDash val="solid"/>
          </a:ln>
        </p:spPr>
      </p:sp>
      <p:sp>
        <p:nvSpPr>
          <p:cNvPr id="31" name="Text 28"/>
          <p:cNvSpPr txBox="1"/>
          <p:nvPr/>
        </p:nvSpPr>
        <p:spPr>
          <a:xfrm>
            <a:off x="8796528" y="2084832"/>
            <a:ext cx="1234440" cy="502920"/>
          </a:xfrm>
          <a:prstGeom prst="rect">
            <a:avLst/>
          </a:prstGeom>
          <a:noFill/>
          <a:ln/>
        </p:spPr>
        <p:txBody>
          <a:bodyPr wrap="square" lIns="0" tIns="0" rIns="0" bIns="0" rtlCol="0" anchor="b"/>
          <a:lstStyle/>
          <a:p>
            <a:pPr indent="0" marL="0">
              <a:buNone/>
            </a:pPr>
            <a:r>
              <a:rPr lang="en-US" sz="2200" b="1" dirty="0">
                <a:solidFill>
                  <a:srgbClr val="F08A24"/>
                </a:solidFill>
                <a:latin typeface="Calibri" pitchFamily="34" charset="0"/>
                <a:ea typeface="Calibri" pitchFamily="34" charset="-122"/>
                <a:cs typeface="Calibri" pitchFamily="34" charset="-120"/>
              </a:rPr>
              <a:t>94.2%</a:t>
            </a:r>
            <a:endParaRPr lang="en-US" sz="2200" dirty="0"/>
          </a:p>
        </p:txBody>
      </p:sp>
      <p:sp>
        <p:nvSpPr>
          <p:cNvPr id="32" name="Text 29"/>
          <p:cNvSpPr txBox="1"/>
          <p:nvPr/>
        </p:nvSpPr>
        <p:spPr>
          <a:xfrm>
            <a:off x="879652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right, at 10 dB and above</a:t>
            </a:r>
            <a:endParaRPr lang="en-US" sz="1050" dirty="0"/>
          </a:p>
        </p:txBody>
      </p:sp>
      <p:sp>
        <p:nvSpPr>
          <p:cNvPr id="33" name="Shape 30"/>
          <p:cNvSpPr/>
          <p:nvPr/>
        </p:nvSpPr>
        <p:spPr>
          <a:xfrm>
            <a:off x="10195560" y="2011680"/>
            <a:ext cx="1417320" cy="1115568"/>
          </a:xfrm>
          <a:prstGeom prst="roundRect">
            <a:avLst>
              <a:gd name="adj" fmla="val 8197"/>
            </a:avLst>
          </a:prstGeom>
          <a:solidFill>
            <a:srgbClr val="EEF2F6"/>
          </a:solidFill>
          <a:ln w="12700">
            <a:solidFill>
              <a:srgbClr val="EEF2F6"/>
            </a:solidFill>
            <a:prstDash val="solid"/>
          </a:ln>
        </p:spPr>
      </p:sp>
      <p:sp>
        <p:nvSpPr>
          <p:cNvPr id="34" name="Text 31"/>
          <p:cNvSpPr txBox="1"/>
          <p:nvPr/>
        </p:nvSpPr>
        <p:spPr>
          <a:xfrm>
            <a:off x="10305288" y="208483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99.6%</a:t>
            </a:r>
            <a:endParaRPr lang="en-US" sz="2200" dirty="0"/>
          </a:p>
        </p:txBody>
      </p:sp>
      <p:sp>
        <p:nvSpPr>
          <p:cNvPr id="35" name="Text 32"/>
          <p:cNvSpPr txBox="1"/>
          <p:nvPr/>
        </p:nvSpPr>
        <p:spPr>
          <a:xfrm>
            <a:off x="10305288" y="260604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BPSK and QPSK right at 10 dB</a:t>
            </a:r>
            <a:endParaRPr lang="en-US" sz="1050" dirty="0"/>
          </a:p>
        </p:txBody>
      </p:sp>
      <p:sp>
        <p:nvSpPr>
          <p:cNvPr id="36" name="Shape 33"/>
          <p:cNvSpPr/>
          <p:nvPr/>
        </p:nvSpPr>
        <p:spPr>
          <a:xfrm>
            <a:off x="8686800" y="3246120"/>
            <a:ext cx="1417320" cy="1115568"/>
          </a:xfrm>
          <a:prstGeom prst="roundRect">
            <a:avLst>
              <a:gd name="adj" fmla="val 8197"/>
            </a:avLst>
          </a:prstGeom>
          <a:solidFill>
            <a:srgbClr val="EEF2F6"/>
          </a:solidFill>
          <a:ln w="12700">
            <a:solidFill>
              <a:srgbClr val="EEF2F6"/>
            </a:solidFill>
            <a:prstDash val="solid"/>
          </a:ln>
        </p:spPr>
      </p:sp>
      <p:sp>
        <p:nvSpPr>
          <p:cNvPr id="37" name="Text 34"/>
          <p:cNvSpPr txBox="1"/>
          <p:nvPr/>
        </p:nvSpPr>
        <p:spPr>
          <a:xfrm>
            <a:off x="879652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25%</a:t>
            </a:r>
            <a:endParaRPr lang="en-US" sz="2200" dirty="0"/>
          </a:p>
        </p:txBody>
      </p:sp>
      <p:sp>
        <p:nvSpPr>
          <p:cNvPr id="38" name="Text 35"/>
          <p:cNvSpPr txBox="1"/>
          <p:nvPr/>
        </p:nvSpPr>
        <p:spPr>
          <a:xfrm>
            <a:off x="879652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at −20 dB: a guess</a:t>
            </a:r>
            <a:endParaRPr lang="en-US" sz="1050" dirty="0"/>
          </a:p>
        </p:txBody>
      </p:sp>
      <p:sp>
        <p:nvSpPr>
          <p:cNvPr id="39" name="Shape 36"/>
          <p:cNvSpPr/>
          <p:nvPr/>
        </p:nvSpPr>
        <p:spPr>
          <a:xfrm>
            <a:off x="10195560" y="3246120"/>
            <a:ext cx="1417320" cy="1115568"/>
          </a:xfrm>
          <a:prstGeom prst="roundRect">
            <a:avLst>
              <a:gd name="adj" fmla="val 8197"/>
            </a:avLst>
          </a:prstGeom>
          <a:solidFill>
            <a:srgbClr val="EEF2F6"/>
          </a:solidFill>
          <a:ln w="12700">
            <a:solidFill>
              <a:srgbClr val="EEF2F6"/>
            </a:solidFill>
            <a:prstDash val="solid"/>
          </a:ln>
        </p:spPr>
      </p:sp>
      <p:sp>
        <p:nvSpPr>
          <p:cNvPr id="40" name="Text 37"/>
          <p:cNvSpPr txBox="1"/>
          <p:nvPr/>
        </p:nvSpPr>
        <p:spPr>
          <a:xfrm>
            <a:off x="10305288" y="3319272"/>
            <a:ext cx="1234440" cy="502920"/>
          </a:xfrm>
          <a:prstGeom prst="rect">
            <a:avLst/>
          </a:prstGeom>
          <a:noFill/>
          <a:ln/>
        </p:spPr>
        <p:txBody>
          <a:bodyPr wrap="square" lIns="0" tIns="0" rIns="0" bIns="0" rtlCol="0" anchor="b"/>
          <a:lstStyle/>
          <a:p>
            <a:pPr indent="0" marL="0">
              <a:buNone/>
            </a:pPr>
            <a:r>
              <a:rPr lang="en-US" sz="2200" b="1" dirty="0">
                <a:solidFill>
                  <a:srgbClr val="1E293B"/>
                </a:solidFill>
                <a:latin typeface="Calibri" pitchFamily="34" charset="0"/>
                <a:ea typeface="Calibri" pitchFamily="34" charset="-122"/>
                <a:cs typeface="Calibri" pitchFamily="34" charset="-120"/>
              </a:rPr>
              <a:t>42,000</a:t>
            </a:r>
            <a:endParaRPr lang="en-US" sz="2200" dirty="0"/>
          </a:p>
        </p:txBody>
      </p:sp>
      <p:sp>
        <p:nvSpPr>
          <p:cNvPr id="41" name="Text 38"/>
          <p:cNvSpPr txBox="1"/>
          <p:nvPr/>
        </p:nvSpPr>
        <p:spPr>
          <a:xfrm>
            <a:off x="10305288" y="3840480"/>
            <a:ext cx="1234440" cy="502920"/>
          </a:xfrm>
          <a:prstGeom prst="rect">
            <a:avLst/>
          </a:prstGeom>
          <a:noFill/>
          <a:ln/>
        </p:spPr>
        <p:txBody>
          <a:bodyPr wrap="square" lIns="0" tIns="0" rIns="0" bIns="0" rtlCol="0" anchor="t"/>
          <a:lstStyle/>
          <a:p>
            <a:pPr indent="0" marL="0">
              <a:buNone/>
            </a:pPr>
            <a:r>
              <a:rPr lang="en-US" sz="1050" dirty="0">
                <a:solidFill>
                  <a:srgbClr val="5B6B7F"/>
                </a:solidFill>
                <a:latin typeface="Calibri" pitchFamily="34" charset="0"/>
                <a:ea typeface="Calibri" pitchFamily="34" charset="-122"/>
                <a:cs typeface="Calibri" pitchFamily="34" charset="-120"/>
              </a:rPr>
              <a:t>test decisions at 10 dB and above</a:t>
            </a:r>
            <a:endParaRPr lang="en-US" sz="1050" dirty="0"/>
          </a:p>
        </p:txBody>
      </p:sp>
      <p:sp>
        <p:nvSpPr>
          <p:cNvPr id="42" name="Text 39"/>
          <p:cNvSpPr txBox="1"/>
          <p:nvPr/>
        </p:nvSpPr>
        <p:spPr>
          <a:xfrm>
            <a:off x="548640" y="51206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How we check it:</a:t>
            </a:r>
            <a:pPr indent="0" marL="0">
              <a:buNone/>
            </a:pPr>
            <a:r>
              <a:rPr lang="en-US" sz="1500" dirty="0">
                <a:solidFill>
                  <a:srgbClr val="1E293B"/>
                </a:solidFill>
                <a:latin typeface="Calibri" pitchFamily="34" charset="0"/>
                <a:ea typeface="Calibri" pitchFamily="34" charset="-122"/>
                <a:cs typeface="Calibri" pitchFamily="34" charset="-120"/>
              </a:rPr>
              <a:t>  every number is counted on test frames the detector never saw while learning.</a:t>
            </a:r>
            <a:endParaRPr lang="en-US" sz="1500" dirty="0"/>
          </a:p>
        </p:txBody>
      </p:sp>
      <p:sp>
        <p:nvSpPr>
          <p:cNvPr id="44" name="Text 4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1  ·  THE INPUT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one frame looks like</a:t>
            </a:r>
            <a:endParaRPr lang="en-US" sz="3000" dirty="0"/>
          </a:p>
        </p:txBody>
      </p:sp>
      <p:sp>
        <p:nvSpPr>
          <p:cNvPr id="4" name="Shape 2"/>
          <p:cNvSpPr/>
          <p:nvPr/>
        </p:nvSpPr>
        <p:spPr>
          <a:xfrm>
            <a:off x="8641080" y="347472"/>
            <a:ext cx="299923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641080" y="347472"/>
            <a:ext cx="299923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128 samples = 16 symbols</a:t>
            </a:r>
            <a:endParaRPr lang="en-US" sz="1100" dirty="0"/>
          </a:p>
        </p:txBody>
      </p:sp>
      <p:sp>
        <p:nvSpPr>
          <p:cNvPr id="6" name="Shape 4"/>
          <p:cNvSpPr/>
          <p:nvPr/>
        </p:nvSpPr>
        <p:spPr>
          <a:xfrm>
            <a:off x="512064" y="1609344"/>
            <a:ext cx="7022592" cy="2544064"/>
          </a:xfrm>
          <a:prstGeom prst="roundRect">
            <a:avLst>
              <a:gd name="adj" fmla="val 2157"/>
            </a:avLst>
          </a:prstGeom>
          <a:solidFill>
            <a:srgbClr val="0F1B2D"/>
          </a:solidFill>
          <a:ln w="12700">
            <a:solidFill>
              <a:srgbClr val="0F1B2D"/>
            </a:solidFill>
            <a:prstDash val="solid"/>
          </a:ln>
        </p:spPr>
      </p:sp>
      <p:pic>
        <p:nvPicPr>
          <p:cNvPr id="7" name="Image 0" descr="simple/frame.png">    </p:cNvPr>
          <p:cNvPicPr>
            <a:picLocks noChangeAspect="1"/>
          </p:cNvPicPr>
          <p:nvPr/>
        </p:nvPicPr>
        <p:blipFill>
          <a:blip r:embed="rId1"/>
          <a:stretch>
            <a:fillRect/>
          </a:stretch>
        </p:blipFill>
        <p:spPr>
          <a:xfrm>
            <a:off x="548640" y="1645920"/>
            <a:ext cx="6949440" cy="2470912"/>
          </a:xfrm>
          <a:prstGeom prst="rect">
            <a:avLst/>
          </a:prstGeom>
        </p:spPr>
      </p:pic>
      <p:sp>
        <p:nvSpPr>
          <p:cNvPr id="8" name="Text 5"/>
          <p:cNvSpPr txBox="1"/>
          <p:nvPr/>
        </p:nvSpPr>
        <p:spPr>
          <a:xfrm>
            <a:off x="548640" y="4206240"/>
            <a:ext cx="6949440" cy="91440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frame of QAM16, drawn without noise. Orange: the in-phase part (I); blue: the quadrature part (Q). A symbol every 8 samples (the dots); each dot sits on −3, −1, 1 or 3. That is what makes it QAM16.</a:t>
            </a:r>
            <a:endParaRPr lang="en-US" sz="1300" dirty="0"/>
          </a:p>
        </p:txBody>
      </p:sp>
      <p:sp>
        <p:nvSpPr>
          <p:cNvPr id="9" name="Shape 6"/>
          <p:cNvSpPr/>
          <p:nvPr/>
        </p:nvSpPr>
        <p:spPr>
          <a:xfrm>
            <a:off x="8284464" y="1609344"/>
            <a:ext cx="3364992" cy="3529584"/>
          </a:xfrm>
          <a:prstGeom prst="roundRect">
            <a:avLst>
              <a:gd name="adj" fmla="val 1630"/>
            </a:avLst>
          </a:prstGeom>
          <a:solidFill>
            <a:srgbClr val="0F1B2D"/>
          </a:solidFill>
          <a:ln w="12700">
            <a:solidFill>
              <a:srgbClr val="0F1B2D"/>
            </a:solidFill>
            <a:prstDash val="solid"/>
          </a:ln>
        </p:spPr>
      </p:sp>
      <p:pic>
        <p:nvPicPr>
          <p:cNvPr id="10" name="Image 1" descr="simple/symbols_2x2.png">    </p:cNvPr>
          <p:cNvPicPr>
            <a:picLocks noChangeAspect="1"/>
          </p:cNvPicPr>
          <p:nvPr/>
        </p:nvPicPr>
        <p:blipFill>
          <a:blip r:embed="rId2"/>
          <a:stretch>
            <a:fillRect/>
          </a:stretch>
        </p:blipFill>
        <p:spPr>
          <a:xfrm>
            <a:off x="8321040" y="1645920"/>
            <a:ext cx="3291840" cy="3456432"/>
          </a:xfrm>
          <a:prstGeom prst="rect">
            <a:avLst/>
          </a:prstGeom>
        </p:spPr>
      </p:pic>
      <p:sp>
        <p:nvSpPr>
          <p:cNvPr id="11" name="Text 7"/>
          <p:cNvSpPr txBox="1"/>
          <p:nvPr/>
        </p:nvSpPr>
        <p:spPr>
          <a:xfrm>
            <a:off x="8321040" y="5166360"/>
            <a:ext cx="3291840" cy="548640"/>
          </a:xfrm>
          <a:prstGeom prst="rect">
            <a:avLst/>
          </a:prstGeom>
          <a:noFill/>
          <a:ln/>
        </p:spPr>
        <p:txBody>
          <a:bodyPr wrap="square" lIns="0" tIns="0" rIns="0" bIns="0" rtlCol="0" anchor="t"/>
          <a:lstStyle/>
          <a:p>
            <a:pPr indent="0" marL="0">
              <a:buNone/>
            </a:pPr>
            <a:r>
              <a:rPr lang="en-US" sz="1150" dirty="0">
                <a:solidFill>
                  <a:srgbClr val="5B6B7F"/>
                </a:solidFill>
                <a:latin typeface="Calibri" pitchFamily="34" charset="0"/>
                <a:ea typeface="Calibri" pitchFamily="34" charset="-122"/>
                <a:cs typeface="Calibri" pitchFamily="34" charset="-120"/>
              </a:rPr>
              <a:t>16 symbols of one frame (orange) on all the points each kind can use (circles).</a:t>
            </a:r>
            <a:endParaRPr lang="en-US" sz="1150" dirty="0"/>
          </a:p>
        </p:txBody>
      </p:sp>
      <p:sp>
        <p:nvSpPr>
          <p:cNvPr id="12" name="Text 8"/>
          <p:cNvSpPr txBox="1"/>
          <p:nvPr/>
        </p:nvSpPr>
        <p:spPr>
          <a:xfrm>
            <a:off x="548640" y="5257800"/>
            <a:ext cx="7498080" cy="64008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16 symbols cannot show all 64 points of QAM64.</a:t>
            </a:r>
            <a:pPr indent="0" marL="0">
              <a:buNone/>
            </a:pPr>
            <a:r>
              <a:rPr lang="en-US" sz="1500" dirty="0">
                <a:solidFill>
                  <a:srgbClr val="1E293B"/>
                </a:solidFill>
                <a:latin typeface="Calibri" pitchFamily="34" charset="0"/>
                <a:ea typeface="Calibri" pitchFamily="34" charset="-122"/>
                <a:cs typeface="Calibri" pitchFamily="34" charset="-120"/>
              </a:rPr>
              <a:t>  So a QAM64 frame can look like QAM16 even with no noise at all.</a:t>
            </a:r>
            <a:endParaRPr lang="en-US" sz="1500" dirty="0"/>
          </a:p>
        </p:txBody>
      </p:sp>
      <p:sp>
        <p:nvSpPr>
          <p:cNvPr id="13" name="Text 9"/>
          <p:cNvSpPr txBox="1"/>
          <p:nvPr/>
        </p:nvSpPr>
        <p:spPr>
          <a:xfrm>
            <a:off x="548640" y="6172200"/>
            <a:ext cx="7315200" cy="2743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Pictures drawn by us to explain; the data are DeepSig's.</a:t>
            </a:r>
            <a:endParaRPr lang="en-US" sz="1050" dirty="0"/>
          </a:p>
        </p:txBody>
      </p:sp>
      <p:sp>
        <p:nvSpPr>
          <p:cNvPr id="15" name="Text 10"/>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2  ·  THE NOISE</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What does “10 dB” mean in this data?</a:t>
            </a:r>
            <a:endParaRPr lang="en-US" sz="3000" dirty="0"/>
          </a:p>
        </p:txBody>
      </p:sp>
      <p:sp>
        <p:nvSpPr>
          <p:cNvPr id="4" name="Shape 2"/>
          <p:cNvSpPr/>
          <p:nvPr/>
        </p:nvSpPr>
        <p:spPr>
          <a:xfrm>
            <a:off x="8202168" y="347472"/>
            <a:ext cx="3438144"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8202168" y="347472"/>
            <a:ext cx="3438144"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tools/measure_rml2016_snr.py</a:t>
            </a:r>
            <a:endParaRPr lang="en-US" sz="1100" dirty="0"/>
          </a:p>
        </p:txBody>
      </p:sp>
      <p:sp>
        <p:nvSpPr>
          <p:cNvPr id="6" name="Shape 4"/>
          <p:cNvSpPr/>
          <p:nvPr/>
        </p:nvSpPr>
        <p:spPr>
          <a:xfrm>
            <a:off x="548640" y="1691640"/>
            <a:ext cx="5120640" cy="1078992"/>
          </a:xfrm>
          <a:prstGeom prst="roundRect">
            <a:avLst>
              <a:gd name="adj" fmla="val 8475"/>
            </a:avLst>
          </a:prstGeom>
          <a:solidFill>
            <a:srgbClr val="EEF2F6"/>
          </a:solidFill>
          <a:ln w="12700">
            <a:solidFill>
              <a:srgbClr val="EEF2F6"/>
            </a:solidFill>
            <a:prstDash val="solid"/>
          </a:ln>
        </p:spPr>
      </p:sp>
      <p:sp>
        <p:nvSpPr>
          <p:cNvPr id="7" name="Text 5"/>
          <p:cNvSpPr txBox="1"/>
          <p:nvPr/>
        </p:nvSpPr>
        <p:spPr>
          <a:xfrm>
            <a:off x="777240" y="1783080"/>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Who made it</a:t>
            </a:r>
            <a:endParaRPr lang="en-US" sz="1500" dirty="0"/>
          </a:p>
        </p:txBody>
      </p:sp>
      <p:sp>
        <p:nvSpPr>
          <p:cNvPr id="8" name="Text 6"/>
          <p:cNvSpPr txBox="1"/>
          <p:nvPr/>
        </p:nvSpPr>
        <p:spPr>
          <a:xfrm>
            <a:off x="777240" y="2148840"/>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DeepSig, in a simulator (GNU Radio). Not recorded from a real radio.</a:t>
            </a:r>
            <a:endParaRPr lang="en-US" sz="1300" dirty="0"/>
          </a:p>
        </p:txBody>
      </p:sp>
      <p:sp>
        <p:nvSpPr>
          <p:cNvPr id="9" name="Shape 7"/>
          <p:cNvSpPr/>
          <p:nvPr/>
        </p:nvSpPr>
        <p:spPr>
          <a:xfrm>
            <a:off x="548640" y="2898648"/>
            <a:ext cx="5120640" cy="1078992"/>
          </a:xfrm>
          <a:prstGeom prst="roundRect">
            <a:avLst>
              <a:gd name="adj" fmla="val 8475"/>
            </a:avLst>
          </a:prstGeom>
          <a:solidFill>
            <a:srgbClr val="EEF2F6"/>
          </a:solidFill>
          <a:ln w="12700">
            <a:solidFill>
              <a:srgbClr val="EEF2F6"/>
            </a:solidFill>
            <a:prstDash val="solid"/>
          </a:ln>
        </p:spPr>
      </p:sp>
      <p:sp>
        <p:nvSpPr>
          <p:cNvPr id="10" name="Text 8"/>
          <p:cNvSpPr txBox="1"/>
          <p:nvPr/>
        </p:nvSpPr>
        <p:spPr>
          <a:xfrm>
            <a:off x="777240" y="2990088"/>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the label sets</a:t>
            </a:r>
            <a:endParaRPr lang="en-US" sz="1500" dirty="0"/>
          </a:p>
        </p:txBody>
      </p:sp>
      <p:sp>
        <p:nvSpPr>
          <p:cNvPr id="11" name="Text 9"/>
          <p:cNvSpPr txBox="1"/>
          <p:nvPr/>
        </p:nvSpPr>
        <p:spPr>
          <a:xfrm>
            <a:off x="777240" y="3355848"/>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One number in their code: the noise amplitude = 10^(−label/10).</a:t>
            </a:r>
            <a:endParaRPr lang="en-US" sz="1300" dirty="0"/>
          </a:p>
        </p:txBody>
      </p:sp>
      <p:sp>
        <p:nvSpPr>
          <p:cNvPr id="12" name="Shape 10"/>
          <p:cNvSpPr/>
          <p:nvPr/>
        </p:nvSpPr>
        <p:spPr>
          <a:xfrm>
            <a:off x="548640" y="4105656"/>
            <a:ext cx="5120640" cy="1078992"/>
          </a:xfrm>
          <a:prstGeom prst="roundRect">
            <a:avLst>
              <a:gd name="adj" fmla="val 8475"/>
            </a:avLst>
          </a:prstGeom>
          <a:solidFill>
            <a:srgbClr val="EEF2F6"/>
          </a:solidFill>
          <a:ln w="12700">
            <a:solidFill>
              <a:srgbClr val="EEF2F6"/>
            </a:solidFill>
            <a:prstDash val="solid"/>
          </a:ln>
        </p:spPr>
      </p:sp>
      <p:sp>
        <p:nvSpPr>
          <p:cNvPr id="13" name="Text 11"/>
          <p:cNvSpPr txBox="1"/>
          <p:nvPr/>
        </p:nvSpPr>
        <p:spPr>
          <a:xfrm>
            <a:off x="777240" y="4197096"/>
            <a:ext cx="466344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What else is added</a:t>
            </a:r>
            <a:endParaRPr lang="en-US" sz="1500" dirty="0"/>
          </a:p>
        </p:txBody>
      </p:sp>
      <p:sp>
        <p:nvSpPr>
          <p:cNvPr id="14" name="Text 12"/>
          <p:cNvSpPr txBox="1"/>
          <p:nvPr/>
        </p:nvSpPr>
        <p:spPr>
          <a:xfrm>
            <a:off x="777240" y="4562856"/>
            <a:ext cx="4663440" cy="594360"/>
          </a:xfrm>
          <a:prstGeom prst="rect">
            <a:avLst/>
          </a:prstGeom>
          <a:noFill/>
          <a:ln/>
        </p:spPr>
        <p:txBody>
          <a:bodyPr wrap="square" lIns="0" tIns="0" rIns="0" bIns="0" rtlCol="0" anchor="t"/>
          <a:lstStyle/>
          <a:p>
            <a:pPr indent="0" marL="0">
              <a:buNone/>
            </a:pPr>
            <a:r>
              <a:rPr lang="en-US" sz="1300" dirty="0">
                <a:solidFill>
                  <a:srgbClr val="1E293B"/>
                </a:solidFill>
                <a:latin typeface="Calibri" pitchFamily="34" charset="0"/>
                <a:ea typeface="Calibri" pitchFamily="34" charset="-122"/>
                <a:cs typeface="Calibri" pitchFamily="34" charset="-120"/>
              </a:rPr>
              <a:t>Carrier offset, clock offset, fading and echoes (multipath) — at every noise level, even the best.</a:t>
            </a:r>
            <a:endParaRPr lang="en-US" sz="1300" dirty="0"/>
          </a:p>
        </p:txBody>
      </p:sp>
      <p:sp>
        <p:nvSpPr>
          <p:cNvPr id="15" name="Text 13"/>
          <p:cNvSpPr txBox="1"/>
          <p:nvPr/>
        </p:nvSpPr>
        <p:spPr>
          <a:xfrm>
            <a:off x="6172200" y="1691640"/>
            <a:ext cx="5486400" cy="36576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I measured the noise in the file itself:</a:t>
            </a:r>
            <a:endParaRPr lang="en-US" sz="1500" dirty="0"/>
          </a:p>
        </p:txBody>
      </p:sp>
      <p:sp>
        <p:nvSpPr>
          <p:cNvPr id="16" name="Shape 14"/>
          <p:cNvSpPr/>
          <p:nvPr/>
        </p:nvSpPr>
        <p:spPr>
          <a:xfrm>
            <a:off x="6172200" y="2148840"/>
            <a:ext cx="2606040" cy="2103120"/>
          </a:xfrm>
          <a:prstGeom prst="roundRect">
            <a:avLst>
              <a:gd name="adj" fmla="val 4348"/>
            </a:avLst>
          </a:prstGeom>
          <a:solidFill>
            <a:srgbClr val="EEF2F6"/>
          </a:solidFill>
          <a:ln w="12700">
            <a:solidFill>
              <a:srgbClr val="EEF2F6"/>
            </a:solidFill>
            <a:prstDash val="solid"/>
          </a:ln>
        </p:spPr>
      </p:sp>
      <p:sp>
        <p:nvSpPr>
          <p:cNvPr id="17" name="Shape 15"/>
          <p:cNvSpPr/>
          <p:nvPr/>
        </p:nvSpPr>
        <p:spPr>
          <a:xfrm>
            <a:off x="9034272" y="2148840"/>
            <a:ext cx="2606040" cy="2103120"/>
          </a:xfrm>
          <a:prstGeom prst="roundRect">
            <a:avLst>
              <a:gd name="adj" fmla="val 4348"/>
            </a:avLst>
          </a:prstGeom>
          <a:solidFill>
            <a:srgbClr val="EEF2F6"/>
          </a:solidFill>
          <a:ln w="12700">
            <a:solidFill>
              <a:srgbClr val="EEF2F6"/>
            </a:solidFill>
            <a:prstDash val="solid"/>
          </a:ln>
        </p:spPr>
      </p:sp>
      <p:sp>
        <p:nvSpPr>
          <p:cNvPr id="18" name="Text 16"/>
          <p:cNvSpPr txBox="1"/>
          <p:nvPr/>
        </p:nvSpPr>
        <p:spPr>
          <a:xfrm>
            <a:off x="6355080" y="2286000"/>
            <a:ext cx="2286000" cy="731520"/>
          </a:xfrm>
          <a:prstGeom prst="rect">
            <a:avLst/>
          </a:prstGeom>
          <a:noFill/>
          <a:ln/>
        </p:spPr>
        <p:txBody>
          <a:bodyPr wrap="square" lIns="0" tIns="0" rIns="0" bIns="0" rtlCol="0" anchor="b"/>
          <a:lstStyle/>
          <a:p>
            <a:pPr algn="ctr" indent="0" marL="0">
              <a:buNone/>
            </a:pPr>
            <a:r>
              <a:rPr lang="en-US" sz="4000" b="1" dirty="0">
                <a:solidFill>
                  <a:srgbClr val="1E293B"/>
                </a:solidFill>
                <a:latin typeface="Calibri" pitchFamily="34" charset="0"/>
                <a:ea typeface="Calibri" pitchFamily="34" charset="-122"/>
                <a:cs typeface="Calibri" pitchFamily="34" charset="-120"/>
              </a:rPr>
              <a:t>1.9 dB</a:t>
            </a:r>
            <a:endParaRPr lang="en-US" sz="4000" dirty="0"/>
          </a:p>
        </p:txBody>
      </p:sp>
      <p:sp>
        <p:nvSpPr>
          <p:cNvPr id="19" name="Text 17"/>
          <p:cNvSpPr txBox="1"/>
          <p:nvPr/>
        </p:nvSpPr>
        <p:spPr>
          <a:xfrm>
            <a:off x="6355080"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of real change for every 1 dB of label</a:t>
            </a:r>
            <a:endParaRPr lang="en-US" sz="1250" dirty="0"/>
          </a:p>
        </p:txBody>
      </p:sp>
      <p:sp>
        <p:nvSpPr>
          <p:cNvPr id="20" name="Text 18"/>
          <p:cNvSpPr txBox="1"/>
          <p:nvPr/>
        </p:nvSpPr>
        <p:spPr>
          <a:xfrm>
            <a:off x="9217152" y="2286000"/>
            <a:ext cx="2286000" cy="731520"/>
          </a:xfrm>
          <a:prstGeom prst="rect">
            <a:avLst/>
          </a:prstGeom>
          <a:noFill/>
          <a:ln/>
        </p:spPr>
        <p:txBody>
          <a:bodyPr wrap="square" lIns="0" tIns="0" rIns="0" bIns="0" rtlCol="0" anchor="b"/>
          <a:lstStyle/>
          <a:p>
            <a:pPr algn="ctr" indent="0" marL="0">
              <a:buNone/>
            </a:pPr>
            <a:r>
              <a:rPr lang="en-US" sz="4000" b="1" dirty="0">
                <a:solidFill>
                  <a:srgbClr val="F08A24"/>
                </a:solidFill>
                <a:latin typeface="Calibri" pitchFamily="34" charset="0"/>
                <a:ea typeface="Calibri" pitchFamily="34" charset="-122"/>
                <a:cs typeface="Calibri" pitchFamily="34" charset="-120"/>
              </a:rPr>
              <a:t>+15 dB</a:t>
            </a:r>
            <a:endParaRPr lang="en-US" sz="4000" dirty="0"/>
          </a:p>
        </p:txBody>
      </p:sp>
      <p:sp>
        <p:nvSpPr>
          <p:cNvPr id="21" name="Text 19"/>
          <p:cNvSpPr txBox="1"/>
          <p:nvPr/>
        </p:nvSpPr>
        <p:spPr>
          <a:xfrm>
            <a:off x="9217152" y="3063240"/>
            <a:ext cx="2286000" cy="822960"/>
          </a:xfrm>
          <a:prstGeom prst="rect">
            <a:avLst/>
          </a:prstGeom>
          <a:noFill/>
          <a:ln/>
        </p:spPr>
        <p:txBody>
          <a:bodyPr wrap="square" lIns="0" tIns="0" rIns="0" bIns="0" rtlCol="0" anchor="t"/>
          <a:lstStyle/>
          <a:p>
            <a:pPr algn="ctr" indent="0" marL="0">
              <a:buNone/>
            </a:pPr>
            <a:r>
              <a:rPr lang="en-US" sz="1250" dirty="0">
                <a:solidFill>
                  <a:srgbClr val="5B6B7F"/>
                </a:solidFill>
                <a:latin typeface="Calibri" pitchFamily="34" charset="0"/>
                <a:ea typeface="Calibri" pitchFamily="34" charset="-122"/>
                <a:cs typeface="Calibri" pitchFamily="34" charset="-120"/>
              </a:rPr>
              <a:t>more signal in QAM64 than in BPSK or QPSK, at the same label</a:t>
            </a:r>
            <a:endParaRPr lang="en-US" sz="1250" dirty="0"/>
          </a:p>
        </p:txBody>
      </p:sp>
      <p:sp>
        <p:nvSpPr>
          <p:cNvPr id="22" name="Text 20"/>
          <p:cNvSpPr txBox="1"/>
          <p:nvPr/>
        </p:nvSpPr>
        <p:spPr>
          <a:xfrm>
            <a:off x="6172200" y="4434840"/>
            <a:ext cx="5468112" cy="100584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How: the signal sits in the middle of the spectrum; outside it there is only noise, so its level there gives the noise power. Checked first on frames of known noise (within 0.5 dB).</a:t>
            </a:r>
            <a:endParaRPr lang="en-US" sz="1200" dirty="0"/>
          </a:p>
        </p:txBody>
      </p:sp>
      <p:sp>
        <p:nvSpPr>
          <p:cNvPr id="23" name="Text 2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“10 dB” is a setting, not a measurement,</a:t>
            </a:r>
            <a:pPr indent="0" marL="0">
              <a:buNone/>
            </a:pPr>
            <a:r>
              <a:rPr lang="en-US" sz="1500" dirty="0">
                <a:solidFill>
                  <a:srgbClr val="1E293B"/>
                </a:solidFill>
                <a:latin typeface="Calibri" pitchFamily="34" charset="0"/>
                <a:ea typeface="Calibri" pitchFamily="34" charset="-122"/>
                <a:cs typeface="Calibri" pitchFamily="34" charset="-120"/>
              </a:rPr>
              <a:t>  and it means a different amount of noise for each kind of signal.</a:t>
            </a:r>
            <a:endParaRPr lang="en-US" sz="1500" dirty="0"/>
          </a:p>
        </p:txBody>
      </p:sp>
      <p:sp>
        <p:nvSpPr>
          <p:cNvPr id="25" name="Text 2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RESULT</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The answer at one noise level: 10 dB</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8,400 test frames: 14 repeats × 4 kinds × 150. Rows: what was sent. Columns: what the detector said.</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7132320" cy="914400"/>
        </p:xfrm>
        <a:graphic>
          <a:graphicData uri="http://schemas.openxmlformats.org/drawingml/2006/table">
            <a:tbl>
              <a:tblPr/>
              <a:tblGrid>
                <a:gridCol w="1463040"/>
                <a:gridCol w="1143000"/>
                <a:gridCol w="1143000"/>
                <a:gridCol w="1143000"/>
                <a:gridCol w="1143000"/>
                <a:gridCol w="1097280"/>
              </a:tblGrid>
              <a:tr h="457200">
                <a:tc>
                  <a:txBody>
                    <a:bodyPr/>
                    <a:lstStyle/>
                    <a:p>
                      <a:pPr algn="ctr" indent="0" marL="0">
                        <a:buNone/>
                      </a:pPr>
                      <a:r>
                        <a:rPr lang="en-US" sz="1100" b="1" dirty="0">
                          <a:solidFill>
                            <a:srgbClr val="1E293B"/>
                          </a:solidFill>
                          <a:latin typeface="Calibri" pitchFamily="34" charset="0"/>
                          <a:ea typeface="Calibri" pitchFamily="34" charset="-122"/>
                          <a:cs typeface="Calibri" pitchFamily="34" charset="-120"/>
                        </a:rPr>
                        <a:t>sent \ said</a:t>
                      </a:r>
                      <a:endParaRPr lang="en-US" sz="11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BPSK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QPSK</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2,091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99.6%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1,808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269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86.1%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300" b="1" dirty="0">
                          <a:solidFill>
                            <a:srgbClr val="1E293B"/>
                          </a:solidFill>
                          <a:latin typeface="Calibri" pitchFamily="34" charset="0"/>
                          <a:ea typeface="Calibri" pitchFamily="34" charset="-122"/>
                          <a:cs typeface="Calibri" pitchFamily="34" charset="-120"/>
                        </a:rPr>
                        <a:t>QAM64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8A99A8"/>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126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FCE3C8"/>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1,961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0F1B2D"/>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93.4%</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57200">
                <a:tc>
                  <a:txBody>
                    <a:bodyPr/>
                    <a:lstStyle/>
                    <a:p>
                      <a:pPr indent="0" marL="0">
                        <a:buNone/>
                      </a:pPr>
                      <a:r>
                        <a:rPr lang="en-US" sz="1200" b="1" dirty="0">
                          <a:solidFill>
                            <a:srgbClr val="1E293B"/>
                          </a:solidFill>
                          <a:latin typeface="Calibri" pitchFamily="34" charset="0"/>
                          <a:ea typeface="Calibri" pitchFamily="34" charset="-122"/>
                          <a:cs typeface="Calibri" pitchFamily="34" charset="-120"/>
                        </a:rPr>
                        <a:t>precision</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99.1%</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98.7%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93.4%</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200" dirty="0">
                          <a:solidFill>
                            <a:srgbClr val="1E293B"/>
                          </a:solidFill>
                          <a:latin typeface="Calibri" pitchFamily="34" charset="0"/>
                          <a:ea typeface="Calibri" pitchFamily="34" charset="-122"/>
                          <a:cs typeface="Calibri" pitchFamily="34" charset="-120"/>
                        </a:rPr>
                        <a:t>87.7%</a:t>
                      </a: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indent="0" marL="0">
                        <a:buNone/>
                      </a:pPr>
                      <a:endParaRPr lang="en-US" sz="1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bl>
          </a:graphicData>
        </a:graphic>
      </p:graphicFrame>
      <p:sp>
        <p:nvSpPr>
          <p:cNvPr id="8" name="Text 5"/>
          <p:cNvSpPr txBox="1"/>
          <p:nvPr/>
        </p:nvSpPr>
        <p:spPr>
          <a:xfrm>
            <a:off x="548640" y="4800600"/>
            <a:ext cx="7132320" cy="731520"/>
          </a:xfrm>
          <a:prstGeom prst="rect">
            <a:avLst/>
          </a:prstGeom>
          <a:noFill/>
          <a:ln/>
        </p:spPr>
        <p:txBody>
          <a:bodyPr wrap="square" lIns="0" tIns="0" rIns="0" bIns="0" rtlCol="0" anchor="t"/>
          <a:lstStyle/>
          <a:p>
            <a:pPr indent="0" marL="0">
              <a:buNone/>
            </a:pPr>
            <a:r>
              <a:rPr lang="en-US" sz="1250" b="1" dirty="0">
                <a:solidFill>
                  <a:srgbClr val="5B6B7F"/>
                </a:solidFill>
                <a:latin typeface="Calibri" pitchFamily="34" charset="0"/>
                <a:ea typeface="Calibri" pitchFamily="34" charset="-122"/>
                <a:cs typeface="Calibri" pitchFamily="34" charset="-120"/>
              </a:rPr>
              <a:t>Recall</a:t>
            </a:r>
            <a:pPr indent="0" marL="0">
              <a:buNone/>
            </a:pPr>
            <a:r>
              <a:rPr lang="en-US" sz="1250" dirty="0">
                <a:solidFill>
                  <a:srgbClr val="5B6B7F"/>
                </a:solidFill>
                <a:latin typeface="Calibri" pitchFamily="34" charset="0"/>
                <a:ea typeface="Calibri" pitchFamily="34" charset="-122"/>
                <a:cs typeface="Calibri" pitchFamily="34" charset="-120"/>
              </a:rPr>
              <a:t> = of the frames that were this kind, how many it named right (a row).</a:t>
            </a:r>
            <a:endParaRPr lang="en-US" sz="1250" dirty="0"/>
          </a:p>
          <a:p>
            <a:pPr indent="0" marL="0">
              <a:buNone/>
            </a:pPr>
            <a:r>
              <a:rPr lang="en-US" sz="1250" b="1" dirty="0">
                <a:solidFill>
                  <a:srgbClr val="5B6B7F"/>
                </a:solidFill>
                <a:latin typeface="Calibri" pitchFamily="34" charset="0"/>
                <a:ea typeface="Calibri" pitchFamily="34" charset="-122"/>
                <a:cs typeface="Calibri" pitchFamily="34" charset="-120"/>
              </a:rPr>
              <a:t>Precision</a:t>
            </a:r>
            <a:pPr indent="0" marL="0">
              <a:buNone/>
            </a:pPr>
            <a:r>
              <a:rPr lang="en-US" sz="1250" dirty="0">
                <a:solidFill>
                  <a:srgbClr val="5B6B7F"/>
                </a:solidFill>
                <a:latin typeface="Calibri" pitchFamily="34" charset="0"/>
                <a:ea typeface="Calibri" pitchFamily="34" charset="-122"/>
                <a:cs typeface="Calibri" pitchFamily="34" charset="-120"/>
              </a:rPr>
              <a:t> = of the frames it gave this name, how many were right (a column).</a:t>
            </a:r>
            <a:endParaRPr lang="en-US" sz="1250" dirty="0"/>
          </a:p>
        </p:txBody>
      </p:sp>
      <p:sp>
        <p:nvSpPr>
          <p:cNvPr id="9" name="Shape 6"/>
          <p:cNvSpPr/>
          <p:nvPr/>
        </p:nvSpPr>
        <p:spPr>
          <a:xfrm>
            <a:off x="8138160" y="1874520"/>
            <a:ext cx="3502152" cy="2743200"/>
          </a:xfrm>
          <a:prstGeom prst="roundRect">
            <a:avLst>
              <a:gd name="adj" fmla="val 3333"/>
            </a:avLst>
          </a:prstGeom>
          <a:solidFill>
            <a:srgbClr val="EEF2F6"/>
          </a:solidFill>
          <a:ln w="12700">
            <a:solidFill>
              <a:srgbClr val="EEF2F6"/>
            </a:solidFill>
            <a:prstDash val="solid"/>
          </a:ln>
        </p:spPr>
      </p:sp>
      <p:sp>
        <p:nvSpPr>
          <p:cNvPr id="10" name="Text 7"/>
          <p:cNvSpPr txBox="1"/>
          <p:nvPr/>
        </p:nvSpPr>
        <p:spPr>
          <a:xfrm>
            <a:off x="8321040" y="2011680"/>
            <a:ext cx="3108960" cy="822960"/>
          </a:xfrm>
          <a:prstGeom prst="rect">
            <a:avLst/>
          </a:prstGeom>
          <a:noFill/>
          <a:ln/>
        </p:spPr>
        <p:txBody>
          <a:bodyPr wrap="square" lIns="0" tIns="0" rIns="0" bIns="0" rtlCol="0" anchor="b"/>
          <a:lstStyle/>
          <a:p>
            <a:pPr indent="0" marL="0">
              <a:buNone/>
            </a:pPr>
            <a:r>
              <a:rPr lang="en-US" sz="4600" b="1" dirty="0">
                <a:solidFill>
                  <a:srgbClr val="F08A24"/>
                </a:solidFill>
                <a:latin typeface="Calibri" pitchFamily="34" charset="0"/>
                <a:ea typeface="Calibri" pitchFamily="34" charset="-122"/>
                <a:cs typeface="Calibri" pitchFamily="34" charset="-120"/>
              </a:rPr>
              <a:t>448</a:t>
            </a:r>
            <a:endParaRPr lang="en-US" sz="4600" dirty="0"/>
          </a:p>
        </p:txBody>
      </p:sp>
      <p:sp>
        <p:nvSpPr>
          <p:cNvPr id="11" name="Text 8"/>
          <p:cNvSpPr txBox="1"/>
          <p:nvPr/>
        </p:nvSpPr>
        <p:spPr>
          <a:xfrm>
            <a:off x="8321040" y="2834640"/>
            <a:ext cx="3108960"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out of 8,400</a:t>
            </a:r>
            <a:endParaRPr lang="en-US" sz="1400" dirty="0"/>
          </a:p>
        </p:txBody>
      </p:sp>
      <p:sp>
        <p:nvSpPr>
          <p:cNvPr id="12" name="Text 9"/>
          <p:cNvSpPr txBox="1"/>
          <p:nvPr/>
        </p:nvSpPr>
        <p:spPr>
          <a:xfrm>
            <a:off x="8321040" y="3246120"/>
            <a:ext cx="3108960" cy="731520"/>
          </a:xfrm>
          <a:prstGeom prst="rect">
            <a:avLst/>
          </a:prstGeom>
          <a:noFill/>
          <a:ln/>
        </p:spPr>
        <p:txBody>
          <a:bodyPr wrap="square" lIns="0" tIns="0" rIns="0" bIns="0" rtlCol="0" anchor="b"/>
          <a:lstStyle/>
          <a:p>
            <a:pPr indent="0" marL="0">
              <a:buNone/>
            </a:pPr>
            <a:r>
              <a:rPr lang="en-US" sz="3400" b="1" dirty="0">
                <a:solidFill>
                  <a:srgbClr val="1E293B"/>
                </a:solidFill>
                <a:latin typeface="Calibri" pitchFamily="34" charset="0"/>
                <a:ea typeface="Calibri" pitchFamily="34" charset="-122"/>
                <a:cs typeface="Calibri" pitchFamily="34" charset="-120"/>
              </a:rPr>
              <a:t>395</a:t>
            </a:r>
            <a:endParaRPr lang="en-US" sz="3400" dirty="0"/>
          </a:p>
        </p:txBody>
      </p:sp>
      <p:sp>
        <p:nvSpPr>
          <p:cNvPr id="13" name="Text 10"/>
          <p:cNvSpPr txBox="1"/>
          <p:nvPr/>
        </p:nvSpPr>
        <p:spPr>
          <a:xfrm>
            <a:off x="8321040" y="3977640"/>
            <a:ext cx="3108960" cy="45720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of them are QAM16 and QAM64 mixed up</a:t>
            </a:r>
            <a:endParaRPr lang="en-US" sz="1400" dirty="0"/>
          </a:p>
        </p:txBody>
      </p:sp>
      <p:sp>
        <p:nvSpPr>
          <p:cNvPr id="14" name="Text 11"/>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BPSK and QPSK are essentially solved.</a:t>
            </a:r>
            <a:pPr indent="0" marL="0">
              <a:buNone/>
            </a:pPr>
            <a:r>
              <a:rPr lang="en-US" sz="1500" dirty="0">
                <a:solidFill>
                  <a:srgbClr val="1E293B"/>
                </a:solidFill>
                <a:latin typeface="Calibri" pitchFamily="34" charset="0"/>
                <a:ea typeface="Calibri" pitchFamily="34" charset="-122"/>
                <a:cs typeface="Calibri" pitchFamily="34" charset="-120"/>
              </a:rPr>
              <a:t>  Almost every mistake is QAM16 against QAM64.</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STEP BY STEP  ·  LESS SIGNAL</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Turn the noise up: when does it break?</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Wrong answers out of 8,400 test frames at each label.</a:t>
            </a:r>
            <a:endParaRPr lang="en-US" sz="1400" dirty="0"/>
          </a:p>
        </p:txBody>
      </p:sp>
      <p:graphicFrame>
        <p:nvGraphicFramePr>
          <p:cNvPr id="7" name="Chart 0" descr=""/>
          <p:cNvGraphicFramePr/>
          <p:nvPr/>
        </p:nvGraphicFramePr>
        <p:xfrm>
          <a:off x="548640" y="1783080"/>
          <a:ext cx="7863840" cy="384048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732520" y="1920240"/>
            <a:ext cx="2907792" cy="1554480"/>
          </a:xfrm>
          <a:prstGeom prst="roundRect">
            <a:avLst>
              <a:gd name="adj" fmla="val 5882"/>
            </a:avLst>
          </a:prstGeom>
          <a:solidFill>
            <a:srgbClr val="EEF2F6"/>
          </a:solidFill>
          <a:ln w="12700">
            <a:solidFill>
              <a:srgbClr val="EEF2F6"/>
            </a:solidFill>
            <a:prstDash val="solid"/>
          </a:ln>
        </p:spPr>
      </p:sp>
      <p:sp>
        <p:nvSpPr>
          <p:cNvPr id="9" name="Text 6"/>
          <p:cNvSpPr txBox="1"/>
          <p:nvPr/>
        </p:nvSpPr>
        <p:spPr>
          <a:xfrm>
            <a:off x="8915400" y="2011680"/>
            <a:ext cx="2560320" cy="54864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10 → 2 dB</a:t>
            </a:r>
            <a:endParaRPr lang="en-US" sz="2400" dirty="0"/>
          </a:p>
        </p:txBody>
      </p:sp>
      <p:sp>
        <p:nvSpPr>
          <p:cNvPr id="10" name="Text 7"/>
          <p:cNvSpPr txBox="1"/>
          <p:nvPr/>
        </p:nvSpPr>
        <p:spPr>
          <a:xfrm>
            <a:off x="8915400" y="256032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about 450–490 wrong every time: the same box</a:t>
            </a:r>
            <a:endParaRPr lang="en-US" sz="1300" dirty="0"/>
          </a:p>
        </p:txBody>
      </p:sp>
      <p:sp>
        <p:nvSpPr>
          <p:cNvPr id="11" name="Shape 8"/>
          <p:cNvSpPr/>
          <p:nvPr/>
        </p:nvSpPr>
        <p:spPr>
          <a:xfrm>
            <a:off x="8732520" y="3657600"/>
            <a:ext cx="2907792" cy="1554480"/>
          </a:xfrm>
          <a:prstGeom prst="roundRect">
            <a:avLst>
              <a:gd name="adj" fmla="val 5882"/>
            </a:avLst>
          </a:prstGeom>
          <a:solidFill>
            <a:srgbClr val="EEF2F6"/>
          </a:solidFill>
          <a:ln w="12700">
            <a:solidFill>
              <a:srgbClr val="EEF2F6"/>
            </a:solidFill>
            <a:prstDash val="solid"/>
          </a:ln>
        </p:spPr>
      </p:sp>
      <p:sp>
        <p:nvSpPr>
          <p:cNvPr id="12" name="Text 9"/>
          <p:cNvSpPr txBox="1"/>
          <p:nvPr/>
        </p:nvSpPr>
        <p:spPr>
          <a:xfrm>
            <a:off x="8915400" y="3749040"/>
            <a:ext cx="2560320" cy="54864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below 0 dB</a:t>
            </a:r>
            <a:endParaRPr lang="en-US" sz="2400" dirty="0"/>
          </a:p>
        </p:txBody>
      </p:sp>
      <p:sp>
        <p:nvSpPr>
          <p:cNvPr id="13" name="Text 10"/>
          <p:cNvSpPr txBox="1"/>
          <p:nvPr/>
        </p:nvSpPr>
        <p:spPr>
          <a:xfrm>
            <a:off x="8915400" y="4297680"/>
            <a:ext cx="2560320" cy="822960"/>
          </a:xfrm>
          <a:prstGeom prst="rect">
            <a:avLst/>
          </a:prstGeom>
          <a:noFill/>
          <a:ln/>
        </p:spPr>
        <p:txBody>
          <a:bodyPr wrap="square" lIns="0" tIns="0" rIns="0" bIns="0" rtlCol="0" anchor="t"/>
          <a:lstStyle/>
          <a:p>
            <a:pPr indent="0" marL="0">
              <a:buNone/>
            </a:pPr>
            <a:r>
              <a:rPr lang="en-US" sz="1300" dirty="0">
                <a:solidFill>
                  <a:srgbClr val="5B6B7F"/>
                </a:solidFill>
                <a:latin typeface="Calibri" pitchFamily="34" charset="0"/>
                <a:ea typeface="Calibri" pitchFamily="34" charset="-122"/>
                <a:cs typeface="Calibri" pitchFamily="34" charset="-120"/>
              </a:rPr>
              <a:t>it breaks: QPSK starts going to the QAMs first</a:t>
            </a:r>
            <a:endParaRPr lang="en-US" sz="1300" dirty="0"/>
          </a:p>
        </p:txBody>
      </p:sp>
      <p:sp>
        <p:nvSpPr>
          <p:cNvPr id="14" name="Text 11"/>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From 10 dB down to 2 dB nothing changes.</a:t>
            </a:r>
            <a:pPr indent="0" marL="0">
              <a:buNone/>
            </a:pPr>
            <a:r>
              <a:rPr lang="en-US" sz="1500" dirty="0">
                <a:solidFill>
                  <a:srgbClr val="1E293B"/>
                </a:solidFill>
                <a:latin typeface="Calibri" pitchFamily="34" charset="0"/>
                <a:ea typeface="Calibri" pitchFamily="34" charset="-122"/>
                <a:cs typeface="Calibri" pitchFamily="34" charset="-120"/>
              </a:rPr>
              <a:t>  The mistakes there are not caused by noise.</a:t>
            </a:r>
            <a:endParaRPr lang="en-US" sz="15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FRAME LENGTHS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16, 8 or 4 symbols: what does it need?</a:t>
            </a:r>
            <a:endParaRPr lang="en-US" sz="3000" dirty="0"/>
          </a:p>
        </p:txBody>
      </p:sp>
      <p:sp>
        <p:nvSpPr>
          <p:cNvPr id="4" name="Shape 2"/>
          <p:cNvSpPr/>
          <p:nvPr/>
        </p:nvSpPr>
        <p:spPr>
          <a:xfrm>
            <a:off x="7214616" y="347472"/>
            <a:ext cx="4425696"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214616" y="347472"/>
            <a:ext cx="4425696"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--frame-len 64 / 32</a:t>
            </a:r>
            <a:endParaRPr lang="en-US" sz="1100" dirty="0"/>
          </a:p>
        </p:txBody>
      </p:sp>
      <p:graphicFrame>
        <p:nvGraphicFramePr>
          <p:cNvPr id="6" name="Chart 0" descr=""/>
          <p:cNvGraphicFramePr/>
          <p:nvPr/>
        </p:nvGraphicFramePr>
        <p:xfrm>
          <a:off x="548640" y="1508760"/>
          <a:ext cx="5669280" cy="40233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364224" y="1609344"/>
            <a:ext cx="3502152" cy="2440795"/>
          </a:xfrm>
          <a:prstGeom prst="roundRect">
            <a:avLst>
              <a:gd name="adj" fmla="val 2248"/>
            </a:avLst>
          </a:prstGeom>
          <a:solidFill>
            <a:srgbClr val="0F1B2D"/>
          </a:solidFill>
          <a:ln w="12700">
            <a:solidFill>
              <a:srgbClr val="0F1B2D"/>
            </a:solidFill>
            <a:prstDash val="solid"/>
          </a:ln>
        </p:spPr>
      </p:sp>
      <p:pic>
        <p:nvPicPr>
          <p:cNvPr id="8" name="Image 0" descr="simple/fewer.png">    </p:cNvPr>
          <p:cNvPicPr>
            <a:picLocks noChangeAspect="1"/>
          </p:cNvPicPr>
          <p:nvPr/>
        </p:nvPicPr>
        <p:blipFill>
          <a:blip r:embed="rId2"/>
          <a:stretch>
            <a:fillRect/>
          </a:stretch>
        </p:blipFill>
        <p:spPr>
          <a:xfrm>
            <a:off x="6400800" y="1645920"/>
            <a:ext cx="3429000" cy="2367643"/>
          </a:xfrm>
          <a:prstGeom prst="rect">
            <a:avLst/>
          </a:prstGeom>
        </p:spPr>
      </p:pic>
      <p:sp>
        <p:nvSpPr>
          <p:cNvPr id="9" name="Text 5"/>
          <p:cNvSpPr txBox="1"/>
          <p:nvPr/>
        </p:nvSpPr>
        <p:spPr>
          <a:xfrm>
            <a:off x="10104120" y="1600200"/>
            <a:ext cx="1554480" cy="457200"/>
          </a:xfrm>
          <a:prstGeom prst="rect">
            <a:avLst/>
          </a:prstGeom>
          <a:noFill/>
          <a:ln/>
        </p:spPr>
        <p:txBody>
          <a:bodyPr wrap="square" lIns="0" tIns="0" rIns="0" bIns="0" rtlCol="0" anchor="t"/>
          <a:lstStyle/>
          <a:p>
            <a:pPr indent="0" marL="0">
              <a:buNone/>
            </a:pPr>
            <a:r>
              <a:rPr lang="en-US" sz="2400" b="1" dirty="0">
                <a:solidFill>
                  <a:srgbClr val="0F1B2D"/>
                </a:solidFill>
                <a:latin typeface="Calibri" pitchFamily="34" charset="0"/>
                <a:ea typeface="Calibri" pitchFamily="34" charset="-122"/>
                <a:cs typeface="Calibri" pitchFamily="34" charset="-120"/>
              </a:rPr>
              <a:t>5.7%</a:t>
            </a:r>
            <a:endParaRPr lang="en-US" sz="2400" dirty="0"/>
          </a:p>
        </p:txBody>
      </p:sp>
      <p:sp>
        <p:nvSpPr>
          <p:cNvPr id="10" name="Text 6"/>
          <p:cNvSpPr txBox="1"/>
          <p:nvPr/>
        </p:nvSpPr>
        <p:spPr>
          <a:xfrm>
            <a:off x="10104120" y="201168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16 symbols</a:t>
            </a:r>
            <a:endParaRPr lang="en-US" sz="1100" dirty="0"/>
          </a:p>
        </p:txBody>
      </p:sp>
      <p:sp>
        <p:nvSpPr>
          <p:cNvPr id="11" name="Text 7"/>
          <p:cNvSpPr txBox="1"/>
          <p:nvPr/>
        </p:nvSpPr>
        <p:spPr>
          <a:xfrm>
            <a:off x="10104120" y="2377440"/>
            <a:ext cx="1554480" cy="457200"/>
          </a:xfrm>
          <a:prstGeom prst="rect">
            <a:avLst/>
          </a:prstGeom>
          <a:noFill/>
          <a:ln/>
        </p:spPr>
        <p:txBody>
          <a:bodyPr wrap="square" lIns="0" tIns="0" rIns="0" bIns="0" rtlCol="0" anchor="t"/>
          <a:lstStyle/>
          <a:p>
            <a:pPr indent="0" marL="0">
              <a:buNone/>
            </a:pPr>
            <a:r>
              <a:rPr lang="en-US" sz="2400" b="1" dirty="0">
                <a:solidFill>
                  <a:srgbClr val="F08A24"/>
                </a:solidFill>
                <a:latin typeface="Calibri" pitchFamily="34" charset="0"/>
                <a:ea typeface="Calibri" pitchFamily="34" charset="-122"/>
                <a:cs typeface="Calibri" pitchFamily="34" charset="-120"/>
              </a:rPr>
              <a:t>15.5%</a:t>
            </a:r>
            <a:endParaRPr lang="en-US" sz="2400" dirty="0"/>
          </a:p>
        </p:txBody>
      </p:sp>
      <p:sp>
        <p:nvSpPr>
          <p:cNvPr id="12" name="Text 8"/>
          <p:cNvSpPr txBox="1"/>
          <p:nvPr/>
        </p:nvSpPr>
        <p:spPr>
          <a:xfrm>
            <a:off x="10104120" y="278892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8 symbols</a:t>
            </a:r>
            <a:endParaRPr lang="en-US" sz="1100" dirty="0"/>
          </a:p>
        </p:txBody>
      </p:sp>
      <p:sp>
        <p:nvSpPr>
          <p:cNvPr id="13" name="Text 9"/>
          <p:cNvSpPr txBox="1"/>
          <p:nvPr/>
        </p:nvSpPr>
        <p:spPr>
          <a:xfrm>
            <a:off x="10104120" y="3154680"/>
            <a:ext cx="1554480" cy="457200"/>
          </a:xfrm>
          <a:prstGeom prst="rect">
            <a:avLst/>
          </a:prstGeom>
          <a:noFill/>
          <a:ln/>
        </p:spPr>
        <p:txBody>
          <a:bodyPr wrap="square" lIns="0" tIns="0" rIns="0" bIns="0" rtlCol="0" anchor="t"/>
          <a:lstStyle/>
          <a:p>
            <a:pPr indent="0" marL="0">
              <a:buNone/>
            </a:pPr>
            <a:r>
              <a:rPr lang="en-US" sz="2400" b="1" dirty="0">
                <a:solidFill>
                  <a:srgbClr val="8FA0B5"/>
                </a:solidFill>
                <a:latin typeface="Calibri" pitchFamily="34" charset="0"/>
                <a:ea typeface="Calibri" pitchFamily="34" charset="-122"/>
                <a:cs typeface="Calibri" pitchFamily="34" charset="-120"/>
              </a:rPr>
              <a:t>25.2%</a:t>
            </a:r>
            <a:endParaRPr lang="en-US" sz="2400" dirty="0"/>
          </a:p>
        </p:txBody>
      </p:sp>
      <p:sp>
        <p:nvSpPr>
          <p:cNvPr id="14" name="Text 10"/>
          <p:cNvSpPr txBox="1"/>
          <p:nvPr/>
        </p:nvSpPr>
        <p:spPr>
          <a:xfrm>
            <a:off x="10104120" y="3566160"/>
            <a:ext cx="1554480" cy="274320"/>
          </a:xfrm>
          <a:prstGeom prst="rect">
            <a:avLst/>
          </a:prstGeom>
          <a:noFill/>
          <a:ln/>
        </p:spPr>
        <p:txBody>
          <a:bodyPr wrap="square" lIns="0" tIns="0" rIns="0" bIns="0" rtlCol="0" anchor="t"/>
          <a:lstStyle/>
          <a:p>
            <a:pPr indent="0" marL="0">
              <a:buNone/>
            </a:pPr>
            <a:r>
              <a:rPr lang="en-US" sz="1100" dirty="0">
                <a:solidFill>
                  <a:srgbClr val="5B6B7F"/>
                </a:solidFill>
                <a:latin typeface="Calibri" pitchFamily="34" charset="0"/>
                <a:ea typeface="Calibri" pitchFamily="34" charset="-122"/>
                <a:cs typeface="Calibri" pitchFamily="34" charset="-120"/>
              </a:rPr>
              <a:t>4 symbols</a:t>
            </a:r>
            <a:endParaRPr lang="en-US" sz="1100" dirty="0"/>
          </a:p>
        </p:txBody>
      </p:sp>
      <p:sp>
        <p:nvSpPr>
          <p:cNvPr id="15" name="Text 11"/>
          <p:cNvSpPr txBox="1"/>
          <p:nvPr/>
        </p:nvSpPr>
        <p:spPr>
          <a:xfrm>
            <a:off x="10104120" y="3931920"/>
            <a:ext cx="1554480" cy="320040"/>
          </a:xfrm>
          <a:prstGeom prst="rect">
            <a:avLst/>
          </a:prstGeom>
          <a:noFill/>
          <a:ln/>
        </p:spPr>
        <p:txBody>
          <a:bodyPr wrap="square" lIns="0" tIns="0" rIns="0" bIns="0" rtlCol="0" anchor="t"/>
          <a:lstStyle/>
          <a:p>
            <a:pPr indent="0" marL="0">
              <a:buNone/>
            </a:pPr>
            <a:r>
              <a:rPr lang="en-US" sz="1100" i="1" dirty="0">
                <a:solidFill>
                  <a:srgbClr val="5B6B7F"/>
                </a:solidFill>
                <a:latin typeface="Calibri" pitchFamily="34" charset="0"/>
                <a:ea typeface="Calibri" pitchFamily="34" charset="-122"/>
                <a:cs typeface="Calibri" pitchFamily="34" charset="-120"/>
              </a:rPr>
              <a:t>wrong, from +2 dB up</a:t>
            </a:r>
            <a:endParaRPr lang="en-US" sz="1100" dirty="0"/>
          </a:p>
        </p:txBody>
      </p:sp>
      <p:sp>
        <p:nvSpPr>
          <p:cNvPr id="16" name="Text 12"/>
          <p:cNvSpPr txBox="1"/>
          <p:nvPr/>
        </p:nvSpPr>
        <p:spPr>
          <a:xfrm>
            <a:off x="6400800" y="4114800"/>
            <a:ext cx="3429000" cy="822960"/>
          </a:xfrm>
          <a:prstGeom prst="rect">
            <a:avLst/>
          </a:prstGeom>
          <a:noFill/>
          <a:ln/>
        </p:spPr>
        <p:txBody>
          <a:bodyPr wrap="square" lIns="0" tIns="0" rIns="0" bIns="0" rtlCol="0" anchor="t"/>
          <a:lstStyle/>
          <a:p>
            <a:pPr indent="0" marL="0">
              <a:buNone/>
            </a:pPr>
            <a:r>
              <a:rPr lang="en-US" sz="1200" dirty="0">
                <a:solidFill>
                  <a:srgbClr val="5B6B7F"/>
                </a:solidFill>
                <a:latin typeface="Calibri" pitchFamily="34" charset="0"/>
                <a:ea typeface="Calibri" pitchFamily="34" charset="-122"/>
                <a:cs typeface="Calibri" pitchFamily="34" charset="-120"/>
              </a:rPr>
              <a:t>Fewer symbols, fewer points of the grid shown: QAM64 and QAM16 start to look alike.</a:t>
            </a:r>
            <a:endParaRPr lang="en-US" sz="1200" dirty="0"/>
          </a:p>
        </p:txBody>
      </p:sp>
      <p:sp>
        <p:nvSpPr>
          <p:cNvPr id="17" name="Text 13"/>
          <p:cNvSpPr txBox="1"/>
          <p:nvPr/>
        </p:nvSpPr>
        <p:spPr>
          <a:xfrm>
            <a:off x="548640" y="571500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More signal does not fix it. More symbols does.</a:t>
            </a:r>
            <a:pPr indent="0" marL="0">
              <a:buNone/>
            </a:pPr>
            <a:r>
              <a:rPr lang="en-US" sz="1500" dirty="0">
                <a:solidFill>
                  <a:srgbClr val="1E293B"/>
                </a:solidFill>
                <a:latin typeface="Calibri" pitchFamily="34" charset="0"/>
                <a:ea typeface="Calibri" pitchFamily="34" charset="-122"/>
                <a:cs typeface="Calibri" pitchFamily="34" charset="-120"/>
              </a:rPr>
              <a:t>  Noise decides where the curve falls; the number of symbols decides how low it can go.</a:t>
            </a:r>
            <a:endParaRPr lang="en-US" sz="1500" dirty="0"/>
          </a:p>
        </p:txBody>
      </p:sp>
      <p:sp>
        <p:nvSpPr>
          <p:cNvPr id="19" name="Text 14"/>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SOMETHING WE FOUND</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With no signal at all, it still answers</a:t>
            </a:r>
            <a:endParaRPr lang="en-US" sz="3000" dirty="0"/>
          </a:p>
        </p:txBody>
      </p:sp>
      <p:sp>
        <p:nvSpPr>
          <p:cNvPr id="4" name="Shape 2"/>
          <p:cNvSpPr/>
          <p:nvPr/>
        </p:nvSpPr>
        <p:spPr>
          <a:xfrm>
            <a:off x="9189720" y="347472"/>
            <a:ext cx="2450592"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9189720" y="347472"/>
            <a:ext cx="2450592"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tools/single_snr.py</a:t>
            </a:r>
            <a:endParaRPr lang="en-US" sz="1100" dirty="0"/>
          </a:p>
        </p:txBody>
      </p:sp>
      <p:sp>
        <p:nvSpPr>
          <p:cNvPr id="6" name="Shape 4"/>
          <p:cNvSpPr/>
          <p:nvPr/>
        </p:nvSpPr>
        <p:spPr>
          <a:xfrm>
            <a:off x="914400" y="1600200"/>
            <a:ext cx="3291840" cy="2194560"/>
          </a:xfrm>
          <a:prstGeom prst="roundRect">
            <a:avLst>
              <a:gd name="adj" fmla="val 4167"/>
            </a:avLst>
          </a:prstGeom>
          <a:solidFill>
            <a:srgbClr val="EEF2F6"/>
          </a:solidFill>
          <a:ln w="12700">
            <a:solidFill>
              <a:srgbClr val="EEF2F6"/>
            </a:solidFill>
            <a:prstDash val="solid"/>
          </a:ln>
        </p:spPr>
      </p:sp>
      <p:sp>
        <p:nvSpPr>
          <p:cNvPr id="7" name="Shape 5"/>
          <p:cNvSpPr/>
          <p:nvPr/>
        </p:nvSpPr>
        <p:spPr>
          <a:xfrm>
            <a:off x="5029200" y="1600200"/>
            <a:ext cx="3291840" cy="2194560"/>
          </a:xfrm>
          <a:prstGeom prst="roundRect">
            <a:avLst>
              <a:gd name="adj" fmla="val 4167"/>
            </a:avLst>
          </a:prstGeom>
          <a:solidFill>
            <a:srgbClr val="EEF2F6"/>
          </a:solidFill>
          <a:ln w="12700">
            <a:solidFill>
              <a:srgbClr val="EEF2F6"/>
            </a:solidFill>
            <a:prstDash val="solid"/>
          </a:ln>
        </p:spPr>
      </p:sp>
      <p:sp>
        <p:nvSpPr>
          <p:cNvPr id="8" name="Text 6"/>
          <p:cNvSpPr txBox="1"/>
          <p:nvPr/>
        </p:nvSpPr>
        <p:spPr>
          <a:xfrm>
            <a:off x="914400" y="1737360"/>
            <a:ext cx="3291840" cy="914400"/>
          </a:xfrm>
          <a:prstGeom prst="rect">
            <a:avLst/>
          </a:prstGeom>
          <a:noFill/>
          <a:ln/>
        </p:spPr>
        <p:txBody>
          <a:bodyPr wrap="square" lIns="0" tIns="0" rIns="0" bIns="0" rtlCol="0" anchor="b"/>
          <a:lstStyle/>
          <a:p>
            <a:pPr algn="ctr" indent="0" marL="0">
              <a:buNone/>
            </a:pPr>
            <a:r>
              <a:rPr lang="en-US" sz="5000" b="1" dirty="0">
                <a:solidFill>
                  <a:srgbClr val="1E293B"/>
                </a:solidFill>
                <a:latin typeface="Calibri" pitchFamily="34" charset="0"/>
                <a:ea typeface="Calibri" pitchFamily="34" charset="-122"/>
                <a:cs typeface="Calibri" pitchFamily="34" charset="-120"/>
              </a:rPr>
              <a:t>52.2%</a:t>
            </a:r>
            <a:endParaRPr lang="en-US" sz="5000" dirty="0"/>
          </a:p>
        </p:txBody>
      </p:sp>
      <p:sp>
        <p:nvSpPr>
          <p:cNvPr id="9" name="Text 7"/>
          <p:cNvSpPr txBox="1"/>
          <p:nvPr/>
        </p:nvSpPr>
        <p:spPr>
          <a:xfrm>
            <a:off x="9144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recall at −20 dB</a:t>
            </a:r>
            <a:endParaRPr lang="en-US" sz="1400" dirty="0"/>
          </a:p>
        </p:txBody>
      </p:sp>
      <p:sp>
        <p:nvSpPr>
          <p:cNvPr id="10" name="Text 8"/>
          <p:cNvSpPr txBox="1"/>
          <p:nvPr/>
        </p:nvSpPr>
        <p:spPr>
          <a:xfrm>
            <a:off x="9144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looks like it recognises QPSK</a:t>
            </a:r>
            <a:endParaRPr lang="en-US" sz="1500" dirty="0"/>
          </a:p>
        </p:txBody>
      </p:sp>
      <p:sp>
        <p:nvSpPr>
          <p:cNvPr id="11" name="Text 9"/>
          <p:cNvSpPr txBox="1"/>
          <p:nvPr/>
        </p:nvSpPr>
        <p:spPr>
          <a:xfrm>
            <a:off x="4251960" y="2377440"/>
            <a:ext cx="731520" cy="457200"/>
          </a:xfrm>
          <a:prstGeom prst="rect">
            <a:avLst/>
          </a:prstGeom>
          <a:noFill/>
          <a:ln/>
        </p:spPr>
        <p:txBody>
          <a:bodyPr wrap="square" lIns="0" tIns="0" rIns="0" bIns="0" rtlCol="0" anchor="t"/>
          <a:lstStyle/>
          <a:p>
            <a:pPr algn="ctr" indent="0" marL="0">
              <a:buNone/>
            </a:pPr>
            <a:r>
              <a:rPr lang="en-US" sz="2000" dirty="0">
                <a:solidFill>
                  <a:srgbClr val="5B6B7F"/>
                </a:solidFill>
                <a:latin typeface="Calibri" pitchFamily="34" charset="0"/>
                <a:ea typeface="Calibri" pitchFamily="34" charset="-122"/>
                <a:cs typeface="Calibri" pitchFamily="34" charset="-120"/>
              </a:rPr>
              <a:t>vs</a:t>
            </a:r>
            <a:endParaRPr lang="en-US" sz="2000" dirty="0"/>
          </a:p>
        </p:txBody>
      </p:sp>
      <p:sp>
        <p:nvSpPr>
          <p:cNvPr id="12" name="Text 10"/>
          <p:cNvSpPr txBox="1"/>
          <p:nvPr/>
        </p:nvSpPr>
        <p:spPr>
          <a:xfrm>
            <a:off x="5029200" y="1737360"/>
            <a:ext cx="3291840" cy="914400"/>
          </a:xfrm>
          <a:prstGeom prst="rect">
            <a:avLst/>
          </a:prstGeom>
          <a:noFill/>
          <a:ln/>
        </p:spPr>
        <p:txBody>
          <a:bodyPr wrap="square" lIns="0" tIns="0" rIns="0" bIns="0" rtlCol="0" anchor="b"/>
          <a:lstStyle/>
          <a:p>
            <a:pPr algn="ctr" indent="0" marL="0">
              <a:buNone/>
            </a:pPr>
            <a:r>
              <a:rPr lang="en-US" sz="5000" b="1" dirty="0">
                <a:solidFill>
                  <a:srgbClr val="F08A24"/>
                </a:solidFill>
                <a:latin typeface="Calibri" pitchFamily="34" charset="0"/>
                <a:ea typeface="Calibri" pitchFamily="34" charset="-122"/>
                <a:cs typeface="Calibri" pitchFamily="34" charset="-120"/>
              </a:rPr>
              <a:t>24.8%</a:t>
            </a:r>
            <a:endParaRPr lang="en-US" sz="5000" dirty="0"/>
          </a:p>
        </p:txBody>
      </p:sp>
      <p:sp>
        <p:nvSpPr>
          <p:cNvPr id="13" name="Text 11"/>
          <p:cNvSpPr txBox="1"/>
          <p:nvPr/>
        </p:nvSpPr>
        <p:spPr>
          <a:xfrm>
            <a:off x="5029200" y="2697480"/>
            <a:ext cx="3291840" cy="365760"/>
          </a:xfrm>
          <a:prstGeom prst="rect">
            <a:avLst/>
          </a:prstGeom>
          <a:noFill/>
          <a:ln/>
        </p:spPr>
        <p:txBody>
          <a:bodyPr wrap="square" lIns="0" tIns="0" rIns="0" bIns="0" rtlCol="0" anchor="t"/>
          <a:lstStyle/>
          <a:p>
            <a:pPr algn="ctr" indent="0" marL="0">
              <a:buNone/>
            </a:pPr>
            <a:r>
              <a:rPr lang="en-US" sz="1400" dirty="0">
                <a:solidFill>
                  <a:srgbClr val="5B6B7F"/>
                </a:solidFill>
                <a:latin typeface="Calibri" pitchFamily="34" charset="0"/>
                <a:ea typeface="Calibri" pitchFamily="34" charset="-122"/>
                <a:cs typeface="Calibri" pitchFamily="34" charset="-120"/>
              </a:rPr>
              <a:t>QPSK precision at −20 dB</a:t>
            </a:r>
            <a:endParaRPr lang="en-US" sz="1400" dirty="0"/>
          </a:p>
        </p:txBody>
      </p:sp>
      <p:sp>
        <p:nvSpPr>
          <p:cNvPr id="14" name="Text 12"/>
          <p:cNvSpPr txBox="1"/>
          <p:nvPr/>
        </p:nvSpPr>
        <p:spPr>
          <a:xfrm>
            <a:off x="5029200" y="3108960"/>
            <a:ext cx="3291840" cy="457200"/>
          </a:xfrm>
          <a:prstGeom prst="rect">
            <a:avLst/>
          </a:prstGeom>
          <a:noFill/>
          <a:ln/>
        </p:spPr>
        <p:txBody>
          <a:bodyPr wrap="square" lIns="0" tIns="0" rIns="0" bIns="0" rtlCol="0" anchor="t"/>
          <a:lstStyle/>
          <a:p>
            <a:pPr algn="ctr" indent="0" marL="0">
              <a:buNone/>
            </a:pPr>
            <a:r>
              <a:rPr lang="en-US" sz="1500" b="1" dirty="0">
                <a:solidFill>
                  <a:srgbClr val="1E293B"/>
                </a:solidFill>
                <a:latin typeface="Calibri" pitchFamily="34" charset="0"/>
                <a:ea typeface="Calibri" pitchFamily="34" charset="-122"/>
                <a:cs typeface="Calibri" pitchFamily="34" charset="-120"/>
              </a:rPr>
              <a:t>it is guessing: 1 in 4</a:t>
            </a:r>
            <a:endParaRPr lang="en-US" sz="1500" dirty="0"/>
          </a:p>
        </p:txBody>
      </p:sp>
      <p:sp>
        <p:nvSpPr>
          <p:cNvPr id="15" name="Text 13"/>
          <p:cNvSpPr txBox="1"/>
          <p:nvPr/>
        </p:nvSpPr>
        <p:spPr>
          <a:xfrm>
            <a:off x="914400" y="4069080"/>
            <a:ext cx="7406640" cy="91440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Why? </a:t>
            </a:r>
            <a:pPr indent="0" marL="0">
              <a:buNone/>
            </a:pPr>
            <a:r>
              <a:rPr lang="en-US" sz="1400" dirty="0">
                <a:solidFill>
                  <a:srgbClr val="1E293B"/>
                </a:solidFill>
                <a:latin typeface="Calibri" pitchFamily="34" charset="0"/>
                <a:ea typeface="Calibri" pitchFamily="34" charset="-122"/>
                <a:cs typeface="Calibri" pitchFamily="34" charset="-120"/>
              </a:rPr>
              <a:t>It must name one of the four. With nothing to go on it says BPSK or QPSK 98.8% of the time, and which of the two changes from one training run to the next.</a:t>
            </a:r>
            <a:endParaRPr lang="en-US" sz="1400" dirty="0"/>
          </a:p>
        </p:txBody>
      </p:sp>
      <p:sp>
        <p:nvSpPr>
          <p:cNvPr id="16" name="Shape 14"/>
          <p:cNvSpPr/>
          <p:nvPr/>
        </p:nvSpPr>
        <p:spPr>
          <a:xfrm>
            <a:off x="8732520" y="1600200"/>
            <a:ext cx="2907792" cy="3383280"/>
          </a:xfrm>
          <a:prstGeom prst="roundRect">
            <a:avLst>
              <a:gd name="adj" fmla="val 3145"/>
            </a:avLst>
          </a:prstGeom>
          <a:solidFill>
            <a:srgbClr val="EEF2F6"/>
          </a:solidFill>
          <a:ln w="12700">
            <a:solidFill>
              <a:srgbClr val="EEF2F6"/>
            </a:solidFill>
            <a:prstDash val="solid"/>
          </a:ln>
        </p:spPr>
      </p:sp>
      <p:sp>
        <p:nvSpPr>
          <p:cNvPr id="17" name="Text 15"/>
          <p:cNvSpPr txBox="1"/>
          <p:nvPr/>
        </p:nvSpPr>
        <p:spPr>
          <a:xfrm>
            <a:off x="8915400" y="1691640"/>
            <a:ext cx="2560320" cy="365760"/>
          </a:xfrm>
          <a:prstGeom prst="rect">
            <a:avLst/>
          </a:prstGeom>
          <a:noFill/>
          <a:ln/>
        </p:spPr>
        <p:txBody>
          <a:bodyPr wrap="square" lIns="0" tIns="0" rIns="0" bIns="0" rtlCol="0" anchor="t"/>
          <a:lstStyle/>
          <a:p>
            <a:pPr indent="0" marL="0">
              <a:buNone/>
            </a:pPr>
            <a:r>
              <a:rPr lang="en-US" sz="1300" b="1" dirty="0">
                <a:solidFill>
                  <a:srgbClr val="5B6B7F"/>
                </a:solidFill>
                <a:latin typeface="Calibri" pitchFamily="34" charset="0"/>
                <a:ea typeface="Calibri" pitchFamily="34" charset="-122"/>
                <a:cs typeface="Calibri" pitchFamily="34" charset="-120"/>
              </a:rPr>
              <a:t>How they are counted</a:t>
            </a:r>
            <a:endParaRPr lang="en-US" sz="1300" dirty="0"/>
          </a:p>
        </p:txBody>
      </p:sp>
      <p:sp>
        <p:nvSpPr>
          <p:cNvPr id="18" name="Text 16"/>
          <p:cNvSpPr txBox="1"/>
          <p:nvPr/>
        </p:nvSpPr>
        <p:spPr>
          <a:xfrm>
            <a:off x="8915400" y="2103120"/>
            <a:ext cx="2606040" cy="2743200"/>
          </a:xfrm>
          <a:prstGeom prst="rect">
            <a:avLst/>
          </a:prstGeom>
          <a:noFill/>
          <a:ln/>
        </p:spPr>
        <p:txBody>
          <a:bodyPr wrap="square" lIns="0" tIns="0" rIns="0" bIns="0" rtlCol="0" anchor="t"/>
          <a:lstStyle/>
          <a:p>
            <a:pPr indent="0" marL="0">
              <a:buNone/>
            </a:pPr>
            <a:r>
              <a:rPr lang="en-US" sz="1300" b="1" dirty="0">
                <a:solidFill>
                  <a:srgbClr val="1E293B"/>
                </a:solidFill>
                <a:latin typeface="Calibri" pitchFamily="34" charset="0"/>
                <a:ea typeface="Calibri" pitchFamily="34" charset="-122"/>
                <a:cs typeface="Calibri" pitchFamily="34" charset="-120"/>
              </a:rPr>
              <a:t>Recall</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sent of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b="1" dirty="0">
                <a:solidFill>
                  <a:srgbClr val="1E293B"/>
                </a:solidFill>
                <a:latin typeface="Calibri" pitchFamily="34" charset="0"/>
                <a:ea typeface="Calibri" pitchFamily="34" charset="-122"/>
                <a:cs typeface="Calibri" pitchFamily="34" charset="-120"/>
              </a:rPr>
              <a:t>Precision</a:t>
            </a:r>
            <a:endParaRPr lang="en-US" sz="1300" dirty="0"/>
          </a:p>
          <a:p>
            <a:pPr indent="0" marL="0">
              <a:buNone/>
            </a:pPr>
            <a:r>
              <a:rPr lang="en-US" sz="1300" dirty="0">
                <a:solidFill>
                  <a:srgbClr val="1E293B"/>
                </a:solidFill>
                <a:latin typeface="Calibri" pitchFamily="34" charset="0"/>
                <a:ea typeface="Calibri" pitchFamily="34" charset="-122"/>
                <a:cs typeface="Calibri" pitchFamily="34" charset="-120"/>
              </a:rPr>
              <a:t>= right ÷ frames it called that kind</a:t>
            </a:r>
            <a:endParaRPr lang="en-US" sz="1300" dirty="0"/>
          </a:p>
          <a:p>
            <a:pPr indent="0" marL="0">
              <a:buNone/>
            </a:pPr>
            <a:r>
              <a:rPr lang="en-US" sz="800" dirty="0">
                <a:solidFill>
                  <a:srgbClr val="1E293B"/>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5B6B7F"/>
                </a:solidFill>
                <a:latin typeface="Calibri" pitchFamily="34" charset="0"/>
                <a:ea typeface="Calibri" pitchFamily="34" charset="-122"/>
                <a:cs typeface="Calibri" pitchFamily="34" charset="-120"/>
              </a:rPr>
              <a:t>Recall alone can look good while the detector is only guessing.</a:t>
            </a:r>
            <a:endParaRPr lang="en-US" sz="1300" dirty="0"/>
          </a:p>
        </p:txBody>
      </p:sp>
      <p:sp>
        <p:nvSpPr>
          <p:cNvPr id="19" name="Text 17"/>
          <p:cNvSpPr txBox="1"/>
          <p:nvPr/>
        </p:nvSpPr>
        <p:spPr>
          <a:xfrm>
            <a:off x="548640" y="566928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Every chart now shows precision next to recall,</a:t>
            </a:r>
            <a:pPr indent="0" marL="0">
              <a:buNone/>
            </a:pPr>
            <a:r>
              <a:rPr lang="en-US" sz="1500" dirty="0">
                <a:solidFill>
                  <a:srgbClr val="1E293B"/>
                </a:solidFill>
                <a:latin typeface="Calibri" pitchFamily="34" charset="0"/>
                <a:ea typeface="Calibri" pitchFamily="34" charset="-122"/>
                <a:cs typeface="Calibri" pitchFamily="34" charset="-120"/>
              </a:rPr>
              <a:t>  and how many decisions sit behind each point.</a:t>
            </a:r>
            <a:endParaRPr lang="en-US" sz="1500" dirty="0"/>
          </a:p>
        </p:txBody>
      </p:sp>
      <p:sp>
        <p:nvSpPr>
          <p:cNvPr id="21" name="Text 18"/>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84048"/>
            <a:ext cx="7315200" cy="274320"/>
          </a:xfrm>
          <a:prstGeom prst="rect">
            <a:avLst/>
          </a:prstGeom>
          <a:noFill/>
          <a:ln/>
        </p:spPr>
        <p:txBody>
          <a:bodyPr wrap="square" lIns="0" tIns="0" rIns="0" bIns="0" rtlCol="0" anchor="t"/>
          <a:lstStyle/>
          <a:p>
            <a:pPr indent="0" marL="0">
              <a:buNone/>
            </a:pPr>
            <a:r>
              <a:rPr lang="en-US" sz="1100" b="1" spc="300" kern="0" dirty="0">
                <a:solidFill>
                  <a:srgbClr val="F08A24"/>
                </a:solidFill>
                <a:latin typeface="Calibri" pitchFamily="34" charset="0"/>
                <a:ea typeface="Calibri" pitchFamily="34" charset="-122"/>
                <a:cs typeface="Calibri" pitchFamily="34" charset="-120"/>
              </a:rPr>
              <a:t>COMPARING ARCHITECTURES</a:t>
            </a:r>
            <a:endParaRPr lang="en-US" sz="1100" dirty="0"/>
          </a:p>
        </p:txBody>
      </p:sp>
      <p:sp>
        <p:nvSpPr>
          <p:cNvPr id="3" name="Text 1"/>
          <p:cNvSpPr txBox="1"/>
          <p:nvPr/>
        </p:nvSpPr>
        <p:spPr>
          <a:xfrm>
            <a:off x="548640" y="658368"/>
            <a:ext cx="11091672" cy="640080"/>
          </a:xfrm>
          <a:prstGeom prst="rect">
            <a:avLst/>
          </a:prstGeom>
          <a:noFill/>
          <a:ln/>
        </p:spPr>
        <p:txBody>
          <a:bodyPr wrap="square" lIns="0" tIns="0" rIns="0" bIns="0" rtlCol="0" anchor="ctr"/>
          <a:lstStyle/>
          <a:p>
            <a:pPr indent="0" marL="0">
              <a:buNone/>
            </a:pPr>
            <a:r>
              <a:rPr lang="en-US" sz="3000" b="1" dirty="0">
                <a:solidFill>
                  <a:srgbClr val="1E293B"/>
                </a:solidFill>
                <a:latin typeface="Calibri" pitchFamily="34" charset="0"/>
                <a:ea typeface="Calibri" pitchFamily="34" charset="-122"/>
                <a:cs typeface="Calibri" pitchFamily="34" charset="-120"/>
              </a:rPr>
              <a:t>How does ICRNNA compare with published models?</a:t>
            </a:r>
            <a:endParaRPr lang="en-US" sz="3000" dirty="0"/>
          </a:p>
        </p:txBody>
      </p:sp>
      <p:sp>
        <p:nvSpPr>
          <p:cNvPr id="4" name="Shape 2"/>
          <p:cNvSpPr/>
          <p:nvPr/>
        </p:nvSpPr>
        <p:spPr>
          <a:xfrm>
            <a:off x="7872984" y="347472"/>
            <a:ext cx="3767328" cy="329184"/>
          </a:xfrm>
          <a:prstGeom prst="roundRect">
            <a:avLst>
              <a:gd name="adj" fmla="val 33333"/>
            </a:avLst>
          </a:prstGeom>
          <a:solidFill>
            <a:srgbClr val="EEF2F6"/>
          </a:solidFill>
          <a:ln w="12700">
            <a:solidFill>
              <a:srgbClr val="EEF2F6"/>
            </a:solidFill>
            <a:prstDash val="solid"/>
          </a:ln>
        </p:spPr>
      </p:sp>
      <p:sp>
        <p:nvSpPr>
          <p:cNvPr id="5" name="Text 3"/>
          <p:cNvSpPr txBox="1"/>
          <p:nvPr/>
        </p:nvSpPr>
        <p:spPr>
          <a:xfrm>
            <a:off x="7872984" y="347472"/>
            <a:ext cx="3767328" cy="329184"/>
          </a:xfrm>
          <a:prstGeom prst="rect">
            <a:avLst/>
          </a:prstGeom>
          <a:noFill/>
          <a:ln/>
        </p:spPr>
        <p:txBody>
          <a:bodyPr wrap="square" lIns="0" tIns="0" rIns="0" bIns="0" rtlCol="0" anchor="ctr"/>
          <a:lstStyle/>
          <a:p>
            <a:pPr algn="ctr" indent="0" marL="0">
              <a:buNone/>
            </a:pPr>
            <a:r>
              <a:rPr lang="en-US" sz="1100" dirty="0">
                <a:solidFill>
                  <a:srgbClr val="1E293B"/>
                </a:solidFill>
                <a:latin typeface="Consolas" pitchFamily="34" charset="0"/>
                <a:ea typeface="Consolas" pitchFamily="34" charset="-122"/>
                <a:cs typeface="Consolas" pitchFamily="34" charset="-120"/>
              </a:rPr>
              <a:t>train_backbone.py --arch MCLDNN</a:t>
            </a:r>
            <a:endParaRPr lang="en-US" sz="1100" dirty="0"/>
          </a:p>
        </p:txBody>
      </p:sp>
      <p:sp>
        <p:nvSpPr>
          <p:cNvPr id="6" name="Text 4"/>
          <p:cNvSpPr txBox="1"/>
          <p:nvPr/>
        </p:nvSpPr>
        <p:spPr>
          <a:xfrm>
            <a:off x="548640" y="1371600"/>
            <a:ext cx="11091672" cy="365760"/>
          </a:xfrm>
          <a:prstGeom prst="rect">
            <a:avLst/>
          </a:prstGeom>
          <a:noFill/>
          <a:ln/>
        </p:spPr>
        <p:txBody>
          <a:bodyPr wrap="square" lIns="0" tIns="0" rIns="0" bIns="0" rtlCol="0" anchor="t"/>
          <a:lstStyle/>
          <a:p>
            <a:pPr indent="0" marL="0">
              <a:buNone/>
            </a:pPr>
            <a:r>
              <a:rPr lang="en-US" sz="1400" dirty="0">
                <a:solidFill>
                  <a:srgbClr val="5B6B7F"/>
                </a:solidFill>
                <a:latin typeface="Calibri" pitchFamily="34" charset="0"/>
                <a:ea typeface="Calibri" pitchFamily="34" charset="-122"/>
                <a:cs typeface="Calibri" pitchFamily="34" charset="-120"/>
              </a:rPr>
              <a:t>All 11 types, all noise levels. Same data, same split, same 3 repeats for every model: only the model changes.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6035040" cy="914400"/>
        </p:xfrm>
        <a:graphic>
          <a:graphicData uri="http://schemas.openxmlformats.org/drawingml/2006/table">
            <a:tbl>
              <a:tblPr/>
              <a:tblGrid>
                <a:gridCol w="1783080"/>
                <a:gridCol w="1188720"/>
                <a:gridCol w="868680"/>
                <a:gridCol w="868680"/>
                <a:gridCol w="1325880"/>
              </a:tblGrid>
              <a:tr h="438912">
                <a:tc>
                  <a:txBody>
                    <a:bodyPr/>
                    <a:lstStyle/>
                    <a:p>
                      <a:pPr algn="l" indent="0" marL="0">
                        <a:buNone/>
                      </a:pPr>
                      <a:r>
                        <a:rPr lang="en-US" sz="1300" b="1" dirty="0">
                          <a:solidFill>
                            <a:srgbClr val="1E293B"/>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numbers learned</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paper</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ours</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300" b="1" dirty="0">
                          <a:solidFill>
                            <a:srgbClr val="1E293B"/>
                          </a:solidFill>
                          <a:latin typeface="Calibri" pitchFamily="34" charset="0"/>
                          <a:ea typeface="Calibri" pitchFamily="34" charset="-122"/>
                          <a:cs typeface="Calibri" pitchFamily="34" charset="-120"/>
                        </a:rPr>
                        <a:t>ours, ≥ 10 dB</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438912">
                <a:tc>
                  <a:txBody>
                    <a:bodyPr/>
                    <a:lstStyle/>
                    <a:p>
                      <a:pPr algn="l" indent="0" marL="0">
                        <a:buNone/>
                      </a:pPr>
                      <a:r>
                        <a:rPr lang="en-US" sz="1300" b="1" dirty="0">
                          <a:solidFill>
                            <a:srgbClr val="F08A24"/>
                          </a:solidFill>
                          <a:latin typeface="Calibri" pitchFamily="34" charset="0"/>
                          <a:ea typeface="Calibri" pitchFamily="34" charset="-122"/>
                          <a:cs typeface="Calibri" pitchFamily="34" charset="-120"/>
                        </a:rPr>
                        <a:t>ICRNNA (2025)</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786,379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62.2%</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b="1" dirty="0">
                          <a:solidFill>
                            <a:srgbClr val="F08A24"/>
                          </a:solidFill>
                          <a:latin typeface="Calibri" pitchFamily="34" charset="0"/>
                          <a:ea typeface="Calibri" pitchFamily="34" charset="-122"/>
                          <a:cs typeface="Calibri" pitchFamily="34" charset="-120"/>
                        </a:rPr>
                        <a:t>91.5%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LSTM2 (2018)</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201,099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60.6%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91.5%</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MCLDNN (2020)</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406,199</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62.1%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91.1%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PET-CGDNN (2021)</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71,871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60.4%</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61.0%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90.6%</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438912">
                <a:tc>
                  <a:txBody>
                    <a:bodyPr/>
                    <a:lstStyle/>
                    <a:p>
                      <a:pPr algn="l" indent="0" marL="0">
                        <a:buNone/>
                      </a:pPr>
                      <a:r>
                        <a:rPr lang="en-US" sz="1300" dirty="0">
                          <a:solidFill>
                            <a:srgbClr val="1E293B"/>
                          </a:solidFill>
                          <a:latin typeface="Calibri" pitchFamily="34" charset="0"/>
                          <a:ea typeface="Calibri" pitchFamily="34" charset="-122"/>
                          <a:cs typeface="Calibri" pitchFamily="34" charset="-120"/>
                        </a:rPr>
                        <a:t>VT-CNN2 (2016)</a:t>
                      </a:r>
                      <a:endParaRPr lang="en-US" sz="13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1,592,383</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5B6B7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56.1%</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1400" dirty="0">
                          <a:solidFill>
                            <a:srgbClr val="1E293B"/>
                          </a:solidFill>
                          <a:latin typeface="Calibri" pitchFamily="34" charset="0"/>
                          <a:ea typeface="Calibri" pitchFamily="34" charset="-122"/>
                          <a:cs typeface="Calibri" pitchFamily="34" charset="-120"/>
                        </a:rPr>
                        <a:t>82.0%</a:t>
                      </a:r>
                      <a:endParaRPr lang="en-US" sz="14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8" name="Text 5"/>
          <p:cNvSpPr txBox="1"/>
          <p:nvPr/>
        </p:nvSpPr>
        <p:spPr>
          <a:xfrm>
            <a:off x="548640" y="4800600"/>
            <a:ext cx="6035040" cy="731520"/>
          </a:xfrm>
          <a:prstGeom prst="rect">
            <a:avLst/>
          </a:prstGeom>
          <a:noFill/>
          <a:ln/>
        </p:spPr>
        <p:txBody>
          <a:bodyPr wrap="square" lIns="0" tIns="0" rIns="0" bIns="0" rtlCol="0" anchor="t"/>
          <a:lstStyle/>
          <a:p>
            <a:pPr indent="0" marL="0">
              <a:buNone/>
            </a:pPr>
            <a:r>
              <a:rPr lang="en-US" sz="1050" i="1" dirty="0">
                <a:solidFill>
                  <a:srgbClr val="5B6B7F"/>
                </a:solidFill>
                <a:latin typeface="Calibri" pitchFamily="34" charset="0"/>
                <a:ea typeface="Calibri" pitchFamily="34" charset="-122"/>
                <a:cs typeface="Calibri" pitchFamily="34" charset="-120"/>
              </a:rPr>
              <a:t>“Paper”: overall accuracy as published — ICRNNA from its own paper (we measure our colleague's version of it); the others from Zhang et al. 2021, one run each. Same number of learned parameters as published, to the digit.</a:t>
            </a:r>
            <a:endParaRPr lang="en-US" sz="1050" dirty="0"/>
          </a:p>
        </p:txBody>
      </p:sp>
      <p:pic>
        <p:nvPicPr>
          <p:cNvPr id="9" name="Image 0" descr="../figures/38_literature_2016.png">    </p:cNvPr>
          <p:cNvPicPr>
            <a:picLocks noChangeAspect="1"/>
          </p:cNvPicPr>
          <p:nvPr/>
        </p:nvPicPr>
        <p:blipFill>
          <a:blip r:embed="rId1"/>
          <a:stretch>
            <a:fillRect/>
          </a:stretch>
        </p:blipFill>
        <p:spPr>
          <a:xfrm>
            <a:off x="6812280" y="1828800"/>
            <a:ext cx="4828032" cy="2682240"/>
          </a:xfrm>
          <a:prstGeom prst="rect">
            <a:avLst/>
          </a:prstGeom>
        </p:spPr>
      </p:pic>
      <p:sp>
        <p:nvSpPr>
          <p:cNvPr id="10" name="Text 6"/>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500" b="1" dirty="0">
                <a:solidFill>
                  <a:srgbClr val="1E293B"/>
                </a:solidFill>
                <a:latin typeface="Calibri" pitchFamily="34" charset="0"/>
                <a:ea typeface="Calibri" pitchFamily="34" charset="-122"/>
                <a:cs typeface="Calibri" pitchFamily="34" charset="-120"/>
              </a:rPr>
              <a:t>Our numbers match the papers within 1 point. ICRNNA is first, the best four within 1.2 points.</a:t>
            </a:r>
            <a:pPr indent="0" marL="0">
              <a:buNone/>
            </a:pPr>
            <a:r>
              <a:rPr lang="en-US" sz="1500" dirty="0">
                <a:solidFill>
                  <a:srgbClr val="1E293B"/>
                </a:solidFill>
                <a:latin typeface="Calibri" pitchFamily="34" charset="0"/>
                <a:ea typeface="Calibri" pitchFamily="34" charset="-122"/>
                <a:cs typeface="Calibri" pitchFamily="34" charset="-120"/>
              </a:rPr>
              <a:t>  Above 10 dB they all stop near 91%: that limit is in the data, not the model.</a:t>
            </a:r>
            <a:endParaRPr lang="en-US" sz="1500" dirty="0"/>
          </a:p>
        </p:txBody>
      </p:sp>
      <p:sp>
        <p:nvSpPr>
          <p:cNvPr id="12" name="Text 7"/>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5B6B7F"/>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48640"/>
            <a:ext cx="7315200" cy="73152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In short</a:t>
            </a:r>
            <a:endParaRPr lang="en-US" sz="3600" dirty="0"/>
          </a:p>
        </p:txBody>
      </p:sp>
      <p:sp>
        <p:nvSpPr>
          <p:cNvPr id="3" name="Shape 1"/>
          <p:cNvSpPr/>
          <p:nvPr/>
        </p:nvSpPr>
        <p:spPr>
          <a:xfrm>
            <a:off x="548640" y="1600200"/>
            <a:ext cx="502920" cy="502920"/>
          </a:xfrm>
          <a:prstGeom prst="ellipse">
            <a:avLst/>
          </a:prstGeom>
          <a:solidFill>
            <a:srgbClr val="F08A24"/>
          </a:solidFill>
          <a:ln w="12700">
            <a:solidFill>
              <a:srgbClr val="F08A24"/>
            </a:solidFill>
            <a:prstDash val="solid"/>
          </a:ln>
        </p:spPr>
      </p:sp>
      <p:sp>
        <p:nvSpPr>
          <p:cNvPr id="4" name="Text 2"/>
          <p:cNvSpPr txBox="1"/>
          <p:nvPr/>
        </p:nvSpPr>
        <p:spPr>
          <a:xfrm>
            <a:off x="548640" y="160020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325880" y="155448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BPSK and QPSK are essentially solved. The mistakes are QAM16 against QAM64.</a:t>
            </a:r>
            <a:endParaRPr lang="en-US" sz="1700" dirty="0"/>
          </a:p>
        </p:txBody>
      </p:sp>
      <p:sp>
        <p:nvSpPr>
          <p:cNvPr id="6" name="Shape 4"/>
          <p:cNvSpPr/>
          <p:nvPr/>
        </p:nvSpPr>
        <p:spPr>
          <a:xfrm>
            <a:off x="548640" y="2788920"/>
            <a:ext cx="502920" cy="502920"/>
          </a:xfrm>
          <a:prstGeom prst="ellipse">
            <a:avLst/>
          </a:prstGeom>
          <a:solidFill>
            <a:srgbClr val="F08A24"/>
          </a:solidFill>
          <a:ln w="12700">
            <a:solidFill>
              <a:srgbClr val="F08A24"/>
            </a:solidFill>
            <a:prstDash val="solid"/>
          </a:ln>
        </p:spPr>
      </p:sp>
      <p:sp>
        <p:nvSpPr>
          <p:cNvPr id="7" name="Text 5"/>
          <p:cNvSpPr txBox="1"/>
          <p:nvPr/>
        </p:nvSpPr>
        <p:spPr>
          <a:xfrm>
            <a:off x="548640" y="278892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8" name="Text 6"/>
          <p:cNvSpPr txBox="1"/>
          <p:nvPr/>
        </p:nvSpPr>
        <p:spPr>
          <a:xfrm>
            <a:off x="1325880" y="274320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Those mistakes come from having only 16 symbols, not from noise: with 8 or 4 symbols they grow 2.7 and 4.3 times.</a:t>
            </a:r>
            <a:endParaRPr lang="en-US" sz="1700" dirty="0"/>
          </a:p>
        </p:txBody>
      </p:sp>
      <p:sp>
        <p:nvSpPr>
          <p:cNvPr id="9" name="Shape 7"/>
          <p:cNvSpPr/>
          <p:nvPr/>
        </p:nvSpPr>
        <p:spPr>
          <a:xfrm>
            <a:off x="548640" y="3977640"/>
            <a:ext cx="502920" cy="502920"/>
          </a:xfrm>
          <a:prstGeom prst="ellipse">
            <a:avLst/>
          </a:prstGeom>
          <a:solidFill>
            <a:srgbClr val="F08A24"/>
          </a:solidFill>
          <a:ln w="12700">
            <a:solidFill>
              <a:srgbClr val="F08A24"/>
            </a:solidFill>
            <a:prstDash val="solid"/>
          </a:ln>
        </p:spPr>
      </p:sp>
      <p:sp>
        <p:nvSpPr>
          <p:cNvPr id="10" name="Text 8"/>
          <p:cNvSpPr txBox="1"/>
          <p:nvPr/>
        </p:nvSpPr>
        <p:spPr>
          <a:xfrm>
            <a:off x="548640" y="3977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1" name="Text 9"/>
          <p:cNvSpPr txBox="1"/>
          <p:nvPr/>
        </p:nvSpPr>
        <p:spPr>
          <a:xfrm>
            <a:off x="1325880" y="3931920"/>
            <a:ext cx="6309360" cy="10058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“10 dB” in this data is a setting, not a measurement, and it means a different noise level for each kind of signal.</a:t>
            </a:r>
            <a:endParaRPr lang="en-US" sz="1700" dirty="0"/>
          </a:p>
        </p:txBody>
      </p:sp>
      <p:sp>
        <p:nvSpPr>
          <p:cNvPr id="12" name="Text 10"/>
          <p:cNvSpPr txBox="1"/>
          <p:nvPr/>
        </p:nvSpPr>
        <p:spPr>
          <a:xfrm>
            <a:off x="548640" y="5257800"/>
            <a:ext cx="7132320" cy="731520"/>
          </a:xfrm>
          <a:prstGeom prst="rect">
            <a:avLst/>
          </a:prstGeom>
          <a:noFill/>
          <a:ln/>
        </p:spPr>
        <p:txBody>
          <a:bodyPr wrap="square" lIns="0" tIns="0" rIns="0" bIns="0" rtlCol="0" anchor="t"/>
          <a:lstStyle/>
          <a:p>
            <a:pPr indent="0" marL="0">
              <a:buNone/>
            </a:pPr>
            <a:r>
              <a:rPr lang="en-US" sz="1400" b="1" dirty="0">
                <a:solidFill>
                  <a:srgbClr val="F08A24"/>
                </a:solidFill>
                <a:latin typeface="Calibri" pitchFamily="34" charset="0"/>
                <a:ea typeface="Calibri" pitchFamily="34" charset="-122"/>
                <a:cs typeface="Calibri" pitchFamily="34" charset="-120"/>
              </a:rPr>
              <a:t>Next: </a:t>
            </a:r>
            <a:pPr indent="0" marL="0">
              <a:buNone/>
            </a:pPr>
            <a:r>
              <a:rPr lang="en-US" sz="1400" dirty="0">
                <a:solidFill>
                  <a:srgbClr val="C9D3E0"/>
                </a:solidFill>
                <a:latin typeface="Calibri" pitchFamily="34" charset="0"/>
                <a:ea typeface="Calibri" pitchFamily="34" charset="-122"/>
                <a:cs typeface="Calibri" pitchFamily="34" charset="-120"/>
              </a:rPr>
              <a:t>switch off the carrier offset, fading and echoes one at a time, and see which one the QAM mistakes belong to.</a:t>
            </a:r>
            <a:endParaRPr lang="en-US" sz="1400" dirty="0"/>
          </a:p>
        </p:txBody>
      </p:sp>
      <p:pic>
        <p:nvPicPr>
          <p:cNvPr id="13" name="Image 0" descr="simple/fewer.png">    </p:cNvPr>
          <p:cNvPicPr>
            <a:picLocks noChangeAspect="1"/>
          </p:cNvPicPr>
          <p:nvPr/>
        </p:nvPicPr>
        <p:blipFill>
          <a:blip r:embed="rId1"/>
          <a:stretch>
            <a:fillRect/>
          </a:stretch>
        </p:blipFill>
        <p:spPr>
          <a:xfrm>
            <a:off x="7680960" y="1600200"/>
            <a:ext cx="3959352" cy="2733838"/>
          </a:xfrm>
          <a:prstGeom prst="rect">
            <a:avLst/>
          </a:prstGeom>
        </p:spPr>
      </p:pic>
      <p:sp>
        <p:nvSpPr>
          <p:cNvPr id="14" name="Text 11"/>
          <p:cNvSpPr txBox="1"/>
          <p:nvPr/>
        </p:nvSpPr>
        <p:spPr>
          <a:xfrm>
            <a:off x="7680960" y="4389120"/>
            <a:ext cx="3959352" cy="274320"/>
          </a:xfrm>
          <a:prstGeom prst="rect">
            <a:avLst/>
          </a:prstGeom>
          <a:noFill/>
          <a:ln/>
        </p:spPr>
        <p:txBody>
          <a:bodyPr wrap="square" lIns="0" tIns="0" rIns="0" bIns="0" rtlCol="0" anchor="t"/>
          <a:lstStyle/>
          <a:p>
            <a:pPr algn="ctr" indent="0" marL="0">
              <a:buNone/>
            </a:pPr>
            <a:r>
              <a:rPr lang="en-US" sz="1100" dirty="0">
                <a:solidFill>
                  <a:srgbClr val="9AA8BA"/>
                </a:solidFill>
                <a:latin typeface="Calibri" pitchFamily="34" charset="0"/>
                <a:ea typeface="Calibri" pitchFamily="34" charset="-122"/>
                <a:cs typeface="Calibri" pitchFamily="34" charset="-120"/>
              </a:rPr>
              <a:t>QAM16 and QAM64 with 16, 8 and 4 symbols</a:t>
            </a:r>
            <a:endParaRPr lang="en-US" sz="1100" dirty="0"/>
          </a:p>
        </p:txBody>
      </p:sp>
      <p:sp>
        <p:nvSpPr>
          <p:cNvPr id="16" name="Text 12"/>
          <p:cNvSpPr txBox="1"/>
          <p:nvPr/>
        </p:nvSpPr>
        <p:spPr>
          <a:xfrm>
            <a:off x="11274552" y="6446520"/>
            <a:ext cx="365760" cy="228600"/>
          </a:xfrm>
          <a:prstGeom prst="rect">
            <a:avLst/>
          </a:prstGeom>
          <a:noFill/>
          <a:ln/>
        </p:spPr>
        <p:txBody>
          <a:bodyPr wrap="square" lIns="0" tIns="0" rIns="0" bIns="0" rtlCol="0" anchor="t"/>
          <a:lstStyle/>
          <a:p>
            <a:pPr algn="r" indent="0" marL="0">
              <a:buNone/>
            </a:pPr>
            <a:r>
              <a:rPr lang="en-US" sz="1000" dirty="0">
                <a:solidFill>
                  <a:srgbClr val="8FA0B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Telling four radio signals apart</dc:title>
  <dc:subject>PptxGenJS Presentation</dc:subject>
  <dc:creator>Yusuf Bilal Cetinkaya</dc:creator>
  <cp:lastModifiedBy>Yusuf Bilal Cetinkaya</cp:lastModifiedBy>
  <cp:revision>1</cp:revision>
  <dcterms:created xsi:type="dcterms:W3CDTF">2026-10-06T19:51:07Z</dcterms:created>
  <dcterms:modified xsi:type="dcterms:W3CDTF">2026-10-06T19:51:07Z</dcterms:modified>
</cp:coreProperties>
</file>