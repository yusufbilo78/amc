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wrong of 8,400</c:v>
                </c:pt>
              </c:strCache>
            </c:strRef>
          </c:tx>
          <c:spPr>
            <a:solidFill>
              <a:srgbClr val="0F1B2D"/>
            </a:solidFill>
            <a:effectLst/>
          </c:spPr>
          <c:invertIfNegative val="0"/>
          <c:dLbls>
            <c:numFmt formatCode="#,##0" sourceLinked="0"/>
            <c:txPr>
              <a:bodyPr/>
              <a:lstStyle/>
              <a:p>
                <a:pPr>
                  <a:defRPr b="0" i="0" strike="noStrike" sz="1300" u="none">
                    <a:solidFill>
                      <a:srgbClr val="1E293B"/>
                    </a:solidFill>
                    <a:latin typeface="Calibri"/>
                  </a:defRPr>
                </a:pPr>
              </a:p>
            </c:txPr>
            <c:showLegendKey val="0"/>
            <c:showVal val="1"/>
            <c:showCatName val="0"/>
            <c:showSerName val="0"/>
            <c:showPercent val="0"/>
            <c:showBubbleSize val="0"/>
            <c:showLeaderLines val="0"/>
          </c:dLbls>
          <c:dPt>
            <c:idx val="0"/>
            <c:invertIfNegative val="0"/>
            <c:bubble3D val="0"/>
            <c:spPr>
              <a:solidFill>
                <a:srgbClr val="0F1B2D"/>
              </a:solidFill>
              <a:effectLst/>
            </c:spPr>
          </c:dPt>
          <c:dPt>
            <c:idx val="1"/>
            <c:invertIfNegative val="0"/>
            <c:bubble3D val="0"/>
            <c:spPr>
              <a:solidFill>
                <a:srgbClr val="0F1B2D"/>
              </a:solidFill>
              <a:effectLst/>
            </c:spPr>
          </c:dPt>
          <c:dPt>
            <c:idx val="2"/>
            <c:invertIfNegative val="0"/>
            <c:bubble3D val="0"/>
            <c:spPr>
              <a:solidFill>
                <a:srgbClr val="0F1B2D"/>
              </a:solidFill>
              <a:effectLst/>
            </c:spPr>
          </c:dPt>
          <c:dPt>
            <c:idx val="3"/>
            <c:invertIfNegative val="0"/>
            <c:bubble3D val="0"/>
            <c:spPr>
              <a:solidFill>
                <a:srgbClr val="0F1B2D"/>
              </a:solidFill>
              <a:effectLst/>
            </c:spPr>
          </c:dPt>
          <c:dPt>
            <c:idx val="4"/>
            <c:invertIfNegative val="0"/>
            <c:bubble3D val="0"/>
            <c:spPr>
              <a:solidFill>
                <a:srgbClr val="F08A24"/>
              </a:solidFill>
              <a:effectLst/>
            </c:spPr>
          </c:dPt>
          <c:dPt>
            <c:idx val="5"/>
            <c:invertIfNegative val="0"/>
            <c:bubble3D val="0"/>
            <c:spPr>
              <a:solidFill>
                <a:srgbClr val="F08A24"/>
              </a:solidFill>
              <a:effectLst/>
            </c:spPr>
          </c:dPt>
          <c:dPt>
            <c:idx val="6"/>
            <c:invertIfNegative val="0"/>
            <c:bubble3D val="0"/>
            <c:spPr>
              <a:solidFill>
                <a:srgbClr val="F08A24"/>
              </a:solidFill>
              <a:effectLst/>
            </c:spPr>
          </c:dPt>
          <c:dPt>
            <c:idx val="7"/>
            <c:invertIfNegative val="0"/>
            <c:bubble3D val="0"/>
            <c:spPr>
              <a:solidFill>
                <a:srgbClr val="F08A24"/>
              </a:solidFill>
              <a:effectLst/>
            </c:spPr>
          </c:dPt>
          <c:cat>
            <c:multiLvlStrRef>
              <c:f>Sheet1!$A$2:$A$9</c:f>
              <c:multiLvlStrCache>
                <c:ptCount val="8"/>
                <c:lvl>
                  <c:pt idx="0">
                    <c:v>+10 dB</c:v>
                  </c:pt>
                  <c:pt idx="1">
                    <c:v>+6 dB</c:v>
                  </c:pt>
                  <c:pt idx="2">
                    <c:v>+4 dB</c:v>
                  </c:pt>
                  <c:pt idx="3">
                    <c:v>+2 dB</c:v>
                  </c:pt>
                  <c:pt idx="4">
                    <c:v>0 dB</c:v>
                  </c:pt>
                  <c:pt idx="5">
                    <c:v>-2 dB</c:v>
                  </c:pt>
                  <c:pt idx="6">
                    <c:v>-4 dB</c:v>
                  </c:pt>
                  <c:pt idx="7">
                    <c:v>-6 dB</c:v>
                  </c:pt>
                </c:lvl>
              </c:multiLvlStrCache>
            </c:multiLvlStrRef>
          </c:cat>
          <c:val>
            <c:numRef>
              <c:f>Sheet1!$B$2:$B$9</c:f>
              <c:numCache>
                <c:formatCode>General</c:formatCode>
                <c:ptCount val="8"/>
                <c:pt idx="0">
                  <c:v>448</c:v>
                </c:pt>
                <c:pt idx="1">
                  <c:v>473</c:v>
                </c:pt>
                <c:pt idx="2">
                  <c:v>453</c:v>
                </c:pt>
                <c:pt idx="3">
                  <c:v>486</c:v>
                </c:pt>
                <c:pt idx="4">
                  <c:v>609</c:v>
                </c:pt>
                <c:pt idx="5">
                  <c:v>1042</c:v>
                </c:pt>
                <c:pt idx="6">
                  <c:v>2174</c:v>
                </c:pt>
                <c:pt idx="7">
                  <c:v>2842</c:v>
                </c:pt>
              </c:numCache>
            </c:numRef>
          </c:val>
        </c:ser>
        <c:dLbls>
          <c:numFmt formatCode="#,##0" sourceLinked="0"/>
          <c:txPr>
            <a:bodyPr/>
            <a:lstStyle/>
            <a:p>
              <a:pPr>
                <a:defRPr b="0" i="0" strike="noStrike" sz="1300" u="none">
                  <a:solidFill>
                    <a:srgbClr val="1E293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E293B"/>
                </a:solidFill>
                <a:latin typeface="Calibri"/>
              </a:defRPr>
            </a:pPr>
            <a:endParaRPr lang="en-US"/>
          </a:p>
        </c:txPr>
        <c:crossAx val="2094734552"/>
        <c:crosses val="autoZero"/>
        <c:auto val="1"/>
        <c:lblAlgn val="ctr"/>
        <c:noMultiLvlLbl val="1"/>
      </c:catAx>
      <c:valAx>
        <c:axId val="2094734552"/>
        <c:scaling>
          <c:orientation val="minMax"/>
          <c:max val="3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16 symbols</c:v>
                </c:pt>
              </c:strCache>
            </c:strRef>
          </c:tx>
          <c:spPr>
            <a:solidFill>
              <a:srgbClr val="0F1B2D"/>
            </a:solidFill>
            <a:ln w="31750" cap="flat">
              <a:solidFill>
                <a:srgbClr val="0F1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F1B2D"/>
              </a:solidFill>
              <a:ln w="9525" cap="flat">
                <a:solidFill>
                  <a:srgbClr val="0F1B2D"/>
                </a:solidFill>
                <a:prstDash val="solid"/>
                <a:round/>
              </a:ln>
              <a:effectLst/>
            </c:spPr>
          </c:marker>
          <c:cat>
            <c:multiLvlStrRef>
              <c:f>Sheet1!$A$2:$A$21</c:f>
              <c:multiLvlStrCache>
                <c:ptCount val="20"/>
                <c:lvl>
                  <c:pt idx="0">
                    <c:v>-20</c:v>
                  </c:pt>
                  <c:pt idx="1">
                    <c:v>-18</c:v>
                  </c:pt>
                  <c:pt idx="2">
                    <c:v>-16</c:v>
                  </c:pt>
                  <c:pt idx="3">
                    <c:v>-14</c:v>
                  </c:pt>
                  <c:pt idx="4">
                    <c:v>-12</c:v>
                  </c:pt>
                  <c:pt idx="5">
                    <c:v>-10</c:v>
                  </c:pt>
                  <c:pt idx="6">
                    <c:v>-8</c:v>
                  </c:pt>
                  <c:pt idx="7">
                    <c:v>-6</c:v>
                  </c:pt>
                  <c:pt idx="8">
                    <c:v>-4</c:v>
                  </c:pt>
                  <c:pt idx="9">
                    <c:v>-2</c:v>
                  </c:pt>
                  <c:pt idx="10">
                    <c:v>0</c:v>
                  </c:pt>
                  <c:pt idx="11">
                    <c:v>2</c:v>
                  </c:pt>
                  <c:pt idx="12">
                    <c:v>4</c:v>
                  </c:pt>
                  <c:pt idx="13">
                    <c:v>6</c:v>
                  </c:pt>
                  <c:pt idx="14">
                    <c:v>8</c:v>
                  </c:pt>
                  <c:pt idx="15">
                    <c:v>10</c:v>
                  </c:pt>
                  <c:pt idx="16">
                    <c:v>12</c:v>
                  </c:pt>
                  <c:pt idx="17">
                    <c:v>14</c:v>
                  </c:pt>
                  <c:pt idx="18">
                    <c:v>16</c:v>
                  </c:pt>
                  <c:pt idx="19">
                    <c:v>18</c:v>
                  </c:pt>
                </c:lvl>
              </c:multiLvlStrCache>
            </c:multiLvlStrRef>
          </c:cat>
          <c:val>
            <c:numRef>
              <c:f>Sheet1!$B$2:$B$21</c:f>
              <c:numCache>
                <c:formatCode>General</c:formatCode>
                <c:ptCount val="20"/>
                <c:pt idx="0">
                  <c:v>74.9</c:v>
                </c:pt>
                <c:pt idx="1">
                  <c:v>74.5</c:v>
                </c:pt>
                <c:pt idx="2">
                  <c:v>72.5</c:v>
                </c:pt>
                <c:pt idx="3">
                  <c:v>68</c:v>
                </c:pt>
                <c:pt idx="4">
                  <c:v>61.1</c:v>
                </c:pt>
                <c:pt idx="5">
                  <c:v>55.6</c:v>
                </c:pt>
                <c:pt idx="6">
                  <c:v>46.4</c:v>
                </c:pt>
                <c:pt idx="7">
                  <c:v>33.8</c:v>
                </c:pt>
                <c:pt idx="8">
                  <c:v>25.9</c:v>
                </c:pt>
                <c:pt idx="9">
                  <c:v>12.4</c:v>
                </c:pt>
                <c:pt idx="10">
                  <c:v>7.3</c:v>
                </c:pt>
                <c:pt idx="11">
                  <c:v>5.8</c:v>
                </c:pt>
                <c:pt idx="12">
                  <c:v>5.4</c:v>
                </c:pt>
                <c:pt idx="13">
                  <c:v>5.6</c:v>
                </c:pt>
                <c:pt idx="14">
                  <c:v>5.9</c:v>
                </c:pt>
                <c:pt idx="15">
                  <c:v>5.3</c:v>
                </c:pt>
                <c:pt idx="16">
                  <c:v>5.8</c:v>
                </c:pt>
                <c:pt idx="17">
                  <c:v>6.2</c:v>
                </c:pt>
                <c:pt idx="18">
                  <c:v>5.6</c:v>
                </c:pt>
                <c:pt idx="19">
                  <c:v>6</c:v>
                </c:pt>
              </c:numCache>
            </c:numRef>
          </c:val>
          <c:smooth val="0"/>
        </c:ser>
        <c:ser>
          <c:idx val="1"/>
          <c:order val="1"/>
          <c:tx>
            <c:strRef>
              <c:f>Sheet1!$C$1</c:f>
              <c:strCache>
                <c:ptCount val="1"/>
                <c:pt idx="0">
                  <c:v>8 symbols</c:v>
                </c:pt>
              </c:strCache>
            </c:strRef>
          </c:tx>
          <c:spPr>
            <a:solidFill>
              <a:srgbClr val="F08A24"/>
            </a:solidFill>
            <a:ln w="31750" cap="flat">
              <a:solidFill>
                <a:srgbClr val="F08A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08A24"/>
              </a:solidFill>
              <a:ln w="9525" cap="flat">
                <a:solidFill>
                  <a:srgbClr val="F08A24"/>
                </a:solidFill>
                <a:prstDash val="solid"/>
                <a:round/>
              </a:ln>
              <a:effectLst/>
            </c:spPr>
          </c:marker>
          <c:cat>
            <c:multiLvlStrRef>
              <c:f>Sheet1!$A$2:$A$21</c:f>
              <c:multiLvlStrCache>
                <c:ptCount val="20"/>
                <c:lvl>
                  <c:pt idx="0">
                    <c:v>-20</c:v>
                  </c:pt>
                  <c:pt idx="1">
                    <c:v>-18</c:v>
                  </c:pt>
                  <c:pt idx="2">
                    <c:v>-16</c:v>
                  </c:pt>
                  <c:pt idx="3">
                    <c:v>-14</c:v>
                  </c:pt>
                  <c:pt idx="4">
                    <c:v>-12</c:v>
                  </c:pt>
                  <c:pt idx="5">
                    <c:v>-10</c:v>
                  </c:pt>
                  <c:pt idx="6">
                    <c:v>-8</c:v>
                  </c:pt>
                  <c:pt idx="7">
                    <c:v>-6</c:v>
                  </c:pt>
                  <c:pt idx="8">
                    <c:v>-4</c:v>
                  </c:pt>
                  <c:pt idx="9">
                    <c:v>-2</c:v>
                  </c:pt>
                  <c:pt idx="10">
                    <c:v>0</c:v>
                  </c:pt>
                  <c:pt idx="11">
                    <c:v>2</c:v>
                  </c:pt>
                  <c:pt idx="12">
                    <c:v>4</c:v>
                  </c:pt>
                  <c:pt idx="13">
                    <c:v>6</c:v>
                  </c:pt>
                  <c:pt idx="14">
                    <c:v>8</c:v>
                  </c:pt>
                  <c:pt idx="15">
                    <c:v>10</c:v>
                  </c:pt>
                  <c:pt idx="16">
                    <c:v>12</c:v>
                  </c:pt>
                  <c:pt idx="17">
                    <c:v>14</c:v>
                  </c:pt>
                  <c:pt idx="18">
                    <c:v>16</c:v>
                  </c:pt>
                  <c:pt idx="19">
                    <c:v>18</c:v>
                  </c:pt>
                </c:lvl>
              </c:multiLvlStrCache>
            </c:multiLvlStrRef>
          </c:cat>
          <c:val>
            <c:numRef>
              <c:f>Sheet1!$C$2:$C$21</c:f>
              <c:numCache>
                <c:formatCode>General</c:formatCode>
                <c:ptCount val="20"/>
                <c:pt idx="0">
                  <c:v>74.5</c:v>
                </c:pt>
                <c:pt idx="1">
                  <c:v>74.7</c:v>
                </c:pt>
                <c:pt idx="2">
                  <c:v>73.9</c:v>
                </c:pt>
                <c:pt idx="3">
                  <c:v>71.5</c:v>
                </c:pt>
                <c:pt idx="4">
                  <c:v>64.9</c:v>
                </c:pt>
                <c:pt idx="5">
                  <c:v>58.3</c:v>
                </c:pt>
                <c:pt idx="6">
                  <c:v>51.4</c:v>
                </c:pt>
                <c:pt idx="7">
                  <c:v>42.3</c:v>
                </c:pt>
                <c:pt idx="8">
                  <c:v>34.7</c:v>
                </c:pt>
                <c:pt idx="9">
                  <c:v>24.5</c:v>
                </c:pt>
                <c:pt idx="10">
                  <c:v>17.7</c:v>
                </c:pt>
                <c:pt idx="11">
                  <c:v>15.2</c:v>
                </c:pt>
                <c:pt idx="12">
                  <c:v>15.9</c:v>
                </c:pt>
                <c:pt idx="13">
                  <c:v>15.7</c:v>
                </c:pt>
                <c:pt idx="14">
                  <c:v>16</c:v>
                </c:pt>
                <c:pt idx="15">
                  <c:v>15</c:v>
                </c:pt>
                <c:pt idx="16">
                  <c:v>15.5</c:v>
                </c:pt>
                <c:pt idx="17">
                  <c:v>15.8</c:v>
                </c:pt>
                <c:pt idx="18">
                  <c:v>15.3</c:v>
                </c:pt>
                <c:pt idx="19">
                  <c:v>15.2</c:v>
                </c:pt>
              </c:numCache>
            </c:numRef>
          </c:val>
          <c:smooth val="0"/>
        </c:ser>
        <c:ser>
          <c:idx val="2"/>
          <c:order val="2"/>
          <c:tx>
            <c:strRef>
              <c:f>Sheet1!$D$1</c:f>
              <c:strCache>
                <c:ptCount val="1"/>
                <c:pt idx="0">
                  <c:v>4 symbols</c:v>
                </c:pt>
              </c:strCache>
            </c:strRef>
          </c:tx>
          <c:spPr>
            <a:solidFill>
              <a:srgbClr val="8FA0B5"/>
            </a:solidFill>
            <a:ln w="31750" cap="flat">
              <a:solidFill>
                <a:srgbClr val="8FA0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FA0B5"/>
              </a:solidFill>
              <a:ln w="9525" cap="flat">
                <a:solidFill>
                  <a:srgbClr val="8FA0B5"/>
                </a:solidFill>
                <a:prstDash val="solid"/>
                <a:round/>
              </a:ln>
              <a:effectLst/>
            </c:spPr>
          </c:marker>
          <c:cat>
            <c:multiLvlStrRef>
              <c:f>Sheet1!$A$2:$A$21</c:f>
              <c:multiLvlStrCache>
                <c:ptCount val="20"/>
                <c:lvl>
                  <c:pt idx="0">
                    <c:v>-20</c:v>
                  </c:pt>
                  <c:pt idx="1">
                    <c:v>-18</c:v>
                  </c:pt>
                  <c:pt idx="2">
                    <c:v>-16</c:v>
                  </c:pt>
                  <c:pt idx="3">
                    <c:v>-14</c:v>
                  </c:pt>
                  <c:pt idx="4">
                    <c:v>-12</c:v>
                  </c:pt>
                  <c:pt idx="5">
                    <c:v>-10</c:v>
                  </c:pt>
                  <c:pt idx="6">
                    <c:v>-8</c:v>
                  </c:pt>
                  <c:pt idx="7">
                    <c:v>-6</c:v>
                  </c:pt>
                  <c:pt idx="8">
                    <c:v>-4</c:v>
                  </c:pt>
                  <c:pt idx="9">
                    <c:v>-2</c:v>
                  </c:pt>
                  <c:pt idx="10">
                    <c:v>0</c:v>
                  </c:pt>
                  <c:pt idx="11">
                    <c:v>2</c:v>
                  </c:pt>
                  <c:pt idx="12">
                    <c:v>4</c:v>
                  </c:pt>
                  <c:pt idx="13">
                    <c:v>6</c:v>
                  </c:pt>
                  <c:pt idx="14">
                    <c:v>8</c:v>
                  </c:pt>
                  <c:pt idx="15">
                    <c:v>10</c:v>
                  </c:pt>
                  <c:pt idx="16">
                    <c:v>12</c:v>
                  </c:pt>
                  <c:pt idx="17">
                    <c:v>14</c:v>
                  </c:pt>
                  <c:pt idx="18">
                    <c:v>16</c:v>
                  </c:pt>
                  <c:pt idx="19">
                    <c:v>18</c:v>
                  </c:pt>
                </c:lvl>
              </c:multiLvlStrCache>
            </c:multiLvlStrRef>
          </c:cat>
          <c:val>
            <c:numRef>
              <c:f>Sheet1!$D$2:$D$21</c:f>
              <c:numCache>
                <c:formatCode>General</c:formatCode>
                <c:ptCount val="20"/>
                <c:pt idx="0">
                  <c:v>75.9</c:v>
                </c:pt>
                <c:pt idx="1">
                  <c:v>74.8</c:v>
                </c:pt>
                <c:pt idx="2">
                  <c:v>74.7</c:v>
                </c:pt>
                <c:pt idx="3">
                  <c:v>72.2</c:v>
                </c:pt>
                <c:pt idx="4">
                  <c:v>68.3</c:v>
                </c:pt>
                <c:pt idx="5">
                  <c:v>63.3</c:v>
                </c:pt>
                <c:pt idx="6">
                  <c:v>56.8</c:v>
                </c:pt>
                <c:pt idx="7">
                  <c:v>50.9</c:v>
                </c:pt>
                <c:pt idx="8">
                  <c:v>45</c:v>
                </c:pt>
                <c:pt idx="9">
                  <c:v>37.9</c:v>
                </c:pt>
                <c:pt idx="10">
                  <c:v>28.8</c:v>
                </c:pt>
                <c:pt idx="11">
                  <c:v>26</c:v>
                </c:pt>
                <c:pt idx="12">
                  <c:v>25.4</c:v>
                </c:pt>
                <c:pt idx="13">
                  <c:v>24.9</c:v>
                </c:pt>
                <c:pt idx="14">
                  <c:v>26.1</c:v>
                </c:pt>
                <c:pt idx="15">
                  <c:v>25</c:v>
                </c:pt>
                <c:pt idx="16">
                  <c:v>24</c:v>
                </c:pt>
                <c:pt idx="17">
                  <c:v>24.7</c:v>
                </c:pt>
                <c:pt idx="18">
                  <c:v>24.7</c:v>
                </c:pt>
                <c:pt idx="19">
                  <c:v>25.8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B7F"/>
                    </a:solidFill>
                    <a:latin typeface="Arial"/>
                  </a:defRPr>
                </a:pPr>
                <a:r>
                  <a:rPr sz="1100" b="0" i="0" u="none" strike="noStrike">
                    <a:solidFill>
                      <a:srgbClr val="5B6B7F"/>
                    </a:solidFill>
                    <a:latin typeface="Arial"/>
                  </a:rPr>
                  <a:t>label (dB)</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E3E8EE"/>
              </a:solidFill>
              <a:prstDash val="solid"/>
              <a:round/>
            </a:ln>
          </c:spPr>
        </c:majorGridlines>
        <c:title>
          <c:tx>
            <c:rich>
              <a:bodyPr/>
              <a:lstStyle/>
              <a:p>
                <a:pPr>
                  <a:defRPr sz="1100" b="0" i="0" u="none" strike="noStrike">
                    <a:solidFill>
                      <a:srgbClr val="5B6B7F"/>
                    </a:solidFill>
                    <a:latin typeface="Arial"/>
                  </a:defRPr>
                </a:pPr>
                <a:r>
                  <a:rPr sz="1100" b="0" i="0" u="none" strike="noStrike">
                    <a:solidFill>
                      <a:srgbClr val="5B6B7F"/>
                    </a:solidFill>
                    <a:latin typeface="Arial"/>
                  </a:rPr>
                  <a:t>% wrong</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Arial"/>
              </a:defRPr>
            </a:pPr>
            <a:endParaRPr lang="en-US"/>
          </a:p>
        </c:txPr>
        <c:crossAx val="2094734554"/>
        <c:crosses val="autoZero"/>
        <c:crossBetween val="between"/>
        <c:majorUnit val="20"/>
      </c:valAx>
      <c:spPr>
        <a:noFill/>
        <a:ln>
          <a:noFill/>
        </a:ln>
        <a:effectLst/>
      </c:spPr>
    </c:plotArea>
    <c:legend>
      <c:legendPos val="t"/>
      <c:overlay val="0"/>
      <c:txPr>
        <a:bodyPr/>
        <a:lstStyle/>
        <a:p>
          <a:pPr>
            <a:defRPr sz="1200">
              <a:solidFill>
                <a:srgbClr val="1E293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show what our detector does, step by step, on the four signals you asked about: BPSK, QPSK, QAM16 and QAM64. On the right is one QAM16 frame: sixteen symbols, and you can watch them spread out as the noise grows. Everything is on the RML2016.10a dataset, the one the group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detector is given 128 samples of a radio signal and has to say which of the four it is. It works in three steps. First it looks at short pieces of the frame, about one and a half symbols each, so the frame becomes 32 pieces. Second, it reads those pieces in order, forwards and backwards, so that each piece knows about the whole frame. Third, it takes a weighted average of the 32 pieces and turns it into four scores; the largest score is the answer. In total it has 785 thousand numbers that it learns, and 84 percent of them are in the second step. Once trained, nothing in it is random: the same frame always gets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came from. The design is from a 2025 paper; the model is called ICRNNA. A colleague re-implemented that paper, and our code is copied from their version, which differs from the paper in five small places. To check that the paper's number is real, I rebuilt the model from the paper alone and trained it until it stopped improving: 63.21 percent against the paper's 63.24. And to be clear about the tools: the code, the plots and these slides were written with Claude Code, an AI coding assistant. Every number comes from running that code on a GPU, and what to test was my choice. [Say here who the colleague is and how the work before September was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experiment on one slide. Input: the RML2016.10a dataset, made by DeepSig in a simulator: four kinds of signal, twenty noise levels, a thousand frames each. One frame is 128 samples, which is 16 symbols. The detector learns on 70 percent of the frames, uses 15 percent to decide when to stop learning, and is tested on the last 15 percent, which it never saw. I repeated this 14 times with a different split each time. Output: at 10 dB and above it is right 94.2 percent of the time, over 42,000 test decisions. BPSK and QPSK are right 99.6 percent of the time. At minus 20 dB it is at 25 percent, which with four choices is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what the detector actually sees. This is one QAM16 frame, drawn without noise. The orange line is the in-phase part, the blue line the quadrature part. Every 8 samples there is one symbol, the dots, and each dot sits on minus 3, minus 1, 1 or 3. That pattern is what makes it QAM16. On the right are the 16 symbols of one frame for each kind, drawn on all the points that kind can use. QAM64 has 64 points, but a frame only has 16 symbols, so it can show at most 16 of them. A QAM64 frame can look like QAM16 even with no noise at all. Keep that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the noise. You asked what 10 dB is the ratio of. The dataset was made by DeepSig in a simulator. In their code, the label sets exactly one number: the noise amplitude, 10 to the minus label over 10. Besides noise, every frame also gets a carrier offset, a clock offset, fading and echoes, at every noise level, even the best one. I did not want to rely on their code, so I measured the noise in the file itself: the signal sits in the middle of the spectrum, and outside it there is only noise. Two findings. One dB of label is about 1.9 dB of real change, so the label moves twice as fast as its name. And at the same label, QAM64 frames have about 15 dB more signal than BPSK and QPSK frames. So 10 dB here is a setting, not a measurement, and it means a different noise level for each kind of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at one noise level, 10 dB. 8,400 test frames. Each row is what was sent, each column what the detector said. Recall is a row: of the frames that were QPSK, how many it called QPSK. Precision is a column: of the frames it called QPSK, how many really were. BPSK and QPSK are at 99.6 percent. 448 frames out of 8,400 are wrong, and 395 of those are QAM16 and QAM64 mixed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as you asked, turn the noise up. These bars are the number of wrong answers out of 8,400 at each label. From 10 dB down to 2 dB it stays at about 450 to 490: the same box every time. Below 0 dB it starts to break, and QPSK is the first to slip, into the QAMs. So the mistakes we have at 10 dB are not caused by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cause them? Frame length. I cut every frame to 64 samples, which is 8 symbols, and to 32 samples, 4 symbols, and trained again. The curves fall at about the same noise level, but they flatten at different heights: 5.7 percent wrong with 16 symbols, 15.5 with 8, 25.2 with 4. On the right: with fewer symbols you see fewer points of the grid, and QAM16 and QAM64 become harder to tell apart. More signal does not fix this; more symbols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we found. At minus 20 dB there is no signal at all, but the detector still has to name one of the four. QPSK recall there is 52 percent, which looks like it recognises QPSK. It does not: of all the frames it calls QPSK, only 25 percent are QPSK, which is a guess. It sends almost everything, 98.8 percent, to BPSK or QPSK, and which of the two changes from one training run to the next. That is why every chart now shows precision next to recall, and how many decisions each point is based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BPSK and QPSK are essentially solved; the mistakes are QAM16 against QAM64. Those mistakes come from having only 16 symbols, not from noise: with 8 or 4 symbols they grow 2.7 and 4.3 times. And 10 dB in this dataset is a setting, not a measurement. Next, I want to switch off the carrier offset, the fading and the echoes one at a time and see which one the QAM mistakes belong to.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1143000"/>
            <a:ext cx="6400800" cy="320040"/>
          </a:xfrm>
          <a:prstGeom prst="rect">
            <a:avLst/>
          </a:prstGeom>
          <a:noFill/>
          <a:ln/>
        </p:spPr>
        <p:txBody>
          <a:bodyPr wrap="square" lIns="0" tIns="0" rIns="0" bIns="0" rtlCol="0" anchor="t"/>
          <a:lstStyle/>
          <a:p>
            <a:pPr indent="0" marL="0">
              <a:buNone/>
            </a:pPr>
            <a:r>
              <a:rPr lang="en-US" sz="1300" b="1" spc="400" kern="0" dirty="0">
                <a:solidFill>
                  <a:srgbClr val="F08A24"/>
                </a:solidFill>
                <a:latin typeface="Calibri" pitchFamily="34" charset="0"/>
                <a:ea typeface="Calibri" pitchFamily="34" charset="-122"/>
                <a:cs typeface="Calibri" pitchFamily="34" charset="-120"/>
              </a:rPr>
              <a:t>AMC  ·  DATA FUSION LAB</a:t>
            </a:r>
            <a:endParaRPr lang="en-US" sz="1300" dirty="0"/>
          </a:p>
        </p:txBody>
      </p:sp>
      <p:sp>
        <p:nvSpPr>
          <p:cNvPr id="3" name="Text 1"/>
          <p:cNvSpPr txBox="1"/>
          <p:nvPr/>
        </p:nvSpPr>
        <p:spPr>
          <a:xfrm>
            <a:off x="548640" y="1554480"/>
            <a:ext cx="6583680" cy="155448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Telling four radio signals apart</a:t>
            </a:r>
            <a:endParaRPr lang="en-US" sz="4200" dirty="0"/>
          </a:p>
        </p:txBody>
      </p:sp>
      <p:sp>
        <p:nvSpPr>
          <p:cNvPr id="4" name="Text 2"/>
          <p:cNvSpPr txBox="1"/>
          <p:nvPr/>
        </p:nvSpPr>
        <p:spPr>
          <a:xfrm>
            <a:off x="548640" y="3246120"/>
            <a:ext cx="6400800" cy="457200"/>
          </a:xfrm>
          <a:prstGeom prst="rect">
            <a:avLst/>
          </a:prstGeom>
          <a:noFill/>
          <a:ln/>
        </p:spPr>
        <p:txBody>
          <a:bodyPr wrap="square" lIns="0" tIns="0" rIns="0" bIns="0" rtlCol="0" anchor="t"/>
          <a:lstStyle/>
          <a:p>
            <a:pPr indent="0" marL="0">
              <a:buNone/>
            </a:pPr>
            <a:r>
              <a:rPr lang="en-US" sz="2000" dirty="0">
                <a:solidFill>
                  <a:srgbClr val="C9D3E0"/>
                </a:solidFill>
                <a:latin typeface="Calibri" pitchFamily="34" charset="0"/>
                <a:ea typeface="Calibri" pitchFamily="34" charset="-122"/>
                <a:cs typeface="Calibri" pitchFamily="34" charset="-120"/>
              </a:rPr>
              <a:t>What our detector does, step by step</a:t>
            </a:r>
            <a:endParaRPr lang="en-US" sz="2000" dirty="0"/>
          </a:p>
        </p:txBody>
      </p:sp>
      <p:sp>
        <p:nvSpPr>
          <p:cNvPr id="5" name="Text 3"/>
          <p:cNvSpPr txBox="1"/>
          <p:nvPr/>
        </p:nvSpPr>
        <p:spPr>
          <a:xfrm>
            <a:off x="548640" y="3840480"/>
            <a:ext cx="64008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BPSK  ·  QPSK  ·  QAM16  ·  QAM64</a:t>
            </a:r>
            <a:endParaRPr lang="en-US" sz="1600" dirty="0"/>
          </a:p>
        </p:txBody>
      </p:sp>
      <p:pic>
        <p:nvPicPr>
          <p:cNvPr id="6" name="Image 0" descr="simple/noise.gif">    </p:cNvPr>
          <p:cNvPicPr>
            <a:picLocks noChangeAspect="1"/>
          </p:cNvPicPr>
          <p:nvPr/>
        </p:nvPicPr>
        <p:blipFill>
          <a:blip r:embed="rId1"/>
          <a:stretch>
            <a:fillRect/>
          </a:stretch>
        </p:blipFill>
        <p:spPr>
          <a:xfrm>
            <a:off x="7635240" y="914400"/>
            <a:ext cx="3657600" cy="3931920"/>
          </a:xfrm>
          <a:prstGeom prst="rect">
            <a:avLst/>
          </a:prstGeom>
        </p:spPr>
      </p:pic>
      <p:sp>
        <p:nvSpPr>
          <p:cNvPr id="7" name="Text 4"/>
          <p:cNvSpPr txBox="1"/>
          <p:nvPr/>
        </p:nvSpPr>
        <p:spPr>
          <a:xfrm>
            <a:off x="7635240" y="4937760"/>
            <a:ext cx="3657600" cy="320040"/>
          </a:xfrm>
          <a:prstGeom prst="rect">
            <a:avLst/>
          </a:prstGeom>
          <a:noFill/>
          <a:ln/>
        </p:spPr>
        <p:txBody>
          <a:bodyPr wrap="square" lIns="0" tIns="0" rIns="0" bIns="0" rtlCol="0" anchor="t"/>
          <a:lstStyle/>
          <a:p>
            <a:pPr algn="ctr" indent="0" marL="0">
              <a:buNone/>
            </a:pPr>
            <a:r>
              <a:rPr lang="en-US" sz="1100" dirty="0">
                <a:solidFill>
                  <a:srgbClr val="9AA8BA"/>
                </a:solidFill>
                <a:latin typeface="Calibri" pitchFamily="34" charset="0"/>
                <a:ea typeface="Calibri" pitchFamily="34" charset="-122"/>
                <a:cs typeface="Calibri" pitchFamily="34" charset="-120"/>
              </a:rPr>
              <a:t>16 symbols of one QAM16 frame, as the noise grows</a:t>
            </a:r>
            <a:endParaRPr lang="en-US" sz="1100" dirty="0"/>
          </a:p>
        </p:txBody>
      </p:sp>
      <p:sp>
        <p:nvSpPr>
          <p:cNvPr id="8" name="Text 5"/>
          <p:cNvSpPr txBox="1"/>
          <p:nvPr/>
        </p:nvSpPr>
        <p:spPr>
          <a:xfrm>
            <a:off x="548640" y="6035040"/>
            <a:ext cx="8229600" cy="274320"/>
          </a:xfrm>
          <a:prstGeom prst="rect">
            <a:avLst/>
          </a:prstGeom>
          <a:noFill/>
          <a:ln/>
        </p:spPr>
        <p:txBody>
          <a:bodyPr wrap="square" lIns="0" tIns="0" rIns="0" bIns="0" rtlCol="0" anchor="t"/>
          <a:lstStyle/>
          <a:p>
            <a:pPr indent="0" marL="0">
              <a:buNone/>
            </a:pPr>
            <a:r>
              <a:rPr lang="en-US" sz="1100" dirty="0">
                <a:solidFill>
                  <a:srgbClr val="9AA8BA"/>
                </a:solidFill>
                <a:latin typeface="Calibri" pitchFamily="34" charset="0"/>
                <a:ea typeface="Calibri" pitchFamily="34" charset="-122"/>
                <a:cs typeface="Calibri" pitchFamily="34" charset="-120"/>
              </a:rPr>
              <a:t>Prepared for Dr. Moshe Kam's research group  ·  NJIT  ·  October 2026</a:t>
            </a:r>
            <a:endParaRPr lang="en-US" sz="1100" dirty="0"/>
          </a:p>
        </p:txBody>
      </p:sp>
      <p:sp>
        <p:nvSpPr>
          <p:cNvPr id="10" name="Text 6"/>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8FA0B5"/>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WHAT IT IS</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What does the detector do?</a:t>
            </a:r>
            <a:endParaRPr lang="en-US" sz="3000" dirty="0"/>
          </a:p>
        </p:txBody>
      </p:sp>
      <p:sp>
        <p:nvSpPr>
          <p:cNvPr id="4" name="Text 2"/>
          <p:cNvSpPr txBox="1"/>
          <p:nvPr/>
        </p:nvSpPr>
        <p:spPr>
          <a:xfrm>
            <a:off x="548640" y="1325880"/>
            <a:ext cx="11091672" cy="36576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It is given 128 samples of a radio signal and says which of four modulations sent them.</a:t>
            </a:r>
            <a:endParaRPr lang="en-US" sz="1500" dirty="0"/>
          </a:p>
        </p:txBody>
      </p:sp>
      <p:sp>
        <p:nvSpPr>
          <p:cNvPr id="5" name="Shape 3"/>
          <p:cNvSpPr/>
          <p:nvPr/>
        </p:nvSpPr>
        <p:spPr>
          <a:xfrm>
            <a:off x="8970264" y="347472"/>
            <a:ext cx="2670048" cy="329184"/>
          </a:xfrm>
          <a:prstGeom prst="roundRect">
            <a:avLst>
              <a:gd name="adj" fmla="val 33333"/>
            </a:avLst>
          </a:prstGeom>
          <a:solidFill>
            <a:srgbClr val="EEF2F6"/>
          </a:solidFill>
          <a:ln w="12700">
            <a:solidFill>
              <a:srgbClr val="EEF2F6"/>
            </a:solidFill>
            <a:prstDash val="solid"/>
          </a:ln>
        </p:spPr>
      </p:sp>
      <p:sp>
        <p:nvSpPr>
          <p:cNvPr id="6" name="Text 4"/>
          <p:cNvSpPr txBox="1"/>
          <p:nvPr/>
        </p:nvSpPr>
        <p:spPr>
          <a:xfrm>
            <a:off x="8970264" y="347472"/>
            <a:ext cx="2670048"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model_zoo.backbone(4)</a:t>
            </a:r>
            <a:endParaRPr lang="en-US" sz="1100" dirty="0"/>
          </a:p>
        </p:txBody>
      </p:sp>
      <p:sp>
        <p:nvSpPr>
          <p:cNvPr id="7" name="Shape 5"/>
          <p:cNvSpPr/>
          <p:nvPr/>
        </p:nvSpPr>
        <p:spPr>
          <a:xfrm>
            <a:off x="548640" y="1920240"/>
            <a:ext cx="3200400" cy="3291840"/>
          </a:xfrm>
          <a:prstGeom prst="roundRect">
            <a:avLst>
              <a:gd name="adj" fmla="val 2857"/>
            </a:avLst>
          </a:prstGeom>
          <a:solidFill>
            <a:srgbClr val="EEF2F6"/>
          </a:solidFill>
          <a:ln w="12700">
            <a:solidFill>
              <a:srgbClr val="EEF2F6"/>
            </a:solidFill>
            <a:prstDash val="solid"/>
          </a:ln>
        </p:spPr>
      </p:sp>
      <p:sp>
        <p:nvSpPr>
          <p:cNvPr id="8" name="Shape 6"/>
          <p:cNvSpPr/>
          <p:nvPr/>
        </p:nvSpPr>
        <p:spPr>
          <a:xfrm>
            <a:off x="777240" y="2148840"/>
            <a:ext cx="384048" cy="384048"/>
          </a:xfrm>
          <a:prstGeom prst="ellipse">
            <a:avLst/>
          </a:prstGeom>
          <a:solidFill>
            <a:srgbClr val="0F1B2D"/>
          </a:solidFill>
          <a:ln w="12700">
            <a:solidFill>
              <a:srgbClr val="0F1B2D"/>
            </a:solidFill>
            <a:prstDash val="solid"/>
          </a:ln>
        </p:spPr>
      </p:sp>
      <p:sp>
        <p:nvSpPr>
          <p:cNvPr id="9" name="Text 7"/>
          <p:cNvSpPr txBox="1"/>
          <p:nvPr/>
        </p:nvSpPr>
        <p:spPr>
          <a:xfrm>
            <a:off x="777240" y="2148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280160" y="2121408"/>
            <a:ext cx="2331720" cy="45720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Look at short pieces</a:t>
            </a:r>
            <a:endParaRPr lang="en-US" sz="1800" dirty="0"/>
          </a:p>
        </p:txBody>
      </p:sp>
      <p:sp>
        <p:nvSpPr>
          <p:cNvPr id="11" name="Text 9"/>
          <p:cNvSpPr txBox="1"/>
          <p:nvPr/>
        </p:nvSpPr>
        <p:spPr>
          <a:xfrm>
            <a:off x="777240" y="2743200"/>
            <a:ext cx="2743200" cy="320040"/>
          </a:xfrm>
          <a:prstGeom prst="rect">
            <a:avLst/>
          </a:prstGeom>
          <a:noFill/>
          <a:ln/>
        </p:spPr>
        <p:txBody>
          <a:bodyPr wrap="square" lIns="0" tIns="0" rIns="0" bIns="0" rtlCol="0" anchor="t"/>
          <a:lstStyle/>
          <a:p>
            <a:pPr indent="0" marL="0">
              <a:buNone/>
            </a:pPr>
            <a:r>
              <a:rPr lang="en-US" sz="1100" dirty="0">
                <a:solidFill>
                  <a:srgbClr val="5B6B7F"/>
                </a:solidFill>
                <a:latin typeface="Consolas" pitchFamily="34" charset="0"/>
                <a:ea typeface="Consolas" pitchFamily="34" charset="-122"/>
                <a:cs typeface="Consolas" pitchFamily="34" charset="-120"/>
              </a:rPr>
              <a:t>2 convolution layers</a:t>
            </a:r>
            <a:endParaRPr lang="en-US" sz="1100" dirty="0"/>
          </a:p>
        </p:txBody>
      </p:sp>
      <p:sp>
        <p:nvSpPr>
          <p:cNvPr id="12" name="Text 10"/>
          <p:cNvSpPr txBox="1"/>
          <p:nvPr/>
        </p:nvSpPr>
        <p:spPr>
          <a:xfrm>
            <a:off x="777240" y="3200400"/>
            <a:ext cx="2743200" cy="118872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Each piece: 12 samples, about 1.5 symbols. The frame becomes 32 pieces.</a:t>
            </a:r>
            <a:endParaRPr lang="en-US" sz="1400" dirty="0"/>
          </a:p>
        </p:txBody>
      </p:sp>
      <p:sp>
        <p:nvSpPr>
          <p:cNvPr id="13" name="Text 11"/>
          <p:cNvSpPr txBox="1"/>
          <p:nvPr/>
        </p:nvSpPr>
        <p:spPr>
          <a:xfrm>
            <a:off x="777240" y="4663440"/>
            <a:ext cx="2743200" cy="3200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25,792 numbers learned</a:t>
            </a:r>
            <a:endParaRPr lang="en-US" sz="1200" dirty="0"/>
          </a:p>
        </p:txBody>
      </p:sp>
      <p:sp>
        <p:nvSpPr>
          <p:cNvPr id="14" name="Shape 12"/>
          <p:cNvSpPr/>
          <p:nvPr/>
        </p:nvSpPr>
        <p:spPr>
          <a:xfrm>
            <a:off x="3858768" y="3383280"/>
            <a:ext cx="502920" cy="384048"/>
          </a:xfrm>
          <a:prstGeom prst="rightArrow">
            <a:avLst/>
          </a:prstGeom>
          <a:solidFill>
            <a:srgbClr val="F08A24"/>
          </a:solidFill>
          <a:ln w="12700">
            <a:solidFill>
              <a:srgbClr val="F08A24"/>
            </a:solidFill>
            <a:prstDash val="solid"/>
          </a:ln>
        </p:spPr>
      </p:sp>
      <p:sp>
        <p:nvSpPr>
          <p:cNvPr id="15" name="Shape 13"/>
          <p:cNvSpPr/>
          <p:nvPr/>
        </p:nvSpPr>
        <p:spPr>
          <a:xfrm>
            <a:off x="4389120" y="1920240"/>
            <a:ext cx="3200400" cy="3291840"/>
          </a:xfrm>
          <a:prstGeom prst="roundRect">
            <a:avLst>
              <a:gd name="adj" fmla="val 2857"/>
            </a:avLst>
          </a:prstGeom>
          <a:solidFill>
            <a:srgbClr val="EEF2F6"/>
          </a:solidFill>
          <a:ln w="12700">
            <a:solidFill>
              <a:srgbClr val="EEF2F6"/>
            </a:solidFill>
            <a:prstDash val="solid"/>
          </a:ln>
        </p:spPr>
      </p:sp>
      <p:sp>
        <p:nvSpPr>
          <p:cNvPr id="16" name="Shape 14"/>
          <p:cNvSpPr/>
          <p:nvPr/>
        </p:nvSpPr>
        <p:spPr>
          <a:xfrm>
            <a:off x="4617720" y="2148840"/>
            <a:ext cx="384048" cy="384048"/>
          </a:xfrm>
          <a:prstGeom prst="ellipse">
            <a:avLst/>
          </a:prstGeom>
          <a:solidFill>
            <a:srgbClr val="0F1B2D"/>
          </a:solidFill>
          <a:ln w="12700">
            <a:solidFill>
              <a:srgbClr val="0F1B2D"/>
            </a:solidFill>
            <a:prstDash val="solid"/>
          </a:ln>
        </p:spPr>
      </p:sp>
      <p:sp>
        <p:nvSpPr>
          <p:cNvPr id="17" name="Text 15"/>
          <p:cNvSpPr txBox="1"/>
          <p:nvPr/>
        </p:nvSpPr>
        <p:spPr>
          <a:xfrm>
            <a:off x="4617720" y="2148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txBox="1"/>
          <p:nvPr/>
        </p:nvSpPr>
        <p:spPr>
          <a:xfrm>
            <a:off x="5120640" y="2121408"/>
            <a:ext cx="2331720" cy="45720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Read the pieces in order</a:t>
            </a:r>
            <a:endParaRPr lang="en-US" sz="1800" dirty="0"/>
          </a:p>
        </p:txBody>
      </p:sp>
      <p:sp>
        <p:nvSpPr>
          <p:cNvPr id="19" name="Text 17"/>
          <p:cNvSpPr txBox="1"/>
          <p:nvPr/>
        </p:nvSpPr>
        <p:spPr>
          <a:xfrm>
            <a:off x="4617720" y="2743200"/>
            <a:ext cx="2743200" cy="320040"/>
          </a:xfrm>
          <a:prstGeom prst="rect">
            <a:avLst/>
          </a:prstGeom>
          <a:noFill/>
          <a:ln/>
        </p:spPr>
        <p:txBody>
          <a:bodyPr wrap="square" lIns="0" tIns="0" rIns="0" bIns="0" rtlCol="0" anchor="t"/>
          <a:lstStyle/>
          <a:p>
            <a:pPr indent="0" marL="0">
              <a:buNone/>
            </a:pPr>
            <a:r>
              <a:rPr lang="en-US" sz="1100" dirty="0">
                <a:solidFill>
                  <a:srgbClr val="5B6B7F"/>
                </a:solidFill>
                <a:latin typeface="Consolas" pitchFamily="34" charset="0"/>
                <a:ea typeface="Consolas" pitchFamily="34" charset="-122"/>
                <a:cs typeface="Consolas" pitchFamily="34" charset="-120"/>
              </a:rPr>
              <a:t>BiLSTM, forwards and backwards</a:t>
            </a:r>
            <a:endParaRPr lang="en-US" sz="1100" dirty="0"/>
          </a:p>
        </p:txBody>
      </p:sp>
      <p:sp>
        <p:nvSpPr>
          <p:cNvPr id="20" name="Text 18"/>
          <p:cNvSpPr txBox="1"/>
          <p:nvPr/>
        </p:nvSpPr>
        <p:spPr>
          <a:xfrm>
            <a:off x="4617720" y="3200400"/>
            <a:ext cx="2743200" cy="118872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Each piece now knows about the whole frame.</a:t>
            </a:r>
            <a:endParaRPr lang="en-US" sz="1400" dirty="0"/>
          </a:p>
        </p:txBody>
      </p:sp>
      <p:sp>
        <p:nvSpPr>
          <p:cNvPr id="21" name="Text 19"/>
          <p:cNvSpPr txBox="1"/>
          <p:nvPr/>
        </p:nvSpPr>
        <p:spPr>
          <a:xfrm>
            <a:off x="4617720" y="4663440"/>
            <a:ext cx="2743200" cy="3200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659,968 numbers learned</a:t>
            </a:r>
            <a:endParaRPr lang="en-US" sz="1200" dirty="0"/>
          </a:p>
        </p:txBody>
      </p:sp>
      <p:sp>
        <p:nvSpPr>
          <p:cNvPr id="22" name="Shape 20"/>
          <p:cNvSpPr/>
          <p:nvPr/>
        </p:nvSpPr>
        <p:spPr>
          <a:xfrm>
            <a:off x="7699248" y="3383280"/>
            <a:ext cx="502920" cy="384048"/>
          </a:xfrm>
          <a:prstGeom prst="rightArrow">
            <a:avLst/>
          </a:prstGeom>
          <a:solidFill>
            <a:srgbClr val="F08A24"/>
          </a:solidFill>
          <a:ln w="12700">
            <a:solidFill>
              <a:srgbClr val="F08A24"/>
            </a:solidFill>
            <a:prstDash val="solid"/>
          </a:ln>
        </p:spPr>
      </p:sp>
      <p:sp>
        <p:nvSpPr>
          <p:cNvPr id="23" name="Shape 21"/>
          <p:cNvSpPr/>
          <p:nvPr/>
        </p:nvSpPr>
        <p:spPr>
          <a:xfrm>
            <a:off x="8229600" y="1920240"/>
            <a:ext cx="3200400" cy="3291840"/>
          </a:xfrm>
          <a:prstGeom prst="roundRect">
            <a:avLst>
              <a:gd name="adj" fmla="val 2857"/>
            </a:avLst>
          </a:prstGeom>
          <a:solidFill>
            <a:srgbClr val="EEF2F6"/>
          </a:solidFill>
          <a:ln w="12700">
            <a:solidFill>
              <a:srgbClr val="EEF2F6"/>
            </a:solidFill>
            <a:prstDash val="solid"/>
          </a:ln>
        </p:spPr>
      </p:sp>
      <p:sp>
        <p:nvSpPr>
          <p:cNvPr id="24" name="Shape 22"/>
          <p:cNvSpPr/>
          <p:nvPr/>
        </p:nvSpPr>
        <p:spPr>
          <a:xfrm>
            <a:off x="8458200" y="2148840"/>
            <a:ext cx="384048" cy="384048"/>
          </a:xfrm>
          <a:prstGeom prst="ellipse">
            <a:avLst/>
          </a:prstGeom>
          <a:solidFill>
            <a:srgbClr val="0F1B2D"/>
          </a:solidFill>
          <a:ln w="12700">
            <a:solidFill>
              <a:srgbClr val="0F1B2D"/>
            </a:solidFill>
            <a:prstDash val="solid"/>
          </a:ln>
        </p:spPr>
      </p:sp>
      <p:sp>
        <p:nvSpPr>
          <p:cNvPr id="25" name="Text 23"/>
          <p:cNvSpPr txBox="1"/>
          <p:nvPr/>
        </p:nvSpPr>
        <p:spPr>
          <a:xfrm>
            <a:off x="8458200" y="2148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txBox="1"/>
          <p:nvPr/>
        </p:nvSpPr>
        <p:spPr>
          <a:xfrm>
            <a:off x="8961120" y="2121408"/>
            <a:ext cx="2331720" cy="457200"/>
          </a:xfrm>
          <a:prstGeom prst="rect">
            <a:avLst/>
          </a:prstGeom>
          <a:noFill/>
          <a:ln/>
        </p:spPr>
        <p:txBody>
          <a:bodyPr wrap="square" lIns="0" tIns="0" rIns="0" bIns="0" rtlCol="0" anchor="ctr"/>
          <a:lstStyle/>
          <a:p>
            <a:pPr indent="0" marL="0">
              <a:buNone/>
            </a:pPr>
            <a:r>
              <a:rPr lang="en-US" sz="1800" b="1" dirty="0">
                <a:solidFill>
                  <a:srgbClr val="1E293B"/>
                </a:solidFill>
                <a:latin typeface="Calibri" pitchFamily="34" charset="0"/>
                <a:ea typeface="Calibri" pitchFamily="34" charset="-122"/>
                <a:cs typeface="Calibri" pitchFamily="34" charset="-120"/>
              </a:rPr>
              <a:t>Decide</a:t>
            </a:r>
            <a:endParaRPr lang="en-US" sz="1800" dirty="0"/>
          </a:p>
        </p:txBody>
      </p:sp>
      <p:sp>
        <p:nvSpPr>
          <p:cNvPr id="27" name="Text 25"/>
          <p:cNvSpPr txBox="1"/>
          <p:nvPr/>
        </p:nvSpPr>
        <p:spPr>
          <a:xfrm>
            <a:off x="8458200" y="2743200"/>
            <a:ext cx="2743200" cy="320040"/>
          </a:xfrm>
          <a:prstGeom prst="rect">
            <a:avLst/>
          </a:prstGeom>
          <a:noFill/>
          <a:ln/>
        </p:spPr>
        <p:txBody>
          <a:bodyPr wrap="square" lIns="0" tIns="0" rIns="0" bIns="0" rtlCol="0" anchor="t"/>
          <a:lstStyle/>
          <a:p>
            <a:pPr indent="0" marL="0">
              <a:buNone/>
            </a:pPr>
            <a:r>
              <a:rPr lang="en-US" sz="1100" dirty="0">
                <a:solidFill>
                  <a:srgbClr val="5B6B7F"/>
                </a:solidFill>
                <a:latin typeface="Consolas" pitchFamily="34" charset="0"/>
                <a:ea typeface="Consolas" pitchFamily="34" charset="-122"/>
                <a:cs typeface="Consolas" pitchFamily="34" charset="-120"/>
              </a:rPr>
              <a:t>attention + 2 dense layers</a:t>
            </a:r>
            <a:endParaRPr lang="en-US" sz="1100" dirty="0"/>
          </a:p>
        </p:txBody>
      </p:sp>
      <p:sp>
        <p:nvSpPr>
          <p:cNvPr id="28" name="Text 26"/>
          <p:cNvSpPr txBox="1"/>
          <p:nvPr/>
        </p:nvSpPr>
        <p:spPr>
          <a:xfrm>
            <a:off x="8458200" y="3200400"/>
            <a:ext cx="2743200" cy="118872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Weighted average of the 32 pieces → 4 scores. The largest score wins.</a:t>
            </a:r>
            <a:endParaRPr lang="en-US" sz="1400" dirty="0"/>
          </a:p>
        </p:txBody>
      </p:sp>
      <p:sp>
        <p:nvSpPr>
          <p:cNvPr id="29" name="Text 27"/>
          <p:cNvSpPr txBox="1"/>
          <p:nvPr/>
        </p:nvSpPr>
        <p:spPr>
          <a:xfrm>
            <a:off x="8458200" y="4663440"/>
            <a:ext cx="2743200" cy="3200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99,716 numbers learned</a:t>
            </a:r>
            <a:endParaRPr lang="en-US" sz="1200" dirty="0"/>
          </a:p>
        </p:txBody>
      </p:sp>
      <p:sp>
        <p:nvSpPr>
          <p:cNvPr id="30" name="Text 28"/>
          <p:cNvSpPr txBox="1"/>
          <p:nvPr/>
        </p:nvSpPr>
        <p:spPr>
          <a:xfrm>
            <a:off x="548640" y="5577840"/>
            <a:ext cx="11091672"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785,476 numbers learned in total.</a:t>
            </a:r>
            <a:pPr indent="0" marL="0">
              <a:buNone/>
            </a:pPr>
            <a:r>
              <a:rPr lang="en-US" sz="1500" dirty="0">
                <a:solidFill>
                  <a:srgbClr val="1E293B"/>
                </a:solidFill>
                <a:latin typeface="Calibri" pitchFamily="34" charset="0"/>
                <a:ea typeface="Calibri" pitchFamily="34" charset="-122"/>
                <a:cs typeface="Calibri" pitchFamily="34" charset="-120"/>
              </a:rPr>
              <a:t>  Most of them, 84%, are in step 2. Nothing in it is random once trained: the same frame always gets the same answer.</a:t>
            </a:r>
            <a:endParaRPr lang="en-US" sz="1500" dirty="0"/>
          </a:p>
        </p:txBody>
      </p:sp>
      <p:sp>
        <p:nvSpPr>
          <p:cNvPr id="32" name="Text 29"/>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WHERE IT CAME FROM</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Who designed it, and who wrote the code?</a:t>
            </a:r>
            <a:endParaRPr lang="en-US" sz="3000" dirty="0"/>
          </a:p>
        </p:txBody>
      </p:sp>
      <p:sp>
        <p:nvSpPr>
          <p:cNvPr id="4" name="Shape 2"/>
          <p:cNvSpPr/>
          <p:nvPr/>
        </p:nvSpPr>
        <p:spPr>
          <a:xfrm>
            <a:off x="8092440" y="347472"/>
            <a:ext cx="3547872" cy="329184"/>
          </a:xfrm>
          <a:prstGeom prst="roundRect">
            <a:avLst>
              <a:gd name="adj" fmla="val 33333"/>
            </a:avLst>
          </a:prstGeom>
          <a:solidFill>
            <a:srgbClr val="EEF2F6"/>
          </a:solidFill>
          <a:ln w="12700">
            <a:solidFill>
              <a:srgbClr val="EEF2F6"/>
            </a:solidFill>
            <a:prstDash val="solid"/>
          </a:ln>
        </p:spPr>
      </p:sp>
      <p:sp>
        <p:nvSpPr>
          <p:cNvPr id="5" name="Text 3"/>
          <p:cNvSpPr txBox="1"/>
          <p:nvPr/>
        </p:nvSpPr>
        <p:spPr>
          <a:xfrm>
            <a:off x="8092440" y="347472"/>
            <a:ext cx="3547872"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colab/icrnna_faithful_2016.py</a:t>
            </a:r>
            <a:endParaRPr lang="en-US" sz="1100" dirty="0"/>
          </a:p>
        </p:txBody>
      </p:sp>
      <p:sp>
        <p:nvSpPr>
          <p:cNvPr id="6" name="Shape 4"/>
          <p:cNvSpPr/>
          <p:nvPr/>
        </p:nvSpPr>
        <p:spPr>
          <a:xfrm>
            <a:off x="548640" y="1828800"/>
            <a:ext cx="3200400" cy="2011680"/>
          </a:xfrm>
          <a:prstGeom prst="roundRect">
            <a:avLst>
              <a:gd name="adj" fmla="val 4545"/>
            </a:avLst>
          </a:prstGeom>
          <a:solidFill>
            <a:srgbClr val="EEF2F6"/>
          </a:solidFill>
          <a:ln w="12700">
            <a:solidFill>
              <a:srgbClr val="EEF2F6"/>
            </a:solidFill>
            <a:prstDash val="solid"/>
          </a:ln>
        </p:spPr>
      </p:sp>
      <p:sp>
        <p:nvSpPr>
          <p:cNvPr id="7" name="Text 5"/>
          <p:cNvSpPr txBox="1"/>
          <p:nvPr/>
        </p:nvSpPr>
        <p:spPr>
          <a:xfrm>
            <a:off x="777240" y="2011680"/>
            <a:ext cx="2743200" cy="41148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A paper</a:t>
            </a:r>
            <a:endParaRPr lang="en-US" sz="1800" dirty="0"/>
          </a:p>
        </p:txBody>
      </p:sp>
      <p:sp>
        <p:nvSpPr>
          <p:cNvPr id="8" name="Text 6"/>
          <p:cNvSpPr txBox="1"/>
          <p:nvPr/>
        </p:nvSpPr>
        <p:spPr>
          <a:xfrm>
            <a:off x="777240" y="2514600"/>
            <a:ext cx="2743200" cy="1280160"/>
          </a:xfrm>
          <a:prstGeom prst="rect">
            <a:avLst/>
          </a:prstGeom>
          <a:noFill/>
          <a:ln/>
        </p:spPr>
        <p:txBody>
          <a:bodyPr wrap="square" lIns="0" tIns="0" rIns="0" bIns="0" rtlCol="0" anchor="t"/>
          <a:lstStyle/>
          <a:p>
            <a:pPr indent="0" marL="0">
              <a:buNone/>
            </a:pPr>
            <a:r>
              <a:rPr lang="en-US" sz="1350" dirty="0">
                <a:solidFill>
                  <a:srgbClr val="1E293B"/>
                </a:solidFill>
                <a:latin typeface="Calibri" pitchFamily="34" charset="0"/>
                <a:ea typeface="Calibri" pitchFamily="34" charset="-122"/>
                <a:cs typeface="Calibri" pitchFamily="34" charset="-120"/>
              </a:rPr>
              <a:t>El-Haryqy et al., Results in Engineering, 2025. Model name: ICRNNA. Reported 63.24% on 11 classes.</a:t>
            </a:r>
            <a:endParaRPr lang="en-US" sz="1350" dirty="0"/>
          </a:p>
        </p:txBody>
      </p:sp>
      <p:sp>
        <p:nvSpPr>
          <p:cNvPr id="9" name="Shape 7"/>
          <p:cNvSpPr/>
          <p:nvPr/>
        </p:nvSpPr>
        <p:spPr>
          <a:xfrm>
            <a:off x="3858768" y="2606040"/>
            <a:ext cx="502920" cy="384048"/>
          </a:xfrm>
          <a:prstGeom prst="rightArrow">
            <a:avLst/>
          </a:prstGeom>
          <a:solidFill>
            <a:srgbClr val="F08A24"/>
          </a:solidFill>
          <a:ln w="12700">
            <a:solidFill>
              <a:srgbClr val="F08A24"/>
            </a:solidFill>
            <a:prstDash val="solid"/>
          </a:ln>
        </p:spPr>
      </p:sp>
      <p:sp>
        <p:nvSpPr>
          <p:cNvPr id="10" name="Shape 8"/>
          <p:cNvSpPr/>
          <p:nvPr/>
        </p:nvSpPr>
        <p:spPr>
          <a:xfrm>
            <a:off x="4389120" y="1828800"/>
            <a:ext cx="3200400" cy="2011680"/>
          </a:xfrm>
          <a:prstGeom prst="roundRect">
            <a:avLst>
              <a:gd name="adj" fmla="val 4545"/>
            </a:avLst>
          </a:prstGeom>
          <a:solidFill>
            <a:srgbClr val="EEF2F6"/>
          </a:solidFill>
          <a:ln w="12700">
            <a:solidFill>
              <a:srgbClr val="EEF2F6"/>
            </a:solidFill>
            <a:prstDash val="solid"/>
          </a:ln>
        </p:spPr>
      </p:sp>
      <p:sp>
        <p:nvSpPr>
          <p:cNvPr id="11" name="Text 9"/>
          <p:cNvSpPr txBox="1"/>
          <p:nvPr/>
        </p:nvSpPr>
        <p:spPr>
          <a:xfrm>
            <a:off x="4617720" y="2011680"/>
            <a:ext cx="2743200" cy="41148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A colleague's code</a:t>
            </a:r>
            <a:endParaRPr lang="en-US" sz="1800" dirty="0"/>
          </a:p>
        </p:txBody>
      </p:sp>
      <p:sp>
        <p:nvSpPr>
          <p:cNvPr id="12" name="Text 10"/>
          <p:cNvSpPr txBox="1"/>
          <p:nvPr/>
        </p:nvSpPr>
        <p:spPr>
          <a:xfrm>
            <a:off x="4617720" y="2514600"/>
            <a:ext cx="2743200" cy="1280160"/>
          </a:xfrm>
          <a:prstGeom prst="rect">
            <a:avLst/>
          </a:prstGeom>
          <a:noFill/>
          <a:ln/>
        </p:spPr>
        <p:txBody>
          <a:bodyPr wrap="square" lIns="0" tIns="0" rIns="0" bIns="0" rtlCol="0" anchor="t"/>
          <a:lstStyle/>
          <a:p>
            <a:pPr indent="0" marL="0">
              <a:buNone/>
            </a:pPr>
            <a:r>
              <a:rPr lang="en-US" sz="1350" dirty="0">
                <a:solidFill>
                  <a:srgbClr val="1E293B"/>
                </a:solidFill>
                <a:latin typeface="Calibri" pitchFamily="34" charset="0"/>
                <a:ea typeface="Calibri" pitchFamily="34" charset="-122"/>
                <a:cs typeface="Calibri" pitchFamily="34" charset="-120"/>
              </a:rPr>
              <a:t>Their re-implementation of the paper. Our code is copied from it.</a:t>
            </a:r>
            <a:endParaRPr lang="en-US" sz="1350" dirty="0"/>
          </a:p>
        </p:txBody>
      </p:sp>
      <p:sp>
        <p:nvSpPr>
          <p:cNvPr id="13" name="Shape 11"/>
          <p:cNvSpPr/>
          <p:nvPr/>
        </p:nvSpPr>
        <p:spPr>
          <a:xfrm>
            <a:off x="7699248" y="2606040"/>
            <a:ext cx="502920" cy="384048"/>
          </a:xfrm>
          <a:prstGeom prst="rightArrow">
            <a:avLst/>
          </a:prstGeom>
          <a:solidFill>
            <a:srgbClr val="F08A24"/>
          </a:solidFill>
          <a:ln w="12700">
            <a:solidFill>
              <a:srgbClr val="F08A24"/>
            </a:solidFill>
            <a:prstDash val="solid"/>
          </a:ln>
        </p:spPr>
      </p:sp>
      <p:sp>
        <p:nvSpPr>
          <p:cNvPr id="14" name="Shape 12"/>
          <p:cNvSpPr/>
          <p:nvPr/>
        </p:nvSpPr>
        <p:spPr>
          <a:xfrm>
            <a:off x="8229600" y="1828800"/>
            <a:ext cx="3200400" cy="2011680"/>
          </a:xfrm>
          <a:prstGeom prst="roundRect">
            <a:avLst>
              <a:gd name="adj" fmla="val 4545"/>
            </a:avLst>
          </a:prstGeom>
          <a:solidFill>
            <a:srgbClr val="EEF2F6"/>
          </a:solidFill>
          <a:ln w="12700">
            <a:solidFill>
              <a:srgbClr val="EEF2F6"/>
            </a:solidFill>
            <a:prstDash val="solid"/>
          </a:ln>
        </p:spPr>
      </p:sp>
      <p:sp>
        <p:nvSpPr>
          <p:cNvPr id="15" name="Text 13"/>
          <p:cNvSpPr txBox="1"/>
          <p:nvPr/>
        </p:nvSpPr>
        <p:spPr>
          <a:xfrm>
            <a:off x="8458200" y="2011680"/>
            <a:ext cx="2743200" cy="411480"/>
          </a:xfrm>
          <a:prstGeom prst="rect">
            <a:avLst/>
          </a:prstGeom>
          <a:noFill/>
          <a:ln/>
        </p:spPr>
        <p:txBody>
          <a:bodyPr wrap="square" lIns="0" tIns="0" rIns="0" bIns="0" rtlCol="0" anchor="t"/>
          <a:lstStyle/>
          <a:p>
            <a:pPr indent="0" marL="0">
              <a:buNone/>
            </a:pPr>
            <a:r>
              <a:rPr lang="en-US" sz="1800" b="1" dirty="0">
                <a:solidFill>
                  <a:srgbClr val="1E293B"/>
                </a:solidFill>
                <a:latin typeface="Calibri" pitchFamily="34" charset="0"/>
                <a:ea typeface="Calibri" pitchFamily="34" charset="-122"/>
                <a:cs typeface="Calibri" pitchFamily="34" charset="-120"/>
              </a:rPr>
              <a:t>Our code</a:t>
            </a:r>
            <a:endParaRPr lang="en-US" sz="1800" dirty="0"/>
          </a:p>
        </p:txBody>
      </p:sp>
      <p:sp>
        <p:nvSpPr>
          <p:cNvPr id="16" name="Text 14"/>
          <p:cNvSpPr txBox="1"/>
          <p:nvPr/>
        </p:nvSpPr>
        <p:spPr>
          <a:xfrm>
            <a:off x="8458200" y="2514600"/>
            <a:ext cx="2743200" cy="1280160"/>
          </a:xfrm>
          <a:prstGeom prst="rect">
            <a:avLst/>
          </a:prstGeom>
          <a:noFill/>
          <a:ln/>
        </p:spPr>
        <p:txBody>
          <a:bodyPr wrap="square" lIns="0" tIns="0" rIns="0" bIns="0" rtlCol="0" anchor="t"/>
          <a:lstStyle/>
          <a:p>
            <a:pPr indent="0" marL="0">
              <a:buNone/>
            </a:pPr>
            <a:r>
              <a:rPr lang="en-US" sz="1350" dirty="0">
                <a:solidFill>
                  <a:srgbClr val="1E293B"/>
                </a:solidFill>
                <a:latin typeface="Calibri" pitchFamily="34" charset="0"/>
                <a:ea typeface="Calibri" pitchFamily="34" charset="-122"/>
                <a:cs typeface="Calibri" pitchFamily="34" charset="-120"/>
              </a:rPr>
              <a:t>Differs from the paper in 5 small places (filter size, pooling, normalisation, dropout, one layer fewer).</a:t>
            </a:r>
            <a:endParaRPr lang="en-US" sz="1350" dirty="0"/>
          </a:p>
        </p:txBody>
      </p:sp>
      <p:sp>
        <p:nvSpPr>
          <p:cNvPr id="17" name="Shape 15"/>
          <p:cNvSpPr/>
          <p:nvPr/>
        </p:nvSpPr>
        <p:spPr>
          <a:xfrm>
            <a:off x="548640" y="4114800"/>
            <a:ext cx="5486400" cy="1691640"/>
          </a:xfrm>
          <a:prstGeom prst="roundRect">
            <a:avLst>
              <a:gd name="adj" fmla="val 5405"/>
            </a:avLst>
          </a:prstGeom>
          <a:solidFill>
            <a:srgbClr val="EEF2F6"/>
          </a:solidFill>
          <a:ln w="12700">
            <a:solidFill>
              <a:srgbClr val="EEF2F6"/>
            </a:solidFill>
            <a:prstDash val="solid"/>
          </a:ln>
        </p:spPr>
      </p:sp>
      <p:sp>
        <p:nvSpPr>
          <p:cNvPr id="18" name="Text 16"/>
          <p:cNvSpPr txBox="1"/>
          <p:nvPr/>
        </p:nvSpPr>
        <p:spPr>
          <a:xfrm>
            <a:off x="777240" y="4224528"/>
            <a:ext cx="5029200" cy="36576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Is the paper's number real?</a:t>
            </a:r>
            <a:endParaRPr lang="en-US" sz="1500" dirty="0"/>
          </a:p>
        </p:txBody>
      </p:sp>
      <p:sp>
        <p:nvSpPr>
          <p:cNvPr id="19" name="Text 17"/>
          <p:cNvSpPr txBox="1"/>
          <p:nvPr/>
        </p:nvSpPr>
        <p:spPr>
          <a:xfrm>
            <a:off x="777240" y="4590288"/>
            <a:ext cx="5029200" cy="457200"/>
          </a:xfrm>
          <a:prstGeom prst="rect">
            <a:avLst/>
          </a:prstGeom>
          <a:noFill/>
          <a:ln/>
        </p:spPr>
        <p:txBody>
          <a:bodyPr wrap="square" lIns="0" tIns="0" rIns="0" bIns="0" rtlCol="0" anchor="t"/>
          <a:lstStyle/>
          <a:p>
            <a:pPr indent="0" marL="0">
              <a:buNone/>
            </a:pPr>
            <a:r>
              <a:rPr lang="en-US" sz="1250" dirty="0">
                <a:solidFill>
                  <a:srgbClr val="5B6B7F"/>
                </a:solidFill>
                <a:latin typeface="Calibri" pitchFamily="34" charset="0"/>
                <a:ea typeface="Calibri" pitchFamily="34" charset="-122"/>
                <a:cs typeface="Calibri" pitchFamily="34" charset="-120"/>
              </a:rPr>
              <a:t>I rebuilt the model from the paper alone and trained it until it stopped improving:</a:t>
            </a:r>
            <a:endParaRPr lang="en-US" sz="1250" dirty="0"/>
          </a:p>
        </p:txBody>
      </p:sp>
      <p:sp>
        <p:nvSpPr>
          <p:cNvPr id="20" name="Text 18"/>
          <p:cNvSpPr txBox="1"/>
          <p:nvPr/>
        </p:nvSpPr>
        <p:spPr>
          <a:xfrm>
            <a:off x="777240" y="5029200"/>
            <a:ext cx="5120640" cy="640080"/>
          </a:xfrm>
          <a:prstGeom prst="rect">
            <a:avLst/>
          </a:prstGeom>
          <a:noFill/>
          <a:ln/>
        </p:spPr>
        <p:txBody>
          <a:bodyPr wrap="square" lIns="0" tIns="0" rIns="0" bIns="0" rtlCol="0" anchor="ctr"/>
          <a:lstStyle/>
          <a:p>
            <a:pPr indent="0" marL="0">
              <a:buNone/>
            </a:pPr>
            <a:r>
              <a:rPr lang="en-US" sz="3000" b="1" dirty="0">
                <a:solidFill>
                  <a:srgbClr val="F08A24"/>
                </a:solidFill>
                <a:latin typeface="Calibri" pitchFamily="34" charset="0"/>
                <a:ea typeface="Calibri" pitchFamily="34" charset="-122"/>
                <a:cs typeface="Calibri" pitchFamily="34" charset="-120"/>
              </a:rPr>
              <a:t>63.21%</a:t>
            </a:r>
            <a:pPr indent="0" marL="0">
              <a:buNone/>
            </a:pPr>
            <a:r>
              <a:rPr lang="en-US" sz="1500" dirty="0">
                <a:solidFill>
                  <a:srgbClr val="1E293B"/>
                </a:solidFill>
                <a:latin typeface="Calibri" pitchFamily="34" charset="0"/>
                <a:ea typeface="Calibri" pitchFamily="34" charset="-122"/>
                <a:cs typeface="Calibri" pitchFamily="34" charset="-120"/>
              </a:rPr>
              <a:t>   against the paper's 63.24%</a:t>
            </a:r>
            <a:endParaRPr lang="en-US" sz="1400" dirty="0"/>
          </a:p>
        </p:txBody>
      </p:sp>
      <p:sp>
        <p:nvSpPr>
          <p:cNvPr id="21" name="Shape 19"/>
          <p:cNvSpPr/>
          <p:nvPr/>
        </p:nvSpPr>
        <p:spPr>
          <a:xfrm>
            <a:off x="6336792" y="4114800"/>
            <a:ext cx="5303520" cy="1691640"/>
          </a:xfrm>
          <a:prstGeom prst="roundRect">
            <a:avLst>
              <a:gd name="adj" fmla="val 5405"/>
            </a:avLst>
          </a:prstGeom>
          <a:solidFill>
            <a:srgbClr val="EEF2F6"/>
          </a:solidFill>
          <a:ln w="12700">
            <a:solidFill>
              <a:srgbClr val="EEF2F6"/>
            </a:solidFill>
            <a:prstDash val="solid"/>
          </a:ln>
        </p:spPr>
      </p:sp>
      <p:sp>
        <p:nvSpPr>
          <p:cNvPr id="22" name="Text 20"/>
          <p:cNvSpPr txBox="1"/>
          <p:nvPr/>
        </p:nvSpPr>
        <p:spPr>
          <a:xfrm>
            <a:off x="6565392" y="4224528"/>
            <a:ext cx="5120640" cy="36576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Written with an AI assistant</a:t>
            </a:r>
            <a:endParaRPr lang="en-US" sz="1500" dirty="0"/>
          </a:p>
        </p:txBody>
      </p:sp>
      <p:sp>
        <p:nvSpPr>
          <p:cNvPr id="23" name="Text 21"/>
          <p:cNvSpPr txBox="1"/>
          <p:nvPr/>
        </p:nvSpPr>
        <p:spPr>
          <a:xfrm>
            <a:off x="6565392" y="4590288"/>
            <a:ext cx="4846320" cy="118872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The code, the plots and these slides were written with Claude Code (Anthropic). Every number comes from running that code on a GPU. The choices of what to test are mine.</a:t>
            </a:r>
            <a:endParaRPr lang="en-US" sz="1300" dirty="0"/>
          </a:p>
        </p:txBody>
      </p:sp>
      <p:sp>
        <p:nvSpPr>
          <p:cNvPr id="25" name="Text 22"/>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THE BIG PICTURE</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What we gave it, and what came out</a:t>
            </a:r>
            <a:endParaRPr lang="en-US" sz="3000" dirty="0"/>
          </a:p>
        </p:txBody>
      </p:sp>
      <p:sp>
        <p:nvSpPr>
          <p:cNvPr id="4" name="Shape 2"/>
          <p:cNvSpPr/>
          <p:nvPr/>
        </p:nvSpPr>
        <p:spPr>
          <a:xfrm>
            <a:off x="5897880" y="347472"/>
            <a:ext cx="5742432" cy="329184"/>
          </a:xfrm>
          <a:prstGeom prst="roundRect">
            <a:avLst>
              <a:gd name="adj" fmla="val 33333"/>
            </a:avLst>
          </a:prstGeom>
          <a:solidFill>
            <a:srgbClr val="EEF2F6"/>
          </a:solidFill>
          <a:ln w="12700">
            <a:solidFill>
              <a:srgbClr val="EEF2F6"/>
            </a:solidFill>
            <a:prstDash val="solid"/>
          </a:ln>
        </p:spPr>
      </p:sp>
      <p:sp>
        <p:nvSpPr>
          <p:cNvPr id="5" name="Text 3"/>
          <p:cNvSpPr txBox="1"/>
          <p:nvPr/>
        </p:nvSpPr>
        <p:spPr>
          <a:xfrm>
            <a:off x="5897880" y="347472"/>
            <a:ext cx="5742432"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train_backbone.py --classes BPSK,QPSK,QAM16,QAM64</a:t>
            </a:r>
            <a:endParaRPr lang="en-US" sz="1100" dirty="0"/>
          </a:p>
        </p:txBody>
      </p:sp>
      <p:sp>
        <p:nvSpPr>
          <p:cNvPr id="6" name="Shape 4"/>
          <p:cNvSpPr/>
          <p:nvPr/>
        </p:nvSpPr>
        <p:spPr>
          <a:xfrm>
            <a:off x="548640" y="1600200"/>
            <a:ext cx="1097280" cy="292608"/>
          </a:xfrm>
          <a:prstGeom prst="roundRect">
            <a:avLst>
              <a:gd name="adj" fmla="val 50000"/>
            </a:avLst>
          </a:prstGeom>
          <a:solidFill>
            <a:srgbClr val="F08A24"/>
          </a:solidFill>
          <a:ln w="12700">
            <a:solidFill>
              <a:srgbClr val="F08A24"/>
            </a:solidFill>
            <a:prstDash val="solid"/>
          </a:ln>
        </p:spPr>
      </p:sp>
      <p:sp>
        <p:nvSpPr>
          <p:cNvPr id="7" name="Text 5"/>
          <p:cNvSpPr txBox="1"/>
          <p:nvPr/>
        </p:nvSpPr>
        <p:spPr>
          <a:xfrm>
            <a:off x="548640" y="1600200"/>
            <a:ext cx="109728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INPUT</a:t>
            </a:r>
            <a:endParaRPr lang="en-US" sz="1100" dirty="0"/>
          </a:p>
        </p:txBody>
      </p:sp>
      <p:sp>
        <p:nvSpPr>
          <p:cNvPr id="8" name="Shape 6"/>
          <p:cNvSpPr/>
          <p:nvPr/>
        </p:nvSpPr>
        <p:spPr>
          <a:xfrm>
            <a:off x="512064" y="1975104"/>
            <a:ext cx="3639312" cy="1341120"/>
          </a:xfrm>
          <a:prstGeom prst="roundRect">
            <a:avLst>
              <a:gd name="adj" fmla="val 4091"/>
            </a:avLst>
          </a:prstGeom>
          <a:solidFill>
            <a:srgbClr val="0F1B2D"/>
          </a:solidFill>
          <a:ln w="12700">
            <a:solidFill>
              <a:srgbClr val="0F1B2D"/>
            </a:solidFill>
            <a:prstDash val="solid"/>
          </a:ln>
        </p:spPr>
      </p:sp>
      <p:pic>
        <p:nvPicPr>
          <p:cNvPr id="9" name="Image 0" descr="simple/frame.png">    </p:cNvPr>
          <p:cNvPicPr>
            <a:picLocks noChangeAspect="1"/>
          </p:cNvPicPr>
          <p:nvPr/>
        </p:nvPicPr>
        <p:blipFill>
          <a:blip r:embed="rId1"/>
          <a:stretch>
            <a:fillRect/>
          </a:stretch>
        </p:blipFill>
        <p:spPr>
          <a:xfrm>
            <a:off x="548640" y="2011680"/>
            <a:ext cx="3566160" cy="1267968"/>
          </a:xfrm>
          <a:prstGeom prst="rect">
            <a:avLst/>
          </a:prstGeom>
        </p:spPr>
      </p:pic>
      <p:sp>
        <p:nvSpPr>
          <p:cNvPr id="10" name="Text 7"/>
          <p:cNvSpPr txBox="1"/>
          <p:nvPr/>
        </p:nvSpPr>
        <p:spPr>
          <a:xfrm>
            <a:off x="548640" y="3429000"/>
            <a:ext cx="3611880" cy="1097280"/>
          </a:xfrm>
          <a:prstGeom prst="rect">
            <a:avLst/>
          </a:prstGeom>
          <a:noFill/>
          <a:ln/>
        </p:spPr>
        <p:txBody>
          <a:bodyPr wrap="square" lIns="0" tIns="0" rIns="0" bIns="0" rtlCol="0" anchor="t"/>
          <a:lstStyle/>
          <a:p>
            <a:pPr indent="0" marL="0">
              <a:buNone/>
            </a:pPr>
            <a:r>
              <a:rPr lang="en-US" sz="1250" b="1" dirty="0">
                <a:solidFill>
                  <a:srgbClr val="1E293B"/>
                </a:solidFill>
                <a:latin typeface="Calibri" pitchFamily="34" charset="0"/>
                <a:ea typeface="Calibri" pitchFamily="34" charset="-122"/>
                <a:cs typeface="Calibri" pitchFamily="34" charset="-120"/>
              </a:rPr>
              <a:t>Data: </a:t>
            </a:r>
            <a:pPr indent="0" marL="0">
              <a:buNone/>
            </a:pPr>
            <a:r>
              <a:rPr lang="en-US" sz="1250" dirty="0">
                <a:solidFill>
                  <a:srgbClr val="1E293B"/>
                </a:solidFill>
                <a:latin typeface="Calibri" pitchFamily="34" charset="0"/>
                <a:ea typeface="Calibri" pitchFamily="34" charset="-122"/>
                <a:cs typeface="Calibri" pitchFamily="34" charset="-120"/>
              </a:rPr>
              <a:t>RML2016.10a (DeepSig, simulated)</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4 kinds × 20 noise levels × 1,000 frames</a:t>
            </a:r>
            <a:endParaRPr lang="en-US" sz="1250" dirty="0"/>
          </a:p>
          <a:p>
            <a:pPr indent="0" marL="0">
              <a:buNone/>
            </a:pPr>
            <a:r>
              <a:rPr lang="en-US" sz="1250" b="1" dirty="0">
                <a:solidFill>
                  <a:srgbClr val="1E293B"/>
                </a:solidFill>
                <a:latin typeface="Calibri" pitchFamily="34" charset="0"/>
                <a:ea typeface="Calibri" pitchFamily="34" charset="-122"/>
                <a:cs typeface="Calibri" pitchFamily="34" charset="-120"/>
              </a:rPr>
              <a:t>One frame: </a:t>
            </a:r>
            <a:pPr indent="0" marL="0">
              <a:buNone/>
            </a:pPr>
            <a:r>
              <a:rPr lang="en-US" sz="1250" dirty="0">
                <a:solidFill>
                  <a:srgbClr val="1E293B"/>
                </a:solidFill>
                <a:latin typeface="Calibri" pitchFamily="34" charset="0"/>
                <a:ea typeface="Calibri" pitchFamily="34" charset="-122"/>
                <a:cs typeface="Calibri" pitchFamily="34" charset="-120"/>
              </a:rPr>
              <a:t>128 samples = 16 symbols</a:t>
            </a:r>
            <a:endParaRPr lang="en-US" sz="1250" dirty="0"/>
          </a:p>
        </p:txBody>
      </p:sp>
      <p:sp>
        <p:nvSpPr>
          <p:cNvPr id="11" name="Shape 8"/>
          <p:cNvSpPr/>
          <p:nvPr/>
        </p:nvSpPr>
        <p:spPr>
          <a:xfrm>
            <a:off x="4297680" y="2743200"/>
            <a:ext cx="502920" cy="384048"/>
          </a:xfrm>
          <a:prstGeom prst="rightArrow">
            <a:avLst/>
          </a:prstGeom>
          <a:solidFill>
            <a:srgbClr val="F08A24"/>
          </a:solidFill>
          <a:ln w="12700">
            <a:solidFill>
              <a:srgbClr val="F08A24"/>
            </a:solidFill>
            <a:prstDash val="solid"/>
          </a:ln>
        </p:spPr>
      </p:sp>
      <p:sp>
        <p:nvSpPr>
          <p:cNvPr id="12" name="Shape 9"/>
          <p:cNvSpPr/>
          <p:nvPr/>
        </p:nvSpPr>
        <p:spPr>
          <a:xfrm>
            <a:off x="4983480" y="1600200"/>
            <a:ext cx="1371600" cy="292608"/>
          </a:xfrm>
          <a:prstGeom prst="roundRect">
            <a:avLst>
              <a:gd name="adj" fmla="val 50000"/>
            </a:avLst>
          </a:prstGeom>
          <a:solidFill>
            <a:srgbClr val="F08A24"/>
          </a:solidFill>
          <a:ln w="12700">
            <a:solidFill>
              <a:srgbClr val="F08A24"/>
            </a:solidFill>
            <a:prstDash val="solid"/>
          </a:ln>
        </p:spPr>
      </p:sp>
      <p:sp>
        <p:nvSpPr>
          <p:cNvPr id="13" name="Text 10"/>
          <p:cNvSpPr txBox="1"/>
          <p:nvPr/>
        </p:nvSpPr>
        <p:spPr>
          <a:xfrm>
            <a:off x="4983480" y="1600200"/>
            <a:ext cx="137160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DETECTOR</a:t>
            </a:r>
            <a:endParaRPr lang="en-US" sz="1100" dirty="0"/>
          </a:p>
        </p:txBody>
      </p:sp>
      <p:sp>
        <p:nvSpPr>
          <p:cNvPr id="14" name="Shape 11"/>
          <p:cNvSpPr/>
          <p:nvPr/>
        </p:nvSpPr>
        <p:spPr>
          <a:xfrm>
            <a:off x="4983480" y="2011680"/>
            <a:ext cx="2834640" cy="658368"/>
          </a:xfrm>
          <a:prstGeom prst="roundRect">
            <a:avLst>
              <a:gd name="adj" fmla="val 13889"/>
            </a:avLst>
          </a:prstGeom>
          <a:solidFill>
            <a:srgbClr val="EEF2F6"/>
          </a:solidFill>
          <a:ln w="12700">
            <a:solidFill>
              <a:srgbClr val="EEF2F6"/>
            </a:solidFill>
            <a:prstDash val="solid"/>
          </a:ln>
        </p:spPr>
      </p:sp>
      <p:sp>
        <p:nvSpPr>
          <p:cNvPr id="15" name="Shape 12"/>
          <p:cNvSpPr/>
          <p:nvPr/>
        </p:nvSpPr>
        <p:spPr>
          <a:xfrm>
            <a:off x="5120640" y="2148840"/>
            <a:ext cx="365760" cy="365760"/>
          </a:xfrm>
          <a:prstGeom prst="ellipse">
            <a:avLst/>
          </a:prstGeom>
          <a:solidFill>
            <a:srgbClr val="0F1B2D"/>
          </a:solidFill>
          <a:ln w="12700">
            <a:solidFill>
              <a:srgbClr val="0F1B2D"/>
            </a:solidFill>
            <a:prstDash val="solid"/>
          </a:ln>
        </p:spPr>
      </p:sp>
      <p:sp>
        <p:nvSpPr>
          <p:cNvPr id="16" name="Text 13"/>
          <p:cNvSpPr txBox="1"/>
          <p:nvPr/>
        </p:nvSpPr>
        <p:spPr>
          <a:xfrm>
            <a:off x="5120640" y="21488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4"/>
          <p:cNvSpPr txBox="1"/>
          <p:nvPr/>
        </p:nvSpPr>
        <p:spPr>
          <a:xfrm>
            <a:off x="5623560" y="2011680"/>
            <a:ext cx="2148840" cy="6583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a:t>
            </a:r>
            <a:pPr indent="0" marL="0">
              <a:buNone/>
            </a:pPr>
            <a:r>
              <a:rPr lang="en-US" sz="1300" dirty="0">
                <a:solidFill>
                  <a:srgbClr val="5B6B7F"/>
                </a:solidFill>
                <a:latin typeface="Calibri" pitchFamily="34" charset="0"/>
                <a:ea typeface="Calibri" pitchFamily="34" charset="-122"/>
                <a:cs typeface="Calibri" pitchFamily="34" charset="-120"/>
              </a:rPr>
              <a:t>on 70% of the frames</a:t>
            </a:r>
            <a:endParaRPr lang="en-US" sz="1300" dirty="0"/>
          </a:p>
        </p:txBody>
      </p:sp>
      <p:sp>
        <p:nvSpPr>
          <p:cNvPr id="18" name="Shape 15"/>
          <p:cNvSpPr/>
          <p:nvPr/>
        </p:nvSpPr>
        <p:spPr>
          <a:xfrm>
            <a:off x="4983480" y="2788920"/>
            <a:ext cx="2834640" cy="658368"/>
          </a:xfrm>
          <a:prstGeom prst="roundRect">
            <a:avLst>
              <a:gd name="adj" fmla="val 13889"/>
            </a:avLst>
          </a:prstGeom>
          <a:solidFill>
            <a:srgbClr val="EEF2F6"/>
          </a:solidFill>
          <a:ln w="12700">
            <a:solidFill>
              <a:srgbClr val="EEF2F6"/>
            </a:solidFill>
            <a:prstDash val="solid"/>
          </a:ln>
        </p:spPr>
      </p:sp>
      <p:sp>
        <p:nvSpPr>
          <p:cNvPr id="19" name="Shape 16"/>
          <p:cNvSpPr/>
          <p:nvPr/>
        </p:nvSpPr>
        <p:spPr>
          <a:xfrm>
            <a:off x="5120640" y="2926080"/>
            <a:ext cx="365760" cy="365760"/>
          </a:xfrm>
          <a:prstGeom prst="ellipse">
            <a:avLst/>
          </a:prstGeom>
          <a:solidFill>
            <a:srgbClr val="0F1B2D"/>
          </a:solidFill>
          <a:ln w="12700">
            <a:solidFill>
              <a:srgbClr val="0F1B2D"/>
            </a:solidFill>
            <a:prstDash val="solid"/>
          </a:ln>
        </p:spPr>
      </p:sp>
      <p:sp>
        <p:nvSpPr>
          <p:cNvPr id="20" name="Text 17"/>
          <p:cNvSpPr txBox="1"/>
          <p:nvPr/>
        </p:nvSpPr>
        <p:spPr>
          <a:xfrm>
            <a:off x="5120640" y="29260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8"/>
          <p:cNvSpPr txBox="1"/>
          <p:nvPr/>
        </p:nvSpPr>
        <p:spPr>
          <a:xfrm>
            <a:off x="5623560" y="2788920"/>
            <a:ext cx="2148840" cy="6583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Tune  </a:t>
            </a:r>
            <a:pPr indent="0" marL="0">
              <a:buNone/>
            </a:pPr>
            <a:r>
              <a:rPr lang="en-US" sz="1300" dirty="0">
                <a:solidFill>
                  <a:srgbClr val="5B6B7F"/>
                </a:solidFill>
                <a:latin typeface="Calibri" pitchFamily="34" charset="0"/>
                <a:ea typeface="Calibri" pitchFamily="34" charset="-122"/>
                <a:cs typeface="Calibri" pitchFamily="34" charset="-120"/>
              </a:rPr>
              <a:t>on 15%: when to stop</a:t>
            </a:r>
            <a:endParaRPr lang="en-US" sz="1300" dirty="0"/>
          </a:p>
        </p:txBody>
      </p:sp>
      <p:sp>
        <p:nvSpPr>
          <p:cNvPr id="22" name="Shape 19"/>
          <p:cNvSpPr/>
          <p:nvPr/>
        </p:nvSpPr>
        <p:spPr>
          <a:xfrm>
            <a:off x="4983480" y="3566160"/>
            <a:ext cx="2834640" cy="658368"/>
          </a:xfrm>
          <a:prstGeom prst="roundRect">
            <a:avLst>
              <a:gd name="adj" fmla="val 13889"/>
            </a:avLst>
          </a:prstGeom>
          <a:solidFill>
            <a:srgbClr val="EEF2F6"/>
          </a:solidFill>
          <a:ln w="12700">
            <a:solidFill>
              <a:srgbClr val="EEF2F6"/>
            </a:solidFill>
            <a:prstDash val="solid"/>
          </a:ln>
        </p:spPr>
      </p:sp>
      <p:sp>
        <p:nvSpPr>
          <p:cNvPr id="23" name="Shape 20"/>
          <p:cNvSpPr/>
          <p:nvPr/>
        </p:nvSpPr>
        <p:spPr>
          <a:xfrm>
            <a:off x="5120640" y="3703320"/>
            <a:ext cx="365760" cy="365760"/>
          </a:xfrm>
          <a:prstGeom prst="ellipse">
            <a:avLst/>
          </a:prstGeom>
          <a:solidFill>
            <a:srgbClr val="0F1B2D"/>
          </a:solidFill>
          <a:ln w="12700">
            <a:solidFill>
              <a:srgbClr val="0F1B2D"/>
            </a:solidFill>
            <a:prstDash val="solid"/>
          </a:ln>
        </p:spPr>
      </p:sp>
      <p:sp>
        <p:nvSpPr>
          <p:cNvPr id="24" name="Text 21"/>
          <p:cNvSpPr txBox="1"/>
          <p:nvPr/>
        </p:nvSpPr>
        <p:spPr>
          <a:xfrm>
            <a:off x="5120640" y="37033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2"/>
          <p:cNvSpPr txBox="1"/>
          <p:nvPr/>
        </p:nvSpPr>
        <p:spPr>
          <a:xfrm>
            <a:off x="5623560" y="3566160"/>
            <a:ext cx="2148840" cy="6583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Test  </a:t>
            </a:r>
            <a:pPr indent="0" marL="0">
              <a:buNone/>
            </a:pPr>
            <a:r>
              <a:rPr lang="en-US" sz="1300" dirty="0">
                <a:solidFill>
                  <a:srgbClr val="5B6B7F"/>
                </a:solidFill>
                <a:latin typeface="Calibri" pitchFamily="34" charset="0"/>
                <a:ea typeface="Calibri" pitchFamily="34" charset="-122"/>
                <a:cs typeface="Calibri" pitchFamily="34" charset="-120"/>
              </a:rPr>
              <a:t>on 15% it never saw</a:t>
            </a:r>
            <a:endParaRPr lang="en-US" sz="1300" dirty="0"/>
          </a:p>
        </p:txBody>
      </p:sp>
      <p:sp>
        <p:nvSpPr>
          <p:cNvPr id="26" name="Text 23"/>
          <p:cNvSpPr txBox="1"/>
          <p:nvPr/>
        </p:nvSpPr>
        <p:spPr>
          <a:xfrm>
            <a:off x="4983480" y="4389120"/>
            <a:ext cx="2834640" cy="45720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Repeated 14 times, a different split each time.</a:t>
            </a:r>
            <a:endParaRPr lang="en-US" sz="1200" dirty="0"/>
          </a:p>
        </p:txBody>
      </p:sp>
      <p:sp>
        <p:nvSpPr>
          <p:cNvPr id="27" name="Shape 24"/>
          <p:cNvSpPr/>
          <p:nvPr/>
        </p:nvSpPr>
        <p:spPr>
          <a:xfrm>
            <a:off x="8001000" y="2743200"/>
            <a:ext cx="502920" cy="384048"/>
          </a:xfrm>
          <a:prstGeom prst="rightArrow">
            <a:avLst/>
          </a:prstGeom>
          <a:solidFill>
            <a:srgbClr val="F08A24"/>
          </a:solidFill>
          <a:ln w="12700">
            <a:solidFill>
              <a:srgbClr val="F08A24"/>
            </a:solidFill>
            <a:prstDash val="solid"/>
          </a:ln>
        </p:spPr>
      </p:sp>
      <p:sp>
        <p:nvSpPr>
          <p:cNvPr id="28" name="Shape 25"/>
          <p:cNvSpPr/>
          <p:nvPr/>
        </p:nvSpPr>
        <p:spPr>
          <a:xfrm>
            <a:off x="8686800" y="1600200"/>
            <a:ext cx="1097280" cy="292608"/>
          </a:xfrm>
          <a:prstGeom prst="roundRect">
            <a:avLst>
              <a:gd name="adj" fmla="val 50000"/>
            </a:avLst>
          </a:prstGeom>
          <a:solidFill>
            <a:srgbClr val="F08A24"/>
          </a:solidFill>
          <a:ln w="12700">
            <a:solidFill>
              <a:srgbClr val="F08A24"/>
            </a:solidFill>
            <a:prstDash val="solid"/>
          </a:ln>
        </p:spPr>
      </p:sp>
      <p:sp>
        <p:nvSpPr>
          <p:cNvPr id="29" name="Text 26"/>
          <p:cNvSpPr txBox="1"/>
          <p:nvPr/>
        </p:nvSpPr>
        <p:spPr>
          <a:xfrm>
            <a:off x="8686800" y="1600200"/>
            <a:ext cx="1097280" cy="292608"/>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OUTPUT</a:t>
            </a:r>
            <a:endParaRPr lang="en-US" sz="1100" dirty="0"/>
          </a:p>
        </p:txBody>
      </p:sp>
      <p:sp>
        <p:nvSpPr>
          <p:cNvPr id="30" name="Shape 27"/>
          <p:cNvSpPr/>
          <p:nvPr/>
        </p:nvSpPr>
        <p:spPr>
          <a:xfrm>
            <a:off x="8686800" y="2011680"/>
            <a:ext cx="1417320" cy="1115568"/>
          </a:xfrm>
          <a:prstGeom prst="roundRect">
            <a:avLst>
              <a:gd name="adj" fmla="val 8197"/>
            </a:avLst>
          </a:prstGeom>
          <a:solidFill>
            <a:srgbClr val="EEF2F6"/>
          </a:solidFill>
          <a:ln w="12700">
            <a:solidFill>
              <a:srgbClr val="EEF2F6"/>
            </a:solidFill>
            <a:prstDash val="solid"/>
          </a:ln>
        </p:spPr>
      </p:sp>
      <p:sp>
        <p:nvSpPr>
          <p:cNvPr id="31" name="Text 28"/>
          <p:cNvSpPr txBox="1"/>
          <p:nvPr/>
        </p:nvSpPr>
        <p:spPr>
          <a:xfrm>
            <a:off x="8796528" y="2084832"/>
            <a:ext cx="1234440" cy="502920"/>
          </a:xfrm>
          <a:prstGeom prst="rect">
            <a:avLst/>
          </a:prstGeom>
          <a:noFill/>
          <a:ln/>
        </p:spPr>
        <p:txBody>
          <a:bodyPr wrap="square" lIns="0" tIns="0" rIns="0" bIns="0" rtlCol="0" anchor="b"/>
          <a:lstStyle/>
          <a:p>
            <a:pPr indent="0" marL="0">
              <a:buNone/>
            </a:pPr>
            <a:r>
              <a:rPr lang="en-US" sz="2200" b="1" dirty="0">
                <a:solidFill>
                  <a:srgbClr val="F08A24"/>
                </a:solidFill>
                <a:latin typeface="Calibri" pitchFamily="34" charset="0"/>
                <a:ea typeface="Calibri" pitchFamily="34" charset="-122"/>
                <a:cs typeface="Calibri" pitchFamily="34" charset="-120"/>
              </a:rPr>
              <a:t>94.2%</a:t>
            </a:r>
            <a:endParaRPr lang="en-US" sz="2200" dirty="0"/>
          </a:p>
        </p:txBody>
      </p:sp>
      <p:sp>
        <p:nvSpPr>
          <p:cNvPr id="32" name="Text 29"/>
          <p:cNvSpPr txBox="1"/>
          <p:nvPr/>
        </p:nvSpPr>
        <p:spPr>
          <a:xfrm>
            <a:off x="8796528" y="2606040"/>
            <a:ext cx="1234440" cy="502920"/>
          </a:xfrm>
          <a:prstGeom prst="rect">
            <a:avLst/>
          </a:prstGeom>
          <a:noFill/>
          <a:ln/>
        </p:spPr>
        <p:txBody>
          <a:bodyPr wrap="square" lIns="0" tIns="0" rIns="0" bIns="0" rtlCol="0" anchor="t"/>
          <a:lstStyle/>
          <a:p>
            <a:pPr indent="0" marL="0">
              <a:buNone/>
            </a:pPr>
            <a:r>
              <a:rPr lang="en-US" sz="1050" dirty="0">
                <a:solidFill>
                  <a:srgbClr val="5B6B7F"/>
                </a:solidFill>
                <a:latin typeface="Calibri" pitchFamily="34" charset="0"/>
                <a:ea typeface="Calibri" pitchFamily="34" charset="-122"/>
                <a:cs typeface="Calibri" pitchFamily="34" charset="-120"/>
              </a:rPr>
              <a:t>right, at 10 dB and above</a:t>
            </a:r>
            <a:endParaRPr lang="en-US" sz="1050" dirty="0"/>
          </a:p>
        </p:txBody>
      </p:sp>
      <p:sp>
        <p:nvSpPr>
          <p:cNvPr id="33" name="Shape 30"/>
          <p:cNvSpPr/>
          <p:nvPr/>
        </p:nvSpPr>
        <p:spPr>
          <a:xfrm>
            <a:off x="10195560" y="2011680"/>
            <a:ext cx="1417320" cy="1115568"/>
          </a:xfrm>
          <a:prstGeom prst="roundRect">
            <a:avLst>
              <a:gd name="adj" fmla="val 8197"/>
            </a:avLst>
          </a:prstGeom>
          <a:solidFill>
            <a:srgbClr val="EEF2F6"/>
          </a:solidFill>
          <a:ln w="12700">
            <a:solidFill>
              <a:srgbClr val="EEF2F6"/>
            </a:solidFill>
            <a:prstDash val="solid"/>
          </a:ln>
        </p:spPr>
      </p:sp>
      <p:sp>
        <p:nvSpPr>
          <p:cNvPr id="34" name="Text 31"/>
          <p:cNvSpPr txBox="1"/>
          <p:nvPr/>
        </p:nvSpPr>
        <p:spPr>
          <a:xfrm>
            <a:off x="10305288" y="2084832"/>
            <a:ext cx="1234440" cy="502920"/>
          </a:xfrm>
          <a:prstGeom prst="rect">
            <a:avLst/>
          </a:prstGeom>
          <a:noFill/>
          <a:ln/>
        </p:spPr>
        <p:txBody>
          <a:bodyPr wrap="square" lIns="0" tIns="0" rIns="0" bIns="0" rtlCol="0" anchor="b"/>
          <a:lstStyle/>
          <a:p>
            <a:pPr indent="0" marL="0">
              <a:buNone/>
            </a:pPr>
            <a:r>
              <a:rPr lang="en-US" sz="2200" b="1" dirty="0">
                <a:solidFill>
                  <a:srgbClr val="1E293B"/>
                </a:solidFill>
                <a:latin typeface="Calibri" pitchFamily="34" charset="0"/>
                <a:ea typeface="Calibri" pitchFamily="34" charset="-122"/>
                <a:cs typeface="Calibri" pitchFamily="34" charset="-120"/>
              </a:rPr>
              <a:t>99.6%</a:t>
            </a:r>
            <a:endParaRPr lang="en-US" sz="2200" dirty="0"/>
          </a:p>
        </p:txBody>
      </p:sp>
      <p:sp>
        <p:nvSpPr>
          <p:cNvPr id="35" name="Text 32"/>
          <p:cNvSpPr txBox="1"/>
          <p:nvPr/>
        </p:nvSpPr>
        <p:spPr>
          <a:xfrm>
            <a:off x="10305288" y="2606040"/>
            <a:ext cx="1234440" cy="502920"/>
          </a:xfrm>
          <a:prstGeom prst="rect">
            <a:avLst/>
          </a:prstGeom>
          <a:noFill/>
          <a:ln/>
        </p:spPr>
        <p:txBody>
          <a:bodyPr wrap="square" lIns="0" tIns="0" rIns="0" bIns="0" rtlCol="0" anchor="t"/>
          <a:lstStyle/>
          <a:p>
            <a:pPr indent="0" marL="0">
              <a:buNone/>
            </a:pPr>
            <a:r>
              <a:rPr lang="en-US" sz="1050" dirty="0">
                <a:solidFill>
                  <a:srgbClr val="5B6B7F"/>
                </a:solidFill>
                <a:latin typeface="Calibri" pitchFamily="34" charset="0"/>
                <a:ea typeface="Calibri" pitchFamily="34" charset="-122"/>
                <a:cs typeface="Calibri" pitchFamily="34" charset="-120"/>
              </a:rPr>
              <a:t>BPSK and QPSK right at 10 dB</a:t>
            </a:r>
            <a:endParaRPr lang="en-US" sz="1050" dirty="0"/>
          </a:p>
        </p:txBody>
      </p:sp>
      <p:sp>
        <p:nvSpPr>
          <p:cNvPr id="36" name="Shape 33"/>
          <p:cNvSpPr/>
          <p:nvPr/>
        </p:nvSpPr>
        <p:spPr>
          <a:xfrm>
            <a:off x="8686800" y="3246120"/>
            <a:ext cx="1417320" cy="1115568"/>
          </a:xfrm>
          <a:prstGeom prst="roundRect">
            <a:avLst>
              <a:gd name="adj" fmla="val 8197"/>
            </a:avLst>
          </a:prstGeom>
          <a:solidFill>
            <a:srgbClr val="EEF2F6"/>
          </a:solidFill>
          <a:ln w="12700">
            <a:solidFill>
              <a:srgbClr val="EEF2F6"/>
            </a:solidFill>
            <a:prstDash val="solid"/>
          </a:ln>
        </p:spPr>
      </p:sp>
      <p:sp>
        <p:nvSpPr>
          <p:cNvPr id="37" name="Text 34"/>
          <p:cNvSpPr txBox="1"/>
          <p:nvPr/>
        </p:nvSpPr>
        <p:spPr>
          <a:xfrm>
            <a:off x="8796528" y="3319272"/>
            <a:ext cx="1234440" cy="502920"/>
          </a:xfrm>
          <a:prstGeom prst="rect">
            <a:avLst/>
          </a:prstGeom>
          <a:noFill/>
          <a:ln/>
        </p:spPr>
        <p:txBody>
          <a:bodyPr wrap="square" lIns="0" tIns="0" rIns="0" bIns="0" rtlCol="0" anchor="b"/>
          <a:lstStyle/>
          <a:p>
            <a:pPr indent="0" marL="0">
              <a:buNone/>
            </a:pPr>
            <a:r>
              <a:rPr lang="en-US" sz="2200" b="1" dirty="0">
                <a:solidFill>
                  <a:srgbClr val="1E293B"/>
                </a:solidFill>
                <a:latin typeface="Calibri" pitchFamily="34" charset="0"/>
                <a:ea typeface="Calibri" pitchFamily="34" charset="-122"/>
                <a:cs typeface="Calibri" pitchFamily="34" charset="-120"/>
              </a:rPr>
              <a:t>25%</a:t>
            </a:r>
            <a:endParaRPr lang="en-US" sz="2200" dirty="0"/>
          </a:p>
        </p:txBody>
      </p:sp>
      <p:sp>
        <p:nvSpPr>
          <p:cNvPr id="38" name="Text 35"/>
          <p:cNvSpPr txBox="1"/>
          <p:nvPr/>
        </p:nvSpPr>
        <p:spPr>
          <a:xfrm>
            <a:off x="8796528" y="3840480"/>
            <a:ext cx="1234440" cy="502920"/>
          </a:xfrm>
          <a:prstGeom prst="rect">
            <a:avLst/>
          </a:prstGeom>
          <a:noFill/>
          <a:ln/>
        </p:spPr>
        <p:txBody>
          <a:bodyPr wrap="square" lIns="0" tIns="0" rIns="0" bIns="0" rtlCol="0" anchor="t"/>
          <a:lstStyle/>
          <a:p>
            <a:pPr indent="0" marL="0">
              <a:buNone/>
            </a:pPr>
            <a:r>
              <a:rPr lang="en-US" sz="1050" dirty="0">
                <a:solidFill>
                  <a:srgbClr val="5B6B7F"/>
                </a:solidFill>
                <a:latin typeface="Calibri" pitchFamily="34" charset="0"/>
                <a:ea typeface="Calibri" pitchFamily="34" charset="-122"/>
                <a:cs typeface="Calibri" pitchFamily="34" charset="-120"/>
              </a:rPr>
              <a:t>at −20 dB: a guess</a:t>
            </a:r>
            <a:endParaRPr lang="en-US" sz="1050" dirty="0"/>
          </a:p>
        </p:txBody>
      </p:sp>
      <p:sp>
        <p:nvSpPr>
          <p:cNvPr id="39" name="Shape 36"/>
          <p:cNvSpPr/>
          <p:nvPr/>
        </p:nvSpPr>
        <p:spPr>
          <a:xfrm>
            <a:off x="10195560" y="3246120"/>
            <a:ext cx="1417320" cy="1115568"/>
          </a:xfrm>
          <a:prstGeom prst="roundRect">
            <a:avLst>
              <a:gd name="adj" fmla="val 8197"/>
            </a:avLst>
          </a:prstGeom>
          <a:solidFill>
            <a:srgbClr val="EEF2F6"/>
          </a:solidFill>
          <a:ln w="12700">
            <a:solidFill>
              <a:srgbClr val="EEF2F6"/>
            </a:solidFill>
            <a:prstDash val="solid"/>
          </a:ln>
        </p:spPr>
      </p:sp>
      <p:sp>
        <p:nvSpPr>
          <p:cNvPr id="40" name="Text 37"/>
          <p:cNvSpPr txBox="1"/>
          <p:nvPr/>
        </p:nvSpPr>
        <p:spPr>
          <a:xfrm>
            <a:off x="10305288" y="3319272"/>
            <a:ext cx="1234440" cy="502920"/>
          </a:xfrm>
          <a:prstGeom prst="rect">
            <a:avLst/>
          </a:prstGeom>
          <a:noFill/>
          <a:ln/>
        </p:spPr>
        <p:txBody>
          <a:bodyPr wrap="square" lIns="0" tIns="0" rIns="0" bIns="0" rtlCol="0" anchor="b"/>
          <a:lstStyle/>
          <a:p>
            <a:pPr indent="0" marL="0">
              <a:buNone/>
            </a:pPr>
            <a:r>
              <a:rPr lang="en-US" sz="2200" b="1" dirty="0">
                <a:solidFill>
                  <a:srgbClr val="1E293B"/>
                </a:solidFill>
                <a:latin typeface="Calibri" pitchFamily="34" charset="0"/>
                <a:ea typeface="Calibri" pitchFamily="34" charset="-122"/>
                <a:cs typeface="Calibri" pitchFamily="34" charset="-120"/>
              </a:rPr>
              <a:t>42,000</a:t>
            </a:r>
            <a:endParaRPr lang="en-US" sz="2200" dirty="0"/>
          </a:p>
        </p:txBody>
      </p:sp>
      <p:sp>
        <p:nvSpPr>
          <p:cNvPr id="41" name="Text 38"/>
          <p:cNvSpPr txBox="1"/>
          <p:nvPr/>
        </p:nvSpPr>
        <p:spPr>
          <a:xfrm>
            <a:off x="10305288" y="3840480"/>
            <a:ext cx="1234440" cy="502920"/>
          </a:xfrm>
          <a:prstGeom prst="rect">
            <a:avLst/>
          </a:prstGeom>
          <a:noFill/>
          <a:ln/>
        </p:spPr>
        <p:txBody>
          <a:bodyPr wrap="square" lIns="0" tIns="0" rIns="0" bIns="0" rtlCol="0" anchor="t"/>
          <a:lstStyle/>
          <a:p>
            <a:pPr indent="0" marL="0">
              <a:buNone/>
            </a:pPr>
            <a:r>
              <a:rPr lang="en-US" sz="1050" dirty="0">
                <a:solidFill>
                  <a:srgbClr val="5B6B7F"/>
                </a:solidFill>
                <a:latin typeface="Calibri" pitchFamily="34" charset="0"/>
                <a:ea typeface="Calibri" pitchFamily="34" charset="-122"/>
                <a:cs typeface="Calibri" pitchFamily="34" charset="-120"/>
              </a:rPr>
              <a:t>test decisions at 10 dB and above</a:t>
            </a:r>
            <a:endParaRPr lang="en-US" sz="1050" dirty="0"/>
          </a:p>
        </p:txBody>
      </p:sp>
      <p:sp>
        <p:nvSpPr>
          <p:cNvPr id="42" name="Text 39"/>
          <p:cNvSpPr txBox="1"/>
          <p:nvPr/>
        </p:nvSpPr>
        <p:spPr>
          <a:xfrm>
            <a:off x="548640" y="5120640"/>
            <a:ext cx="11091672"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How we check it:</a:t>
            </a:r>
            <a:pPr indent="0" marL="0">
              <a:buNone/>
            </a:pPr>
            <a:r>
              <a:rPr lang="en-US" sz="1500" dirty="0">
                <a:solidFill>
                  <a:srgbClr val="1E293B"/>
                </a:solidFill>
                <a:latin typeface="Calibri" pitchFamily="34" charset="0"/>
                <a:ea typeface="Calibri" pitchFamily="34" charset="-122"/>
                <a:cs typeface="Calibri" pitchFamily="34" charset="-120"/>
              </a:rPr>
              <a:t>  every number is counted on test frames the detector never saw while learning.</a:t>
            </a:r>
            <a:endParaRPr lang="en-US" sz="1500" dirty="0"/>
          </a:p>
        </p:txBody>
      </p:sp>
      <p:sp>
        <p:nvSpPr>
          <p:cNvPr id="44" name="Text 40"/>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STEP 1  ·  THE INPUT</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What one frame looks like</a:t>
            </a:r>
            <a:endParaRPr lang="en-US" sz="3000" dirty="0"/>
          </a:p>
        </p:txBody>
      </p:sp>
      <p:sp>
        <p:nvSpPr>
          <p:cNvPr id="4" name="Shape 2"/>
          <p:cNvSpPr/>
          <p:nvPr/>
        </p:nvSpPr>
        <p:spPr>
          <a:xfrm>
            <a:off x="8641080" y="347472"/>
            <a:ext cx="2999232" cy="329184"/>
          </a:xfrm>
          <a:prstGeom prst="roundRect">
            <a:avLst>
              <a:gd name="adj" fmla="val 33333"/>
            </a:avLst>
          </a:prstGeom>
          <a:solidFill>
            <a:srgbClr val="EEF2F6"/>
          </a:solidFill>
          <a:ln w="12700">
            <a:solidFill>
              <a:srgbClr val="EEF2F6"/>
            </a:solidFill>
            <a:prstDash val="solid"/>
          </a:ln>
        </p:spPr>
      </p:sp>
      <p:sp>
        <p:nvSpPr>
          <p:cNvPr id="5" name="Text 3"/>
          <p:cNvSpPr txBox="1"/>
          <p:nvPr/>
        </p:nvSpPr>
        <p:spPr>
          <a:xfrm>
            <a:off x="8641080" y="347472"/>
            <a:ext cx="2999232"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128 samples = 16 symbols</a:t>
            </a:r>
            <a:endParaRPr lang="en-US" sz="1100" dirty="0"/>
          </a:p>
        </p:txBody>
      </p:sp>
      <p:sp>
        <p:nvSpPr>
          <p:cNvPr id="6" name="Shape 4"/>
          <p:cNvSpPr/>
          <p:nvPr/>
        </p:nvSpPr>
        <p:spPr>
          <a:xfrm>
            <a:off x="512064" y="1609344"/>
            <a:ext cx="7022592" cy="2544064"/>
          </a:xfrm>
          <a:prstGeom prst="roundRect">
            <a:avLst>
              <a:gd name="adj" fmla="val 2157"/>
            </a:avLst>
          </a:prstGeom>
          <a:solidFill>
            <a:srgbClr val="0F1B2D"/>
          </a:solidFill>
          <a:ln w="12700">
            <a:solidFill>
              <a:srgbClr val="0F1B2D"/>
            </a:solidFill>
            <a:prstDash val="solid"/>
          </a:ln>
        </p:spPr>
      </p:sp>
      <p:pic>
        <p:nvPicPr>
          <p:cNvPr id="7" name="Image 0" descr="simple/frame.png">    </p:cNvPr>
          <p:cNvPicPr>
            <a:picLocks noChangeAspect="1"/>
          </p:cNvPicPr>
          <p:nvPr/>
        </p:nvPicPr>
        <p:blipFill>
          <a:blip r:embed="rId1"/>
          <a:stretch>
            <a:fillRect/>
          </a:stretch>
        </p:blipFill>
        <p:spPr>
          <a:xfrm>
            <a:off x="548640" y="1645920"/>
            <a:ext cx="6949440" cy="2470912"/>
          </a:xfrm>
          <a:prstGeom prst="rect">
            <a:avLst/>
          </a:prstGeom>
        </p:spPr>
      </p:pic>
      <p:sp>
        <p:nvSpPr>
          <p:cNvPr id="8" name="Text 5"/>
          <p:cNvSpPr txBox="1"/>
          <p:nvPr/>
        </p:nvSpPr>
        <p:spPr>
          <a:xfrm>
            <a:off x="548640" y="4206240"/>
            <a:ext cx="6949440" cy="91440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One frame of QAM16, drawn without noise. Orange: the in-phase part (I); blue: the quadrature part (Q). A symbol every 8 samples (the dots); each dot sits on −3, −1, 1 or 3. That is what makes it QAM16.</a:t>
            </a:r>
            <a:endParaRPr lang="en-US" sz="1300" dirty="0"/>
          </a:p>
        </p:txBody>
      </p:sp>
      <p:sp>
        <p:nvSpPr>
          <p:cNvPr id="9" name="Shape 6"/>
          <p:cNvSpPr/>
          <p:nvPr/>
        </p:nvSpPr>
        <p:spPr>
          <a:xfrm>
            <a:off x="8284464" y="1609344"/>
            <a:ext cx="3364992" cy="3529584"/>
          </a:xfrm>
          <a:prstGeom prst="roundRect">
            <a:avLst>
              <a:gd name="adj" fmla="val 1630"/>
            </a:avLst>
          </a:prstGeom>
          <a:solidFill>
            <a:srgbClr val="0F1B2D"/>
          </a:solidFill>
          <a:ln w="12700">
            <a:solidFill>
              <a:srgbClr val="0F1B2D"/>
            </a:solidFill>
            <a:prstDash val="solid"/>
          </a:ln>
        </p:spPr>
      </p:sp>
      <p:pic>
        <p:nvPicPr>
          <p:cNvPr id="10" name="Image 1" descr="simple/symbols_2x2.png">    </p:cNvPr>
          <p:cNvPicPr>
            <a:picLocks noChangeAspect="1"/>
          </p:cNvPicPr>
          <p:nvPr/>
        </p:nvPicPr>
        <p:blipFill>
          <a:blip r:embed="rId2"/>
          <a:stretch>
            <a:fillRect/>
          </a:stretch>
        </p:blipFill>
        <p:spPr>
          <a:xfrm>
            <a:off x="8321040" y="1645920"/>
            <a:ext cx="3291840" cy="3456432"/>
          </a:xfrm>
          <a:prstGeom prst="rect">
            <a:avLst/>
          </a:prstGeom>
        </p:spPr>
      </p:pic>
      <p:sp>
        <p:nvSpPr>
          <p:cNvPr id="11" name="Text 7"/>
          <p:cNvSpPr txBox="1"/>
          <p:nvPr/>
        </p:nvSpPr>
        <p:spPr>
          <a:xfrm>
            <a:off x="8321040" y="5166360"/>
            <a:ext cx="3291840" cy="548640"/>
          </a:xfrm>
          <a:prstGeom prst="rect">
            <a:avLst/>
          </a:prstGeom>
          <a:noFill/>
          <a:ln/>
        </p:spPr>
        <p:txBody>
          <a:bodyPr wrap="square" lIns="0" tIns="0" rIns="0" bIns="0" rtlCol="0" anchor="t"/>
          <a:lstStyle/>
          <a:p>
            <a:pPr indent="0" marL="0">
              <a:buNone/>
            </a:pPr>
            <a:r>
              <a:rPr lang="en-US" sz="1150" dirty="0">
                <a:solidFill>
                  <a:srgbClr val="5B6B7F"/>
                </a:solidFill>
                <a:latin typeface="Calibri" pitchFamily="34" charset="0"/>
                <a:ea typeface="Calibri" pitchFamily="34" charset="-122"/>
                <a:cs typeface="Calibri" pitchFamily="34" charset="-120"/>
              </a:rPr>
              <a:t>16 symbols of one frame (orange) on all the points each kind can use (circles).</a:t>
            </a:r>
            <a:endParaRPr lang="en-US" sz="1150" dirty="0"/>
          </a:p>
        </p:txBody>
      </p:sp>
      <p:sp>
        <p:nvSpPr>
          <p:cNvPr id="12" name="Text 8"/>
          <p:cNvSpPr txBox="1"/>
          <p:nvPr/>
        </p:nvSpPr>
        <p:spPr>
          <a:xfrm>
            <a:off x="548640" y="5257800"/>
            <a:ext cx="7498080" cy="64008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16 symbols cannot show all 64 points of QAM64.</a:t>
            </a:r>
            <a:pPr indent="0" marL="0">
              <a:buNone/>
            </a:pPr>
            <a:r>
              <a:rPr lang="en-US" sz="1500" dirty="0">
                <a:solidFill>
                  <a:srgbClr val="1E293B"/>
                </a:solidFill>
                <a:latin typeface="Calibri" pitchFamily="34" charset="0"/>
                <a:ea typeface="Calibri" pitchFamily="34" charset="-122"/>
                <a:cs typeface="Calibri" pitchFamily="34" charset="-120"/>
              </a:rPr>
              <a:t>  So a QAM64 frame can look like QAM16 even with no noise at all.</a:t>
            </a:r>
            <a:endParaRPr lang="en-US" sz="1500" dirty="0"/>
          </a:p>
        </p:txBody>
      </p:sp>
      <p:sp>
        <p:nvSpPr>
          <p:cNvPr id="13" name="Text 9"/>
          <p:cNvSpPr txBox="1"/>
          <p:nvPr/>
        </p:nvSpPr>
        <p:spPr>
          <a:xfrm>
            <a:off x="548640" y="6172200"/>
            <a:ext cx="7315200" cy="274320"/>
          </a:xfrm>
          <a:prstGeom prst="rect">
            <a:avLst/>
          </a:prstGeom>
          <a:noFill/>
          <a:ln/>
        </p:spPr>
        <p:txBody>
          <a:bodyPr wrap="square" lIns="0" tIns="0" rIns="0" bIns="0" rtlCol="0" anchor="t"/>
          <a:lstStyle/>
          <a:p>
            <a:pPr indent="0" marL="0">
              <a:buNone/>
            </a:pPr>
            <a:r>
              <a:rPr lang="en-US" sz="1050" i="1" dirty="0">
                <a:solidFill>
                  <a:srgbClr val="5B6B7F"/>
                </a:solidFill>
                <a:latin typeface="Calibri" pitchFamily="34" charset="0"/>
                <a:ea typeface="Calibri" pitchFamily="34" charset="-122"/>
                <a:cs typeface="Calibri" pitchFamily="34" charset="-120"/>
              </a:rPr>
              <a:t>Pictures drawn by us to explain; the data are DeepSig's.</a:t>
            </a:r>
            <a:endParaRPr lang="en-US" sz="1050" dirty="0"/>
          </a:p>
        </p:txBody>
      </p:sp>
      <p:sp>
        <p:nvSpPr>
          <p:cNvPr id="15" name="Text 10"/>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STEP 2  ·  THE NOISE</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What does “10 dB” mean in this data?</a:t>
            </a:r>
            <a:endParaRPr lang="en-US" sz="3000" dirty="0"/>
          </a:p>
        </p:txBody>
      </p:sp>
      <p:sp>
        <p:nvSpPr>
          <p:cNvPr id="4" name="Shape 2"/>
          <p:cNvSpPr/>
          <p:nvPr/>
        </p:nvSpPr>
        <p:spPr>
          <a:xfrm>
            <a:off x="8202168" y="347472"/>
            <a:ext cx="3438144" cy="329184"/>
          </a:xfrm>
          <a:prstGeom prst="roundRect">
            <a:avLst>
              <a:gd name="adj" fmla="val 33333"/>
            </a:avLst>
          </a:prstGeom>
          <a:solidFill>
            <a:srgbClr val="EEF2F6"/>
          </a:solidFill>
          <a:ln w="12700">
            <a:solidFill>
              <a:srgbClr val="EEF2F6"/>
            </a:solidFill>
            <a:prstDash val="solid"/>
          </a:ln>
        </p:spPr>
      </p:sp>
      <p:sp>
        <p:nvSpPr>
          <p:cNvPr id="5" name="Text 3"/>
          <p:cNvSpPr txBox="1"/>
          <p:nvPr/>
        </p:nvSpPr>
        <p:spPr>
          <a:xfrm>
            <a:off x="8202168" y="347472"/>
            <a:ext cx="3438144"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tools/measure_rml2016_snr.py</a:t>
            </a:r>
            <a:endParaRPr lang="en-US" sz="1100" dirty="0"/>
          </a:p>
        </p:txBody>
      </p:sp>
      <p:sp>
        <p:nvSpPr>
          <p:cNvPr id="6" name="Shape 4"/>
          <p:cNvSpPr/>
          <p:nvPr/>
        </p:nvSpPr>
        <p:spPr>
          <a:xfrm>
            <a:off x="548640" y="1691640"/>
            <a:ext cx="5120640" cy="1078992"/>
          </a:xfrm>
          <a:prstGeom prst="roundRect">
            <a:avLst>
              <a:gd name="adj" fmla="val 8475"/>
            </a:avLst>
          </a:prstGeom>
          <a:solidFill>
            <a:srgbClr val="EEF2F6"/>
          </a:solidFill>
          <a:ln w="12700">
            <a:solidFill>
              <a:srgbClr val="EEF2F6"/>
            </a:solidFill>
            <a:prstDash val="solid"/>
          </a:ln>
        </p:spPr>
      </p:sp>
      <p:sp>
        <p:nvSpPr>
          <p:cNvPr id="7" name="Text 5"/>
          <p:cNvSpPr txBox="1"/>
          <p:nvPr/>
        </p:nvSpPr>
        <p:spPr>
          <a:xfrm>
            <a:off x="777240" y="1783080"/>
            <a:ext cx="4663440" cy="36576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Who made it</a:t>
            </a:r>
            <a:endParaRPr lang="en-US" sz="1500" dirty="0"/>
          </a:p>
        </p:txBody>
      </p:sp>
      <p:sp>
        <p:nvSpPr>
          <p:cNvPr id="8" name="Text 6"/>
          <p:cNvSpPr txBox="1"/>
          <p:nvPr/>
        </p:nvSpPr>
        <p:spPr>
          <a:xfrm>
            <a:off x="777240" y="2148840"/>
            <a:ext cx="4663440" cy="5943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DeepSig, in a simulator (GNU Radio). Not recorded from a real radio.</a:t>
            </a:r>
            <a:endParaRPr lang="en-US" sz="1300" dirty="0"/>
          </a:p>
        </p:txBody>
      </p:sp>
      <p:sp>
        <p:nvSpPr>
          <p:cNvPr id="9" name="Shape 7"/>
          <p:cNvSpPr/>
          <p:nvPr/>
        </p:nvSpPr>
        <p:spPr>
          <a:xfrm>
            <a:off x="548640" y="2898648"/>
            <a:ext cx="5120640" cy="1078992"/>
          </a:xfrm>
          <a:prstGeom prst="roundRect">
            <a:avLst>
              <a:gd name="adj" fmla="val 8475"/>
            </a:avLst>
          </a:prstGeom>
          <a:solidFill>
            <a:srgbClr val="EEF2F6"/>
          </a:solidFill>
          <a:ln w="12700">
            <a:solidFill>
              <a:srgbClr val="EEF2F6"/>
            </a:solidFill>
            <a:prstDash val="solid"/>
          </a:ln>
        </p:spPr>
      </p:sp>
      <p:sp>
        <p:nvSpPr>
          <p:cNvPr id="10" name="Text 8"/>
          <p:cNvSpPr txBox="1"/>
          <p:nvPr/>
        </p:nvSpPr>
        <p:spPr>
          <a:xfrm>
            <a:off x="777240" y="2990088"/>
            <a:ext cx="4663440" cy="36576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What the label sets</a:t>
            </a:r>
            <a:endParaRPr lang="en-US" sz="1500" dirty="0"/>
          </a:p>
        </p:txBody>
      </p:sp>
      <p:sp>
        <p:nvSpPr>
          <p:cNvPr id="11" name="Text 9"/>
          <p:cNvSpPr txBox="1"/>
          <p:nvPr/>
        </p:nvSpPr>
        <p:spPr>
          <a:xfrm>
            <a:off x="777240" y="3355848"/>
            <a:ext cx="4663440" cy="5943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One number in their code: the noise amplitude = 10^(−label/10).</a:t>
            </a:r>
            <a:endParaRPr lang="en-US" sz="1300" dirty="0"/>
          </a:p>
        </p:txBody>
      </p:sp>
      <p:sp>
        <p:nvSpPr>
          <p:cNvPr id="12" name="Shape 10"/>
          <p:cNvSpPr/>
          <p:nvPr/>
        </p:nvSpPr>
        <p:spPr>
          <a:xfrm>
            <a:off x="548640" y="4105656"/>
            <a:ext cx="5120640" cy="1078992"/>
          </a:xfrm>
          <a:prstGeom prst="roundRect">
            <a:avLst>
              <a:gd name="adj" fmla="val 8475"/>
            </a:avLst>
          </a:prstGeom>
          <a:solidFill>
            <a:srgbClr val="EEF2F6"/>
          </a:solidFill>
          <a:ln w="12700">
            <a:solidFill>
              <a:srgbClr val="EEF2F6"/>
            </a:solidFill>
            <a:prstDash val="solid"/>
          </a:ln>
        </p:spPr>
      </p:sp>
      <p:sp>
        <p:nvSpPr>
          <p:cNvPr id="13" name="Text 11"/>
          <p:cNvSpPr txBox="1"/>
          <p:nvPr/>
        </p:nvSpPr>
        <p:spPr>
          <a:xfrm>
            <a:off x="777240" y="4197096"/>
            <a:ext cx="4663440" cy="36576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What else is added</a:t>
            </a:r>
            <a:endParaRPr lang="en-US" sz="1500" dirty="0"/>
          </a:p>
        </p:txBody>
      </p:sp>
      <p:sp>
        <p:nvSpPr>
          <p:cNvPr id="14" name="Text 12"/>
          <p:cNvSpPr txBox="1"/>
          <p:nvPr/>
        </p:nvSpPr>
        <p:spPr>
          <a:xfrm>
            <a:off x="777240" y="4562856"/>
            <a:ext cx="4663440" cy="5943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Carrier offset, clock offset, fading and echoes (multipath) — at every noise level, even the best.</a:t>
            </a:r>
            <a:endParaRPr lang="en-US" sz="1300" dirty="0"/>
          </a:p>
        </p:txBody>
      </p:sp>
      <p:sp>
        <p:nvSpPr>
          <p:cNvPr id="15" name="Text 13"/>
          <p:cNvSpPr txBox="1"/>
          <p:nvPr/>
        </p:nvSpPr>
        <p:spPr>
          <a:xfrm>
            <a:off x="6172200" y="1691640"/>
            <a:ext cx="5486400" cy="36576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I measured the noise in the file itself:</a:t>
            </a:r>
            <a:endParaRPr lang="en-US" sz="1500" dirty="0"/>
          </a:p>
        </p:txBody>
      </p:sp>
      <p:sp>
        <p:nvSpPr>
          <p:cNvPr id="16" name="Shape 14"/>
          <p:cNvSpPr/>
          <p:nvPr/>
        </p:nvSpPr>
        <p:spPr>
          <a:xfrm>
            <a:off x="6172200" y="2148840"/>
            <a:ext cx="2606040" cy="2103120"/>
          </a:xfrm>
          <a:prstGeom prst="roundRect">
            <a:avLst>
              <a:gd name="adj" fmla="val 4348"/>
            </a:avLst>
          </a:prstGeom>
          <a:solidFill>
            <a:srgbClr val="EEF2F6"/>
          </a:solidFill>
          <a:ln w="12700">
            <a:solidFill>
              <a:srgbClr val="EEF2F6"/>
            </a:solidFill>
            <a:prstDash val="solid"/>
          </a:ln>
        </p:spPr>
      </p:sp>
      <p:sp>
        <p:nvSpPr>
          <p:cNvPr id="17" name="Shape 15"/>
          <p:cNvSpPr/>
          <p:nvPr/>
        </p:nvSpPr>
        <p:spPr>
          <a:xfrm>
            <a:off x="9034272" y="2148840"/>
            <a:ext cx="2606040" cy="2103120"/>
          </a:xfrm>
          <a:prstGeom prst="roundRect">
            <a:avLst>
              <a:gd name="adj" fmla="val 4348"/>
            </a:avLst>
          </a:prstGeom>
          <a:solidFill>
            <a:srgbClr val="EEF2F6"/>
          </a:solidFill>
          <a:ln w="12700">
            <a:solidFill>
              <a:srgbClr val="EEF2F6"/>
            </a:solidFill>
            <a:prstDash val="solid"/>
          </a:ln>
        </p:spPr>
      </p:sp>
      <p:sp>
        <p:nvSpPr>
          <p:cNvPr id="18" name="Text 16"/>
          <p:cNvSpPr txBox="1"/>
          <p:nvPr/>
        </p:nvSpPr>
        <p:spPr>
          <a:xfrm>
            <a:off x="6355080" y="2286000"/>
            <a:ext cx="2286000" cy="731520"/>
          </a:xfrm>
          <a:prstGeom prst="rect">
            <a:avLst/>
          </a:prstGeom>
          <a:noFill/>
          <a:ln/>
        </p:spPr>
        <p:txBody>
          <a:bodyPr wrap="square" lIns="0" tIns="0" rIns="0" bIns="0" rtlCol="0" anchor="b"/>
          <a:lstStyle/>
          <a:p>
            <a:pPr algn="ctr" indent="0" marL="0">
              <a:buNone/>
            </a:pPr>
            <a:r>
              <a:rPr lang="en-US" sz="4000" b="1" dirty="0">
                <a:solidFill>
                  <a:srgbClr val="1E293B"/>
                </a:solidFill>
                <a:latin typeface="Calibri" pitchFamily="34" charset="0"/>
                <a:ea typeface="Calibri" pitchFamily="34" charset="-122"/>
                <a:cs typeface="Calibri" pitchFamily="34" charset="-120"/>
              </a:rPr>
              <a:t>1.9 dB</a:t>
            </a:r>
            <a:endParaRPr lang="en-US" sz="4000" dirty="0"/>
          </a:p>
        </p:txBody>
      </p:sp>
      <p:sp>
        <p:nvSpPr>
          <p:cNvPr id="19" name="Text 17"/>
          <p:cNvSpPr txBox="1"/>
          <p:nvPr/>
        </p:nvSpPr>
        <p:spPr>
          <a:xfrm>
            <a:off x="6355080" y="3063240"/>
            <a:ext cx="2286000" cy="822960"/>
          </a:xfrm>
          <a:prstGeom prst="rect">
            <a:avLst/>
          </a:prstGeom>
          <a:noFill/>
          <a:ln/>
        </p:spPr>
        <p:txBody>
          <a:bodyPr wrap="square" lIns="0" tIns="0" rIns="0" bIns="0" rtlCol="0" anchor="t"/>
          <a:lstStyle/>
          <a:p>
            <a:pPr algn="ctr" indent="0" marL="0">
              <a:buNone/>
            </a:pPr>
            <a:r>
              <a:rPr lang="en-US" sz="1250" dirty="0">
                <a:solidFill>
                  <a:srgbClr val="5B6B7F"/>
                </a:solidFill>
                <a:latin typeface="Calibri" pitchFamily="34" charset="0"/>
                <a:ea typeface="Calibri" pitchFamily="34" charset="-122"/>
                <a:cs typeface="Calibri" pitchFamily="34" charset="-120"/>
              </a:rPr>
              <a:t>of real change for every 1 dB of label</a:t>
            </a:r>
            <a:endParaRPr lang="en-US" sz="1250" dirty="0"/>
          </a:p>
        </p:txBody>
      </p:sp>
      <p:sp>
        <p:nvSpPr>
          <p:cNvPr id="20" name="Text 18"/>
          <p:cNvSpPr txBox="1"/>
          <p:nvPr/>
        </p:nvSpPr>
        <p:spPr>
          <a:xfrm>
            <a:off x="9217152" y="2286000"/>
            <a:ext cx="2286000" cy="731520"/>
          </a:xfrm>
          <a:prstGeom prst="rect">
            <a:avLst/>
          </a:prstGeom>
          <a:noFill/>
          <a:ln/>
        </p:spPr>
        <p:txBody>
          <a:bodyPr wrap="square" lIns="0" tIns="0" rIns="0" bIns="0" rtlCol="0" anchor="b"/>
          <a:lstStyle/>
          <a:p>
            <a:pPr algn="ctr" indent="0" marL="0">
              <a:buNone/>
            </a:pPr>
            <a:r>
              <a:rPr lang="en-US" sz="4000" b="1" dirty="0">
                <a:solidFill>
                  <a:srgbClr val="F08A24"/>
                </a:solidFill>
                <a:latin typeface="Calibri" pitchFamily="34" charset="0"/>
                <a:ea typeface="Calibri" pitchFamily="34" charset="-122"/>
                <a:cs typeface="Calibri" pitchFamily="34" charset="-120"/>
              </a:rPr>
              <a:t>+15 dB</a:t>
            </a:r>
            <a:endParaRPr lang="en-US" sz="4000" dirty="0"/>
          </a:p>
        </p:txBody>
      </p:sp>
      <p:sp>
        <p:nvSpPr>
          <p:cNvPr id="21" name="Text 19"/>
          <p:cNvSpPr txBox="1"/>
          <p:nvPr/>
        </p:nvSpPr>
        <p:spPr>
          <a:xfrm>
            <a:off x="9217152" y="3063240"/>
            <a:ext cx="2286000" cy="822960"/>
          </a:xfrm>
          <a:prstGeom prst="rect">
            <a:avLst/>
          </a:prstGeom>
          <a:noFill/>
          <a:ln/>
        </p:spPr>
        <p:txBody>
          <a:bodyPr wrap="square" lIns="0" tIns="0" rIns="0" bIns="0" rtlCol="0" anchor="t"/>
          <a:lstStyle/>
          <a:p>
            <a:pPr algn="ctr" indent="0" marL="0">
              <a:buNone/>
            </a:pPr>
            <a:r>
              <a:rPr lang="en-US" sz="1250" dirty="0">
                <a:solidFill>
                  <a:srgbClr val="5B6B7F"/>
                </a:solidFill>
                <a:latin typeface="Calibri" pitchFamily="34" charset="0"/>
                <a:ea typeface="Calibri" pitchFamily="34" charset="-122"/>
                <a:cs typeface="Calibri" pitchFamily="34" charset="-120"/>
              </a:rPr>
              <a:t>more signal in QAM64 than in BPSK or QPSK, at the same label</a:t>
            </a:r>
            <a:endParaRPr lang="en-US" sz="1250" dirty="0"/>
          </a:p>
        </p:txBody>
      </p:sp>
      <p:sp>
        <p:nvSpPr>
          <p:cNvPr id="22" name="Text 20"/>
          <p:cNvSpPr txBox="1"/>
          <p:nvPr/>
        </p:nvSpPr>
        <p:spPr>
          <a:xfrm>
            <a:off x="6172200" y="4434840"/>
            <a:ext cx="5468112" cy="100584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How: the signal sits in the middle of the spectrum; outside it there is only noise, so its level there gives the noise power. Checked first on frames of known noise (within 0.5 dB).</a:t>
            </a:r>
            <a:endParaRPr lang="en-US" sz="1200" dirty="0"/>
          </a:p>
        </p:txBody>
      </p:sp>
      <p:sp>
        <p:nvSpPr>
          <p:cNvPr id="23" name="Text 21"/>
          <p:cNvSpPr txBox="1"/>
          <p:nvPr/>
        </p:nvSpPr>
        <p:spPr>
          <a:xfrm>
            <a:off x="548640" y="5669280"/>
            <a:ext cx="11091672"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“10 dB” is a setting, not a measurement,</a:t>
            </a:r>
            <a:pPr indent="0" marL="0">
              <a:buNone/>
            </a:pPr>
            <a:r>
              <a:rPr lang="en-US" sz="1500" dirty="0">
                <a:solidFill>
                  <a:srgbClr val="1E293B"/>
                </a:solidFill>
                <a:latin typeface="Calibri" pitchFamily="34" charset="0"/>
                <a:ea typeface="Calibri" pitchFamily="34" charset="-122"/>
                <a:cs typeface="Calibri" pitchFamily="34" charset="-120"/>
              </a:rPr>
              <a:t>  and it means a different amount of noise for each kind of signal.</a:t>
            </a:r>
            <a:endParaRPr lang="en-US" sz="1500" dirty="0"/>
          </a:p>
        </p:txBody>
      </p:sp>
      <p:sp>
        <p:nvSpPr>
          <p:cNvPr id="25" name="Text 22"/>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RESULT</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The answer at one noise level: 10 dB</a:t>
            </a:r>
            <a:endParaRPr lang="en-US" sz="3000" dirty="0"/>
          </a:p>
        </p:txBody>
      </p:sp>
      <p:sp>
        <p:nvSpPr>
          <p:cNvPr id="4" name="Shape 2"/>
          <p:cNvSpPr/>
          <p:nvPr/>
        </p:nvSpPr>
        <p:spPr>
          <a:xfrm>
            <a:off x="9189720" y="347472"/>
            <a:ext cx="2450592" cy="329184"/>
          </a:xfrm>
          <a:prstGeom prst="roundRect">
            <a:avLst>
              <a:gd name="adj" fmla="val 33333"/>
            </a:avLst>
          </a:prstGeom>
          <a:solidFill>
            <a:srgbClr val="EEF2F6"/>
          </a:solidFill>
          <a:ln w="12700">
            <a:solidFill>
              <a:srgbClr val="EEF2F6"/>
            </a:solidFill>
            <a:prstDash val="solid"/>
          </a:ln>
        </p:spPr>
      </p:sp>
      <p:sp>
        <p:nvSpPr>
          <p:cNvPr id="5" name="Text 3"/>
          <p:cNvSpPr txBox="1"/>
          <p:nvPr/>
        </p:nvSpPr>
        <p:spPr>
          <a:xfrm>
            <a:off x="9189720" y="347472"/>
            <a:ext cx="2450592"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tools/single_snr.py</a:t>
            </a:r>
            <a:endParaRPr lang="en-US" sz="1100" dirty="0"/>
          </a:p>
        </p:txBody>
      </p:sp>
      <p:sp>
        <p:nvSpPr>
          <p:cNvPr id="6" name="Text 4"/>
          <p:cNvSpPr txBox="1"/>
          <p:nvPr/>
        </p:nvSpPr>
        <p:spPr>
          <a:xfrm>
            <a:off x="548640" y="1371600"/>
            <a:ext cx="11091672" cy="3657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8,400 test frames: 14 repeats × 4 kinds × 150. Rows: what was sent. Columns: what the detector said.</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7132320" cy="914400"/>
        </p:xfrm>
        <a:graphic>
          <a:graphicData uri="http://schemas.openxmlformats.org/drawingml/2006/table">
            <a:tbl>
              <a:tblPr/>
              <a:tblGrid>
                <a:gridCol w="1463040"/>
                <a:gridCol w="1143000"/>
                <a:gridCol w="1143000"/>
                <a:gridCol w="1143000"/>
                <a:gridCol w="1143000"/>
                <a:gridCol w="1097280"/>
              </a:tblGrid>
              <a:tr h="457200">
                <a:tc>
                  <a:txBody>
                    <a:bodyPr/>
                    <a:lstStyle/>
                    <a:p>
                      <a:pPr algn="ctr" indent="0" marL="0">
                        <a:buNone/>
                      </a:pPr>
                      <a:r>
                        <a:rPr lang="en-US" sz="1100" b="1" dirty="0">
                          <a:solidFill>
                            <a:srgbClr val="1E293B"/>
                          </a:solidFill>
                          <a:latin typeface="Calibri" pitchFamily="34" charset="0"/>
                          <a:ea typeface="Calibri" pitchFamily="34" charset="-122"/>
                          <a:cs typeface="Calibri" pitchFamily="34" charset="-120"/>
                        </a:rPr>
                        <a:t>sent \ said</a:t>
                      </a:r>
                      <a:endParaRPr lang="en-US" sz="11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BPSK</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QPSK</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QAM16</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QAM64</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45720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BPSK</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2,092</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F1B2D"/>
                    </a:solidFill>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99.6%</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45720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QPSK</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2,091</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F1B2D"/>
                    </a:solidFill>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99.6%</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45720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QAM16</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1,808</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F1B2D"/>
                    </a:solidFill>
                  </a:tcPr>
                </a:tc>
                <a:tc>
                  <a:txBody>
                    <a:bodyPr/>
                    <a:lstStyle/>
                    <a:p>
                      <a:pPr algn="ctr" indent="0" marL="0">
                        <a:buNone/>
                      </a:pPr>
                      <a:r>
                        <a:rPr lang="en-US" sz="1400" dirty="0">
                          <a:solidFill>
                            <a:srgbClr val="1E293B"/>
                          </a:solidFill>
                          <a:latin typeface="Calibri" pitchFamily="34" charset="0"/>
                          <a:ea typeface="Calibri" pitchFamily="34" charset="-122"/>
                          <a:cs typeface="Calibri" pitchFamily="34" charset="-120"/>
                        </a:rPr>
                        <a:t>269</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CE3C8"/>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86.1%</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457200">
                <a:tc>
                  <a:txBody>
                    <a:bodyPr/>
                    <a:lstStyle/>
                    <a:p>
                      <a:pPr indent="0" marL="0">
                        <a:buNone/>
                      </a:pPr>
                      <a:r>
                        <a:rPr lang="en-US" sz="1300" b="1" dirty="0">
                          <a:solidFill>
                            <a:srgbClr val="1E293B"/>
                          </a:solidFill>
                          <a:latin typeface="Calibri" pitchFamily="34" charset="0"/>
                          <a:ea typeface="Calibri" pitchFamily="34" charset="-122"/>
                          <a:cs typeface="Calibri" pitchFamily="34" charset="-120"/>
                        </a:rPr>
                        <a:t>QAM64</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8A99A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B"/>
                          </a:solidFill>
                          <a:latin typeface="Calibri" pitchFamily="34" charset="0"/>
                          <a:ea typeface="Calibri" pitchFamily="34" charset="-122"/>
                          <a:cs typeface="Calibri" pitchFamily="34" charset="-120"/>
                        </a:rPr>
                        <a:t>126</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CE3C8"/>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1,961</a:t>
                      </a:r>
                      <a:endParaRPr lang="en-US" sz="14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F1B2D"/>
                    </a:solidFill>
                  </a:tcPr>
                </a:tc>
                <a:tc>
                  <a:txBody>
                    <a:bodyPr/>
                    <a:lstStyle/>
                    <a:p>
                      <a:pPr algn="ctr" indent="0" marL="0">
                        <a:buNone/>
                      </a:pPr>
                      <a:r>
                        <a:rPr lang="en-US" sz="1300" b="1" dirty="0">
                          <a:solidFill>
                            <a:srgbClr val="1E293B"/>
                          </a:solidFill>
                          <a:latin typeface="Calibri" pitchFamily="34" charset="0"/>
                          <a:ea typeface="Calibri" pitchFamily="34" charset="-122"/>
                          <a:cs typeface="Calibri" pitchFamily="34" charset="-120"/>
                        </a:rPr>
                        <a:t>93.4%</a:t>
                      </a:r>
                      <a:endParaRPr lang="en-US" sz="13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457200">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99.1%</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98.7%</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93.4%</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87.7%</a:t>
                      </a: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bl>
          </a:graphicData>
        </a:graphic>
      </p:graphicFrame>
      <p:sp>
        <p:nvSpPr>
          <p:cNvPr id="8" name="Text 5"/>
          <p:cNvSpPr txBox="1"/>
          <p:nvPr/>
        </p:nvSpPr>
        <p:spPr>
          <a:xfrm>
            <a:off x="548640" y="4800600"/>
            <a:ext cx="7132320" cy="731520"/>
          </a:xfrm>
          <a:prstGeom prst="rect">
            <a:avLst/>
          </a:prstGeom>
          <a:noFill/>
          <a:ln/>
        </p:spPr>
        <p:txBody>
          <a:bodyPr wrap="square" lIns="0" tIns="0" rIns="0" bIns="0" rtlCol="0" anchor="t"/>
          <a:lstStyle/>
          <a:p>
            <a:pPr indent="0" marL="0">
              <a:buNone/>
            </a:pPr>
            <a:r>
              <a:rPr lang="en-US" sz="1250" b="1" dirty="0">
                <a:solidFill>
                  <a:srgbClr val="5B6B7F"/>
                </a:solidFill>
                <a:latin typeface="Calibri" pitchFamily="34" charset="0"/>
                <a:ea typeface="Calibri" pitchFamily="34" charset="-122"/>
                <a:cs typeface="Calibri" pitchFamily="34" charset="-120"/>
              </a:rPr>
              <a:t>Recall</a:t>
            </a:r>
            <a:pPr indent="0" marL="0">
              <a:buNone/>
            </a:pPr>
            <a:r>
              <a:rPr lang="en-US" sz="1250" dirty="0">
                <a:solidFill>
                  <a:srgbClr val="5B6B7F"/>
                </a:solidFill>
                <a:latin typeface="Calibri" pitchFamily="34" charset="0"/>
                <a:ea typeface="Calibri" pitchFamily="34" charset="-122"/>
                <a:cs typeface="Calibri" pitchFamily="34" charset="-120"/>
              </a:rPr>
              <a:t> = of the frames that were this kind, how many it named right (a row).</a:t>
            </a:r>
            <a:endParaRPr lang="en-US" sz="1250" dirty="0"/>
          </a:p>
          <a:p>
            <a:pPr indent="0" marL="0">
              <a:buNone/>
            </a:pPr>
            <a:r>
              <a:rPr lang="en-US" sz="1250" b="1" dirty="0">
                <a:solidFill>
                  <a:srgbClr val="5B6B7F"/>
                </a:solidFill>
                <a:latin typeface="Calibri" pitchFamily="34" charset="0"/>
                <a:ea typeface="Calibri" pitchFamily="34" charset="-122"/>
                <a:cs typeface="Calibri" pitchFamily="34" charset="-120"/>
              </a:rPr>
              <a:t>Precision</a:t>
            </a:r>
            <a:pPr indent="0" marL="0">
              <a:buNone/>
            </a:pPr>
            <a:r>
              <a:rPr lang="en-US" sz="1250" dirty="0">
                <a:solidFill>
                  <a:srgbClr val="5B6B7F"/>
                </a:solidFill>
                <a:latin typeface="Calibri" pitchFamily="34" charset="0"/>
                <a:ea typeface="Calibri" pitchFamily="34" charset="-122"/>
                <a:cs typeface="Calibri" pitchFamily="34" charset="-120"/>
              </a:rPr>
              <a:t> = of the frames it gave this name, how many were right (a column).</a:t>
            </a:r>
            <a:endParaRPr lang="en-US" sz="1250" dirty="0"/>
          </a:p>
        </p:txBody>
      </p:sp>
      <p:sp>
        <p:nvSpPr>
          <p:cNvPr id="9" name="Shape 6"/>
          <p:cNvSpPr/>
          <p:nvPr/>
        </p:nvSpPr>
        <p:spPr>
          <a:xfrm>
            <a:off x="8138160" y="1874520"/>
            <a:ext cx="3502152" cy="2743200"/>
          </a:xfrm>
          <a:prstGeom prst="roundRect">
            <a:avLst>
              <a:gd name="adj" fmla="val 3333"/>
            </a:avLst>
          </a:prstGeom>
          <a:solidFill>
            <a:srgbClr val="EEF2F6"/>
          </a:solidFill>
          <a:ln w="12700">
            <a:solidFill>
              <a:srgbClr val="EEF2F6"/>
            </a:solidFill>
            <a:prstDash val="solid"/>
          </a:ln>
        </p:spPr>
      </p:sp>
      <p:sp>
        <p:nvSpPr>
          <p:cNvPr id="10" name="Text 7"/>
          <p:cNvSpPr txBox="1"/>
          <p:nvPr/>
        </p:nvSpPr>
        <p:spPr>
          <a:xfrm>
            <a:off x="8321040" y="2011680"/>
            <a:ext cx="3108960" cy="822960"/>
          </a:xfrm>
          <a:prstGeom prst="rect">
            <a:avLst/>
          </a:prstGeom>
          <a:noFill/>
          <a:ln/>
        </p:spPr>
        <p:txBody>
          <a:bodyPr wrap="square" lIns="0" tIns="0" rIns="0" bIns="0" rtlCol="0" anchor="b"/>
          <a:lstStyle/>
          <a:p>
            <a:pPr indent="0" marL="0">
              <a:buNone/>
            </a:pPr>
            <a:r>
              <a:rPr lang="en-US" sz="4600" b="1" dirty="0">
                <a:solidFill>
                  <a:srgbClr val="F08A24"/>
                </a:solidFill>
                <a:latin typeface="Calibri" pitchFamily="34" charset="0"/>
                <a:ea typeface="Calibri" pitchFamily="34" charset="-122"/>
                <a:cs typeface="Calibri" pitchFamily="34" charset="-120"/>
              </a:rPr>
              <a:t>448</a:t>
            </a:r>
            <a:endParaRPr lang="en-US" sz="4600" dirty="0"/>
          </a:p>
        </p:txBody>
      </p:sp>
      <p:sp>
        <p:nvSpPr>
          <p:cNvPr id="11" name="Text 8"/>
          <p:cNvSpPr txBox="1"/>
          <p:nvPr/>
        </p:nvSpPr>
        <p:spPr>
          <a:xfrm>
            <a:off x="8321040" y="2834640"/>
            <a:ext cx="3108960" cy="3657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wrong out of 8,400</a:t>
            </a:r>
            <a:endParaRPr lang="en-US" sz="1400" dirty="0"/>
          </a:p>
        </p:txBody>
      </p:sp>
      <p:sp>
        <p:nvSpPr>
          <p:cNvPr id="12" name="Text 9"/>
          <p:cNvSpPr txBox="1"/>
          <p:nvPr/>
        </p:nvSpPr>
        <p:spPr>
          <a:xfrm>
            <a:off x="8321040" y="3246120"/>
            <a:ext cx="3108960" cy="731520"/>
          </a:xfrm>
          <a:prstGeom prst="rect">
            <a:avLst/>
          </a:prstGeom>
          <a:noFill/>
          <a:ln/>
        </p:spPr>
        <p:txBody>
          <a:bodyPr wrap="square" lIns="0" tIns="0" rIns="0" bIns="0" rtlCol="0" anchor="b"/>
          <a:lstStyle/>
          <a:p>
            <a:pPr indent="0" marL="0">
              <a:buNone/>
            </a:pPr>
            <a:r>
              <a:rPr lang="en-US" sz="3400" b="1" dirty="0">
                <a:solidFill>
                  <a:srgbClr val="1E293B"/>
                </a:solidFill>
                <a:latin typeface="Calibri" pitchFamily="34" charset="0"/>
                <a:ea typeface="Calibri" pitchFamily="34" charset="-122"/>
                <a:cs typeface="Calibri" pitchFamily="34" charset="-120"/>
              </a:rPr>
              <a:t>395</a:t>
            </a:r>
            <a:endParaRPr lang="en-US" sz="3400" dirty="0"/>
          </a:p>
        </p:txBody>
      </p:sp>
      <p:sp>
        <p:nvSpPr>
          <p:cNvPr id="13" name="Text 10"/>
          <p:cNvSpPr txBox="1"/>
          <p:nvPr/>
        </p:nvSpPr>
        <p:spPr>
          <a:xfrm>
            <a:off x="8321040" y="3977640"/>
            <a:ext cx="3108960" cy="45720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of them are QAM16 and QAM64 mixed up</a:t>
            </a:r>
            <a:endParaRPr lang="en-US" sz="1400" dirty="0"/>
          </a:p>
        </p:txBody>
      </p:sp>
      <p:sp>
        <p:nvSpPr>
          <p:cNvPr id="14" name="Text 11"/>
          <p:cNvSpPr txBox="1"/>
          <p:nvPr/>
        </p:nvSpPr>
        <p:spPr>
          <a:xfrm>
            <a:off x="548640" y="5669280"/>
            <a:ext cx="11091672"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BPSK and QPSK are essentially solved.</a:t>
            </a:r>
            <a:pPr indent="0" marL="0">
              <a:buNone/>
            </a:pPr>
            <a:r>
              <a:rPr lang="en-US" sz="1500" dirty="0">
                <a:solidFill>
                  <a:srgbClr val="1E293B"/>
                </a:solidFill>
                <a:latin typeface="Calibri" pitchFamily="34" charset="0"/>
                <a:ea typeface="Calibri" pitchFamily="34" charset="-122"/>
                <a:cs typeface="Calibri" pitchFamily="34" charset="-120"/>
              </a:rPr>
              <a:t>  Almost every mistake is QAM16 against QAM64.</a:t>
            </a:r>
            <a:endParaRPr lang="en-US" sz="1500" dirty="0"/>
          </a:p>
        </p:txBody>
      </p:sp>
      <p:sp>
        <p:nvSpPr>
          <p:cNvPr id="16" name="Text 12"/>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STEP BY STEP  ·  LESS SIGNAL</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Turn the noise up: when does it break?</a:t>
            </a:r>
            <a:endParaRPr lang="en-US" sz="3000" dirty="0"/>
          </a:p>
        </p:txBody>
      </p:sp>
      <p:sp>
        <p:nvSpPr>
          <p:cNvPr id="4" name="Shape 2"/>
          <p:cNvSpPr/>
          <p:nvPr/>
        </p:nvSpPr>
        <p:spPr>
          <a:xfrm>
            <a:off x="9189720" y="347472"/>
            <a:ext cx="2450592" cy="329184"/>
          </a:xfrm>
          <a:prstGeom prst="roundRect">
            <a:avLst>
              <a:gd name="adj" fmla="val 33333"/>
            </a:avLst>
          </a:prstGeom>
          <a:solidFill>
            <a:srgbClr val="EEF2F6"/>
          </a:solidFill>
          <a:ln w="12700">
            <a:solidFill>
              <a:srgbClr val="EEF2F6"/>
            </a:solidFill>
            <a:prstDash val="solid"/>
          </a:ln>
        </p:spPr>
      </p:sp>
      <p:sp>
        <p:nvSpPr>
          <p:cNvPr id="5" name="Text 3"/>
          <p:cNvSpPr txBox="1"/>
          <p:nvPr/>
        </p:nvSpPr>
        <p:spPr>
          <a:xfrm>
            <a:off x="9189720" y="347472"/>
            <a:ext cx="2450592"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tools/single_snr.py</a:t>
            </a:r>
            <a:endParaRPr lang="en-US" sz="1100" dirty="0"/>
          </a:p>
        </p:txBody>
      </p:sp>
      <p:sp>
        <p:nvSpPr>
          <p:cNvPr id="6" name="Text 4"/>
          <p:cNvSpPr txBox="1"/>
          <p:nvPr/>
        </p:nvSpPr>
        <p:spPr>
          <a:xfrm>
            <a:off x="548640" y="1371600"/>
            <a:ext cx="11091672" cy="3657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Wrong answers out of 8,400 test frames at each label.</a:t>
            </a:r>
            <a:endParaRPr lang="en-US" sz="1400" dirty="0"/>
          </a:p>
        </p:txBody>
      </p:sp>
      <p:graphicFrame>
        <p:nvGraphicFramePr>
          <p:cNvPr id="7" name="Chart 0" descr=""/>
          <p:cNvGraphicFramePr/>
          <p:nvPr/>
        </p:nvGraphicFramePr>
        <p:xfrm>
          <a:off x="548640" y="1783080"/>
          <a:ext cx="7863840" cy="38404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732520" y="1920240"/>
            <a:ext cx="2907792" cy="1554480"/>
          </a:xfrm>
          <a:prstGeom prst="roundRect">
            <a:avLst>
              <a:gd name="adj" fmla="val 5882"/>
            </a:avLst>
          </a:prstGeom>
          <a:solidFill>
            <a:srgbClr val="EEF2F6"/>
          </a:solidFill>
          <a:ln w="12700">
            <a:solidFill>
              <a:srgbClr val="EEF2F6"/>
            </a:solidFill>
            <a:prstDash val="solid"/>
          </a:ln>
        </p:spPr>
      </p:sp>
      <p:sp>
        <p:nvSpPr>
          <p:cNvPr id="9" name="Text 6"/>
          <p:cNvSpPr txBox="1"/>
          <p:nvPr/>
        </p:nvSpPr>
        <p:spPr>
          <a:xfrm>
            <a:off x="8915400" y="2011680"/>
            <a:ext cx="2560320" cy="548640"/>
          </a:xfrm>
          <a:prstGeom prst="rect">
            <a:avLst/>
          </a:prstGeom>
          <a:noFill/>
          <a:ln/>
        </p:spPr>
        <p:txBody>
          <a:bodyPr wrap="square" lIns="0" tIns="0" rIns="0" bIns="0" rtlCol="0" anchor="t"/>
          <a:lstStyle/>
          <a:p>
            <a:pPr indent="0" marL="0">
              <a:buNone/>
            </a:pPr>
            <a:r>
              <a:rPr lang="en-US" sz="2400" b="1" dirty="0">
                <a:solidFill>
                  <a:srgbClr val="0F1B2D"/>
                </a:solidFill>
                <a:latin typeface="Calibri" pitchFamily="34" charset="0"/>
                <a:ea typeface="Calibri" pitchFamily="34" charset="-122"/>
                <a:cs typeface="Calibri" pitchFamily="34" charset="-120"/>
              </a:rPr>
              <a:t>10 → 2 dB</a:t>
            </a:r>
            <a:endParaRPr lang="en-US" sz="2400" dirty="0"/>
          </a:p>
        </p:txBody>
      </p:sp>
      <p:sp>
        <p:nvSpPr>
          <p:cNvPr id="10" name="Text 7"/>
          <p:cNvSpPr txBox="1"/>
          <p:nvPr/>
        </p:nvSpPr>
        <p:spPr>
          <a:xfrm>
            <a:off x="8915400" y="2560320"/>
            <a:ext cx="2560320" cy="82296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about 450–490 wrong every time: the same box</a:t>
            </a:r>
            <a:endParaRPr lang="en-US" sz="1300" dirty="0"/>
          </a:p>
        </p:txBody>
      </p:sp>
      <p:sp>
        <p:nvSpPr>
          <p:cNvPr id="11" name="Shape 8"/>
          <p:cNvSpPr/>
          <p:nvPr/>
        </p:nvSpPr>
        <p:spPr>
          <a:xfrm>
            <a:off x="8732520" y="3657600"/>
            <a:ext cx="2907792" cy="1554480"/>
          </a:xfrm>
          <a:prstGeom prst="roundRect">
            <a:avLst>
              <a:gd name="adj" fmla="val 5882"/>
            </a:avLst>
          </a:prstGeom>
          <a:solidFill>
            <a:srgbClr val="EEF2F6"/>
          </a:solidFill>
          <a:ln w="12700">
            <a:solidFill>
              <a:srgbClr val="EEF2F6"/>
            </a:solidFill>
            <a:prstDash val="solid"/>
          </a:ln>
        </p:spPr>
      </p:sp>
      <p:sp>
        <p:nvSpPr>
          <p:cNvPr id="12" name="Text 9"/>
          <p:cNvSpPr txBox="1"/>
          <p:nvPr/>
        </p:nvSpPr>
        <p:spPr>
          <a:xfrm>
            <a:off x="8915400" y="3749040"/>
            <a:ext cx="2560320" cy="548640"/>
          </a:xfrm>
          <a:prstGeom prst="rect">
            <a:avLst/>
          </a:prstGeom>
          <a:noFill/>
          <a:ln/>
        </p:spPr>
        <p:txBody>
          <a:bodyPr wrap="square" lIns="0" tIns="0" rIns="0" bIns="0" rtlCol="0" anchor="t"/>
          <a:lstStyle/>
          <a:p>
            <a:pPr indent="0" marL="0">
              <a:buNone/>
            </a:pPr>
            <a:r>
              <a:rPr lang="en-US" sz="2400" b="1" dirty="0">
                <a:solidFill>
                  <a:srgbClr val="F08A24"/>
                </a:solidFill>
                <a:latin typeface="Calibri" pitchFamily="34" charset="0"/>
                <a:ea typeface="Calibri" pitchFamily="34" charset="-122"/>
                <a:cs typeface="Calibri" pitchFamily="34" charset="-120"/>
              </a:rPr>
              <a:t>below 0 dB</a:t>
            </a:r>
            <a:endParaRPr lang="en-US" sz="2400" dirty="0"/>
          </a:p>
        </p:txBody>
      </p:sp>
      <p:sp>
        <p:nvSpPr>
          <p:cNvPr id="13" name="Text 10"/>
          <p:cNvSpPr txBox="1"/>
          <p:nvPr/>
        </p:nvSpPr>
        <p:spPr>
          <a:xfrm>
            <a:off x="8915400" y="4297680"/>
            <a:ext cx="2560320" cy="82296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it breaks: QPSK starts going to the QAMs first</a:t>
            </a:r>
            <a:endParaRPr lang="en-US" sz="1300" dirty="0"/>
          </a:p>
        </p:txBody>
      </p:sp>
      <p:sp>
        <p:nvSpPr>
          <p:cNvPr id="14" name="Text 11"/>
          <p:cNvSpPr txBox="1"/>
          <p:nvPr/>
        </p:nvSpPr>
        <p:spPr>
          <a:xfrm>
            <a:off x="548640" y="5806440"/>
            <a:ext cx="11091672"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From 10 dB down to 2 dB nothing changes.</a:t>
            </a:r>
            <a:pPr indent="0" marL="0">
              <a:buNone/>
            </a:pPr>
            <a:r>
              <a:rPr lang="en-US" sz="1500" dirty="0">
                <a:solidFill>
                  <a:srgbClr val="1E293B"/>
                </a:solidFill>
                <a:latin typeface="Calibri" pitchFamily="34" charset="0"/>
                <a:ea typeface="Calibri" pitchFamily="34" charset="-122"/>
                <a:cs typeface="Calibri" pitchFamily="34" charset="-120"/>
              </a:rPr>
              <a:t>  The mistakes there are not caused by noise.</a:t>
            </a:r>
            <a:endParaRPr lang="en-US" sz="1500" dirty="0"/>
          </a:p>
        </p:txBody>
      </p:sp>
      <p:sp>
        <p:nvSpPr>
          <p:cNvPr id="16" name="Text 12"/>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COMPARING FRAME LENGTHS</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16, 8 or 4 symbols: what does it need?</a:t>
            </a:r>
            <a:endParaRPr lang="en-US" sz="3000" dirty="0"/>
          </a:p>
        </p:txBody>
      </p:sp>
      <p:sp>
        <p:nvSpPr>
          <p:cNvPr id="4" name="Shape 2"/>
          <p:cNvSpPr/>
          <p:nvPr/>
        </p:nvSpPr>
        <p:spPr>
          <a:xfrm>
            <a:off x="7214616" y="347472"/>
            <a:ext cx="4425696" cy="329184"/>
          </a:xfrm>
          <a:prstGeom prst="roundRect">
            <a:avLst>
              <a:gd name="adj" fmla="val 33333"/>
            </a:avLst>
          </a:prstGeom>
          <a:solidFill>
            <a:srgbClr val="EEF2F6"/>
          </a:solidFill>
          <a:ln w="12700">
            <a:solidFill>
              <a:srgbClr val="EEF2F6"/>
            </a:solidFill>
            <a:prstDash val="solid"/>
          </a:ln>
        </p:spPr>
      </p:sp>
      <p:sp>
        <p:nvSpPr>
          <p:cNvPr id="5" name="Text 3"/>
          <p:cNvSpPr txBox="1"/>
          <p:nvPr/>
        </p:nvSpPr>
        <p:spPr>
          <a:xfrm>
            <a:off x="7214616" y="347472"/>
            <a:ext cx="4425696"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train_backbone.py --frame-len 64 / 32</a:t>
            </a:r>
            <a:endParaRPr lang="en-US" sz="1100" dirty="0"/>
          </a:p>
        </p:txBody>
      </p:sp>
      <p:graphicFrame>
        <p:nvGraphicFramePr>
          <p:cNvPr id="6" name="Chart 0" descr=""/>
          <p:cNvGraphicFramePr/>
          <p:nvPr/>
        </p:nvGraphicFramePr>
        <p:xfrm>
          <a:off x="548640" y="1508760"/>
          <a:ext cx="5669280" cy="40233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364224" y="1609344"/>
            <a:ext cx="3502152" cy="2440795"/>
          </a:xfrm>
          <a:prstGeom prst="roundRect">
            <a:avLst>
              <a:gd name="adj" fmla="val 2248"/>
            </a:avLst>
          </a:prstGeom>
          <a:solidFill>
            <a:srgbClr val="0F1B2D"/>
          </a:solidFill>
          <a:ln w="12700">
            <a:solidFill>
              <a:srgbClr val="0F1B2D"/>
            </a:solidFill>
            <a:prstDash val="solid"/>
          </a:ln>
        </p:spPr>
      </p:sp>
      <p:pic>
        <p:nvPicPr>
          <p:cNvPr id="8" name="Image 0" descr="simple/fewer.png">    </p:cNvPr>
          <p:cNvPicPr>
            <a:picLocks noChangeAspect="1"/>
          </p:cNvPicPr>
          <p:nvPr/>
        </p:nvPicPr>
        <p:blipFill>
          <a:blip r:embed="rId2"/>
          <a:stretch>
            <a:fillRect/>
          </a:stretch>
        </p:blipFill>
        <p:spPr>
          <a:xfrm>
            <a:off x="6400800" y="1645920"/>
            <a:ext cx="3429000" cy="2367643"/>
          </a:xfrm>
          <a:prstGeom prst="rect">
            <a:avLst/>
          </a:prstGeom>
        </p:spPr>
      </p:pic>
      <p:sp>
        <p:nvSpPr>
          <p:cNvPr id="9" name="Text 5"/>
          <p:cNvSpPr txBox="1"/>
          <p:nvPr/>
        </p:nvSpPr>
        <p:spPr>
          <a:xfrm>
            <a:off x="10104120" y="1600200"/>
            <a:ext cx="1554480" cy="457200"/>
          </a:xfrm>
          <a:prstGeom prst="rect">
            <a:avLst/>
          </a:prstGeom>
          <a:noFill/>
          <a:ln/>
        </p:spPr>
        <p:txBody>
          <a:bodyPr wrap="square" lIns="0" tIns="0" rIns="0" bIns="0" rtlCol="0" anchor="t"/>
          <a:lstStyle/>
          <a:p>
            <a:pPr indent="0" marL="0">
              <a:buNone/>
            </a:pPr>
            <a:r>
              <a:rPr lang="en-US" sz="2400" b="1" dirty="0">
                <a:solidFill>
                  <a:srgbClr val="0F1B2D"/>
                </a:solidFill>
                <a:latin typeface="Calibri" pitchFamily="34" charset="0"/>
                <a:ea typeface="Calibri" pitchFamily="34" charset="-122"/>
                <a:cs typeface="Calibri" pitchFamily="34" charset="-120"/>
              </a:rPr>
              <a:t>5.7%</a:t>
            </a:r>
            <a:endParaRPr lang="en-US" sz="2400" dirty="0"/>
          </a:p>
        </p:txBody>
      </p:sp>
      <p:sp>
        <p:nvSpPr>
          <p:cNvPr id="10" name="Text 6"/>
          <p:cNvSpPr txBox="1"/>
          <p:nvPr/>
        </p:nvSpPr>
        <p:spPr>
          <a:xfrm>
            <a:off x="10104120" y="2011680"/>
            <a:ext cx="155448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16 symbols</a:t>
            </a:r>
            <a:endParaRPr lang="en-US" sz="1100" dirty="0"/>
          </a:p>
        </p:txBody>
      </p:sp>
      <p:sp>
        <p:nvSpPr>
          <p:cNvPr id="11" name="Text 7"/>
          <p:cNvSpPr txBox="1"/>
          <p:nvPr/>
        </p:nvSpPr>
        <p:spPr>
          <a:xfrm>
            <a:off x="10104120" y="2377440"/>
            <a:ext cx="1554480" cy="457200"/>
          </a:xfrm>
          <a:prstGeom prst="rect">
            <a:avLst/>
          </a:prstGeom>
          <a:noFill/>
          <a:ln/>
        </p:spPr>
        <p:txBody>
          <a:bodyPr wrap="square" lIns="0" tIns="0" rIns="0" bIns="0" rtlCol="0" anchor="t"/>
          <a:lstStyle/>
          <a:p>
            <a:pPr indent="0" marL="0">
              <a:buNone/>
            </a:pPr>
            <a:r>
              <a:rPr lang="en-US" sz="2400" b="1" dirty="0">
                <a:solidFill>
                  <a:srgbClr val="F08A24"/>
                </a:solidFill>
                <a:latin typeface="Calibri" pitchFamily="34" charset="0"/>
                <a:ea typeface="Calibri" pitchFamily="34" charset="-122"/>
                <a:cs typeface="Calibri" pitchFamily="34" charset="-120"/>
              </a:rPr>
              <a:t>15.5%</a:t>
            </a:r>
            <a:endParaRPr lang="en-US" sz="2400" dirty="0"/>
          </a:p>
        </p:txBody>
      </p:sp>
      <p:sp>
        <p:nvSpPr>
          <p:cNvPr id="12" name="Text 8"/>
          <p:cNvSpPr txBox="1"/>
          <p:nvPr/>
        </p:nvSpPr>
        <p:spPr>
          <a:xfrm>
            <a:off x="10104120" y="2788920"/>
            <a:ext cx="155448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8 symbols</a:t>
            </a:r>
            <a:endParaRPr lang="en-US" sz="1100" dirty="0"/>
          </a:p>
        </p:txBody>
      </p:sp>
      <p:sp>
        <p:nvSpPr>
          <p:cNvPr id="13" name="Text 9"/>
          <p:cNvSpPr txBox="1"/>
          <p:nvPr/>
        </p:nvSpPr>
        <p:spPr>
          <a:xfrm>
            <a:off x="10104120" y="3154680"/>
            <a:ext cx="1554480" cy="457200"/>
          </a:xfrm>
          <a:prstGeom prst="rect">
            <a:avLst/>
          </a:prstGeom>
          <a:noFill/>
          <a:ln/>
        </p:spPr>
        <p:txBody>
          <a:bodyPr wrap="square" lIns="0" tIns="0" rIns="0" bIns="0" rtlCol="0" anchor="t"/>
          <a:lstStyle/>
          <a:p>
            <a:pPr indent="0" marL="0">
              <a:buNone/>
            </a:pPr>
            <a:r>
              <a:rPr lang="en-US" sz="2400" b="1" dirty="0">
                <a:solidFill>
                  <a:srgbClr val="8FA0B5"/>
                </a:solidFill>
                <a:latin typeface="Calibri" pitchFamily="34" charset="0"/>
                <a:ea typeface="Calibri" pitchFamily="34" charset="-122"/>
                <a:cs typeface="Calibri" pitchFamily="34" charset="-120"/>
              </a:rPr>
              <a:t>25.2%</a:t>
            </a:r>
            <a:endParaRPr lang="en-US" sz="2400" dirty="0"/>
          </a:p>
        </p:txBody>
      </p:sp>
      <p:sp>
        <p:nvSpPr>
          <p:cNvPr id="14" name="Text 10"/>
          <p:cNvSpPr txBox="1"/>
          <p:nvPr/>
        </p:nvSpPr>
        <p:spPr>
          <a:xfrm>
            <a:off x="10104120" y="3566160"/>
            <a:ext cx="155448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4 symbols</a:t>
            </a:r>
            <a:endParaRPr lang="en-US" sz="1100" dirty="0"/>
          </a:p>
        </p:txBody>
      </p:sp>
      <p:sp>
        <p:nvSpPr>
          <p:cNvPr id="15" name="Text 11"/>
          <p:cNvSpPr txBox="1"/>
          <p:nvPr/>
        </p:nvSpPr>
        <p:spPr>
          <a:xfrm>
            <a:off x="10104120" y="3931920"/>
            <a:ext cx="1554480" cy="320040"/>
          </a:xfrm>
          <a:prstGeom prst="rect">
            <a:avLst/>
          </a:prstGeom>
          <a:noFill/>
          <a:ln/>
        </p:spPr>
        <p:txBody>
          <a:bodyPr wrap="square" lIns="0" tIns="0" rIns="0" bIns="0" rtlCol="0" anchor="t"/>
          <a:lstStyle/>
          <a:p>
            <a:pPr indent="0" marL="0">
              <a:buNone/>
            </a:pPr>
            <a:r>
              <a:rPr lang="en-US" sz="1100" i="1" dirty="0">
                <a:solidFill>
                  <a:srgbClr val="5B6B7F"/>
                </a:solidFill>
                <a:latin typeface="Calibri" pitchFamily="34" charset="0"/>
                <a:ea typeface="Calibri" pitchFamily="34" charset="-122"/>
                <a:cs typeface="Calibri" pitchFamily="34" charset="-120"/>
              </a:rPr>
              <a:t>wrong, from +2 dB up</a:t>
            </a:r>
            <a:endParaRPr lang="en-US" sz="1100" dirty="0"/>
          </a:p>
        </p:txBody>
      </p:sp>
      <p:sp>
        <p:nvSpPr>
          <p:cNvPr id="16" name="Text 12"/>
          <p:cNvSpPr txBox="1"/>
          <p:nvPr/>
        </p:nvSpPr>
        <p:spPr>
          <a:xfrm>
            <a:off x="6400800" y="4114800"/>
            <a:ext cx="3429000" cy="8229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Fewer symbols, fewer points of the grid shown: QAM64 and QAM16 start to look alike.</a:t>
            </a:r>
            <a:endParaRPr lang="en-US" sz="1200" dirty="0"/>
          </a:p>
        </p:txBody>
      </p:sp>
      <p:sp>
        <p:nvSpPr>
          <p:cNvPr id="17" name="Text 13"/>
          <p:cNvSpPr txBox="1"/>
          <p:nvPr/>
        </p:nvSpPr>
        <p:spPr>
          <a:xfrm>
            <a:off x="548640" y="5715000"/>
            <a:ext cx="11091672"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More signal does not fix it. More symbols does.</a:t>
            </a:r>
            <a:pPr indent="0" marL="0">
              <a:buNone/>
            </a:pPr>
            <a:r>
              <a:rPr lang="en-US" sz="1500" dirty="0">
                <a:solidFill>
                  <a:srgbClr val="1E293B"/>
                </a:solidFill>
                <a:latin typeface="Calibri" pitchFamily="34" charset="0"/>
                <a:ea typeface="Calibri" pitchFamily="34" charset="-122"/>
                <a:cs typeface="Calibri" pitchFamily="34" charset="-120"/>
              </a:rPr>
              <a:t>  Noise decides where the curve falls; the number of symbols decides how low it can go.</a:t>
            </a:r>
            <a:endParaRPr lang="en-US" sz="1500" dirty="0"/>
          </a:p>
        </p:txBody>
      </p:sp>
      <p:sp>
        <p:nvSpPr>
          <p:cNvPr id="19" name="Text 14"/>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315200" cy="274320"/>
          </a:xfrm>
          <a:prstGeom prst="rect">
            <a:avLst/>
          </a:prstGeom>
          <a:noFill/>
          <a:ln/>
        </p:spPr>
        <p:txBody>
          <a:bodyPr wrap="square" lIns="0" tIns="0" rIns="0" bIns="0" rtlCol="0" anchor="t"/>
          <a:lstStyle/>
          <a:p>
            <a:pPr indent="0" marL="0">
              <a:buNone/>
            </a:pPr>
            <a:r>
              <a:rPr lang="en-US" sz="1100" b="1" spc="300" kern="0" dirty="0">
                <a:solidFill>
                  <a:srgbClr val="F08A24"/>
                </a:solidFill>
                <a:latin typeface="Calibri" pitchFamily="34" charset="0"/>
                <a:ea typeface="Calibri" pitchFamily="34" charset="-122"/>
                <a:cs typeface="Calibri" pitchFamily="34" charset="-120"/>
              </a:rPr>
              <a:t>SOMETHING WE FOUND</a:t>
            </a:r>
            <a:endParaRPr lang="en-US" sz="1100" dirty="0"/>
          </a:p>
        </p:txBody>
      </p:sp>
      <p:sp>
        <p:nvSpPr>
          <p:cNvPr id="3" name="Text 1"/>
          <p:cNvSpPr txBox="1"/>
          <p:nvPr/>
        </p:nvSpPr>
        <p:spPr>
          <a:xfrm>
            <a:off x="548640" y="658368"/>
            <a:ext cx="11091672" cy="64008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With no signal at all, it still answers</a:t>
            </a:r>
            <a:endParaRPr lang="en-US" sz="3000" dirty="0"/>
          </a:p>
        </p:txBody>
      </p:sp>
      <p:sp>
        <p:nvSpPr>
          <p:cNvPr id="4" name="Shape 2"/>
          <p:cNvSpPr/>
          <p:nvPr/>
        </p:nvSpPr>
        <p:spPr>
          <a:xfrm>
            <a:off x="9189720" y="347472"/>
            <a:ext cx="2450592" cy="329184"/>
          </a:xfrm>
          <a:prstGeom prst="roundRect">
            <a:avLst>
              <a:gd name="adj" fmla="val 33333"/>
            </a:avLst>
          </a:prstGeom>
          <a:solidFill>
            <a:srgbClr val="EEF2F6"/>
          </a:solidFill>
          <a:ln w="12700">
            <a:solidFill>
              <a:srgbClr val="EEF2F6"/>
            </a:solidFill>
            <a:prstDash val="solid"/>
          </a:ln>
        </p:spPr>
      </p:sp>
      <p:sp>
        <p:nvSpPr>
          <p:cNvPr id="5" name="Text 3"/>
          <p:cNvSpPr txBox="1"/>
          <p:nvPr/>
        </p:nvSpPr>
        <p:spPr>
          <a:xfrm>
            <a:off x="9189720" y="347472"/>
            <a:ext cx="2450592" cy="329184"/>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tools/single_snr.py</a:t>
            </a:r>
            <a:endParaRPr lang="en-US" sz="1100" dirty="0"/>
          </a:p>
        </p:txBody>
      </p:sp>
      <p:sp>
        <p:nvSpPr>
          <p:cNvPr id="6" name="Shape 4"/>
          <p:cNvSpPr/>
          <p:nvPr/>
        </p:nvSpPr>
        <p:spPr>
          <a:xfrm>
            <a:off x="914400" y="1600200"/>
            <a:ext cx="3291840" cy="2194560"/>
          </a:xfrm>
          <a:prstGeom prst="roundRect">
            <a:avLst>
              <a:gd name="adj" fmla="val 4167"/>
            </a:avLst>
          </a:prstGeom>
          <a:solidFill>
            <a:srgbClr val="EEF2F6"/>
          </a:solidFill>
          <a:ln w="12700">
            <a:solidFill>
              <a:srgbClr val="EEF2F6"/>
            </a:solidFill>
            <a:prstDash val="solid"/>
          </a:ln>
        </p:spPr>
      </p:sp>
      <p:sp>
        <p:nvSpPr>
          <p:cNvPr id="7" name="Shape 5"/>
          <p:cNvSpPr/>
          <p:nvPr/>
        </p:nvSpPr>
        <p:spPr>
          <a:xfrm>
            <a:off x="5029200" y="1600200"/>
            <a:ext cx="3291840" cy="2194560"/>
          </a:xfrm>
          <a:prstGeom prst="roundRect">
            <a:avLst>
              <a:gd name="adj" fmla="val 4167"/>
            </a:avLst>
          </a:prstGeom>
          <a:solidFill>
            <a:srgbClr val="EEF2F6"/>
          </a:solidFill>
          <a:ln w="12700">
            <a:solidFill>
              <a:srgbClr val="EEF2F6"/>
            </a:solidFill>
            <a:prstDash val="solid"/>
          </a:ln>
        </p:spPr>
      </p:sp>
      <p:sp>
        <p:nvSpPr>
          <p:cNvPr id="8" name="Text 6"/>
          <p:cNvSpPr txBox="1"/>
          <p:nvPr/>
        </p:nvSpPr>
        <p:spPr>
          <a:xfrm>
            <a:off x="914400" y="1737360"/>
            <a:ext cx="3291840" cy="914400"/>
          </a:xfrm>
          <a:prstGeom prst="rect">
            <a:avLst/>
          </a:prstGeom>
          <a:noFill/>
          <a:ln/>
        </p:spPr>
        <p:txBody>
          <a:bodyPr wrap="square" lIns="0" tIns="0" rIns="0" bIns="0" rtlCol="0" anchor="b"/>
          <a:lstStyle/>
          <a:p>
            <a:pPr algn="ctr" indent="0" marL="0">
              <a:buNone/>
            </a:pPr>
            <a:r>
              <a:rPr lang="en-US" sz="5000" b="1" dirty="0">
                <a:solidFill>
                  <a:srgbClr val="1E293B"/>
                </a:solidFill>
                <a:latin typeface="Calibri" pitchFamily="34" charset="0"/>
                <a:ea typeface="Calibri" pitchFamily="34" charset="-122"/>
                <a:cs typeface="Calibri" pitchFamily="34" charset="-120"/>
              </a:rPr>
              <a:t>52.2%</a:t>
            </a:r>
            <a:endParaRPr lang="en-US" sz="5000" dirty="0"/>
          </a:p>
        </p:txBody>
      </p:sp>
      <p:sp>
        <p:nvSpPr>
          <p:cNvPr id="9" name="Text 7"/>
          <p:cNvSpPr txBox="1"/>
          <p:nvPr/>
        </p:nvSpPr>
        <p:spPr>
          <a:xfrm>
            <a:off x="914400" y="2697480"/>
            <a:ext cx="3291840" cy="36576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QPSK recall at −20 dB</a:t>
            </a:r>
            <a:endParaRPr lang="en-US" sz="1400" dirty="0"/>
          </a:p>
        </p:txBody>
      </p:sp>
      <p:sp>
        <p:nvSpPr>
          <p:cNvPr id="10" name="Text 8"/>
          <p:cNvSpPr txBox="1"/>
          <p:nvPr/>
        </p:nvSpPr>
        <p:spPr>
          <a:xfrm>
            <a:off x="914400" y="3108960"/>
            <a:ext cx="3291840" cy="457200"/>
          </a:xfrm>
          <a:prstGeom prst="rect">
            <a:avLst/>
          </a:prstGeom>
          <a:noFill/>
          <a:ln/>
        </p:spPr>
        <p:txBody>
          <a:bodyPr wrap="square" lIns="0" tIns="0" rIns="0" bIns="0" rtlCol="0" anchor="t"/>
          <a:lstStyle/>
          <a:p>
            <a:pPr algn="ctr" indent="0" marL="0">
              <a:buNone/>
            </a:pPr>
            <a:r>
              <a:rPr lang="en-US" sz="1500" b="1" dirty="0">
                <a:solidFill>
                  <a:srgbClr val="1E293B"/>
                </a:solidFill>
                <a:latin typeface="Calibri" pitchFamily="34" charset="0"/>
                <a:ea typeface="Calibri" pitchFamily="34" charset="-122"/>
                <a:cs typeface="Calibri" pitchFamily="34" charset="-120"/>
              </a:rPr>
              <a:t>looks like it recognises QPSK</a:t>
            </a:r>
            <a:endParaRPr lang="en-US" sz="1500" dirty="0"/>
          </a:p>
        </p:txBody>
      </p:sp>
      <p:sp>
        <p:nvSpPr>
          <p:cNvPr id="11" name="Text 9"/>
          <p:cNvSpPr txBox="1"/>
          <p:nvPr/>
        </p:nvSpPr>
        <p:spPr>
          <a:xfrm>
            <a:off x="4251960" y="2377440"/>
            <a:ext cx="731520" cy="457200"/>
          </a:xfrm>
          <a:prstGeom prst="rect">
            <a:avLst/>
          </a:prstGeom>
          <a:noFill/>
          <a:ln/>
        </p:spPr>
        <p:txBody>
          <a:bodyPr wrap="square" lIns="0" tIns="0" rIns="0" bIns="0" rtlCol="0" anchor="t"/>
          <a:lstStyle/>
          <a:p>
            <a:pPr algn="ctr" indent="0" marL="0">
              <a:buNone/>
            </a:pPr>
            <a:r>
              <a:rPr lang="en-US" sz="2000" dirty="0">
                <a:solidFill>
                  <a:srgbClr val="5B6B7F"/>
                </a:solidFill>
                <a:latin typeface="Calibri" pitchFamily="34" charset="0"/>
                <a:ea typeface="Calibri" pitchFamily="34" charset="-122"/>
                <a:cs typeface="Calibri" pitchFamily="34" charset="-120"/>
              </a:rPr>
              <a:t>vs</a:t>
            </a:r>
            <a:endParaRPr lang="en-US" sz="2000" dirty="0"/>
          </a:p>
        </p:txBody>
      </p:sp>
      <p:sp>
        <p:nvSpPr>
          <p:cNvPr id="12" name="Text 10"/>
          <p:cNvSpPr txBox="1"/>
          <p:nvPr/>
        </p:nvSpPr>
        <p:spPr>
          <a:xfrm>
            <a:off x="5029200" y="1737360"/>
            <a:ext cx="3291840" cy="914400"/>
          </a:xfrm>
          <a:prstGeom prst="rect">
            <a:avLst/>
          </a:prstGeom>
          <a:noFill/>
          <a:ln/>
        </p:spPr>
        <p:txBody>
          <a:bodyPr wrap="square" lIns="0" tIns="0" rIns="0" bIns="0" rtlCol="0" anchor="b"/>
          <a:lstStyle/>
          <a:p>
            <a:pPr algn="ctr" indent="0" marL="0">
              <a:buNone/>
            </a:pPr>
            <a:r>
              <a:rPr lang="en-US" sz="5000" b="1" dirty="0">
                <a:solidFill>
                  <a:srgbClr val="F08A24"/>
                </a:solidFill>
                <a:latin typeface="Calibri" pitchFamily="34" charset="0"/>
                <a:ea typeface="Calibri" pitchFamily="34" charset="-122"/>
                <a:cs typeface="Calibri" pitchFamily="34" charset="-120"/>
              </a:rPr>
              <a:t>24.8%</a:t>
            </a:r>
            <a:endParaRPr lang="en-US" sz="5000" dirty="0"/>
          </a:p>
        </p:txBody>
      </p:sp>
      <p:sp>
        <p:nvSpPr>
          <p:cNvPr id="13" name="Text 11"/>
          <p:cNvSpPr txBox="1"/>
          <p:nvPr/>
        </p:nvSpPr>
        <p:spPr>
          <a:xfrm>
            <a:off x="5029200" y="2697480"/>
            <a:ext cx="3291840" cy="36576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QPSK precision at −20 dB</a:t>
            </a:r>
            <a:endParaRPr lang="en-US" sz="1400" dirty="0"/>
          </a:p>
        </p:txBody>
      </p:sp>
      <p:sp>
        <p:nvSpPr>
          <p:cNvPr id="14" name="Text 12"/>
          <p:cNvSpPr txBox="1"/>
          <p:nvPr/>
        </p:nvSpPr>
        <p:spPr>
          <a:xfrm>
            <a:off x="5029200" y="3108960"/>
            <a:ext cx="3291840" cy="457200"/>
          </a:xfrm>
          <a:prstGeom prst="rect">
            <a:avLst/>
          </a:prstGeom>
          <a:noFill/>
          <a:ln/>
        </p:spPr>
        <p:txBody>
          <a:bodyPr wrap="square" lIns="0" tIns="0" rIns="0" bIns="0" rtlCol="0" anchor="t"/>
          <a:lstStyle/>
          <a:p>
            <a:pPr algn="ctr" indent="0" marL="0">
              <a:buNone/>
            </a:pPr>
            <a:r>
              <a:rPr lang="en-US" sz="1500" b="1" dirty="0">
                <a:solidFill>
                  <a:srgbClr val="1E293B"/>
                </a:solidFill>
                <a:latin typeface="Calibri" pitchFamily="34" charset="0"/>
                <a:ea typeface="Calibri" pitchFamily="34" charset="-122"/>
                <a:cs typeface="Calibri" pitchFamily="34" charset="-120"/>
              </a:rPr>
              <a:t>it is guessing: 1 in 4</a:t>
            </a:r>
            <a:endParaRPr lang="en-US" sz="1500" dirty="0"/>
          </a:p>
        </p:txBody>
      </p:sp>
      <p:sp>
        <p:nvSpPr>
          <p:cNvPr id="15" name="Text 13"/>
          <p:cNvSpPr txBox="1"/>
          <p:nvPr/>
        </p:nvSpPr>
        <p:spPr>
          <a:xfrm>
            <a:off x="914400" y="4069080"/>
            <a:ext cx="7406640" cy="914400"/>
          </a:xfrm>
          <a:prstGeom prst="rect">
            <a:avLst/>
          </a:prstGeom>
          <a:noFill/>
          <a:ln/>
        </p:spPr>
        <p:txBody>
          <a:bodyPr wrap="square" lIns="0" tIns="0" rIns="0" bIns="0" rtlCol="0" anchor="t"/>
          <a:lstStyle/>
          <a:p>
            <a:pPr indent="0" marL="0">
              <a:buNone/>
            </a:pPr>
            <a:r>
              <a:rPr lang="en-US" sz="1400" b="1" dirty="0">
                <a:solidFill>
                  <a:srgbClr val="F08A24"/>
                </a:solidFill>
                <a:latin typeface="Calibri" pitchFamily="34" charset="0"/>
                <a:ea typeface="Calibri" pitchFamily="34" charset="-122"/>
                <a:cs typeface="Calibri" pitchFamily="34" charset="-120"/>
              </a:rPr>
              <a:t>Why? </a:t>
            </a:r>
            <a:pPr indent="0" marL="0">
              <a:buNone/>
            </a:pPr>
            <a:r>
              <a:rPr lang="en-US" sz="1400" dirty="0">
                <a:solidFill>
                  <a:srgbClr val="1E293B"/>
                </a:solidFill>
                <a:latin typeface="Calibri" pitchFamily="34" charset="0"/>
                <a:ea typeface="Calibri" pitchFamily="34" charset="-122"/>
                <a:cs typeface="Calibri" pitchFamily="34" charset="-120"/>
              </a:rPr>
              <a:t>It must name one of the four. With nothing to go on it says BPSK or QPSK 98.8% of the time, and which of the two changes from one training run to the next.</a:t>
            </a:r>
            <a:endParaRPr lang="en-US" sz="1400" dirty="0"/>
          </a:p>
        </p:txBody>
      </p:sp>
      <p:sp>
        <p:nvSpPr>
          <p:cNvPr id="16" name="Shape 14"/>
          <p:cNvSpPr/>
          <p:nvPr/>
        </p:nvSpPr>
        <p:spPr>
          <a:xfrm>
            <a:off x="8732520" y="1600200"/>
            <a:ext cx="2907792" cy="3383280"/>
          </a:xfrm>
          <a:prstGeom prst="roundRect">
            <a:avLst>
              <a:gd name="adj" fmla="val 3145"/>
            </a:avLst>
          </a:prstGeom>
          <a:solidFill>
            <a:srgbClr val="EEF2F6"/>
          </a:solidFill>
          <a:ln w="12700">
            <a:solidFill>
              <a:srgbClr val="EEF2F6"/>
            </a:solidFill>
            <a:prstDash val="solid"/>
          </a:ln>
        </p:spPr>
      </p:sp>
      <p:sp>
        <p:nvSpPr>
          <p:cNvPr id="17" name="Text 15"/>
          <p:cNvSpPr txBox="1"/>
          <p:nvPr/>
        </p:nvSpPr>
        <p:spPr>
          <a:xfrm>
            <a:off x="8915400" y="1691640"/>
            <a:ext cx="2560320" cy="365760"/>
          </a:xfrm>
          <a:prstGeom prst="rect">
            <a:avLst/>
          </a:prstGeom>
          <a:noFill/>
          <a:ln/>
        </p:spPr>
        <p:txBody>
          <a:bodyPr wrap="square" lIns="0" tIns="0" rIns="0" bIns="0" rtlCol="0" anchor="t"/>
          <a:lstStyle/>
          <a:p>
            <a:pPr indent="0" marL="0">
              <a:buNone/>
            </a:pPr>
            <a:r>
              <a:rPr lang="en-US" sz="1300" b="1" dirty="0">
                <a:solidFill>
                  <a:srgbClr val="5B6B7F"/>
                </a:solidFill>
                <a:latin typeface="Calibri" pitchFamily="34" charset="0"/>
                <a:ea typeface="Calibri" pitchFamily="34" charset="-122"/>
                <a:cs typeface="Calibri" pitchFamily="34" charset="-120"/>
              </a:rPr>
              <a:t>How they are counted</a:t>
            </a:r>
            <a:endParaRPr lang="en-US" sz="1300" dirty="0"/>
          </a:p>
        </p:txBody>
      </p:sp>
      <p:sp>
        <p:nvSpPr>
          <p:cNvPr id="18" name="Text 16"/>
          <p:cNvSpPr txBox="1"/>
          <p:nvPr/>
        </p:nvSpPr>
        <p:spPr>
          <a:xfrm>
            <a:off x="8915400" y="2103120"/>
            <a:ext cx="2606040" cy="2743200"/>
          </a:xfrm>
          <a:prstGeom prst="rect">
            <a:avLst/>
          </a:prstGeom>
          <a:noFill/>
          <a:ln/>
        </p:spPr>
        <p:txBody>
          <a:bodyPr wrap="square" lIns="0" tIns="0" rIns="0" bIns="0" rtlCol="0" anchor="t"/>
          <a:lstStyle/>
          <a:p>
            <a:pPr indent="0" marL="0">
              <a:buNone/>
            </a:pPr>
            <a:r>
              <a:rPr lang="en-US" sz="1300" b="1" dirty="0">
                <a:solidFill>
                  <a:srgbClr val="1E293B"/>
                </a:solidFill>
                <a:latin typeface="Calibri" pitchFamily="34" charset="0"/>
                <a:ea typeface="Calibri" pitchFamily="34" charset="-122"/>
                <a:cs typeface="Calibri" pitchFamily="34" charset="-120"/>
              </a:rPr>
              <a:t>Recall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 right ÷ frames sent of that kind</a:t>
            </a:r>
            <a:endParaRPr lang="en-US" sz="13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E293B"/>
                </a:solidFill>
                <a:latin typeface="Calibri" pitchFamily="34" charset="0"/>
                <a:ea typeface="Calibri" pitchFamily="34" charset="-122"/>
                <a:cs typeface="Calibri" pitchFamily="34" charset="-120"/>
              </a:rPr>
              <a:t>Precision</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 right ÷ frames it called that kind</a:t>
            </a:r>
            <a:endParaRPr lang="en-US" sz="13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5B6B7F"/>
                </a:solidFill>
                <a:latin typeface="Calibri" pitchFamily="34" charset="0"/>
                <a:ea typeface="Calibri" pitchFamily="34" charset="-122"/>
                <a:cs typeface="Calibri" pitchFamily="34" charset="-120"/>
              </a:rPr>
              <a:t>Recall alone can look good while the detector is only guessing.</a:t>
            </a:r>
            <a:endParaRPr lang="en-US" sz="1300" dirty="0"/>
          </a:p>
        </p:txBody>
      </p:sp>
      <p:sp>
        <p:nvSpPr>
          <p:cNvPr id="19" name="Text 17"/>
          <p:cNvSpPr txBox="1"/>
          <p:nvPr/>
        </p:nvSpPr>
        <p:spPr>
          <a:xfrm>
            <a:off x="548640" y="5669280"/>
            <a:ext cx="11091672" cy="548640"/>
          </a:xfrm>
          <a:prstGeom prst="rect">
            <a:avLst/>
          </a:prstGeom>
          <a:noFill/>
          <a:ln/>
        </p:spPr>
        <p:txBody>
          <a:bodyPr wrap="square" lIns="0" tIns="0" rIns="0" bIns="0" rtlCol="0" anchor="t"/>
          <a:lstStyle/>
          <a:p>
            <a:pPr indent="0" marL="0">
              <a:buNone/>
            </a:pPr>
            <a:r>
              <a:rPr lang="en-US" sz="1500" b="1" dirty="0">
                <a:solidFill>
                  <a:srgbClr val="1E293B"/>
                </a:solidFill>
                <a:latin typeface="Calibri" pitchFamily="34" charset="0"/>
                <a:ea typeface="Calibri" pitchFamily="34" charset="-122"/>
                <a:cs typeface="Calibri" pitchFamily="34" charset="-120"/>
              </a:rPr>
              <a:t>Every chart now shows precision next to recall,</a:t>
            </a:r>
            <a:pPr indent="0" marL="0">
              <a:buNone/>
            </a:pPr>
            <a:r>
              <a:rPr lang="en-US" sz="1500" dirty="0">
                <a:solidFill>
                  <a:srgbClr val="1E293B"/>
                </a:solidFill>
                <a:latin typeface="Calibri" pitchFamily="34" charset="0"/>
                <a:ea typeface="Calibri" pitchFamily="34" charset="-122"/>
                <a:cs typeface="Calibri" pitchFamily="34" charset="-120"/>
              </a:rPr>
              <a:t>  and how many decisions sit behind each point.</a:t>
            </a:r>
            <a:endParaRPr lang="en-US" sz="1500" dirty="0"/>
          </a:p>
        </p:txBody>
      </p:sp>
      <p:sp>
        <p:nvSpPr>
          <p:cNvPr id="21" name="Text 18"/>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In short</a:t>
            </a:r>
            <a:endParaRPr lang="en-US" sz="3600" dirty="0"/>
          </a:p>
        </p:txBody>
      </p:sp>
      <p:sp>
        <p:nvSpPr>
          <p:cNvPr id="3" name="Shape 1"/>
          <p:cNvSpPr/>
          <p:nvPr/>
        </p:nvSpPr>
        <p:spPr>
          <a:xfrm>
            <a:off x="548640" y="1600200"/>
            <a:ext cx="502920" cy="502920"/>
          </a:xfrm>
          <a:prstGeom prst="ellipse">
            <a:avLst/>
          </a:prstGeom>
          <a:solidFill>
            <a:srgbClr val="F08A24"/>
          </a:solidFill>
          <a:ln w="12700">
            <a:solidFill>
              <a:srgbClr val="F08A24"/>
            </a:solidFill>
            <a:prstDash val="solid"/>
          </a:ln>
        </p:spPr>
      </p:sp>
      <p:sp>
        <p:nvSpPr>
          <p:cNvPr id="4" name="Text 2"/>
          <p:cNvSpPr txBox="1"/>
          <p:nvPr/>
        </p:nvSpPr>
        <p:spPr>
          <a:xfrm>
            <a:off x="548640" y="1600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325880" y="1554480"/>
            <a:ext cx="6309360" cy="10058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BPSK and QPSK are essentially solved. The mistakes are QAM16 against QAM64.</a:t>
            </a:r>
            <a:endParaRPr lang="en-US" sz="1700" dirty="0"/>
          </a:p>
        </p:txBody>
      </p:sp>
      <p:sp>
        <p:nvSpPr>
          <p:cNvPr id="6" name="Shape 4"/>
          <p:cNvSpPr/>
          <p:nvPr/>
        </p:nvSpPr>
        <p:spPr>
          <a:xfrm>
            <a:off x="548640" y="2788920"/>
            <a:ext cx="502920" cy="502920"/>
          </a:xfrm>
          <a:prstGeom prst="ellipse">
            <a:avLst/>
          </a:prstGeom>
          <a:solidFill>
            <a:srgbClr val="F08A24"/>
          </a:solidFill>
          <a:ln w="12700">
            <a:solidFill>
              <a:srgbClr val="F08A24"/>
            </a:solidFill>
            <a:prstDash val="solid"/>
          </a:ln>
        </p:spPr>
      </p:sp>
      <p:sp>
        <p:nvSpPr>
          <p:cNvPr id="7" name="Text 5"/>
          <p:cNvSpPr txBox="1"/>
          <p:nvPr/>
        </p:nvSpPr>
        <p:spPr>
          <a:xfrm>
            <a:off x="548640" y="2788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1325880" y="2743200"/>
            <a:ext cx="6309360" cy="10058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Those mistakes come from having only 16 symbols, not from noise: with 8 or 4 symbols they grow 2.7 and 4.3 times.</a:t>
            </a:r>
            <a:endParaRPr lang="en-US" sz="1700" dirty="0"/>
          </a:p>
        </p:txBody>
      </p:sp>
      <p:sp>
        <p:nvSpPr>
          <p:cNvPr id="9" name="Shape 7"/>
          <p:cNvSpPr/>
          <p:nvPr/>
        </p:nvSpPr>
        <p:spPr>
          <a:xfrm>
            <a:off x="548640" y="3977640"/>
            <a:ext cx="502920" cy="502920"/>
          </a:xfrm>
          <a:prstGeom prst="ellipse">
            <a:avLst/>
          </a:prstGeom>
          <a:solidFill>
            <a:srgbClr val="F08A24"/>
          </a:solidFill>
          <a:ln w="12700">
            <a:solidFill>
              <a:srgbClr val="F08A24"/>
            </a:solidFill>
            <a:prstDash val="solid"/>
          </a:ln>
        </p:spPr>
      </p:sp>
      <p:sp>
        <p:nvSpPr>
          <p:cNvPr id="10" name="Text 8"/>
          <p:cNvSpPr txBox="1"/>
          <p:nvPr/>
        </p:nvSpPr>
        <p:spPr>
          <a:xfrm>
            <a:off x="548640" y="39776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1" name="Text 9"/>
          <p:cNvSpPr txBox="1"/>
          <p:nvPr/>
        </p:nvSpPr>
        <p:spPr>
          <a:xfrm>
            <a:off x="1325880" y="3931920"/>
            <a:ext cx="6309360" cy="100584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“10 dB” in this data is a setting, not a measurement, and it means a different noise level for each kind of signal.</a:t>
            </a:r>
            <a:endParaRPr lang="en-US" sz="1700" dirty="0"/>
          </a:p>
        </p:txBody>
      </p:sp>
      <p:sp>
        <p:nvSpPr>
          <p:cNvPr id="12" name="Text 10"/>
          <p:cNvSpPr txBox="1"/>
          <p:nvPr/>
        </p:nvSpPr>
        <p:spPr>
          <a:xfrm>
            <a:off x="548640" y="5257800"/>
            <a:ext cx="7132320" cy="731520"/>
          </a:xfrm>
          <a:prstGeom prst="rect">
            <a:avLst/>
          </a:prstGeom>
          <a:noFill/>
          <a:ln/>
        </p:spPr>
        <p:txBody>
          <a:bodyPr wrap="square" lIns="0" tIns="0" rIns="0" bIns="0" rtlCol="0" anchor="t"/>
          <a:lstStyle/>
          <a:p>
            <a:pPr indent="0" marL="0">
              <a:buNone/>
            </a:pPr>
            <a:r>
              <a:rPr lang="en-US" sz="1400" b="1" dirty="0">
                <a:solidFill>
                  <a:srgbClr val="F08A24"/>
                </a:solidFill>
                <a:latin typeface="Calibri" pitchFamily="34" charset="0"/>
                <a:ea typeface="Calibri" pitchFamily="34" charset="-122"/>
                <a:cs typeface="Calibri" pitchFamily="34" charset="-120"/>
              </a:rPr>
              <a:t>Next: </a:t>
            </a:r>
            <a:pPr indent="0" marL="0">
              <a:buNone/>
            </a:pPr>
            <a:r>
              <a:rPr lang="en-US" sz="1400" dirty="0">
                <a:solidFill>
                  <a:srgbClr val="C9D3E0"/>
                </a:solidFill>
                <a:latin typeface="Calibri" pitchFamily="34" charset="0"/>
                <a:ea typeface="Calibri" pitchFamily="34" charset="-122"/>
                <a:cs typeface="Calibri" pitchFamily="34" charset="-120"/>
              </a:rPr>
              <a:t>switch off the carrier offset, fading and echoes one at a time, and see which one the QAM mistakes belong to.</a:t>
            </a:r>
            <a:endParaRPr lang="en-US" sz="1400" dirty="0"/>
          </a:p>
        </p:txBody>
      </p:sp>
      <p:pic>
        <p:nvPicPr>
          <p:cNvPr id="13" name="Image 0" descr="simple/fewer.png">    </p:cNvPr>
          <p:cNvPicPr>
            <a:picLocks noChangeAspect="1"/>
          </p:cNvPicPr>
          <p:nvPr/>
        </p:nvPicPr>
        <p:blipFill>
          <a:blip r:embed="rId1"/>
          <a:stretch>
            <a:fillRect/>
          </a:stretch>
        </p:blipFill>
        <p:spPr>
          <a:xfrm>
            <a:off x="7680960" y="1600200"/>
            <a:ext cx="3959352" cy="2733838"/>
          </a:xfrm>
          <a:prstGeom prst="rect">
            <a:avLst/>
          </a:prstGeom>
        </p:spPr>
      </p:pic>
      <p:sp>
        <p:nvSpPr>
          <p:cNvPr id="14" name="Text 11"/>
          <p:cNvSpPr txBox="1"/>
          <p:nvPr/>
        </p:nvSpPr>
        <p:spPr>
          <a:xfrm>
            <a:off x="7680960" y="4389120"/>
            <a:ext cx="3959352" cy="274320"/>
          </a:xfrm>
          <a:prstGeom prst="rect">
            <a:avLst/>
          </a:prstGeom>
          <a:noFill/>
          <a:ln/>
        </p:spPr>
        <p:txBody>
          <a:bodyPr wrap="square" lIns="0" tIns="0" rIns="0" bIns="0" rtlCol="0" anchor="t"/>
          <a:lstStyle/>
          <a:p>
            <a:pPr algn="ctr" indent="0" marL="0">
              <a:buNone/>
            </a:pPr>
            <a:r>
              <a:rPr lang="en-US" sz="1100" dirty="0">
                <a:solidFill>
                  <a:srgbClr val="9AA8BA"/>
                </a:solidFill>
                <a:latin typeface="Calibri" pitchFamily="34" charset="0"/>
                <a:ea typeface="Calibri" pitchFamily="34" charset="-122"/>
                <a:cs typeface="Calibri" pitchFamily="34" charset="-120"/>
              </a:rPr>
              <a:t>QAM16 and QAM64 with 16, 8 and 4 symbols</a:t>
            </a:r>
            <a:endParaRPr lang="en-US" sz="1100" dirty="0"/>
          </a:p>
        </p:txBody>
      </p:sp>
      <p:sp>
        <p:nvSpPr>
          <p:cNvPr id="16" name="Text 12"/>
          <p:cNvSpPr txBox="1"/>
          <p:nvPr/>
        </p:nvSpPr>
        <p:spPr>
          <a:xfrm>
            <a:off x="11274552" y="6446520"/>
            <a:ext cx="365760" cy="228600"/>
          </a:xfrm>
          <a:prstGeom prst="rect">
            <a:avLst/>
          </a:prstGeom>
          <a:noFill/>
          <a:ln/>
        </p:spPr>
        <p:txBody>
          <a:bodyPr wrap="square" lIns="0" tIns="0" rIns="0" bIns="0" rtlCol="0" anchor="t"/>
          <a:lstStyle/>
          <a:p>
            <a:pPr algn="r" indent="0" marL="0">
              <a:buNone/>
            </a:pPr>
            <a:r>
              <a:rPr lang="en-US" sz="1000" dirty="0">
                <a:solidFill>
                  <a:srgbClr val="8FA0B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Telling four radio signals apart</dc:title>
  <dc:subject>PptxGenJS Presentation</dc:subject>
  <dc:creator>Yusuf Bilal Cetinkaya</dc:creator>
  <cp:lastModifiedBy>Yusuf Bilal Cetinkaya</cp:lastModifiedBy>
  <cp:revision>1</cp:revision>
  <dcterms:created xsi:type="dcterms:W3CDTF">2026-10-05T18:48:59Z</dcterms:created>
  <dcterms:modified xsi:type="dcterms:W3CDTF">2026-10-05T18:48:59Z</dcterms:modified>
</cp:coreProperties>
</file>