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175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F1B2D"/>
              </a:solidFill>
              <a:ln w="9525" cap="flat">
                <a:solidFill>
                  <a:srgbClr val="0F1B2D"/>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175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08A24"/>
              </a:solidFill>
              <a:ln w="9525" cap="flat">
                <a:solidFill>
                  <a:srgbClr val="F08A24"/>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175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8FA0B5"/>
              </a:solidFill>
              <a:ln w="9525" cap="flat">
                <a:solidFill>
                  <a:srgbClr val="8FA0B5"/>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7F"/>
                    </a:solidFill>
                    <a:latin typeface="Arial"/>
                  </a:defRPr>
                </a:pPr>
                <a:r>
                  <a:rPr sz="11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B6B7F"/>
                    </a:solidFill>
                    <a:latin typeface="Arial"/>
                  </a:defRPr>
                </a:pPr>
                <a:r>
                  <a:rPr sz="11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want to open up our detector and show you what it does, step by step. I'll use the four signals you asked about: BPSK, QPSK, QAM16 and QAM64. The picture on the right is one QAM16 frame. Watch the sixteen points spread out as the noise grows. That picture is really today's whole talk: how many symbols we have, and how much noise is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Quickly, what this is about. A receiver picks up a signal, and nobody told it what kind of signal it is. AMC, automatic modulation classification, answers one question: how was this signal modulated? You need that to watch the spectrum, to find interference, and for radios that adapt to what they hear. My work has three steps. One: a detector that does this, trained on a standard simulated dataset. Two: open it up. What does it do, what is the noise really, and where does it fail? Three, the real question of the project: why do these detectors get worse on a signal from a different transmitter? Today is steps one and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RML2016.10a. DeepSig made it in a simulator in 2016, and most papers in this field use it. Eleven signal types. Twenty noise levels, from minus twenty to plus eighteen dB. A thousand frames of each type at each level. That's two hundred and twenty thousand frames. One frame is 128 samples, and that is only sixteen symbols. Please remember that number. Today I use the four in orange. BPSK and QPSK only change the phase. QAM16 and QAM64 change the phase and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gets 128 samples and has to say which of the four it is. It does that in three steps. First, it looks at short pieces, about one and a half symbols each. The frame becomes thirty-two pieces. Second, it reads those pieces in order, forwards and backwards, a bit like reading a sentence. After that, every piece knows about the whole frame. This part is an LSTM, and it holds most of the model, 84 percent. Third, it decides. It weighs the pieces, averages them, and gives four scores. The biggest score wins. Two things to keep in mind. Once trained, it is not random: same frame, same answer. And it can never say "I don't know". That will matter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did it come from? The design is from a 2025 paper; the model is called ICRNNA. A colleague coded it up, and our code comes from theirs. It's close to the paper, with five small differences. I wanted to check the paper's number, so I built the model again from the paper alone. Trained long enough, it gets 63.21 percent. The paper says 63.24. So the number is real. And to be open about my tools: the code, the plots and these slides were written with Claude Code, an AI assistant. The numbers come from actually running that code. What to test was my decision. [Say here who the colleague is and how the work before September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experiment on one slide. In: four signal types, twenty noise levels, a thousand frames each. The detector learns on 70 percent of the frames. It uses 15 percent to decide when to stop. And it is tested on the last 15 percent, which it has never seen. I did this fourteen times with different splits, so it isn't luck. Out: at 10 dB and above, it is right 94 percent of the time, over 42,000 decisions. BPSK and QPSK are almost perfect. At minus 20 dB it is right 25 percent of the time, and with four choices that is just a guess. Now let's open each part: the input, the noise,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input. This is one QAM16 frame, drawn without noise. Orange is the I part, blue is the Q part. Every eight samples there is a symbol, the dots. Each dot sits on one of four levels. Four levels times four levels: sixteen points. That's QAM16. On the right are the sixteen symbols of one frame, drawn on all the points each type can use. BPSK has two points, so sixteen symbols cover it many times. But QAM64 has sixty-four points, and we only have sixteen symbols. We never see the whole grid. So a QAM64 frame can look like QAM16 even with no noise at all. Keep that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the noise. You asked what "10 dB" actually is. The short answer: it's a setting in their code, not a measurement. In the code, the label sets one thing, the noise amplitude. Not the power. So one dB of label really moves the noise by about two dB. And noise is not the only thing added. Every frame also gets a frequency offset, a clock offset, fading and echoes. Even the cleanest frames. I didn't want to just trust the code, so I measured the noise in the file. The signal sits in the middle of the band; outside it there is only noise. Two findings. One dB of label is 1.9 dB of real change. And at the same label, QAM64 has about 15 dB more signal than BPSK and QPSK. So "10 dB" means a different noise level for each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answer, at one noise level: 10 dB. Rows are what was sent, columns are what the detector said. The diagonal is correct. Two words I'll use. Recall is a row: of the real QPSK frames, how many did it get? Precision is a column: when it says QPSK, how often is it right? BPSK and QPSK: 99.6 percent. Solved. 448 mistakes out of 8,400. And 395 of them are just QAM16 and QAM64 confused with each other. So at 10 dB there is really one problem left: QAM16 against QAM64.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as you asked, I turned the noise up, one level at a time. The bars are the mistakes out of 8,400. From 10 dB down to 2 dB: about 450 to 490. Eight dB more noise, and nothing changes. Same mistakes. Below 0 dB it breaks, and the first to go is QPSK: it starts to look like a QAM. So the mistakes at 10 dB are not caused by noise. Then what causes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guess was the frame length. So I cut every frame in half, to eight symbols, and in half again, to four, and trained the same model again. Look at the right side of the chart, where the noise is low. Every curve goes flat. With sixteen symbols, 5.7 percent wrong. With eight, 15.5. With four, 25. Almost all of that is the QAM pair. With four symbols, QAM16 against QAM64 is a coin flip. The picture on the right shows why: fewer symbols, fewer grid points, and the two QAMs look the same. So noise decides where the curve drops. The number of symbols decides how low it can go. More signal won't fix it. More symbols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we found along the way. At minus 20 dB there is basically no signal. But the detector can't say "I don't know", so it has to pick one. QPSK recall there is 52 percent. That looks like it still recognises QPSK. It doesn't. Precision is 25 percent: of everything it calls QPSK, only a quarter really is. That's a guess. What really happens: with nothing to go on, it says BPSK or QPSK almost every time, and which of the two changes from run to run. The lesson: recall alone can fool you. So every chart now shows precision next to recall, and how many decisions are behind each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ICRNNA a good choice? I took four well-known published models and trained them exactly like ICRNNA: same data, same split, same repeats. This time all eleven types, because that's what the papers report. First, can you trust my numbers? Each model has exactly the same number of parameters as in its paper. And my accuracies are within one point of the published ones. So it's a fair comparison. The result: ICRNNA is first, at 62.2 percent, but the top four are within about one point. And above 10 dB they all stop at around 91 percent. When four different designs hit the same ceiling, the limit is in the data, not in the model. Only the oldest one, from 2016, is clearly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three things. One: BPSK and QPSK are solved. The mistakes are QAM16 against QAM64. Two: those mistakes come from having only sixteen symbols, not from noise. With eight symbols there are almost three times as many, with four more than four times. Three: "10 dB" here is a setting, not a measurement, and it's different for each signal. Next, I'll switch off the frequency offset, the fading and the echoes one at a time, and see which one the QAM mistakes follow.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143000"/>
            <a:ext cx="6400800" cy="320040"/>
          </a:xfrm>
          <a:prstGeom prst="rect">
            <a:avLst/>
          </a:prstGeom>
          <a:noFill/>
          <a:ln/>
        </p:spPr>
        <p:txBody>
          <a:bodyPr wrap="square" lIns="0" tIns="0" rIns="0" bIns="0" rtlCol="0" anchor="t"/>
          <a:lstStyle/>
          <a:p>
            <a:pPr indent="0" marL="0">
              <a:buNone/>
            </a:pPr>
            <a:r>
              <a:rPr lang="en-US" sz="1300" b="1" spc="400" kern="0" dirty="0">
                <a:solidFill>
                  <a:srgbClr val="F08A24"/>
                </a:solidFill>
                <a:latin typeface="Calibri" pitchFamily="34" charset="0"/>
                <a:ea typeface="Calibri" pitchFamily="34" charset="-122"/>
                <a:cs typeface="Calibri" pitchFamily="34" charset="-120"/>
              </a:rPr>
              <a:t>AMC  ·  DATA FUSION LAB</a:t>
            </a:r>
            <a:endParaRPr lang="en-US" sz="1300" dirty="0"/>
          </a:p>
        </p:txBody>
      </p:sp>
      <p:sp>
        <p:nvSpPr>
          <p:cNvPr id="3" name="Text 1"/>
          <p:cNvSpPr txBox="1"/>
          <p:nvPr/>
        </p:nvSpPr>
        <p:spPr>
          <a:xfrm>
            <a:off x="548640" y="1554480"/>
            <a:ext cx="6583680" cy="155448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Telling four radio signals apart</a:t>
            </a:r>
            <a:endParaRPr lang="en-US" sz="4200" dirty="0"/>
          </a:p>
        </p:txBody>
      </p:sp>
      <p:sp>
        <p:nvSpPr>
          <p:cNvPr id="4" name="Text 2"/>
          <p:cNvSpPr txBox="1"/>
          <p:nvPr/>
        </p:nvSpPr>
        <p:spPr>
          <a:xfrm>
            <a:off x="548640" y="3246120"/>
            <a:ext cx="6400800" cy="45720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What our detector does, step by step</a:t>
            </a:r>
            <a:endParaRPr lang="en-US" sz="2000" dirty="0"/>
          </a:p>
        </p:txBody>
      </p:sp>
      <p:sp>
        <p:nvSpPr>
          <p:cNvPr id="5" name="Text 3"/>
          <p:cNvSpPr txBox="1"/>
          <p:nvPr/>
        </p:nvSpPr>
        <p:spPr>
          <a:xfrm>
            <a:off x="548640" y="3840480"/>
            <a:ext cx="64008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BPSK  ·  QPSK  ·  QAM16  ·  QAM64</a:t>
            </a:r>
            <a:endParaRPr lang="en-US" sz="1600" dirty="0"/>
          </a:p>
        </p:txBody>
      </p:sp>
      <p:pic>
        <p:nvPicPr>
          <p:cNvPr id="6" name="Image 0" descr="simple/noise.gif">    </p:cNvPr>
          <p:cNvPicPr>
            <a:picLocks noChangeAspect="1"/>
          </p:cNvPicPr>
          <p:nvPr/>
        </p:nvPicPr>
        <p:blipFill>
          <a:blip r:embed="rId1"/>
          <a:stretch>
            <a:fillRect/>
          </a:stretch>
        </p:blipFill>
        <p:spPr>
          <a:xfrm>
            <a:off x="7635240" y="914400"/>
            <a:ext cx="3657600" cy="3931920"/>
          </a:xfrm>
          <a:prstGeom prst="rect">
            <a:avLst/>
          </a:prstGeom>
        </p:spPr>
      </p:pic>
      <p:sp>
        <p:nvSpPr>
          <p:cNvPr id="7" name="Text 4"/>
          <p:cNvSpPr txBox="1"/>
          <p:nvPr/>
        </p:nvSpPr>
        <p:spPr>
          <a:xfrm>
            <a:off x="7635240" y="4937760"/>
            <a:ext cx="3657600" cy="32004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16 symbols of one QAM16 frame, as the noise grows</a:t>
            </a:r>
            <a:endParaRPr lang="en-US" sz="1100" dirty="0"/>
          </a:p>
        </p:txBody>
      </p:sp>
      <p:sp>
        <p:nvSpPr>
          <p:cNvPr id="8" name="Text 5"/>
          <p:cNvSpPr txBox="1"/>
          <p:nvPr/>
        </p:nvSpPr>
        <p:spPr>
          <a:xfrm>
            <a:off x="548640" y="6035040"/>
            <a:ext cx="8229600" cy="274320"/>
          </a:xfrm>
          <a:prstGeom prst="rect">
            <a:avLst/>
          </a:prstGeom>
          <a:noFill/>
          <a:ln/>
        </p:spPr>
        <p:txBody>
          <a:bodyPr wrap="square" lIns="0" tIns="0" rIns="0" bIns="0" rtlCol="0" anchor="t"/>
          <a:lstStyle/>
          <a:p>
            <a:pPr indent="0" marL="0">
              <a:buNone/>
            </a:pPr>
            <a:r>
              <a:rPr lang="en-US" sz="1100" dirty="0">
                <a:solidFill>
                  <a:srgbClr val="9AA8BA"/>
                </a:solidFill>
                <a:latin typeface="Calibri" pitchFamily="34" charset="0"/>
                <a:ea typeface="Calibri" pitchFamily="34" charset="-122"/>
                <a:cs typeface="Calibri" pitchFamily="34" charset="-120"/>
              </a:rPr>
              <a:t>Prepared for Dr. Moshe Kam's research group  ·  NJIT  ·  October 2026</a:t>
            </a:r>
            <a:endParaRPr lang="en-US" sz="1100" dirty="0"/>
          </a:p>
        </p:txBody>
      </p:sp>
      <p:sp>
        <p:nvSpPr>
          <p:cNvPr id="10" name="Text 6"/>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THIS IS ABOUT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is AMC, and what am I working on?</a:t>
            </a:r>
            <a:endParaRPr lang="en-US" sz="3000" dirty="0"/>
          </a:p>
        </p:txBody>
      </p:sp>
      <p:sp>
        <p:nvSpPr>
          <p:cNvPr id="4" name="Shape 2"/>
          <p:cNvSpPr/>
          <p:nvPr/>
        </p:nvSpPr>
        <p:spPr>
          <a:xfrm>
            <a:off x="548640" y="1554480"/>
            <a:ext cx="5486400" cy="4160520"/>
          </a:xfrm>
          <a:prstGeom prst="roundRect">
            <a:avLst>
              <a:gd name="adj" fmla="val 2198"/>
            </a:avLst>
          </a:prstGeom>
          <a:solidFill>
            <a:srgbClr val="EEF2F6"/>
          </a:solidFill>
          <a:ln w="12700">
            <a:solidFill>
              <a:srgbClr val="EEF2F6"/>
            </a:solidFill>
            <a:prstDash val="solid"/>
          </a:ln>
        </p:spPr>
      </p:sp>
      <p:sp>
        <p:nvSpPr>
          <p:cNvPr id="5" name="Text 3"/>
          <p:cNvSpPr txBox="1"/>
          <p:nvPr/>
        </p:nvSpPr>
        <p:spPr>
          <a:xfrm>
            <a:off x="822960" y="1691640"/>
            <a:ext cx="4937760" cy="777240"/>
          </a:xfrm>
          <a:prstGeom prst="rect">
            <a:avLst/>
          </a:prstGeom>
          <a:noFill/>
          <a:ln/>
        </p:spPr>
        <p:txBody>
          <a:bodyPr wrap="square" lIns="0" tIns="0" rIns="0" bIns="0" rtlCol="0" anchor="t"/>
          <a:lstStyle/>
          <a:p>
            <a:pPr indent="0" marL="0">
              <a:buNone/>
            </a:pPr>
            <a:r>
              <a:rPr lang="en-US" sz="2200" b="1" dirty="0">
                <a:solidFill>
                  <a:srgbClr val="F08A24"/>
                </a:solidFill>
                <a:latin typeface="Calibri" pitchFamily="34" charset="0"/>
                <a:ea typeface="Calibri" pitchFamily="34" charset="-122"/>
                <a:cs typeface="Calibri" pitchFamily="34" charset="-120"/>
              </a:rPr>
              <a:t>AMC</a:t>
            </a:r>
            <a:endParaRPr lang="en-US" sz="1400" dirty="0"/>
          </a:p>
          <a:p>
            <a:pPr indent="0" marL="0">
              <a:buNone/>
            </a:pPr>
            <a:r>
              <a:rPr lang="en-US" sz="1600" b="1" dirty="0">
                <a:solidFill>
                  <a:srgbClr val="1E293B"/>
                </a:solidFill>
                <a:latin typeface="Calibri" pitchFamily="34" charset="0"/>
                <a:ea typeface="Calibri" pitchFamily="34" charset="-122"/>
                <a:cs typeface="Calibri" pitchFamily="34" charset="-120"/>
              </a:rPr>
              <a:t>Automatic Modulation Classification</a:t>
            </a:r>
            <a:endParaRPr lang="en-US" sz="1400" dirty="0"/>
          </a:p>
        </p:txBody>
      </p:sp>
      <p:sp>
        <p:nvSpPr>
          <p:cNvPr id="6" name="Text 4"/>
          <p:cNvSpPr txBox="1"/>
          <p:nvPr/>
        </p:nvSpPr>
        <p:spPr>
          <a:xfrm>
            <a:off x="822960" y="2560320"/>
            <a:ext cx="4937760" cy="73152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A receiver picks up a radio signal nobody described to it. AMC answers one question: how was it modulated?</a:t>
            </a:r>
            <a:endParaRPr lang="en-US" sz="1350" dirty="0"/>
          </a:p>
        </p:txBody>
      </p:sp>
      <p:sp>
        <p:nvSpPr>
          <p:cNvPr id="7" name="Shape 5"/>
          <p:cNvSpPr/>
          <p:nvPr/>
        </p:nvSpPr>
        <p:spPr>
          <a:xfrm>
            <a:off x="786384" y="3392424"/>
            <a:ext cx="1993392" cy="755904"/>
          </a:xfrm>
          <a:prstGeom prst="roundRect">
            <a:avLst>
              <a:gd name="adj" fmla="val 7258"/>
            </a:avLst>
          </a:prstGeom>
          <a:solidFill>
            <a:srgbClr val="0F1B2D"/>
          </a:solidFill>
          <a:ln w="12700">
            <a:solidFill>
              <a:srgbClr val="0F1B2D"/>
            </a:solidFill>
            <a:prstDash val="solid"/>
          </a:ln>
        </p:spPr>
      </p:sp>
      <p:pic>
        <p:nvPicPr>
          <p:cNvPr id="8" name="Image 0" descr="simple/frame.png">    </p:cNvPr>
          <p:cNvPicPr>
            <a:picLocks noChangeAspect="1"/>
          </p:cNvPicPr>
          <p:nvPr/>
        </p:nvPicPr>
        <p:blipFill>
          <a:blip r:embed="rId1"/>
          <a:stretch>
            <a:fillRect/>
          </a:stretch>
        </p:blipFill>
        <p:spPr>
          <a:xfrm>
            <a:off x="822960" y="3429000"/>
            <a:ext cx="1920240" cy="682752"/>
          </a:xfrm>
          <a:prstGeom prst="rect">
            <a:avLst/>
          </a:prstGeom>
        </p:spPr>
      </p:pic>
      <p:sp>
        <p:nvSpPr>
          <p:cNvPr id="9" name="Text 6"/>
          <p:cNvSpPr txBox="1"/>
          <p:nvPr/>
        </p:nvSpPr>
        <p:spPr>
          <a:xfrm>
            <a:off x="822960" y="4160520"/>
            <a:ext cx="1920240" cy="27432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a few samples of signal</a:t>
            </a:r>
            <a:endParaRPr lang="en-US" sz="1050" dirty="0"/>
          </a:p>
        </p:txBody>
      </p:sp>
      <p:sp>
        <p:nvSpPr>
          <p:cNvPr id="10" name="Shape 7"/>
          <p:cNvSpPr/>
          <p:nvPr/>
        </p:nvSpPr>
        <p:spPr>
          <a:xfrm>
            <a:off x="2834640" y="3566160"/>
            <a:ext cx="502920" cy="384048"/>
          </a:xfrm>
          <a:prstGeom prst="rightArrow">
            <a:avLst/>
          </a:prstGeom>
          <a:solidFill>
            <a:srgbClr val="F08A24"/>
          </a:solidFill>
          <a:ln w="12700">
            <a:solidFill>
              <a:srgbClr val="F08A24"/>
            </a:solidFill>
            <a:prstDash val="solid"/>
          </a:ln>
        </p:spPr>
      </p:sp>
      <p:sp>
        <p:nvSpPr>
          <p:cNvPr id="11" name="Shape 8"/>
          <p:cNvSpPr/>
          <p:nvPr/>
        </p:nvSpPr>
        <p:spPr>
          <a:xfrm>
            <a:off x="3429000" y="3410712"/>
            <a:ext cx="1051560" cy="713232"/>
          </a:xfrm>
          <a:prstGeom prst="roundRect">
            <a:avLst>
              <a:gd name="adj" fmla="val 10256"/>
            </a:avLst>
          </a:prstGeom>
          <a:solidFill>
            <a:srgbClr val="0F1B2D"/>
          </a:solidFill>
          <a:ln w="12700">
            <a:solidFill>
              <a:srgbClr val="0F1B2D"/>
            </a:solidFill>
            <a:prstDash val="solid"/>
          </a:ln>
        </p:spPr>
      </p:sp>
      <p:sp>
        <p:nvSpPr>
          <p:cNvPr id="12" name="Text 9"/>
          <p:cNvSpPr txBox="1"/>
          <p:nvPr/>
        </p:nvSpPr>
        <p:spPr>
          <a:xfrm>
            <a:off x="3429000" y="3410712"/>
            <a:ext cx="105156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p>
        </p:txBody>
      </p:sp>
      <p:sp>
        <p:nvSpPr>
          <p:cNvPr id="13" name="Shape 10"/>
          <p:cNvSpPr/>
          <p:nvPr/>
        </p:nvSpPr>
        <p:spPr>
          <a:xfrm>
            <a:off x="4553712" y="3566160"/>
            <a:ext cx="502920" cy="384048"/>
          </a:xfrm>
          <a:prstGeom prst="rightArrow">
            <a:avLst/>
          </a:prstGeom>
          <a:solidFill>
            <a:srgbClr val="F08A24"/>
          </a:solidFill>
          <a:ln w="12700">
            <a:solidFill>
              <a:srgbClr val="F08A24"/>
            </a:solidFill>
            <a:prstDash val="solid"/>
          </a:ln>
        </p:spPr>
      </p:sp>
      <p:sp>
        <p:nvSpPr>
          <p:cNvPr id="14" name="Shape 11"/>
          <p:cNvSpPr/>
          <p:nvPr/>
        </p:nvSpPr>
        <p:spPr>
          <a:xfrm>
            <a:off x="5120640" y="3621024"/>
            <a:ext cx="777240" cy="292608"/>
          </a:xfrm>
          <a:prstGeom prst="roundRect">
            <a:avLst>
              <a:gd name="adj" fmla="val 50000"/>
            </a:avLst>
          </a:prstGeom>
          <a:solidFill>
            <a:srgbClr val="F08A24"/>
          </a:solidFill>
          <a:ln w="12700">
            <a:solidFill>
              <a:srgbClr val="F08A24"/>
            </a:solidFill>
            <a:prstDash val="solid"/>
          </a:ln>
        </p:spPr>
      </p:sp>
      <p:sp>
        <p:nvSpPr>
          <p:cNvPr id="15" name="Text 12"/>
          <p:cNvSpPr txBox="1"/>
          <p:nvPr/>
        </p:nvSpPr>
        <p:spPr>
          <a:xfrm>
            <a:off x="5120640" y="3621024"/>
            <a:ext cx="777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QPSK</a:t>
            </a:r>
            <a:endParaRPr lang="en-US" sz="1100" dirty="0"/>
          </a:p>
        </p:txBody>
      </p:sp>
      <p:sp>
        <p:nvSpPr>
          <p:cNvPr id="16" name="Text 13"/>
          <p:cNvSpPr txBox="1"/>
          <p:nvPr/>
        </p:nvSpPr>
        <p:spPr>
          <a:xfrm>
            <a:off x="822960" y="4663440"/>
            <a:ext cx="493776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Used for watching the spectrum, finding interference, and radios that adapt to what they hear.</a:t>
            </a:r>
            <a:endParaRPr lang="en-US" sz="1300" dirty="0"/>
          </a:p>
        </p:txBody>
      </p:sp>
      <p:sp>
        <p:nvSpPr>
          <p:cNvPr id="17" name="Text 14"/>
          <p:cNvSpPr txBox="1"/>
          <p:nvPr/>
        </p:nvSpPr>
        <p:spPr>
          <a:xfrm>
            <a:off x="6400800" y="1600200"/>
            <a:ext cx="5212080" cy="411480"/>
          </a:xfrm>
          <a:prstGeom prst="rect">
            <a:avLst/>
          </a:prstGeom>
          <a:noFill/>
          <a:ln/>
        </p:spPr>
        <p:txBody>
          <a:bodyPr wrap="square" lIns="0" tIns="0" rIns="0" bIns="0" rtlCol="0" anchor="t"/>
          <a:lstStyle/>
          <a:p>
            <a:pPr indent="0" marL="0">
              <a:buNone/>
            </a:pPr>
            <a:r>
              <a:rPr lang="en-US" sz="1700" b="1" dirty="0">
                <a:solidFill>
                  <a:srgbClr val="1E293B"/>
                </a:solidFill>
                <a:latin typeface="Calibri" pitchFamily="34" charset="0"/>
                <a:ea typeface="Calibri" pitchFamily="34" charset="-122"/>
                <a:cs typeface="Calibri" pitchFamily="34" charset="-120"/>
              </a:rPr>
              <a:t>What I am working on</a:t>
            </a:r>
            <a:endParaRPr lang="en-US" sz="1700" dirty="0"/>
          </a:p>
        </p:txBody>
      </p:sp>
      <p:sp>
        <p:nvSpPr>
          <p:cNvPr id="18" name="Shape 15"/>
          <p:cNvSpPr/>
          <p:nvPr/>
        </p:nvSpPr>
        <p:spPr>
          <a:xfrm>
            <a:off x="6400800" y="2194560"/>
            <a:ext cx="411480" cy="411480"/>
          </a:xfrm>
          <a:prstGeom prst="ellipse">
            <a:avLst/>
          </a:prstGeom>
          <a:solidFill>
            <a:srgbClr val="0F1B2D"/>
          </a:solidFill>
          <a:ln w="12700">
            <a:solidFill>
              <a:srgbClr val="0F1B2D"/>
            </a:solidFill>
            <a:prstDash val="solid"/>
          </a:ln>
        </p:spPr>
      </p:sp>
      <p:sp>
        <p:nvSpPr>
          <p:cNvPr id="19" name="Text 16"/>
          <p:cNvSpPr txBox="1"/>
          <p:nvPr/>
        </p:nvSpPr>
        <p:spPr>
          <a:xfrm>
            <a:off x="6400800" y="2194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6995160" y="2130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A detector</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trained on a standard, simulated dataset (RML2016.10a, DeepSig).</a:t>
            </a:r>
            <a:endParaRPr lang="en-US" sz="1350" dirty="0"/>
          </a:p>
        </p:txBody>
      </p:sp>
      <p:sp>
        <p:nvSpPr>
          <p:cNvPr id="21" name="Shape 18"/>
          <p:cNvSpPr/>
          <p:nvPr/>
        </p:nvSpPr>
        <p:spPr>
          <a:xfrm>
            <a:off x="6400800" y="3337560"/>
            <a:ext cx="411480" cy="411480"/>
          </a:xfrm>
          <a:prstGeom prst="ellipse">
            <a:avLst/>
          </a:prstGeom>
          <a:solidFill>
            <a:srgbClr val="F08A24"/>
          </a:solidFill>
          <a:ln w="12700">
            <a:solidFill>
              <a:srgbClr val="F08A24"/>
            </a:solidFill>
            <a:prstDash val="solid"/>
          </a:ln>
        </p:spPr>
      </p:sp>
      <p:sp>
        <p:nvSpPr>
          <p:cNvPr id="22" name="Text 19"/>
          <p:cNvSpPr txBox="1"/>
          <p:nvPr/>
        </p:nvSpPr>
        <p:spPr>
          <a:xfrm>
            <a:off x="6400800" y="3337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6995160" y="3273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Open it up</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what it does, what the noise is, where it fails. This is today.</a:t>
            </a:r>
            <a:endParaRPr lang="en-US" sz="1350" dirty="0"/>
          </a:p>
        </p:txBody>
      </p:sp>
      <p:sp>
        <p:nvSpPr>
          <p:cNvPr id="24" name="Shape 21"/>
          <p:cNvSpPr/>
          <p:nvPr/>
        </p:nvSpPr>
        <p:spPr>
          <a:xfrm>
            <a:off x="6400800" y="4480560"/>
            <a:ext cx="411480" cy="411480"/>
          </a:xfrm>
          <a:prstGeom prst="ellipse">
            <a:avLst/>
          </a:prstGeom>
          <a:solidFill>
            <a:srgbClr val="0F1B2D"/>
          </a:solidFill>
          <a:ln w="12700">
            <a:solidFill>
              <a:srgbClr val="0F1B2D"/>
            </a:solidFill>
            <a:prstDash val="solid"/>
          </a:ln>
        </p:spPr>
      </p:sp>
      <p:sp>
        <p:nvSpPr>
          <p:cNvPr id="25" name="Text 22"/>
          <p:cNvSpPr txBox="1"/>
          <p:nvPr/>
        </p:nvSpPr>
        <p:spPr>
          <a:xfrm>
            <a:off x="6400800" y="4480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6995160" y="4416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The bigger question</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why such detectors lose accuracy on signals from a different transmitter, and what fixes it.</a:t>
            </a:r>
            <a:endParaRPr lang="en-US" sz="1350" dirty="0"/>
          </a:p>
        </p:txBody>
      </p:sp>
      <p:sp>
        <p:nvSpPr>
          <p:cNvPr id="27" name="Text 24"/>
          <p:cNvSpPr txBox="1"/>
          <p:nvPr/>
        </p:nvSpPr>
        <p:spPr>
          <a:xfrm>
            <a:off x="548640" y="58978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Today: only steps 1 and 2,</a:t>
            </a:r>
            <a:pPr indent="0" marL="0">
              <a:buNone/>
            </a:pPr>
            <a:r>
              <a:rPr lang="en-US" sz="1500" dirty="0">
                <a:solidFill>
                  <a:srgbClr val="1E293B"/>
                </a:solidFill>
                <a:latin typeface="Calibri" pitchFamily="34" charset="0"/>
                <a:ea typeface="Calibri" pitchFamily="34" charset="-122"/>
                <a:cs typeface="Calibri" pitchFamily="34" charset="-120"/>
              </a:rPr>
              <a:t>  on four signals: BPSK, QPSK, QAM16 and QAM64.</a:t>
            </a:r>
            <a:endParaRPr lang="en-US" sz="1500" dirty="0"/>
          </a:p>
        </p:txBody>
      </p:sp>
      <p:sp>
        <p:nvSpPr>
          <p:cNvPr id="29" name="Text 2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data do I use?</a:t>
            </a:r>
            <a:endParaRPr lang="en-US" sz="3000" dirty="0"/>
          </a:p>
        </p:txBody>
      </p:sp>
      <p:sp>
        <p:nvSpPr>
          <p:cNvPr id="4" name="Shape 2"/>
          <p:cNvSpPr/>
          <p:nvPr/>
        </p:nvSpPr>
        <p:spPr>
          <a:xfrm>
            <a:off x="9079992" y="347472"/>
            <a:ext cx="2560320"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079992" y="347472"/>
            <a:ext cx="2560320"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RML2016.10a_dict.pkl</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RML2016.10a — made by DeepSig in a radio simulator (GNU Radio), 2016. The dataset most AMC papers report on.</a:t>
            </a:r>
            <a:endParaRPr lang="en-US" sz="1400" dirty="0"/>
          </a:p>
        </p:txBody>
      </p:sp>
      <p:sp>
        <p:nvSpPr>
          <p:cNvPr id="7" name="Shape 5"/>
          <p:cNvSpPr/>
          <p:nvPr/>
        </p:nvSpPr>
        <p:spPr>
          <a:xfrm>
            <a:off x="548640" y="1874520"/>
            <a:ext cx="2057400" cy="1325880"/>
          </a:xfrm>
          <a:prstGeom prst="roundRect">
            <a:avLst>
              <a:gd name="adj" fmla="val 6897"/>
            </a:avLst>
          </a:prstGeom>
          <a:solidFill>
            <a:srgbClr val="EEF2F6"/>
          </a:solidFill>
          <a:ln w="12700">
            <a:solidFill>
              <a:srgbClr val="EEF2F6"/>
            </a:solidFill>
            <a:prstDash val="solid"/>
          </a:ln>
        </p:spPr>
      </p:sp>
      <p:sp>
        <p:nvSpPr>
          <p:cNvPr id="8" name="Text 6"/>
          <p:cNvSpPr txBox="1"/>
          <p:nvPr/>
        </p:nvSpPr>
        <p:spPr>
          <a:xfrm>
            <a:off x="685800" y="1938528"/>
            <a:ext cx="1783080" cy="640080"/>
          </a:xfrm>
          <a:prstGeom prst="rect">
            <a:avLst/>
          </a:prstGeom>
          <a:noFill/>
          <a:ln/>
        </p:spPr>
        <p:txBody>
          <a:bodyPr wrap="square" lIns="0" tIns="0" rIns="0" bIns="0" rtlCol="0" anchor="b"/>
          <a:lstStyle/>
          <a:p>
            <a:pPr indent="0" marL="0">
              <a:buNone/>
            </a:pPr>
            <a:r>
              <a:rPr lang="en-US" sz="3000" b="1" dirty="0">
                <a:solidFill>
                  <a:srgbClr val="F08A24"/>
                </a:solidFill>
                <a:latin typeface="Calibri" pitchFamily="34" charset="0"/>
                <a:ea typeface="Calibri" pitchFamily="34" charset="-122"/>
                <a:cs typeface="Calibri" pitchFamily="34" charset="-120"/>
              </a:rPr>
              <a:t>11</a:t>
            </a:r>
            <a:endParaRPr lang="en-US" sz="3000" dirty="0"/>
          </a:p>
        </p:txBody>
      </p:sp>
      <p:sp>
        <p:nvSpPr>
          <p:cNvPr id="9" name="Text 7"/>
          <p:cNvSpPr txBox="1"/>
          <p:nvPr/>
        </p:nvSpPr>
        <p:spPr>
          <a:xfrm>
            <a:off x="68580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modulation types</a:t>
            </a:r>
            <a:endParaRPr lang="en-US" sz="1150" dirty="0"/>
          </a:p>
        </p:txBody>
      </p:sp>
      <p:sp>
        <p:nvSpPr>
          <p:cNvPr id="10" name="Shape 8"/>
          <p:cNvSpPr/>
          <p:nvPr/>
        </p:nvSpPr>
        <p:spPr>
          <a:xfrm>
            <a:off x="2788920" y="1874520"/>
            <a:ext cx="2057400" cy="1325880"/>
          </a:xfrm>
          <a:prstGeom prst="roundRect">
            <a:avLst>
              <a:gd name="adj" fmla="val 6897"/>
            </a:avLst>
          </a:prstGeom>
          <a:solidFill>
            <a:srgbClr val="EEF2F6"/>
          </a:solidFill>
          <a:ln w="12700">
            <a:solidFill>
              <a:srgbClr val="EEF2F6"/>
            </a:solidFill>
            <a:prstDash val="solid"/>
          </a:ln>
        </p:spPr>
      </p:sp>
      <p:sp>
        <p:nvSpPr>
          <p:cNvPr id="11" name="Text 9"/>
          <p:cNvSpPr txBox="1"/>
          <p:nvPr/>
        </p:nvSpPr>
        <p:spPr>
          <a:xfrm>
            <a:off x="292608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20</a:t>
            </a:r>
            <a:endParaRPr lang="en-US" sz="3000" dirty="0"/>
          </a:p>
        </p:txBody>
      </p:sp>
      <p:sp>
        <p:nvSpPr>
          <p:cNvPr id="12" name="Text 10"/>
          <p:cNvSpPr txBox="1"/>
          <p:nvPr/>
        </p:nvSpPr>
        <p:spPr>
          <a:xfrm>
            <a:off x="292608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noise levels, −20 to +18 dB</a:t>
            </a:r>
            <a:endParaRPr lang="en-US" sz="1150" dirty="0"/>
          </a:p>
        </p:txBody>
      </p:sp>
      <p:sp>
        <p:nvSpPr>
          <p:cNvPr id="13" name="Shape 11"/>
          <p:cNvSpPr/>
          <p:nvPr/>
        </p:nvSpPr>
        <p:spPr>
          <a:xfrm>
            <a:off x="5029200" y="1874520"/>
            <a:ext cx="2057400" cy="1325880"/>
          </a:xfrm>
          <a:prstGeom prst="roundRect">
            <a:avLst>
              <a:gd name="adj" fmla="val 6897"/>
            </a:avLst>
          </a:prstGeom>
          <a:solidFill>
            <a:srgbClr val="EEF2F6"/>
          </a:solidFill>
          <a:ln w="12700">
            <a:solidFill>
              <a:srgbClr val="EEF2F6"/>
            </a:solidFill>
            <a:prstDash val="solid"/>
          </a:ln>
        </p:spPr>
      </p:sp>
      <p:sp>
        <p:nvSpPr>
          <p:cNvPr id="14" name="Text 12"/>
          <p:cNvSpPr txBox="1"/>
          <p:nvPr/>
        </p:nvSpPr>
        <p:spPr>
          <a:xfrm>
            <a:off x="516636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1,000</a:t>
            </a:r>
            <a:endParaRPr lang="en-US" sz="3000" dirty="0"/>
          </a:p>
        </p:txBody>
      </p:sp>
      <p:sp>
        <p:nvSpPr>
          <p:cNvPr id="15" name="Text 13"/>
          <p:cNvSpPr txBox="1"/>
          <p:nvPr/>
        </p:nvSpPr>
        <p:spPr>
          <a:xfrm>
            <a:off x="516636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of each type at each level</a:t>
            </a:r>
            <a:endParaRPr lang="en-US" sz="1150" dirty="0"/>
          </a:p>
        </p:txBody>
      </p:sp>
      <p:sp>
        <p:nvSpPr>
          <p:cNvPr id="16" name="Shape 14"/>
          <p:cNvSpPr/>
          <p:nvPr/>
        </p:nvSpPr>
        <p:spPr>
          <a:xfrm>
            <a:off x="7269480" y="1874520"/>
            <a:ext cx="2057400" cy="1325880"/>
          </a:xfrm>
          <a:prstGeom prst="roundRect">
            <a:avLst>
              <a:gd name="adj" fmla="val 6897"/>
            </a:avLst>
          </a:prstGeom>
          <a:solidFill>
            <a:srgbClr val="EEF2F6"/>
          </a:solidFill>
          <a:ln w="12700">
            <a:solidFill>
              <a:srgbClr val="EEF2F6"/>
            </a:solidFill>
            <a:prstDash val="solid"/>
          </a:ln>
        </p:spPr>
      </p:sp>
      <p:sp>
        <p:nvSpPr>
          <p:cNvPr id="17" name="Text 15"/>
          <p:cNvSpPr txBox="1"/>
          <p:nvPr/>
        </p:nvSpPr>
        <p:spPr>
          <a:xfrm>
            <a:off x="740664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220,000</a:t>
            </a:r>
            <a:endParaRPr lang="en-US" sz="3000" dirty="0"/>
          </a:p>
        </p:txBody>
      </p:sp>
      <p:sp>
        <p:nvSpPr>
          <p:cNvPr id="18" name="Text 16"/>
          <p:cNvSpPr txBox="1"/>
          <p:nvPr/>
        </p:nvSpPr>
        <p:spPr>
          <a:xfrm>
            <a:off x="740664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in total</a:t>
            </a:r>
            <a:endParaRPr lang="en-US" sz="1150" dirty="0"/>
          </a:p>
        </p:txBody>
      </p:sp>
      <p:sp>
        <p:nvSpPr>
          <p:cNvPr id="19" name="Shape 17"/>
          <p:cNvSpPr/>
          <p:nvPr/>
        </p:nvSpPr>
        <p:spPr>
          <a:xfrm>
            <a:off x="9509760" y="1874520"/>
            <a:ext cx="2057400" cy="1325880"/>
          </a:xfrm>
          <a:prstGeom prst="roundRect">
            <a:avLst>
              <a:gd name="adj" fmla="val 6897"/>
            </a:avLst>
          </a:prstGeom>
          <a:solidFill>
            <a:srgbClr val="EEF2F6"/>
          </a:solidFill>
          <a:ln w="12700">
            <a:solidFill>
              <a:srgbClr val="EEF2F6"/>
            </a:solidFill>
            <a:prstDash val="solid"/>
          </a:ln>
        </p:spPr>
      </p:sp>
      <p:sp>
        <p:nvSpPr>
          <p:cNvPr id="20" name="Text 18"/>
          <p:cNvSpPr txBox="1"/>
          <p:nvPr/>
        </p:nvSpPr>
        <p:spPr>
          <a:xfrm>
            <a:off x="964692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128</a:t>
            </a:r>
            <a:endParaRPr lang="en-US" sz="3000" dirty="0"/>
          </a:p>
        </p:txBody>
      </p:sp>
      <p:sp>
        <p:nvSpPr>
          <p:cNvPr id="21" name="Text 19"/>
          <p:cNvSpPr txBox="1"/>
          <p:nvPr/>
        </p:nvSpPr>
        <p:spPr>
          <a:xfrm>
            <a:off x="964692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samples per frame = 16 symbols</a:t>
            </a:r>
            <a:endParaRPr lang="en-US" sz="1150" dirty="0"/>
          </a:p>
        </p:txBody>
      </p:sp>
      <p:sp>
        <p:nvSpPr>
          <p:cNvPr id="22" name="Text 20"/>
          <p:cNvSpPr txBox="1"/>
          <p:nvPr/>
        </p:nvSpPr>
        <p:spPr>
          <a:xfrm>
            <a:off x="548640" y="352044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8 digital</a:t>
            </a:r>
            <a:endParaRPr lang="en-US" sz="1500" dirty="0"/>
          </a:p>
        </p:txBody>
      </p:sp>
      <p:sp>
        <p:nvSpPr>
          <p:cNvPr id="23" name="Shape 21"/>
          <p:cNvSpPr/>
          <p:nvPr/>
        </p:nvSpPr>
        <p:spPr>
          <a:xfrm>
            <a:off x="2103120" y="3520440"/>
            <a:ext cx="1078992" cy="411480"/>
          </a:xfrm>
          <a:prstGeom prst="roundRect">
            <a:avLst>
              <a:gd name="adj" fmla="val 26667"/>
            </a:avLst>
          </a:prstGeom>
          <a:solidFill>
            <a:srgbClr val="F08A24"/>
          </a:solidFill>
          <a:ln w="12700">
            <a:solidFill>
              <a:srgbClr val="F08A24"/>
            </a:solidFill>
            <a:prstDash val="solid"/>
          </a:ln>
        </p:spPr>
      </p:sp>
      <p:sp>
        <p:nvSpPr>
          <p:cNvPr id="24" name="Text 22"/>
          <p:cNvSpPr txBox="1"/>
          <p:nvPr/>
        </p:nvSpPr>
        <p:spPr>
          <a:xfrm>
            <a:off x="210312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BPSK</a:t>
            </a:r>
            <a:endParaRPr lang="en-US" sz="1300" dirty="0"/>
          </a:p>
        </p:txBody>
      </p:sp>
      <p:sp>
        <p:nvSpPr>
          <p:cNvPr id="25" name="Shape 23"/>
          <p:cNvSpPr/>
          <p:nvPr/>
        </p:nvSpPr>
        <p:spPr>
          <a:xfrm>
            <a:off x="3291840" y="3520440"/>
            <a:ext cx="1078992" cy="411480"/>
          </a:xfrm>
          <a:prstGeom prst="roundRect">
            <a:avLst>
              <a:gd name="adj" fmla="val 26667"/>
            </a:avLst>
          </a:prstGeom>
          <a:solidFill>
            <a:srgbClr val="F08A24"/>
          </a:solidFill>
          <a:ln w="12700">
            <a:solidFill>
              <a:srgbClr val="F08A24"/>
            </a:solidFill>
            <a:prstDash val="solid"/>
          </a:ln>
        </p:spPr>
      </p:sp>
      <p:sp>
        <p:nvSpPr>
          <p:cNvPr id="26" name="Text 24"/>
          <p:cNvSpPr txBox="1"/>
          <p:nvPr/>
        </p:nvSpPr>
        <p:spPr>
          <a:xfrm>
            <a:off x="329184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QPSK</a:t>
            </a:r>
            <a:endParaRPr lang="en-US" sz="1300" dirty="0"/>
          </a:p>
        </p:txBody>
      </p:sp>
      <p:sp>
        <p:nvSpPr>
          <p:cNvPr id="27" name="Shape 25"/>
          <p:cNvSpPr/>
          <p:nvPr/>
        </p:nvSpPr>
        <p:spPr>
          <a:xfrm>
            <a:off x="4480560" y="3520440"/>
            <a:ext cx="1078992" cy="411480"/>
          </a:xfrm>
          <a:prstGeom prst="roundRect">
            <a:avLst>
              <a:gd name="adj" fmla="val 26667"/>
            </a:avLst>
          </a:prstGeom>
          <a:solidFill>
            <a:srgbClr val="EEF2F6"/>
          </a:solidFill>
          <a:ln w="12700">
            <a:solidFill>
              <a:srgbClr val="EEF2F6"/>
            </a:solidFill>
            <a:prstDash val="solid"/>
          </a:ln>
        </p:spPr>
      </p:sp>
      <p:sp>
        <p:nvSpPr>
          <p:cNvPr id="28" name="Text 26"/>
          <p:cNvSpPr txBox="1"/>
          <p:nvPr/>
        </p:nvSpPr>
        <p:spPr>
          <a:xfrm>
            <a:off x="44805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8PSK</a:t>
            </a:r>
            <a:endParaRPr lang="en-US" sz="1300" dirty="0"/>
          </a:p>
        </p:txBody>
      </p:sp>
      <p:sp>
        <p:nvSpPr>
          <p:cNvPr id="29" name="Shape 27"/>
          <p:cNvSpPr/>
          <p:nvPr/>
        </p:nvSpPr>
        <p:spPr>
          <a:xfrm>
            <a:off x="5669280" y="3520440"/>
            <a:ext cx="1078992" cy="411480"/>
          </a:xfrm>
          <a:prstGeom prst="roundRect">
            <a:avLst>
              <a:gd name="adj" fmla="val 26667"/>
            </a:avLst>
          </a:prstGeom>
          <a:solidFill>
            <a:srgbClr val="F08A24"/>
          </a:solidFill>
          <a:ln w="12700">
            <a:solidFill>
              <a:srgbClr val="F08A24"/>
            </a:solidFill>
            <a:prstDash val="solid"/>
          </a:ln>
        </p:spPr>
      </p:sp>
      <p:sp>
        <p:nvSpPr>
          <p:cNvPr id="30" name="Text 28"/>
          <p:cNvSpPr txBox="1"/>
          <p:nvPr/>
        </p:nvSpPr>
        <p:spPr>
          <a:xfrm>
            <a:off x="566928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QAM16</a:t>
            </a:r>
            <a:endParaRPr lang="en-US" sz="1300" dirty="0"/>
          </a:p>
        </p:txBody>
      </p:sp>
      <p:sp>
        <p:nvSpPr>
          <p:cNvPr id="31" name="Shape 29"/>
          <p:cNvSpPr/>
          <p:nvPr/>
        </p:nvSpPr>
        <p:spPr>
          <a:xfrm>
            <a:off x="6858000" y="3520440"/>
            <a:ext cx="1078992" cy="411480"/>
          </a:xfrm>
          <a:prstGeom prst="roundRect">
            <a:avLst>
              <a:gd name="adj" fmla="val 26667"/>
            </a:avLst>
          </a:prstGeom>
          <a:solidFill>
            <a:srgbClr val="F08A24"/>
          </a:solidFill>
          <a:ln w="12700">
            <a:solidFill>
              <a:srgbClr val="F08A24"/>
            </a:solidFill>
            <a:prstDash val="solid"/>
          </a:ln>
        </p:spPr>
      </p:sp>
      <p:sp>
        <p:nvSpPr>
          <p:cNvPr id="32" name="Text 30"/>
          <p:cNvSpPr txBox="1"/>
          <p:nvPr/>
        </p:nvSpPr>
        <p:spPr>
          <a:xfrm>
            <a:off x="685800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QAM64</a:t>
            </a:r>
            <a:endParaRPr lang="en-US" sz="1300" dirty="0"/>
          </a:p>
        </p:txBody>
      </p:sp>
      <p:sp>
        <p:nvSpPr>
          <p:cNvPr id="33" name="Shape 31"/>
          <p:cNvSpPr/>
          <p:nvPr/>
        </p:nvSpPr>
        <p:spPr>
          <a:xfrm>
            <a:off x="8046720" y="3520440"/>
            <a:ext cx="1078992" cy="411480"/>
          </a:xfrm>
          <a:prstGeom prst="roundRect">
            <a:avLst>
              <a:gd name="adj" fmla="val 26667"/>
            </a:avLst>
          </a:prstGeom>
          <a:solidFill>
            <a:srgbClr val="EEF2F6"/>
          </a:solidFill>
          <a:ln w="12700">
            <a:solidFill>
              <a:srgbClr val="EEF2F6"/>
            </a:solidFill>
            <a:prstDash val="solid"/>
          </a:ln>
        </p:spPr>
      </p:sp>
      <p:sp>
        <p:nvSpPr>
          <p:cNvPr id="34" name="Text 32"/>
          <p:cNvSpPr txBox="1"/>
          <p:nvPr/>
        </p:nvSpPr>
        <p:spPr>
          <a:xfrm>
            <a:off x="804672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PAM4</a:t>
            </a:r>
            <a:endParaRPr lang="en-US" sz="1300" dirty="0"/>
          </a:p>
        </p:txBody>
      </p:sp>
      <p:sp>
        <p:nvSpPr>
          <p:cNvPr id="35" name="Shape 33"/>
          <p:cNvSpPr/>
          <p:nvPr/>
        </p:nvSpPr>
        <p:spPr>
          <a:xfrm>
            <a:off x="9235440" y="3520440"/>
            <a:ext cx="1078992" cy="411480"/>
          </a:xfrm>
          <a:prstGeom prst="roundRect">
            <a:avLst>
              <a:gd name="adj" fmla="val 26667"/>
            </a:avLst>
          </a:prstGeom>
          <a:solidFill>
            <a:srgbClr val="EEF2F6"/>
          </a:solidFill>
          <a:ln w="12700">
            <a:solidFill>
              <a:srgbClr val="EEF2F6"/>
            </a:solidFill>
            <a:prstDash val="solid"/>
          </a:ln>
        </p:spPr>
      </p:sp>
      <p:sp>
        <p:nvSpPr>
          <p:cNvPr id="36" name="Text 34"/>
          <p:cNvSpPr txBox="1"/>
          <p:nvPr/>
        </p:nvSpPr>
        <p:spPr>
          <a:xfrm>
            <a:off x="923544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GFSK</a:t>
            </a:r>
            <a:endParaRPr lang="en-US" sz="1300" dirty="0"/>
          </a:p>
        </p:txBody>
      </p:sp>
      <p:sp>
        <p:nvSpPr>
          <p:cNvPr id="37" name="Shape 35"/>
          <p:cNvSpPr/>
          <p:nvPr/>
        </p:nvSpPr>
        <p:spPr>
          <a:xfrm>
            <a:off x="10424160" y="3520440"/>
            <a:ext cx="1078992" cy="411480"/>
          </a:xfrm>
          <a:prstGeom prst="roundRect">
            <a:avLst>
              <a:gd name="adj" fmla="val 26667"/>
            </a:avLst>
          </a:prstGeom>
          <a:solidFill>
            <a:srgbClr val="EEF2F6"/>
          </a:solidFill>
          <a:ln w="12700">
            <a:solidFill>
              <a:srgbClr val="EEF2F6"/>
            </a:solidFill>
            <a:prstDash val="solid"/>
          </a:ln>
        </p:spPr>
      </p:sp>
      <p:sp>
        <p:nvSpPr>
          <p:cNvPr id="38" name="Text 36"/>
          <p:cNvSpPr txBox="1"/>
          <p:nvPr/>
        </p:nvSpPr>
        <p:spPr>
          <a:xfrm>
            <a:off x="104241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CPFSK</a:t>
            </a:r>
            <a:endParaRPr lang="en-US" sz="1300" dirty="0"/>
          </a:p>
        </p:txBody>
      </p:sp>
      <p:sp>
        <p:nvSpPr>
          <p:cNvPr id="39" name="Text 37"/>
          <p:cNvSpPr txBox="1"/>
          <p:nvPr/>
        </p:nvSpPr>
        <p:spPr>
          <a:xfrm>
            <a:off x="548640" y="411480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3 analog</a:t>
            </a:r>
            <a:endParaRPr lang="en-US" sz="1500" dirty="0"/>
          </a:p>
        </p:txBody>
      </p:sp>
      <p:sp>
        <p:nvSpPr>
          <p:cNvPr id="40" name="Shape 38"/>
          <p:cNvSpPr/>
          <p:nvPr/>
        </p:nvSpPr>
        <p:spPr>
          <a:xfrm>
            <a:off x="2103120" y="4114800"/>
            <a:ext cx="1078992" cy="411480"/>
          </a:xfrm>
          <a:prstGeom prst="roundRect">
            <a:avLst>
              <a:gd name="adj" fmla="val 26667"/>
            </a:avLst>
          </a:prstGeom>
          <a:solidFill>
            <a:srgbClr val="EEF2F6"/>
          </a:solidFill>
          <a:ln w="12700">
            <a:solidFill>
              <a:srgbClr val="EEF2F6"/>
            </a:solidFill>
            <a:prstDash val="solid"/>
          </a:ln>
        </p:spPr>
      </p:sp>
      <p:sp>
        <p:nvSpPr>
          <p:cNvPr id="41" name="Text 39"/>
          <p:cNvSpPr txBox="1"/>
          <p:nvPr/>
        </p:nvSpPr>
        <p:spPr>
          <a:xfrm>
            <a:off x="210312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WBFM</a:t>
            </a:r>
            <a:endParaRPr lang="en-US" sz="1300" dirty="0"/>
          </a:p>
        </p:txBody>
      </p:sp>
      <p:sp>
        <p:nvSpPr>
          <p:cNvPr id="42" name="Shape 40"/>
          <p:cNvSpPr/>
          <p:nvPr/>
        </p:nvSpPr>
        <p:spPr>
          <a:xfrm>
            <a:off x="3291840" y="4114800"/>
            <a:ext cx="1078992" cy="411480"/>
          </a:xfrm>
          <a:prstGeom prst="roundRect">
            <a:avLst>
              <a:gd name="adj" fmla="val 26667"/>
            </a:avLst>
          </a:prstGeom>
          <a:solidFill>
            <a:srgbClr val="EEF2F6"/>
          </a:solidFill>
          <a:ln w="12700">
            <a:solidFill>
              <a:srgbClr val="EEF2F6"/>
            </a:solidFill>
            <a:prstDash val="solid"/>
          </a:ln>
        </p:spPr>
      </p:sp>
      <p:sp>
        <p:nvSpPr>
          <p:cNvPr id="43" name="Text 41"/>
          <p:cNvSpPr txBox="1"/>
          <p:nvPr/>
        </p:nvSpPr>
        <p:spPr>
          <a:xfrm>
            <a:off x="329184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AM-DSB</a:t>
            </a:r>
            <a:endParaRPr lang="en-US" sz="1300" dirty="0"/>
          </a:p>
        </p:txBody>
      </p:sp>
      <p:sp>
        <p:nvSpPr>
          <p:cNvPr id="44" name="Shape 42"/>
          <p:cNvSpPr/>
          <p:nvPr/>
        </p:nvSpPr>
        <p:spPr>
          <a:xfrm>
            <a:off x="4480560" y="4114800"/>
            <a:ext cx="1078992" cy="411480"/>
          </a:xfrm>
          <a:prstGeom prst="roundRect">
            <a:avLst>
              <a:gd name="adj" fmla="val 26667"/>
            </a:avLst>
          </a:prstGeom>
          <a:solidFill>
            <a:srgbClr val="EEF2F6"/>
          </a:solidFill>
          <a:ln w="12700">
            <a:solidFill>
              <a:srgbClr val="EEF2F6"/>
            </a:solidFill>
            <a:prstDash val="solid"/>
          </a:ln>
        </p:spPr>
      </p:sp>
      <p:sp>
        <p:nvSpPr>
          <p:cNvPr id="45" name="Text 43"/>
          <p:cNvSpPr txBox="1"/>
          <p:nvPr/>
        </p:nvSpPr>
        <p:spPr>
          <a:xfrm>
            <a:off x="448056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AM-SSB</a:t>
            </a:r>
            <a:endParaRPr lang="en-US" sz="1300" dirty="0"/>
          </a:p>
        </p:txBody>
      </p:sp>
      <p:sp>
        <p:nvSpPr>
          <p:cNvPr id="46" name="Text 44"/>
          <p:cNvSpPr txBox="1"/>
          <p:nvPr/>
        </p:nvSpPr>
        <p:spPr>
          <a:xfrm>
            <a:off x="548640" y="49834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Orange: the four I use today.</a:t>
            </a:r>
            <a:pPr indent="0" marL="0">
              <a:buNone/>
            </a:pPr>
            <a:r>
              <a:rPr lang="en-US" sz="1500" dirty="0">
                <a:solidFill>
                  <a:srgbClr val="1E293B"/>
                </a:solidFill>
                <a:latin typeface="Calibri" pitchFamily="34" charset="0"/>
                <a:ea typeface="Calibri" pitchFamily="34" charset="-122"/>
                <a:cs typeface="Calibri" pitchFamily="34" charset="-120"/>
              </a:rPr>
              <a:t>  Two phase-only signals (BPSK, QPSK) and two that also change amplitude (QAM16, QAM64).</a:t>
            </a:r>
            <a:endParaRPr lang="en-US" sz="1500" dirty="0"/>
          </a:p>
        </p:txBody>
      </p:sp>
      <p:sp>
        <p:nvSpPr>
          <p:cNvPr id="48" name="Text 4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the detector do?</a:t>
            </a:r>
            <a:endParaRPr lang="en-US" sz="3000" dirty="0"/>
          </a:p>
        </p:txBody>
      </p:sp>
      <p:sp>
        <p:nvSpPr>
          <p:cNvPr id="4" name="Text 2"/>
          <p:cNvSpPr txBox="1"/>
          <p:nvPr/>
        </p:nvSpPr>
        <p:spPr>
          <a:xfrm>
            <a:off x="548640" y="1325880"/>
            <a:ext cx="11091672"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It is given 128 samples of a radio signal and says which of four modulations sent them.</a:t>
            </a:r>
            <a:endParaRPr lang="en-US" sz="1500" dirty="0"/>
          </a:p>
        </p:txBody>
      </p:sp>
      <p:sp>
        <p:nvSpPr>
          <p:cNvPr id="5" name="Shape 3"/>
          <p:cNvSpPr/>
          <p:nvPr/>
        </p:nvSpPr>
        <p:spPr>
          <a:xfrm>
            <a:off x="8970264" y="347472"/>
            <a:ext cx="2670048" cy="329184"/>
          </a:xfrm>
          <a:prstGeom prst="roundRect">
            <a:avLst>
              <a:gd name="adj" fmla="val 33333"/>
            </a:avLst>
          </a:prstGeom>
          <a:solidFill>
            <a:srgbClr val="EEF2F6"/>
          </a:solidFill>
          <a:ln w="12700">
            <a:solidFill>
              <a:srgbClr val="EEF2F6"/>
            </a:solidFill>
            <a:prstDash val="solid"/>
          </a:ln>
        </p:spPr>
      </p:sp>
      <p:sp>
        <p:nvSpPr>
          <p:cNvPr id="6" name="Text 4"/>
          <p:cNvSpPr txBox="1"/>
          <p:nvPr/>
        </p:nvSpPr>
        <p:spPr>
          <a:xfrm>
            <a:off x="8970264" y="347472"/>
            <a:ext cx="267004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model_zoo.backbone(4)</a:t>
            </a:r>
            <a:endParaRPr lang="en-US" sz="1100" dirty="0"/>
          </a:p>
        </p:txBody>
      </p:sp>
      <p:sp>
        <p:nvSpPr>
          <p:cNvPr id="7" name="Shape 5"/>
          <p:cNvSpPr/>
          <p:nvPr/>
        </p:nvSpPr>
        <p:spPr>
          <a:xfrm>
            <a:off x="548640" y="1920240"/>
            <a:ext cx="3200400" cy="3291840"/>
          </a:xfrm>
          <a:prstGeom prst="roundRect">
            <a:avLst>
              <a:gd name="adj" fmla="val 2857"/>
            </a:avLst>
          </a:prstGeom>
          <a:solidFill>
            <a:srgbClr val="EEF2F6"/>
          </a:solidFill>
          <a:ln w="12700">
            <a:solidFill>
              <a:srgbClr val="EEF2F6"/>
            </a:solidFill>
            <a:prstDash val="solid"/>
          </a:ln>
        </p:spPr>
      </p:sp>
      <p:sp>
        <p:nvSpPr>
          <p:cNvPr id="8" name="Shape 6"/>
          <p:cNvSpPr/>
          <p:nvPr/>
        </p:nvSpPr>
        <p:spPr>
          <a:xfrm>
            <a:off x="777240" y="2148840"/>
            <a:ext cx="384048" cy="384048"/>
          </a:xfrm>
          <a:prstGeom prst="ellipse">
            <a:avLst/>
          </a:prstGeom>
          <a:solidFill>
            <a:srgbClr val="0F1B2D"/>
          </a:solidFill>
          <a:ln w="12700">
            <a:solidFill>
              <a:srgbClr val="0F1B2D"/>
            </a:solidFill>
            <a:prstDash val="solid"/>
          </a:ln>
        </p:spPr>
      </p:sp>
      <p:sp>
        <p:nvSpPr>
          <p:cNvPr id="9" name="Text 7"/>
          <p:cNvSpPr txBox="1"/>
          <p:nvPr/>
        </p:nvSpPr>
        <p:spPr>
          <a:xfrm>
            <a:off x="77724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28016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Look at short pieces</a:t>
            </a:r>
            <a:endParaRPr lang="en-US" sz="1800" dirty="0"/>
          </a:p>
        </p:txBody>
      </p:sp>
      <p:sp>
        <p:nvSpPr>
          <p:cNvPr id="11" name="Text 9"/>
          <p:cNvSpPr txBox="1"/>
          <p:nvPr/>
        </p:nvSpPr>
        <p:spPr>
          <a:xfrm>
            <a:off x="77724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2 convolution layers</a:t>
            </a:r>
            <a:endParaRPr lang="en-US" sz="1100" dirty="0"/>
          </a:p>
        </p:txBody>
      </p:sp>
      <p:sp>
        <p:nvSpPr>
          <p:cNvPr id="12" name="Text 10"/>
          <p:cNvSpPr txBox="1"/>
          <p:nvPr/>
        </p:nvSpPr>
        <p:spPr>
          <a:xfrm>
            <a:off x="77724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12 samples, about 1.5 symbols. The frame becomes 32 pieces.</a:t>
            </a:r>
            <a:endParaRPr lang="en-US" sz="1400" dirty="0"/>
          </a:p>
        </p:txBody>
      </p:sp>
      <p:sp>
        <p:nvSpPr>
          <p:cNvPr id="13" name="Text 11"/>
          <p:cNvSpPr txBox="1"/>
          <p:nvPr/>
        </p:nvSpPr>
        <p:spPr>
          <a:xfrm>
            <a:off x="77724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25,792 numbers learned</a:t>
            </a:r>
            <a:endParaRPr lang="en-US" sz="1200" dirty="0"/>
          </a:p>
        </p:txBody>
      </p:sp>
      <p:sp>
        <p:nvSpPr>
          <p:cNvPr id="14" name="Shape 12"/>
          <p:cNvSpPr/>
          <p:nvPr/>
        </p:nvSpPr>
        <p:spPr>
          <a:xfrm>
            <a:off x="3858768" y="3383280"/>
            <a:ext cx="502920" cy="384048"/>
          </a:xfrm>
          <a:prstGeom prst="rightArrow">
            <a:avLst/>
          </a:prstGeom>
          <a:solidFill>
            <a:srgbClr val="F08A24"/>
          </a:solidFill>
          <a:ln w="12700">
            <a:solidFill>
              <a:srgbClr val="F08A24"/>
            </a:solidFill>
            <a:prstDash val="solid"/>
          </a:ln>
        </p:spPr>
      </p:sp>
      <p:sp>
        <p:nvSpPr>
          <p:cNvPr id="15" name="Shape 13"/>
          <p:cNvSpPr/>
          <p:nvPr/>
        </p:nvSpPr>
        <p:spPr>
          <a:xfrm>
            <a:off x="4389120" y="1920240"/>
            <a:ext cx="3200400" cy="3291840"/>
          </a:xfrm>
          <a:prstGeom prst="roundRect">
            <a:avLst>
              <a:gd name="adj" fmla="val 2857"/>
            </a:avLst>
          </a:prstGeom>
          <a:solidFill>
            <a:srgbClr val="EEF2F6"/>
          </a:solidFill>
          <a:ln w="12700">
            <a:solidFill>
              <a:srgbClr val="EEF2F6"/>
            </a:solidFill>
            <a:prstDash val="solid"/>
          </a:ln>
        </p:spPr>
      </p:sp>
      <p:sp>
        <p:nvSpPr>
          <p:cNvPr id="16" name="Shape 14"/>
          <p:cNvSpPr/>
          <p:nvPr/>
        </p:nvSpPr>
        <p:spPr>
          <a:xfrm>
            <a:off x="4617720" y="2148840"/>
            <a:ext cx="384048" cy="384048"/>
          </a:xfrm>
          <a:prstGeom prst="ellipse">
            <a:avLst/>
          </a:prstGeom>
          <a:solidFill>
            <a:srgbClr val="0F1B2D"/>
          </a:solidFill>
          <a:ln w="12700">
            <a:solidFill>
              <a:srgbClr val="0F1B2D"/>
            </a:solidFill>
            <a:prstDash val="solid"/>
          </a:ln>
        </p:spPr>
      </p:sp>
      <p:sp>
        <p:nvSpPr>
          <p:cNvPr id="17" name="Text 15"/>
          <p:cNvSpPr txBox="1"/>
          <p:nvPr/>
        </p:nvSpPr>
        <p:spPr>
          <a:xfrm>
            <a:off x="461772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512064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Read the pieces in order</a:t>
            </a:r>
            <a:endParaRPr lang="en-US" sz="1800" dirty="0"/>
          </a:p>
        </p:txBody>
      </p:sp>
      <p:sp>
        <p:nvSpPr>
          <p:cNvPr id="19" name="Text 17"/>
          <p:cNvSpPr txBox="1"/>
          <p:nvPr/>
        </p:nvSpPr>
        <p:spPr>
          <a:xfrm>
            <a:off x="461772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BiLSTM, forwards and backwards</a:t>
            </a:r>
            <a:endParaRPr lang="en-US" sz="1100" dirty="0"/>
          </a:p>
        </p:txBody>
      </p:sp>
      <p:sp>
        <p:nvSpPr>
          <p:cNvPr id="20" name="Text 18"/>
          <p:cNvSpPr txBox="1"/>
          <p:nvPr/>
        </p:nvSpPr>
        <p:spPr>
          <a:xfrm>
            <a:off x="461772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now knows about the whole frame.</a:t>
            </a:r>
            <a:endParaRPr lang="en-US" sz="1400" dirty="0"/>
          </a:p>
        </p:txBody>
      </p:sp>
      <p:sp>
        <p:nvSpPr>
          <p:cNvPr id="21" name="Text 19"/>
          <p:cNvSpPr txBox="1"/>
          <p:nvPr/>
        </p:nvSpPr>
        <p:spPr>
          <a:xfrm>
            <a:off x="461772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659,968 numbers learned</a:t>
            </a:r>
            <a:endParaRPr lang="en-US" sz="1200" dirty="0"/>
          </a:p>
        </p:txBody>
      </p:sp>
      <p:sp>
        <p:nvSpPr>
          <p:cNvPr id="22" name="Shape 20"/>
          <p:cNvSpPr/>
          <p:nvPr/>
        </p:nvSpPr>
        <p:spPr>
          <a:xfrm>
            <a:off x="7699248" y="3383280"/>
            <a:ext cx="502920" cy="384048"/>
          </a:xfrm>
          <a:prstGeom prst="rightArrow">
            <a:avLst/>
          </a:prstGeom>
          <a:solidFill>
            <a:srgbClr val="F08A24"/>
          </a:solidFill>
          <a:ln w="12700">
            <a:solidFill>
              <a:srgbClr val="F08A24"/>
            </a:solidFill>
            <a:prstDash val="solid"/>
          </a:ln>
        </p:spPr>
      </p:sp>
      <p:sp>
        <p:nvSpPr>
          <p:cNvPr id="23" name="Shape 21"/>
          <p:cNvSpPr/>
          <p:nvPr/>
        </p:nvSpPr>
        <p:spPr>
          <a:xfrm>
            <a:off x="8229600" y="1920240"/>
            <a:ext cx="3200400" cy="3291840"/>
          </a:xfrm>
          <a:prstGeom prst="roundRect">
            <a:avLst>
              <a:gd name="adj" fmla="val 2857"/>
            </a:avLst>
          </a:prstGeom>
          <a:solidFill>
            <a:srgbClr val="EEF2F6"/>
          </a:solidFill>
          <a:ln w="12700">
            <a:solidFill>
              <a:srgbClr val="EEF2F6"/>
            </a:solidFill>
            <a:prstDash val="solid"/>
          </a:ln>
        </p:spPr>
      </p:sp>
      <p:sp>
        <p:nvSpPr>
          <p:cNvPr id="24" name="Shape 22"/>
          <p:cNvSpPr/>
          <p:nvPr/>
        </p:nvSpPr>
        <p:spPr>
          <a:xfrm>
            <a:off x="8458200" y="2148840"/>
            <a:ext cx="384048" cy="384048"/>
          </a:xfrm>
          <a:prstGeom prst="ellipse">
            <a:avLst/>
          </a:prstGeom>
          <a:solidFill>
            <a:srgbClr val="0F1B2D"/>
          </a:solidFill>
          <a:ln w="12700">
            <a:solidFill>
              <a:srgbClr val="0F1B2D"/>
            </a:solidFill>
            <a:prstDash val="solid"/>
          </a:ln>
        </p:spPr>
      </p:sp>
      <p:sp>
        <p:nvSpPr>
          <p:cNvPr id="25" name="Text 23"/>
          <p:cNvSpPr txBox="1"/>
          <p:nvPr/>
        </p:nvSpPr>
        <p:spPr>
          <a:xfrm>
            <a:off x="845820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896112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Decide</a:t>
            </a:r>
            <a:endParaRPr lang="en-US" sz="1800" dirty="0"/>
          </a:p>
        </p:txBody>
      </p:sp>
      <p:sp>
        <p:nvSpPr>
          <p:cNvPr id="27" name="Text 25"/>
          <p:cNvSpPr txBox="1"/>
          <p:nvPr/>
        </p:nvSpPr>
        <p:spPr>
          <a:xfrm>
            <a:off x="845820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attention + 2 dense layers</a:t>
            </a:r>
            <a:endParaRPr lang="en-US" sz="1100" dirty="0"/>
          </a:p>
        </p:txBody>
      </p:sp>
      <p:sp>
        <p:nvSpPr>
          <p:cNvPr id="28" name="Text 26"/>
          <p:cNvSpPr txBox="1"/>
          <p:nvPr/>
        </p:nvSpPr>
        <p:spPr>
          <a:xfrm>
            <a:off x="845820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Weighted average of the 32 pieces → 4 scores. The largest score wins.</a:t>
            </a:r>
            <a:endParaRPr lang="en-US" sz="1400" dirty="0"/>
          </a:p>
        </p:txBody>
      </p:sp>
      <p:sp>
        <p:nvSpPr>
          <p:cNvPr id="29" name="Text 27"/>
          <p:cNvSpPr txBox="1"/>
          <p:nvPr/>
        </p:nvSpPr>
        <p:spPr>
          <a:xfrm>
            <a:off x="845820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99,716 numbers learned</a:t>
            </a:r>
            <a:endParaRPr lang="en-US" sz="1200" dirty="0"/>
          </a:p>
        </p:txBody>
      </p:sp>
      <p:sp>
        <p:nvSpPr>
          <p:cNvPr id="30" name="Text 28"/>
          <p:cNvSpPr txBox="1"/>
          <p:nvPr/>
        </p:nvSpPr>
        <p:spPr>
          <a:xfrm>
            <a:off x="548640" y="55778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785,476 numbers learned in total.</a:t>
            </a:r>
            <a:pPr indent="0" marL="0">
              <a:buNone/>
            </a:pPr>
            <a:r>
              <a:rPr lang="en-US" sz="1500" dirty="0">
                <a:solidFill>
                  <a:srgbClr val="1E293B"/>
                </a:solidFill>
                <a:latin typeface="Calibri" pitchFamily="34" charset="0"/>
                <a:ea typeface="Calibri" pitchFamily="34" charset="-122"/>
                <a:cs typeface="Calibri" pitchFamily="34" charset="-120"/>
              </a:rPr>
              <a:t>  Most of them, 84%, are in step 2. Nothing in it is random once trained: the same frame always gets the same answer.</a:t>
            </a:r>
            <a:endParaRPr lang="en-US" sz="1500" dirty="0"/>
          </a:p>
        </p:txBody>
      </p:sp>
      <p:sp>
        <p:nvSpPr>
          <p:cNvPr id="32" name="Text 29"/>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WHERE IT CAME FROM</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Who designed it, and who wrote the code?</a:t>
            </a:r>
            <a:endParaRPr lang="en-US" sz="3000" dirty="0"/>
          </a:p>
        </p:txBody>
      </p:sp>
      <p:sp>
        <p:nvSpPr>
          <p:cNvPr id="4" name="Shape 2"/>
          <p:cNvSpPr/>
          <p:nvPr/>
        </p:nvSpPr>
        <p:spPr>
          <a:xfrm>
            <a:off x="8092440" y="347472"/>
            <a:ext cx="354787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092440" y="347472"/>
            <a:ext cx="354787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colab/icrnna_faithful_2016.py</a:t>
            </a:r>
            <a:endParaRPr lang="en-US" sz="1100" dirty="0"/>
          </a:p>
        </p:txBody>
      </p:sp>
      <p:sp>
        <p:nvSpPr>
          <p:cNvPr id="6" name="Shape 4"/>
          <p:cNvSpPr/>
          <p:nvPr/>
        </p:nvSpPr>
        <p:spPr>
          <a:xfrm>
            <a:off x="548640" y="1828800"/>
            <a:ext cx="3200400" cy="2011680"/>
          </a:xfrm>
          <a:prstGeom prst="roundRect">
            <a:avLst>
              <a:gd name="adj" fmla="val 4545"/>
            </a:avLst>
          </a:prstGeom>
          <a:solidFill>
            <a:srgbClr val="EEF2F6"/>
          </a:solidFill>
          <a:ln w="12700">
            <a:solidFill>
              <a:srgbClr val="EEF2F6"/>
            </a:solidFill>
            <a:prstDash val="solid"/>
          </a:ln>
        </p:spPr>
      </p:sp>
      <p:sp>
        <p:nvSpPr>
          <p:cNvPr id="7" name="Text 5"/>
          <p:cNvSpPr txBox="1"/>
          <p:nvPr/>
        </p:nvSpPr>
        <p:spPr>
          <a:xfrm>
            <a:off x="77724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paper</a:t>
            </a:r>
            <a:endParaRPr lang="en-US" sz="1800" dirty="0"/>
          </a:p>
        </p:txBody>
      </p:sp>
      <p:sp>
        <p:nvSpPr>
          <p:cNvPr id="8" name="Text 6"/>
          <p:cNvSpPr txBox="1"/>
          <p:nvPr/>
        </p:nvSpPr>
        <p:spPr>
          <a:xfrm>
            <a:off x="77724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El-Haryqy et al., Results in Engineering, 2025. Model name: ICRNNA. Reported 63.24% on 11 classes.</a:t>
            </a:r>
            <a:endParaRPr lang="en-US" sz="1350" dirty="0"/>
          </a:p>
        </p:txBody>
      </p:sp>
      <p:sp>
        <p:nvSpPr>
          <p:cNvPr id="9" name="Shape 7"/>
          <p:cNvSpPr/>
          <p:nvPr/>
        </p:nvSpPr>
        <p:spPr>
          <a:xfrm>
            <a:off x="3858768" y="2606040"/>
            <a:ext cx="502920" cy="384048"/>
          </a:xfrm>
          <a:prstGeom prst="rightArrow">
            <a:avLst/>
          </a:prstGeom>
          <a:solidFill>
            <a:srgbClr val="F08A24"/>
          </a:solidFill>
          <a:ln w="12700">
            <a:solidFill>
              <a:srgbClr val="F08A24"/>
            </a:solidFill>
            <a:prstDash val="solid"/>
          </a:ln>
        </p:spPr>
      </p:sp>
      <p:sp>
        <p:nvSpPr>
          <p:cNvPr id="10" name="Shape 8"/>
          <p:cNvSpPr/>
          <p:nvPr/>
        </p:nvSpPr>
        <p:spPr>
          <a:xfrm>
            <a:off x="4389120" y="1828800"/>
            <a:ext cx="3200400" cy="2011680"/>
          </a:xfrm>
          <a:prstGeom prst="roundRect">
            <a:avLst>
              <a:gd name="adj" fmla="val 4545"/>
            </a:avLst>
          </a:prstGeom>
          <a:solidFill>
            <a:srgbClr val="EEF2F6"/>
          </a:solidFill>
          <a:ln w="12700">
            <a:solidFill>
              <a:srgbClr val="EEF2F6"/>
            </a:solidFill>
            <a:prstDash val="solid"/>
          </a:ln>
        </p:spPr>
      </p:sp>
      <p:sp>
        <p:nvSpPr>
          <p:cNvPr id="11" name="Text 9"/>
          <p:cNvSpPr txBox="1"/>
          <p:nvPr/>
        </p:nvSpPr>
        <p:spPr>
          <a:xfrm>
            <a:off x="461772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colleague's code</a:t>
            </a:r>
            <a:endParaRPr lang="en-US" sz="1800" dirty="0"/>
          </a:p>
        </p:txBody>
      </p:sp>
      <p:sp>
        <p:nvSpPr>
          <p:cNvPr id="12" name="Text 10"/>
          <p:cNvSpPr txBox="1"/>
          <p:nvPr/>
        </p:nvSpPr>
        <p:spPr>
          <a:xfrm>
            <a:off x="461772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Their re-implementation of the paper. Our code is copied from it.</a:t>
            </a:r>
            <a:endParaRPr lang="en-US" sz="1350" dirty="0"/>
          </a:p>
        </p:txBody>
      </p:sp>
      <p:sp>
        <p:nvSpPr>
          <p:cNvPr id="13" name="Shape 11"/>
          <p:cNvSpPr/>
          <p:nvPr/>
        </p:nvSpPr>
        <p:spPr>
          <a:xfrm>
            <a:off x="7699248" y="2606040"/>
            <a:ext cx="502920" cy="384048"/>
          </a:xfrm>
          <a:prstGeom prst="rightArrow">
            <a:avLst/>
          </a:prstGeom>
          <a:solidFill>
            <a:srgbClr val="F08A24"/>
          </a:solidFill>
          <a:ln w="12700">
            <a:solidFill>
              <a:srgbClr val="F08A24"/>
            </a:solidFill>
            <a:prstDash val="solid"/>
          </a:ln>
        </p:spPr>
      </p:sp>
      <p:sp>
        <p:nvSpPr>
          <p:cNvPr id="14" name="Shape 12"/>
          <p:cNvSpPr/>
          <p:nvPr/>
        </p:nvSpPr>
        <p:spPr>
          <a:xfrm>
            <a:off x="8229600" y="1828800"/>
            <a:ext cx="3200400" cy="2011680"/>
          </a:xfrm>
          <a:prstGeom prst="roundRect">
            <a:avLst>
              <a:gd name="adj" fmla="val 4545"/>
            </a:avLst>
          </a:prstGeom>
          <a:solidFill>
            <a:srgbClr val="EEF2F6"/>
          </a:solidFill>
          <a:ln w="12700">
            <a:solidFill>
              <a:srgbClr val="EEF2F6"/>
            </a:solidFill>
            <a:prstDash val="solid"/>
          </a:ln>
        </p:spPr>
      </p:sp>
      <p:sp>
        <p:nvSpPr>
          <p:cNvPr id="15" name="Text 13"/>
          <p:cNvSpPr txBox="1"/>
          <p:nvPr/>
        </p:nvSpPr>
        <p:spPr>
          <a:xfrm>
            <a:off x="845820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Our code</a:t>
            </a:r>
            <a:endParaRPr lang="en-US" sz="1800" dirty="0"/>
          </a:p>
        </p:txBody>
      </p:sp>
      <p:sp>
        <p:nvSpPr>
          <p:cNvPr id="16" name="Text 14"/>
          <p:cNvSpPr txBox="1"/>
          <p:nvPr/>
        </p:nvSpPr>
        <p:spPr>
          <a:xfrm>
            <a:off x="845820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Differs from the paper in 5 small places (filter size, pooling, normalisation, dropout, one layer fewer).</a:t>
            </a:r>
            <a:endParaRPr lang="en-US" sz="1350" dirty="0"/>
          </a:p>
        </p:txBody>
      </p:sp>
      <p:sp>
        <p:nvSpPr>
          <p:cNvPr id="17" name="Shape 15"/>
          <p:cNvSpPr/>
          <p:nvPr/>
        </p:nvSpPr>
        <p:spPr>
          <a:xfrm>
            <a:off x="548640" y="4114800"/>
            <a:ext cx="5486400" cy="1691640"/>
          </a:xfrm>
          <a:prstGeom prst="roundRect">
            <a:avLst>
              <a:gd name="adj" fmla="val 5405"/>
            </a:avLst>
          </a:prstGeom>
          <a:solidFill>
            <a:srgbClr val="EEF2F6"/>
          </a:solidFill>
          <a:ln w="12700">
            <a:solidFill>
              <a:srgbClr val="EEF2F6"/>
            </a:solidFill>
            <a:prstDash val="solid"/>
          </a:ln>
        </p:spPr>
      </p:sp>
      <p:sp>
        <p:nvSpPr>
          <p:cNvPr id="18" name="Text 16"/>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Is the paper's number real?</a:t>
            </a:r>
            <a:endParaRPr lang="en-US" sz="1500" dirty="0"/>
          </a:p>
        </p:txBody>
      </p:sp>
      <p:sp>
        <p:nvSpPr>
          <p:cNvPr id="19" name="Text 17"/>
          <p:cNvSpPr txBox="1"/>
          <p:nvPr/>
        </p:nvSpPr>
        <p:spPr>
          <a:xfrm>
            <a:off x="777240" y="4590288"/>
            <a:ext cx="5029200" cy="457200"/>
          </a:xfrm>
          <a:prstGeom prst="rect">
            <a:avLst/>
          </a:prstGeom>
          <a:noFill/>
          <a:ln/>
        </p:spPr>
        <p:txBody>
          <a:bodyPr wrap="square" lIns="0" tIns="0" rIns="0" bIns="0" rtlCol="0" anchor="t"/>
          <a:lstStyle/>
          <a:p>
            <a:pPr indent="0" marL="0">
              <a:buNone/>
            </a:pPr>
            <a:r>
              <a:rPr lang="en-US" sz="1250" dirty="0">
                <a:solidFill>
                  <a:srgbClr val="5B6B7F"/>
                </a:solidFill>
                <a:latin typeface="Calibri" pitchFamily="34" charset="0"/>
                <a:ea typeface="Calibri" pitchFamily="34" charset="-122"/>
                <a:cs typeface="Calibri" pitchFamily="34" charset="-120"/>
              </a:rPr>
              <a:t>I rebuilt the model from the paper alone and trained it until it stopped improving:</a:t>
            </a:r>
            <a:endParaRPr lang="en-US" sz="1250" dirty="0"/>
          </a:p>
        </p:txBody>
      </p:sp>
      <p:sp>
        <p:nvSpPr>
          <p:cNvPr id="20" name="Text 18"/>
          <p:cNvSpPr txBox="1"/>
          <p:nvPr/>
        </p:nvSpPr>
        <p:spPr>
          <a:xfrm>
            <a:off x="777240" y="5029200"/>
            <a:ext cx="5120640" cy="640080"/>
          </a:xfrm>
          <a:prstGeom prst="rect">
            <a:avLst/>
          </a:prstGeom>
          <a:noFill/>
          <a:ln/>
        </p:spPr>
        <p:txBody>
          <a:bodyPr wrap="square" lIns="0" tIns="0" rIns="0" bIns="0" rtlCol="0" anchor="ctr"/>
          <a:lstStyle/>
          <a:p>
            <a:pPr indent="0" marL="0">
              <a:buNone/>
            </a:pPr>
            <a:r>
              <a:rPr lang="en-US" sz="3000" b="1" dirty="0">
                <a:solidFill>
                  <a:srgbClr val="F08A24"/>
                </a:solidFill>
                <a:latin typeface="Calibri" pitchFamily="34" charset="0"/>
                <a:ea typeface="Calibri" pitchFamily="34" charset="-122"/>
                <a:cs typeface="Calibri" pitchFamily="34" charset="-120"/>
              </a:rPr>
              <a:t>63.21%</a:t>
            </a:r>
            <a:pPr indent="0" marL="0">
              <a:buNone/>
            </a:pPr>
            <a:r>
              <a:rPr lang="en-US" sz="1500" dirty="0">
                <a:solidFill>
                  <a:srgbClr val="1E293B"/>
                </a:solidFill>
                <a:latin typeface="Calibri" pitchFamily="34" charset="0"/>
                <a:ea typeface="Calibri" pitchFamily="34" charset="-122"/>
                <a:cs typeface="Calibri" pitchFamily="34" charset="-120"/>
              </a:rPr>
              <a:t>   against the paper's 63.24%</a:t>
            </a:r>
            <a:endParaRPr lang="en-US" sz="1400" dirty="0"/>
          </a:p>
        </p:txBody>
      </p:sp>
      <p:sp>
        <p:nvSpPr>
          <p:cNvPr id="21" name="Shape 19"/>
          <p:cNvSpPr/>
          <p:nvPr/>
        </p:nvSpPr>
        <p:spPr>
          <a:xfrm>
            <a:off x="6336792" y="4114800"/>
            <a:ext cx="5303520" cy="1691640"/>
          </a:xfrm>
          <a:prstGeom prst="roundRect">
            <a:avLst>
              <a:gd name="adj" fmla="val 5405"/>
            </a:avLst>
          </a:prstGeom>
          <a:solidFill>
            <a:srgbClr val="EEF2F6"/>
          </a:solidFill>
          <a:ln w="12700">
            <a:solidFill>
              <a:srgbClr val="EEF2F6"/>
            </a:solidFill>
            <a:prstDash val="solid"/>
          </a:ln>
        </p:spPr>
      </p:sp>
      <p:sp>
        <p:nvSpPr>
          <p:cNvPr id="22" name="Text 20"/>
          <p:cNvSpPr txBox="1"/>
          <p:nvPr/>
        </p:nvSpPr>
        <p:spPr>
          <a:xfrm>
            <a:off x="6565392" y="4224528"/>
            <a:ext cx="51206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Written with an AI assistant</a:t>
            </a:r>
            <a:endParaRPr lang="en-US" sz="1500" dirty="0"/>
          </a:p>
        </p:txBody>
      </p:sp>
      <p:sp>
        <p:nvSpPr>
          <p:cNvPr id="23" name="Text 21"/>
          <p:cNvSpPr txBox="1"/>
          <p:nvPr/>
        </p:nvSpPr>
        <p:spPr>
          <a:xfrm>
            <a:off x="6565392" y="4590288"/>
            <a:ext cx="4846320" cy="118872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The code, the plots and these slides were written with Claude Code (Anthropic). Every number comes from running that code on a GPU. The choices of what to test are mine.</a:t>
            </a:r>
            <a:endParaRPr lang="en-US" sz="13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BIG PICTURE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we gave it, and what came out</a:t>
            </a:r>
            <a:endParaRPr lang="en-US" sz="3000" dirty="0"/>
          </a:p>
        </p:txBody>
      </p:sp>
      <p:sp>
        <p:nvSpPr>
          <p:cNvPr id="4" name="Shape 2"/>
          <p:cNvSpPr/>
          <p:nvPr/>
        </p:nvSpPr>
        <p:spPr>
          <a:xfrm>
            <a:off x="5897880" y="347472"/>
            <a:ext cx="57424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5897880" y="347472"/>
            <a:ext cx="57424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--classes BPSK,QPSK,QAM16,QAM64</a:t>
            </a:r>
            <a:endParaRPr lang="en-US" sz="1100" dirty="0"/>
          </a:p>
        </p:txBody>
      </p:sp>
      <p:sp>
        <p:nvSpPr>
          <p:cNvPr id="6" name="Shape 4"/>
          <p:cNvSpPr/>
          <p:nvPr/>
        </p:nvSpPr>
        <p:spPr>
          <a:xfrm>
            <a:off x="548640" y="1600200"/>
            <a:ext cx="1097280" cy="292608"/>
          </a:xfrm>
          <a:prstGeom prst="roundRect">
            <a:avLst>
              <a:gd name="adj" fmla="val 50000"/>
            </a:avLst>
          </a:prstGeom>
          <a:solidFill>
            <a:srgbClr val="F08A24"/>
          </a:solidFill>
          <a:ln w="12700">
            <a:solidFill>
              <a:srgbClr val="F08A24"/>
            </a:solidFill>
            <a:prstDash val="solid"/>
          </a:ln>
        </p:spPr>
      </p:sp>
      <p:sp>
        <p:nvSpPr>
          <p:cNvPr id="7" name="Text 5"/>
          <p:cNvSpPr txBox="1"/>
          <p:nvPr/>
        </p:nvSpPr>
        <p:spPr>
          <a:xfrm>
            <a:off x="54864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INPUT</a:t>
            </a:r>
            <a:endParaRPr lang="en-US" sz="1100" dirty="0"/>
          </a:p>
        </p:txBody>
      </p:sp>
      <p:sp>
        <p:nvSpPr>
          <p:cNvPr id="8" name="Shape 6"/>
          <p:cNvSpPr/>
          <p:nvPr/>
        </p:nvSpPr>
        <p:spPr>
          <a:xfrm>
            <a:off x="512064" y="1975104"/>
            <a:ext cx="3639312" cy="1341120"/>
          </a:xfrm>
          <a:prstGeom prst="roundRect">
            <a:avLst>
              <a:gd name="adj" fmla="val 4091"/>
            </a:avLst>
          </a:prstGeom>
          <a:solidFill>
            <a:srgbClr val="0F1B2D"/>
          </a:solidFill>
          <a:ln w="12700">
            <a:solidFill>
              <a:srgbClr val="0F1B2D"/>
            </a:solidFill>
            <a:prstDash val="solid"/>
          </a:ln>
        </p:spPr>
      </p:sp>
      <p:pic>
        <p:nvPicPr>
          <p:cNvPr id="9" name="Image 0" descr="simple/frame.png">    </p:cNvPr>
          <p:cNvPicPr>
            <a:picLocks noChangeAspect="1"/>
          </p:cNvPicPr>
          <p:nvPr/>
        </p:nvPicPr>
        <p:blipFill>
          <a:blip r:embed="rId1"/>
          <a:stretch>
            <a:fillRect/>
          </a:stretch>
        </p:blipFill>
        <p:spPr>
          <a:xfrm>
            <a:off x="548640" y="2011680"/>
            <a:ext cx="3566160" cy="1267968"/>
          </a:xfrm>
          <a:prstGeom prst="rect">
            <a:avLst/>
          </a:prstGeom>
        </p:spPr>
      </p:pic>
      <p:sp>
        <p:nvSpPr>
          <p:cNvPr id="10" name="Text 7"/>
          <p:cNvSpPr txBox="1"/>
          <p:nvPr/>
        </p:nvSpPr>
        <p:spPr>
          <a:xfrm>
            <a:off x="548640" y="3429000"/>
            <a:ext cx="3611880" cy="1097280"/>
          </a:xfrm>
          <a:prstGeom prst="rect">
            <a:avLst/>
          </a:prstGeom>
          <a:noFill/>
          <a:ln/>
        </p:spPr>
        <p:txBody>
          <a:bodyPr wrap="square" lIns="0" tIns="0" rIns="0" bIns="0" rtlCol="0" anchor="t"/>
          <a:lstStyle/>
          <a:p>
            <a:pPr indent="0" marL="0">
              <a:buNone/>
            </a:pPr>
            <a:r>
              <a:rPr lang="en-US" sz="1250" b="1" dirty="0">
                <a:solidFill>
                  <a:srgbClr val="1E293B"/>
                </a:solidFill>
                <a:latin typeface="Calibri" pitchFamily="34" charset="0"/>
                <a:ea typeface="Calibri" pitchFamily="34" charset="-122"/>
                <a:cs typeface="Calibri" pitchFamily="34" charset="-120"/>
              </a:rPr>
              <a:t>Data: </a:t>
            </a:r>
            <a:pPr indent="0" marL="0">
              <a:buNone/>
            </a:pPr>
            <a:r>
              <a:rPr lang="en-US" sz="1250" dirty="0">
                <a:solidFill>
                  <a:srgbClr val="1E293B"/>
                </a:solidFill>
                <a:latin typeface="Calibri" pitchFamily="34" charset="0"/>
                <a:ea typeface="Calibri" pitchFamily="34" charset="-122"/>
                <a:cs typeface="Calibri" pitchFamily="34" charset="-120"/>
              </a:rPr>
              <a:t>RML2016.10a (DeepSig, simulated)</a:t>
            </a:r>
            <a:endParaRPr lang="en-US" sz="1250" dirty="0"/>
          </a:p>
          <a:p>
            <a:pPr indent="0" marL="0">
              <a:buNone/>
            </a:pPr>
            <a:r>
              <a:rPr lang="en-US" sz="1250" dirty="0">
                <a:solidFill>
                  <a:srgbClr val="1E293B"/>
                </a:solidFill>
                <a:latin typeface="Calibri" pitchFamily="34" charset="0"/>
                <a:ea typeface="Calibri" pitchFamily="34" charset="-122"/>
                <a:cs typeface="Calibri" pitchFamily="34" charset="-120"/>
              </a:rPr>
              <a:t>4 kinds × 20 noise levels × 1,000 frames</a:t>
            </a:r>
            <a:endParaRPr lang="en-US" sz="1250" dirty="0"/>
          </a:p>
          <a:p>
            <a:pPr indent="0" marL="0">
              <a:buNone/>
            </a:pPr>
            <a:r>
              <a:rPr lang="en-US" sz="1250" b="1" dirty="0">
                <a:solidFill>
                  <a:srgbClr val="1E293B"/>
                </a:solidFill>
                <a:latin typeface="Calibri" pitchFamily="34" charset="0"/>
                <a:ea typeface="Calibri" pitchFamily="34" charset="-122"/>
                <a:cs typeface="Calibri" pitchFamily="34" charset="-120"/>
              </a:rPr>
              <a:t>One frame: </a:t>
            </a:r>
            <a:pPr indent="0" marL="0">
              <a:buNone/>
            </a:pPr>
            <a:r>
              <a:rPr lang="en-US" sz="1250" dirty="0">
                <a:solidFill>
                  <a:srgbClr val="1E293B"/>
                </a:solidFill>
                <a:latin typeface="Calibri" pitchFamily="34" charset="0"/>
                <a:ea typeface="Calibri" pitchFamily="34" charset="-122"/>
                <a:cs typeface="Calibri" pitchFamily="34" charset="-120"/>
              </a:rPr>
              <a:t>128 samples = 16 symbols</a:t>
            </a:r>
            <a:endParaRPr lang="en-US" sz="1250" dirty="0"/>
          </a:p>
        </p:txBody>
      </p:sp>
      <p:sp>
        <p:nvSpPr>
          <p:cNvPr id="11" name="Shape 8"/>
          <p:cNvSpPr/>
          <p:nvPr/>
        </p:nvSpPr>
        <p:spPr>
          <a:xfrm>
            <a:off x="4297680" y="2743200"/>
            <a:ext cx="502920" cy="384048"/>
          </a:xfrm>
          <a:prstGeom prst="rightArrow">
            <a:avLst/>
          </a:prstGeom>
          <a:solidFill>
            <a:srgbClr val="F08A24"/>
          </a:solidFill>
          <a:ln w="12700">
            <a:solidFill>
              <a:srgbClr val="F08A24"/>
            </a:solidFill>
            <a:prstDash val="solid"/>
          </a:ln>
        </p:spPr>
      </p:sp>
      <p:sp>
        <p:nvSpPr>
          <p:cNvPr id="12" name="Shape 9"/>
          <p:cNvSpPr/>
          <p:nvPr/>
        </p:nvSpPr>
        <p:spPr>
          <a:xfrm>
            <a:off x="4983480" y="1600200"/>
            <a:ext cx="1371600" cy="292608"/>
          </a:xfrm>
          <a:prstGeom prst="roundRect">
            <a:avLst>
              <a:gd name="adj" fmla="val 50000"/>
            </a:avLst>
          </a:prstGeom>
          <a:solidFill>
            <a:srgbClr val="F08A24"/>
          </a:solidFill>
          <a:ln w="12700">
            <a:solidFill>
              <a:srgbClr val="F08A24"/>
            </a:solidFill>
            <a:prstDash val="solid"/>
          </a:ln>
        </p:spPr>
      </p:sp>
      <p:sp>
        <p:nvSpPr>
          <p:cNvPr id="13" name="Text 10"/>
          <p:cNvSpPr txBox="1"/>
          <p:nvPr/>
        </p:nvSpPr>
        <p:spPr>
          <a:xfrm>
            <a:off x="4983480" y="1600200"/>
            <a:ext cx="137160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DETECTOR</a:t>
            </a:r>
            <a:endParaRPr lang="en-US" sz="1100" dirty="0"/>
          </a:p>
        </p:txBody>
      </p:sp>
      <p:sp>
        <p:nvSpPr>
          <p:cNvPr id="14" name="Shape 11"/>
          <p:cNvSpPr/>
          <p:nvPr/>
        </p:nvSpPr>
        <p:spPr>
          <a:xfrm>
            <a:off x="4983480" y="2011680"/>
            <a:ext cx="2834640" cy="658368"/>
          </a:xfrm>
          <a:prstGeom prst="roundRect">
            <a:avLst>
              <a:gd name="adj" fmla="val 13889"/>
            </a:avLst>
          </a:prstGeom>
          <a:solidFill>
            <a:srgbClr val="EEF2F6"/>
          </a:solidFill>
          <a:ln w="12700">
            <a:solidFill>
              <a:srgbClr val="EEF2F6"/>
            </a:solidFill>
            <a:prstDash val="solid"/>
          </a:ln>
        </p:spPr>
      </p:sp>
      <p:sp>
        <p:nvSpPr>
          <p:cNvPr id="15" name="Shape 12"/>
          <p:cNvSpPr/>
          <p:nvPr/>
        </p:nvSpPr>
        <p:spPr>
          <a:xfrm>
            <a:off x="5120640" y="2148840"/>
            <a:ext cx="365760" cy="365760"/>
          </a:xfrm>
          <a:prstGeom prst="ellipse">
            <a:avLst/>
          </a:prstGeom>
          <a:solidFill>
            <a:srgbClr val="0F1B2D"/>
          </a:solidFill>
          <a:ln w="12700">
            <a:solidFill>
              <a:srgbClr val="0F1B2D"/>
            </a:solidFill>
            <a:prstDash val="solid"/>
          </a:ln>
        </p:spPr>
      </p:sp>
      <p:sp>
        <p:nvSpPr>
          <p:cNvPr id="16" name="Text 13"/>
          <p:cNvSpPr txBox="1"/>
          <p:nvPr/>
        </p:nvSpPr>
        <p:spPr>
          <a:xfrm>
            <a:off x="5120640" y="2148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7" name="Text 14"/>
          <p:cNvSpPr txBox="1"/>
          <p:nvPr/>
        </p:nvSpPr>
        <p:spPr>
          <a:xfrm>
            <a:off x="5623560" y="201168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Learn  </a:t>
            </a:r>
            <a:pPr indent="0" marL="0">
              <a:buNone/>
            </a:pPr>
            <a:r>
              <a:rPr lang="en-US" sz="1300" dirty="0">
                <a:solidFill>
                  <a:srgbClr val="5B6B7F"/>
                </a:solidFill>
                <a:latin typeface="Calibri" pitchFamily="34" charset="0"/>
                <a:ea typeface="Calibri" pitchFamily="34" charset="-122"/>
                <a:cs typeface="Calibri" pitchFamily="34" charset="-120"/>
              </a:rPr>
              <a:t>on 70% of the frames</a:t>
            </a:r>
            <a:endParaRPr lang="en-US" sz="1300" dirty="0"/>
          </a:p>
        </p:txBody>
      </p:sp>
      <p:sp>
        <p:nvSpPr>
          <p:cNvPr id="18" name="Shape 15"/>
          <p:cNvSpPr/>
          <p:nvPr/>
        </p:nvSpPr>
        <p:spPr>
          <a:xfrm>
            <a:off x="4983480" y="2788920"/>
            <a:ext cx="2834640" cy="658368"/>
          </a:xfrm>
          <a:prstGeom prst="roundRect">
            <a:avLst>
              <a:gd name="adj" fmla="val 13889"/>
            </a:avLst>
          </a:prstGeom>
          <a:solidFill>
            <a:srgbClr val="EEF2F6"/>
          </a:solidFill>
          <a:ln w="12700">
            <a:solidFill>
              <a:srgbClr val="EEF2F6"/>
            </a:solidFill>
            <a:prstDash val="solid"/>
          </a:ln>
        </p:spPr>
      </p:sp>
      <p:sp>
        <p:nvSpPr>
          <p:cNvPr id="19" name="Shape 16"/>
          <p:cNvSpPr/>
          <p:nvPr/>
        </p:nvSpPr>
        <p:spPr>
          <a:xfrm>
            <a:off x="5120640" y="2926080"/>
            <a:ext cx="365760" cy="365760"/>
          </a:xfrm>
          <a:prstGeom prst="ellipse">
            <a:avLst/>
          </a:prstGeom>
          <a:solidFill>
            <a:srgbClr val="0F1B2D"/>
          </a:solidFill>
          <a:ln w="12700">
            <a:solidFill>
              <a:srgbClr val="0F1B2D"/>
            </a:solidFill>
            <a:prstDash val="solid"/>
          </a:ln>
        </p:spPr>
      </p:sp>
      <p:sp>
        <p:nvSpPr>
          <p:cNvPr id="20" name="Text 17"/>
          <p:cNvSpPr txBox="1"/>
          <p:nvPr/>
        </p:nvSpPr>
        <p:spPr>
          <a:xfrm>
            <a:off x="5120640" y="29260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1" name="Text 18"/>
          <p:cNvSpPr txBox="1"/>
          <p:nvPr/>
        </p:nvSpPr>
        <p:spPr>
          <a:xfrm>
            <a:off x="5623560" y="278892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Tune  </a:t>
            </a:r>
            <a:pPr indent="0" marL="0">
              <a:buNone/>
            </a:pPr>
            <a:r>
              <a:rPr lang="en-US" sz="1300" dirty="0">
                <a:solidFill>
                  <a:srgbClr val="5B6B7F"/>
                </a:solidFill>
                <a:latin typeface="Calibri" pitchFamily="34" charset="0"/>
                <a:ea typeface="Calibri" pitchFamily="34" charset="-122"/>
                <a:cs typeface="Calibri" pitchFamily="34" charset="-120"/>
              </a:rPr>
              <a:t>on 15%: when to stop</a:t>
            </a:r>
            <a:endParaRPr lang="en-US" sz="1300" dirty="0"/>
          </a:p>
        </p:txBody>
      </p:sp>
      <p:sp>
        <p:nvSpPr>
          <p:cNvPr id="22" name="Shape 19"/>
          <p:cNvSpPr/>
          <p:nvPr/>
        </p:nvSpPr>
        <p:spPr>
          <a:xfrm>
            <a:off x="4983480" y="3566160"/>
            <a:ext cx="2834640" cy="658368"/>
          </a:xfrm>
          <a:prstGeom prst="roundRect">
            <a:avLst>
              <a:gd name="adj" fmla="val 13889"/>
            </a:avLst>
          </a:prstGeom>
          <a:solidFill>
            <a:srgbClr val="EEF2F6"/>
          </a:solidFill>
          <a:ln w="12700">
            <a:solidFill>
              <a:srgbClr val="EEF2F6"/>
            </a:solidFill>
            <a:prstDash val="solid"/>
          </a:ln>
        </p:spPr>
      </p:sp>
      <p:sp>
        <p:nvSpPr>
          <p:cNvPr id="23" name="Shape 20"/>
          <p:cNvSpPr/>
          <p:nvPr/>
        </p:nvSpPr>
        <p:spPr>
          <a:xfrm>
            <a:off x="5120640" y="3703320"/>
            <a:ext cx="365760" cy="365760"/>
          </a:xfrm>
          <a:prstGeom prst="ellipse">
            <a:avLst/>
          </a:prstGeom>
          <a:solidFill>
            <a:srgbClr val="0F1B2D"/>
          </a:solidFill>
          <a:ln w="12700">
            <a:solidFill>
              <a:srgbClr val="0F1B2D"/>
            </a:solidFill>
            <a:prstDash val="solid"/>
          </a:ln>
        </p:spPr>
      </p:sp>
      <p:sp>
        <p:nvSpPr>
          <p:cNvPr id="24" name="Text 21"/>
          <p:cNvSpPr txBox="1"/>
          <p:nvPr/>
        </p:nvSpPr>
        <p:spPr>
          <a:xfrm>
            <a:off x="5120640" y="37033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Text 22"/>
          <p:cNvSpPr txBox="1"/>
          <p:nvPr/>
        </p:nvSpPr>
        <p:spPr>
          <a:xfrm>
            <a:off x="5623560" y="356616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Test  </a:t>
            </a:r>
            <a:pPr indent="0" marL="0">
              <a:buNone/>
            </a:pPr>
            <a:r>
              <a:rPr lang="en-US" sz="1300" dirty="0">
                <a:solidFill>
                  <a:srgbClr val="5B6B7F"/>
                </a:solidFill>
                <a:latin typeface="Calibri" pitchFamily="34" charset="0"/>
                <a:ea typeface="Calibri" pitchFamily="34" charset="-122"/>
                <a:cs typeface="Calibri" pitchFamily="34" charset="-120"/>
              </a:rPr>
              <a:t>on 15% it never saw</a:t>
            </a:r>
            <a:endParaRPr lang="en-US" sz="1300" dirty="0"/>
          </a:p>
        </p:txBody>
      </p:sp>
      <p:sp>
        <p:nvSpPr>
          <p:cNvPr id="26" name="Text 23"/>
          <p:cNvSpPr txBox="1"/>
          <p:nvPr/>
        </p:nvSpPr>
        <p:spPr>
          <a:xfrm>
            <a:off x="4983480" y="4389120"/>
            <a:ext cx="2834640" cy="45720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Repeated 14 times, a different split each time.</a:t>
            </a:r>
            <a:endParaRPr lang="en-US" sz="1200" dirty="0"/>
          </a:p>
        </p:txBody>
      </p:sp>
      <p:sp>
        <p:nvSpPr>
          <p:cNvPr id="27" name="Shape 24"/>
          <p:cNvSpPr/>
          <p:nvPr/>
        </p:nvSpPr>
        <p:spPr>
          <a:xfrm>
            <a:off x="8001000" y="2743200"/>
            <a:ext cx="502920" cy="384048"/>
          </a:xfrm>
          <a:prstGeom prst="rightArrow">
            <a:avLst/>
          </a:prstGeom>
          <a:solidFill>
            <a:srgbClr val="F08A24"/>
          </a:solidFill>
          <a:ln w="12700">
            <a:solidFill>
              <a:srgbClr val="F08A24"/>
            </a:solidFill>
            <a:prstDash val="solid"/>
          </a:ln>
        </p:spPr>
      </p:sp>
      <p:sp>
        <p:nvSpPr>
          <p:cNvPr id="28" name="Shape 25"/>
          <p:cNvSpPr/>
          <p:nvPr/>
        </p:nvSpPr>
        <p:spPr>
          <a:xfrm>
            <a:off x="8686800" y="1600200"/>
            <a:ext cx="1097280" cy="292608"/>
          </a:xfrm>
          <a:prstGeom prst="roundRect">
            <a:avLst>
              <a:gd name="adj" fmla="val 50000"/>
            </a:avLst>
          </a:prstGeom>
          <a:solidFill>
            <a:srgbClr val="F08A24"/>
          </a:solidFill>
          <a:ln w="12700">
            <a:solidFill>
              <a:srgbClr val="F08A24"/>
            </a:solidFill>
            <a:prstDash val="solid"/>
          </a:ln>
        </p:spPr>
      </p:sp>
      <p:sp>
        <p:nvSpPr>
          <p:cNvPr id="29" name="Text 26"/>
          <p:cNvSpPr txBox="1"/>
          <p:nvPr/>
        </p:nvSpPr>
        <p:spPr>
          <a:xfrm>
            <a:off x="868680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OUTPUT</a:t>
            </a:r>
            <a:endParaRPr lang="en-US" sz="1100" dirty="0"/>
          </a:p>
        </p:txBody>
      </p:sp>
      <p:sp>
        <p:nvSpPr>
          <p:cNvPr id="30" name="Shape 27"/>
          <p:cNvSpPr/>
          <p:nvPr/>
        </p:nvSpPr>
        <p:spPr>
          <a:xfrm>
            <a:off x="8686800" y="2011680"/>
            <a:ext cx="1417320" cy="1115568"/>
          </a:xfrm>
          <a:prstGeom prst="roundRect">
            <a:avLst>
              <a:gd name="adj" fmla="val 8197"/>
            </a:avLst>
          </a:prstGeom>
          <a:solidFill>
            <a:srgbClr val="EEF2F6"/>
          </a:solidFill>
          <a:ln w="12700">
            <a:solidFill>
              <a:srgbClr val="EEF2F6"/>
            </a:solidFill>
            <a:prstDash val="solid"/>
          </a:ln>
        </p:spPr>
      </p:sp>
      <p:sp>
        <p:nvSpPr>
          <p:cNvPr id="31" name="Text 28"/>
          <p:cNvSpPr txBox="1"/>
          <p:nvPr/>
        </p:nvSpPr>
        <p:spPr>
          <a:xfrm>
            <a:off x="8796528" y="2084832"/>
            <a:ext cx="1234440" cy="502920"/>
          </a:xfrm>
          <a:prstGeom prst="rect">
            <a:avLst/>
          </a:prstGeom>
          <a:noFill/>
          <a:ln/>
        </p:spPr>
        <p:txBody>
          <a:bodyPr wrap="square" lIns="0" tIns="0" rIns="0" bIns="0" rtlCol="0" anchor="b"/>
          <a:lstStyle/>
          <a:p>
            <a:pPr indent="0" marL="0">
              <a:buNone/>
            </a:pPr>
            <a:r>
              <a:rPr lang="en-US" sz="2200" b="1" dirty="0">
                <a:solidFill>
                  <a:srgbClr val="F08A24"/>
                </a:solidFill>
                <a:latin typeface="Calibri" pitchFamily="34" charset="0"/>
                <a:ea typeface="Calibri" pitchFamily="34" charset="-122"/>
                <a:cs typeface="Calibri" pitchFamily="34" charset="-120"/>
              </a:rPr>
              <a:t>94.2%</a:t>
            </a:r>
            <a:endParaRPr lang="en-US" sz="2200" dirty="0"/>
          </a:p>
        </p:txBody>
      </p:sp>
      <p:sp>
        <p:nvSpPr>
          <p:cNvPr id="32" name="Text 29"/>
          <p:cNvSpPr txBox="1"/>
          <p:nvPr/>
        </p:nvSpPr>
        <p:spPr>
          <a:xfrm>
            <a:off x="879652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right, at 10 dB and above</a:t>
            </a:r>
            <a:endParaRPr lang="en-US" sz="1050" dirty="0"/>
          </a:p>
        </p:txBody>
      </p:sp>
      <p:sp>
        <p:nvSpPr>
          <p:cNvPr id="33" name="Shape 30"/>
          <p:cNvSpPr/>
          <p:nvPr/>
        </p:nvSpPr>
        <p:spPr>
          <a:xfrm>
            <a:off x="10195560" y="2011680"/>
            <a:ext cx="1417320" cy="1115568"/>
          </a:xfrm>
          <a:prstGeom prst="roundRect">
            <a:avLst>
              <a:gd name="adj" fmla="val 8197"/>
            </a:avLst>
          </a:prstGeom>
          <a:solidFill>
            <a:srgbClr val="EEF2F6"/>
          </a:solidFill>
          <a:ln w="12700">
            <a:solidFill>
              <a:srgbClr val="EEF2F6"/>
            </a:solidFill>
            <a:prstDash val="solid"/>
          </a:ln>
        </p:spPr>
      </p:sp>
      <p:sp>
        <p:nvSpPr>
          <p:cNvPr id="34" name="Text 31"/>
          <p:cNvSpPr txBox="1"/>
          <p:nvPr/>
        </p:nvSpPr>
        <p:spPr>
          <a:xfrm>
            <a:off x="10305288" y="208483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99.6%</a:t>
            </a:r>
            <a:endParaRPr lang="en-US" sz="2200" dirty="0"/>
          </a:p>
        </p:txBody>
      </p:sp>
      <p:sp>
        <p:nvSpPr>
          <p:cNvPr id="35" name="Text 32"/>
          <p:cNvSpPr txBox="1"/>
          <p:nvPr/>
        </p:nvSpPr>
        <p:spPr>
          <a:xfrm>
            <a:off x="1030528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BPSK and QPSK right at 10 dB</a:t>
            </a:r>
            <a:endParaRPr lang="en-US" sz="1050" dirty="0"/>
          </a:p>
        </p:txBody>
      </p:sp>
      <p:sp>
        <p:nvSpPr>
          <p:cNvPr id="36" name="Shape 33"/>
          <p:cNvSpPr/>
          <p:nvPr/>
        </p:nvSpPr>
        <p:spPr>
          <a:xfrm>
            <a:off x="8686800" y="3246120"/>
            <a:ext cx="1417320" cy="1115568"/>
          </a:xfrm>
          <a:prstGeom prst="roundRect">
            <a:avLst>
              <a:gd name="adj" fmla="val 8197"/>
            </a:avLst>
          </a:prstGeom>
          <a:solidFill>
            <a:srgbClr val="EEF2F6"/>
          </a:solidFill>
          <a:ln w="12700">
            <a:solidFill>
              <a:srgbClr val="EEF2F6"/>
            </a:solidFill>
            <a:prstDash val="solid"/>
          </a:ln>
        </p:spPr>
      </p:sp>
      <p:sp>
        <p:nvSpPr>
          <p:cNvPr id="37" name="Text 34"/>
          <p:cNvSpPr txBox="1"/>
          <p:nvPr/>
        </p:nvSpPr>
        <p:spPr>
          <a:xfrm>
            <a:off x="879652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25%</a:t>
            </a:r>
            <a:endParaRPr lang="en-US" sz="2200" dirty="0"/>
          </a:p>
        </p:txBody>
      </p:sp>
      <p:sp>
        <p:nvSpPr>
          <p:cNvPr id="38" name="Text 35"/>
          <p:cNvSpPr txBox="1"/>
          <p:nvPr/>
        </p:nvSpPr>
        <p:spPr>
          <a:xfrm>
            <a:off x="879652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at −20 dB: a guess</a:t>
            </a:r>
            <a:endParaRPr lang="en-US" sz="1050" dirty="0"/>
          </a:p>
        </p:txBody>
      </p:sp>
      <p:sp>
        <p:nvSpPr>
          <p:cNvPr id="39" name="Shape 36"/>
          <p:cNvSpPr/>
          <p:nvPr/>
        </p:nvSpPr>
        <p:spPr>
          <a:xfrm>
            <a:off x="10195560" y="3246120"/>
            <a:ext cx="1417320" cy="1115568"/>
          </a:xfrm>
          <a:prstGeom prst="roundRect">
            <a:avLst>
              <a:gd name="adj" fmla="val 8197"/>
            </a:avLst>
          </a:prstGeom>
          <a:solidFill>
            <a:srgbClr val="EEF2F6"/>
          </a:solidFill>
          <a:ln w="12700">
            <a:solidFill>
              <a:srgbClr val="EEF2F6"/>
            </a:solidFill>
            <a:prstDash val="solid"/>
          </a:ln>
        </p:spPr>
      </p:sp>
      <p:sp>
        <p:nvSpPr>
          <p:cNvPr id="40" name="Text 37"/>
          <p:cNvSpPr txBox="1"/>
          <p:nvPr/>
        </p:nvSpPr>
        <p:spPr>
          <a:xfrm>
            <a:off x="1030528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42,000</a:t>
            </a:r>
            <a:endParaRPr lang="en-US" sz="2200" dirty="0"/>
          </a:p>
        </p:txBody>
      </p:sp>
      <p:sp>
        <p:nvSpPr>
          <p:cNvPr id="41" name="Text 38"/>
          <p:cNvSpPr txBox="1"/>
          <p:nvPr/>
        </p:nvSpPr>
        <p:spPr>
          <a:xfrm>
            <a:off x="1030528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test decisions at 10 dB and above</a:t>
            </a:r>
            <a:endParaRPr lang="en-US" sz="1050" dirty="0"/>
          </a:p>
        </p:txBody>
      </p:sp>
      <p:sp>
        <p:nvSpPr>
          <p:cNvPr id="42" name="Text 39"/>
          <p:cNvSpPr txBox="1"/>
          <p:nvPr/>
        </p:nvSpPr>
        <p:spPr>
          <a:xfrm>
            <a:off x="548640" y="51206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How we check it:</a:t>
            </a:r>
            <a:pPr indent="0" marL="0">
              <a:buNone/>
            </a:pPr>
            <a:r>
              <a:rPr lang="en-US" sz="1500" dirty="0">
                <a:solidFill>
                  <a:srgbClr val="1E293B"/>
                </a:solidFill>
                <a:latin typeface="Calibri" pitchFamily="34" charset="0"/>
                <a:ea typeface="Calibri" pitchFamily="34" charset="-122"/>
                <a:cs typeface="Calibri" pitchFamily="34" charset="-120"/>
              </a:rPr>
              <a:t>  every number is counted on test frames the detector never saw while learning.</a:t>
            </a:r>
            <a:endParaRPr lang="en-US" sz="1500" dirty="0"/>
          </a:p>
        </p:txBody>
      </p:sp>
      <p:sp>
        <p:nvSpPr>
          <p:cNvPr id="44" name="Text 4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1  ·  THE INPUT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one frame looks like</a:t>
            </a:r>
            <a:endParaRPr lang="en-US" sz="3000" dirty="0"/>
          </a:p>
        </p:txBody>
      </p:sp>
      <p:sp>
        <p:nvSpPr>
          <p:cNvPr id="4" name="Shape 2"/>
          <p:cNvSpPr/>
          <p:nvPr/>
        </p:nvSpPr>
        <p:spPr>
          <a:xfrm>
            <a:off x="8641080" y="347472"/>
            <a:ext cx="29992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641080" y="347472"/>
            <a:ext cx="29992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128 samples = 16 symbols</a:t>
            </a:r>
            <a:endParaRPr lang="en-US" sz="1100" dirty="0"/>
          </a:p>
        </p:txBody>
      </p:sp>
      <p:sp>
        <p:nvSpPr>
          <p:cNvPr id="6" name="Shape 4"/>
          <p:cNvSpPr/>
          <p:nvPr/>
        </p:nvSpPr>
        <p:spPr>
          <a:xfrm>
            <a:off x="512064" y="1609344"/>
            <a:ext cx="7022592" cy="2544064"/>
          </a:xfrm>
          <a:prstGeom prst="roundRect">
            <a:avLst>
              <a:gd name="adj" fmla="val 2157"/>
            </a:avLst>
          </a:prstGeom>
          <a:solidFill>
            <a:srgbClr val="0F1B2D"/>
          </a:solidFill>
          <a:ln w="12700">
            <a:solidFill>
              <a:srgbClr val="0F1B2D"/>
            </a:solidFill>
            <a:prstDash val="solid"/>
          </a:ln>
        </p:spPr>
      </p:sp>
      <p:pic>
        <p:nvPicPr>
          <p:cNvPr id="7" name="Image 0" descr="simple/frame.png">    </p:cNvPr>
          <p:cNvPicPr>
            <a:picLocks noChangeAspect="1"/>
          </p:cNvPicPr>
          <p:nvPr/>
        </p:nvPicPr>
        <p:blipFill>
          <a:blip r:embed="rId1"/>
          <a:stretch>
            <a:fillRect/>
          </a:stretch>
        </p:blipFill>
        <p:spPr>
          <a:xfrm>
            <a:off x="548640" y="1645920"/>
            <a:ext cx="6949440" cy="2470912"/>
          </a:xfrm>
          <a:prstGeom prst="rect">
            <a:avLst/>
          </a:prstGeom>
        </p:spPr>
      </p:pic>
      <p:sp>
        <p:nvSpPr>
          <p:cNvPr id="8" name="Text 5"/>
          <p:cNvSpPr txBox="1"/>
          <p:nvPr/>
        </p:nvSpPr>
        <p:spPr>
          <a:xfrm>
            <a:off x="548640" y="4206240"/>
            <a:ext cx="6949440" cy="91440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frame of QAM16, drawn without noise. Orange: the in-phase part (I); blue: the quadrature part (Q). A symbol every 8 samples (the dots); each dot sits on −3, −1, 1 or 3. That is what makes it QAM16.</a:t>
            </a:r>
            <a:endParaRPr lang="en-US" sz="1300" dirty="0"/>
          </a:p>
        </p:txBody>
      </p:sp>
      <p:sp>
        <p:nvSpPr>
          <p:cNvPr id="9" name="Shape 6"/>
          <p:cNvSpPr/>
          <p:nvPr/>
        </p:nvSpPr>
        <p:spPr>
          <a:xfrm>
            <a:off x="8284464" y="1609344"/>
            <a:ext cx="3364992" cy="3529584"/>
          </a:xfrm>
          <a:prstGeom prst="roundRect">
            <a:avLst>
              <a:gd name="adj" fmla="val 1630"/>
            </a:avLst>
          </a:prstGeom>
          <a:solidFill>
            <a:srgbClr val="0F1B2D"/>
          </a:solidFill>
          <a:ln w="12700">
            <a:solidFill>
              <a:srgbClr val="0F1B2D"/>
            </a:solidFill>
            <a:prstDash val="solid"/>
          </a:ln>
        </p:spPr>
      </p:sp>
      <p:pic>
        <p:nvPicPr>
          <p:cNvPr id="10" name="Image 1" descr="simple/symbols_2x2.png">    </p:cNvPr>
          <p:cNvPicPr>
            <a:picLocks noChangeAspect="1"/>
          </p:cNvPicPr>
          <p:nvPr/>
        </p:nvPicPr>
        <p:blipFill>
          <a:blip r:embed="rId2"/>
          <a:stretch>
            <a:fillRect/>
          </a:stretch>
        </p:blipFill>
        <p:spPr>
          <a:xfrm>
            <a:off x="8321040" y="1645920"/>
            <a:ext cx="3291840" cy="3456432"/>
          </a:xfrm>
          <a:prstGeom prst="rect">
            <a:avLst/>
          </a:prstGeom>
        </p:spPr>
      </p:pic>
      <p:sp>
        <p:nvSpPr>
          <p:cNvPr id="11" name="Text 7"/>
          <p:cNvSpPr txBox="1"/>
          <p:nvPr/>
        </p:nvSpPr>
        <p:spPr>
          <a:xfrm>
            <a:off x="8321040" y="5166360"/>
            <a:ext cx="329184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16 symbols of one frame (orange) on all the points each kind can use (circles).</a:t>
            </a:r>
            <a:endParaRPr lang="en-US" sz="1150" dirty="0"/>
          </a:p>
        </p:txBody>
      </p:sp>
      <p:sp>
        <p:nvSpPr>
          <p:cNvPr id="12" name="Text 8"/>
          <p:cNvSpPr txBox="1"/>
          <p:nvPr/>
        </p:nvSpPr>
        <p:spPr>
          <a:xfrm>
            <a:off x="548640" y="5257800"/>
            <a:ext cx="7498080" cy="64008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16 symbols cannot show all 64 points of QAM64.</a:t>
            </a:r>
            <a:pPr indent="0" marL="0">
              <a:buNone/>
            </a:pPr>
            <a:r>
              <a:rPr lang="en-US" sz="1500" dirty="0">
                <a:solidFill>
                  <a:srgbClr val="1E293B"/>
                </a:solidFill>
                <a:latin typeface="Calibri" pitchFamily="34" charset="0"/>
                <a:ea typeface="Calibri" pitchFamily="34" charset="-122"/>
                <a:cs typeface="Calibri" pitchFamily="34" charset="-120"/>
              </a:rPr>
              <a:t>  So a QAM64 frame can look like QAM16 even with no noise at all.</a:t>
            </a:r>
            <a:endParaRPr lang="en-US" sz="1500" dirty="0"/>
          </a:p>
        </p:txBody>
      </p:sp>
      <p:sp>
        <p:nvSpPr>
          <p:cNvPr id="13" name="Text 9"/>
          <p:cNvSpPr txBox="1"/>
          <p:nvPr/>
        </p:nvSpPr>
        <p:spPr>
          <a:xfrm>
            <a:off x="548640" y="6172200"/>
            <a:ext cx="7315200" cy="2743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Pictures drawn by us to explain; the data are DeepSig's.</a:t>
            </a:r>
            <a:endParaRPr lang="en-US" sz="1050" dirty="0"/>
          </a:p>
        </p:txBody>
      </p:sp>
      <p:sp>
        <p:nvSpPr>
          <p:cNvPr id="15" name="Text 1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2  ·  THE NOISE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“10 dB” mean in this data?</a:t>
            </a:r>
            <a:endParaRPr lang="en-US" sz="3000" dirty="0"/>
          </a:p>
        </p:txBody>
      </p:sp>
      <p:sp>
        <p:nvSpPr>
          <p:cNvPr id="4" name="Shape 2"/>
          <p:cNvSpPr/>
          <p:nvPr/>
        </p:nvSpPr>
        <p:spPr>
          <a:xfrm>
            <a:off x="8202168" y="347472"/>
            <a:ext cx="3438144"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202168" y="347472"/>
            <a:ext cx="3438144"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tools/measure_rml2016_snr.py</a:t>
            </a:r>
            <a:endParaRPr lang="en-US" sz="1100" dirty="0"/>
          </a:p>
        </p:txBody>
      </p:sp>
      <p:sp>
        <p:nvSpPr>
          <p:cNvPr id="6" name="Shape 4"/>
          <p:cNvSpPr/>
          <p:nvPr/>
        </p:nvSpPr>
        <p:spPr>
          <a:xfrm>
            <a:off x="548640" y="1691640"/>
            <a:ext cx="5120640" cy="1078992"/>
          </a:xfrm>
          <a:prstGeom prst="roundRect">
            <a:avLst>
              <a:gd name="adj" fmla="val 8475"/>
            </a:avLst>
          </a:prstGeom>
          <a:solidFill>
            <a:srgbClr val="EEF2F6"/>
          </a:solidFill>
          <a:ln w="12700">
            <a:solidFill>
              <a:srgbClr val="EEF2F6"/>
            </a:solidFill>
            <a:prstDash val="solid"/>
          </a:ln>
        </p:spPr>
      </p:sp>
      <p:sp>
        <p:nvSpPr>
          <p:cNvPr id="7" name="Text 5"/>
          <p:cNvSpPr txBox="1"/>
          <p:nvPr/>
        </p:nvSpPr>
        <p:spPr>
          <a:xfrm>
            <a:off x="777240" y="1783080"/>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Who made it</a:t>
            </a:r>
            <a:endParaRPr lang="en-US" sz="1500" dirty="0"/>
          </a:p>
        </p:txBody>
      </p:sp>
      <p:sp>
        <p:nvSpPr>
          <p:cNvPr id="8" name="Text 6"/>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DeepSig, in a simulator (GNU Radio). Not recorded from a real radio.</a:t>
            </a:r>
            <a:endParaRPr lang="en-US" sz="1300" dirty="0"/>
          </a:p>
        </p:txBody>
      </p:sp>
      <p:sp>
        <p:nvSpPr>
          <p:cNvPr id="9" name="Shape 7"/>
          <p:cNvSpPr/>
          <p:nvPr/>
        </p:nvSpPr>
        <p:spPr>
          <a:xfrm>
            <a:off x="548640" y="2898648"/>
            <a:ext cx="5120640" cy="1078992"/>
          </a:xfrm>
          <a:prstGeom prst="roundRect">
            <a:avLst>
              <a:gd name="adj" fmla="val 8475"/>
            </a:avLst>
          </a:prstGeom>
          <a:solidFill>
            <a:srgbClr val="EEF2F6"/>
          </a:solidFill>
          <a:ln w="12700">
            <a:solidFill>
              <a:srgbClr val="EEF2F6"/>
            </a:solidFill>
            <a:prstDash val="solid"/>
          </a:ln>
        </p:spPr>
      </p:sp>
      <p:sp>
        <p:nvSpPr>
          <p:cNvPr id="10" name="Text 8"/>
          <p:cNvSpPr txBox="1"/>
          <p:nvPr/>
        </p:nvSpPr>
        <p:spPr>
          <a:xfrm>
            <a:off x="777240" y="2990088"/>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the label sets</a:t>
            </a:r>
            <a:endParaRPr lang="en-US" sz="1500" dirty="0"/>
          </a:p>
        </p:txBody>
      </p:sp>
      <p:sp>
        <p:nvSpPr>
          <p:cNvPr id="11" name="Text 9"/>
          <p:cNvSpPr txBox="1"/>
          <p:nvPr/>
        </p:nvSpPr>
        <p:spPr>
          <a:xfrm>
            <a:off x="777240" y="3355848"/>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number in their code: the noise amplitude = 10^(−label/10).</a:t>
            </a:r>
            <a:endParaRPr lang="en-US" sz="1300" dirty="0"/>
          </a:p>
        </p:txBody>
      </p:sp>
      <p:sp>
        <p:nvSpPr>
          <p:cNvPr id="12" name="Shape 10"/>
          <p:cNvSpPr/>
          <p:nvPr/>
        </p:nvSpPr>
        <p:spPr>
          <a:xfrm>
            <a:off x="548640" y="4105656"/>
            <a:ext cx="5120640" cy="1078992"/>
          </a:xfrm>
          <a:prstGeom prst="roundRect">
            <a:avLst>
              <a:gd name="adj" fmla="val 8475"/>
            </a:avLst>
          </a:prstGeom>
          <a:solidFill>
            <a:srgbClr val="EEF2F6"/>
          </a:solidFill>
          <a:ln w="12700">
            <a:solidFill>
              <a:srgbClr val="EEF2F6"/>
            </a:solidFill>
            <a:prstDash val="solid"/>
          </a:ln>
        </p:spPr>
      </p:sp>
      <p:sp>
        <p:nvSpPr>
          <p:cNvPr id="13" name="Text 11"/>
          <p:cNvSpPr txBox="1"/>
          <p:nvPr/>
        </p:nvSpPr>
        <p:spPr>
          <a:xfrm>
            <a:off x="777240" y="4197096"/>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else is added</a:t>
            </a:r>
            <a:endParaRPr lang="en-US" sz="1500" dirty="0"/>
          </a:p>
        </p:txBody>
      </p:sp>
      <p:sp>
        <p:nvSpPr>
          <p:cNvPr id="14" name="Text 12"/>
          <p:cNvSpPr txBox="1"/>
          <p:nvPr/>
        </p:nvSpPr>
        <p:spPr>
          <a:xfrm>
            <a:off x="777240" y="4562856"/>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Carrier offset, clock offset, fading and echoes (multipath) — at every noise level, even the best.</a:t>
            </a:r>
            <a:endParaRPr lang="en-US" sz="1300" dirty="0"/>
          </a:p>
        </p:txBody>
      </p:sp>
      <p:sp>
        <p:nvSpPr>
          <p:cNvPr id="15" name="Text 13"/>
          <p:cNvSpPr txBox="1"/>
          <p:nvPr/>
        </p:nvSpPr>
        <p:spPr>
          <a:xfrm>
            <a:off x="6172200" y="1691640"/>
            <a:ext cx="54864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 measured the noise in the file itself:</a:t>
            </a:r>
            <a:endParaRPr lang="en-US" sz="1500" dirty="0"/>
          </a:p>
        </p:txBody>
      </p:sp>
      <p:sp>
        <p:nvSpPr>
          <p:cNvPr id="16" name="Shape 14"/>
          <p:cNvSpPr/>
          <p:nvPr/>
        </p:nvSpPr>
        <p:spPr>
          <a:xfrm>
            <a:off x="6172200" y="2148840"/>
            <a:ext cx="2606040" cy="2103120"/>
          </a:xfrm>
          <a:prstGeom prst="roundRect">
            <a:avLst>
              <a:gd name="adj" fmla="val 4348"/>
            </a:avLst>
          </a:prstGeom>
          <a:solidFill>
            <a:srgbClr val="EEF2F6"/>
          </a:solidFill>
          <a:ln w="12700">
            <a:solidFill>
              <a:srgbClr val="EEF2F6"/>
            </a:solidFill>
            <a:prstDash val="solid"/>
          </a:ln>
        </p:spPr>
      </p:sp>
      <p:sp>
        <p:nvSpPr>
          <p:cNvPr id="17" name="Shape 15"/>
          <p:cNvSpPr/>
          <p:nvPr/>
        </p:nvSpPr>
        <p:spPr>
          <a:xfrm>
            <a:off x="9034272" y="2148840"/>
            <a:ext cx="2606040" cy="2103120"/>
          </a:xfrm>
          <a:prstGeom prst="roundRect">
            <a:avLst>
              <a:gd name="adj" fmla="val 4348"/>
            </a:avLst>
          </a:prstGeom>
          <a:solidFill>
            <a:srgbClr val="EEF2F6"/>
          </a:solidFill>
          <a:ln w="12700">
            <a:solidFill>
              <a:srgbClr val="EEF2F6"/>
            </a:solidFill>
            <a:prstDash val="solid"/>
          </a:ln>
        </p:spPr>
      </p:sp>
      <p:sp>
        <p:nvSpPr>
          <p:cNvPr id="18" name="Text 16"/>
          <p:cNvSpPr txBox="1"/>
          <p:nvPr/>
        </p:nvSpPr>
        <p:spPr>
          <a:xfrm>
            <a:off x="6355080" y="2286000"/>
            <a:ext cx="2286000" cy="731520"/>
          </a:xfrm>
          <a:prstGeom prst="rect">
            <a:avLst/>
          </a:prstGeom>
          <a:noFill/>
          <a:ln/>
        </p:spPr>
        <p:txBody>
          <a:bodyPr wrap="square" lIns="0" tIns="0" rIns="0" bIns="0" rtlCol="0" anchor="b"/>
          <a:lstStyle/>
          <a:p>
            <a:pPr algn="ctr" indent="0" marL="0">
              <a:buNone/>
            </a:pPr>
            <a:r>
              <a:rPr lang="en-US" sz="4000" b="1" dirty="0">
                <a:solidFill>
                  <a:srgbClr val="1E293B"/>
                </a:solidFill>
                <a:latin typeface="Calibri" pitchFamily="34" charset="0"/>
                <a:ea typeface="Calibri" pitchFamily="34" charset="-122"/>
                <a:cs typeface="Calibri" pitchFamily="34" charset="-120"/>
              </a:rPr>
              <a:t>1.9 dB</a:t>
            </a:r>
            <a:endParaRPr lang="en-US" sz="4000" dirty="0"/>
          </a:p>
        </p:txBody>
      </p:sp>
      <p:sp>
        <p:nvSpPr>
          <p:cNvPr id="19" name="Text 17"/>
          <p:cNvSpPr txBox="1"/>
          <p:nvPr/>
        </p:nvSpPr>
        <p:spPr>
          <a:xfrm>
            <a:off x="6355080"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of real change for every 1 dB of label</a:t>
            </a:r>
            <a:endParaRPr lang="en-US" sz="1250" dirty="0"/>
          </a:p>
        </p:txBody>
      </p:sp>
      <p:sp>
        <p:nvSpPr>
          <p:cNvPr id="20" name="Text 18"/>
          <p:cNvSpPr txBox="1"/>
          <p:nvPr/>
        </p:nvSpPr>
        <p:spPr>
          <a:xfrm>
            <a:off x="9217152" y="2286000"/>
            <a:ext cx="2286000" cy="731520"/>
          </a:xfrm>
          <a:prstGeom prst="rect">
            <a:avLst/>
          </a:prstGeom>
          <a:noFill/>
          <a:ln/>
        </p:spPr>
        <p:txBody>
          <a:bodyPr wrap="square" lIns="0" tIns="0" rIns="0" bIns="0" rtlCol="0" anchor="b"/>
          <a:lstStyle/>
          <a:p>
            <a:pPr algn="ctr" indent="0" marL="0">
              <a:buNone/>
            </a:pPr>
            <a:r>
              <a:rPr lang="en-US" sz="4000" b="1" dirty="0">
                <a:solidFill>
                  <a:srgbClr val="F08A24"/>
                </a:solidFill>
                <a:latin typeface="Calibri" pitchFamily="34" charset="0"/>
                <a:ea typeface="Calibri" pitchFamily="34" charset="-122"/>
                <a:cs typeface="Calibri" pitchFamily="34" charset="-120"/>
              </a:rPr>
              <a:t>+15 dB</a:t>
            </a:r>
            <a:endParaRPr lang="en-US" sz="4000" dirty="0"/>
          </a:p>
        </p:txBody>
      </p:sp>
      <p:sp>
        <p:nvSpPr>
          <p:cNvPr id="21" name="Text 19"/>
          <p:cNvSpPr txBox="1"/>
          <p:nvPr/>
        </p:nvSpPr>
        <p:spPr>
          <a:xfrm>
            <a:off x="9217152"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1250" dirty="0"/>
          </a:p>
        </p:txBody>
      </p:sp>
      <p:sp>
        <p:nvSpPr>
          <p:cNvPr id="22" name="Text 20"/>
          <p:cNvSpPr txBox="1"/>
          <p:nvPr/>
        </p:nvSpPr>
        <p:spPr>
          <a:xfrm>
            <a:off x="6172200" y="4434840"/>
            <a:ext cx="5468112" cy="10058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How: the signal sits in the middle of the spectrum; outside it there is only noise, so its level there gives the noise power. Checked first on frames of known noise (within 0.5 dB).</a:t>
            </a:r>
            <a:endParaRPr lang="en-US" sz="1200" dirty="0"/>
          </a:p>
        </p:txBody>
      </p:sp>
      <p:sp>
        <p:nvSpPr>
          <p:cNvPr id="23" name="Text 2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“10 dB” is a setting, not a measurement,</a:t>
            </a:r>
            <a:pPr indent="0" marL="0">
              <a:buNone/>
            </a:pPr>
            <a:r>
              <a:rPr lang="en-US" sz="1500" dirty="0">
                <a:solidFill>
                  <a:srgbClr val="1E293B"/>
                </a:solidFill>
                <a:latin typeface="Calibri" pitchFamily="34" charset="0"/>
                <a:ea typeface="Calibri" pitchFamily="34" charset="-122"/>
                <a:cs typeface="Calibri" pitchFamily="34" charset="-120"/>
              </a:rPr>
              <a:t>  and it means a different amount of noise for each kind of signal.</a:t>
            </a:r>
            <a:endParaRPr lang="en-US" sz="15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RESULT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The answer at one noise level: 10 dB</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8,400 test frames: 14 repeats × 4 kinds × 150. Rows: what was sent. Columns: what the detector said.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132320" cy="914400"/>
        </p:xfrm>
        <a:graphic>
          <a:graphicData uri="http://schemas.openxmlformats.org/drawingml/2006/table">
            <a:tbl>
              <a:tblPr/>
              <a:tblGrid>
                <a:gridCol w="1463040"/>
                <a:gridCol w="1143000"/>
                <a:gridCol w="1143000"/>
                <a:gridCol w="1143000"/>
                <a:gridCol w="1143000"/>
                <a:gridCol w="1097280"/>
              </a:tblGrid>
              <a:tr h="457200">
                <a:tc>
                  <a:txBody>
                    <a:bodyPr/>
                    <a:lstStyle/>
                    <a:p>
                      <a:pPr algn="ctr" indent="0" marL="0">
                        <a:buNone/>
                      </a:pPr>
                      <a:r>
                        <a:rPr lang="en-US" sz="1100" b="1" dirty="0">
                          <a:solidFill>
                            <a:srgbClr val="1E293B"/>
                          </a:solidFill>
                          <a:latin typeface="Calibri" pitchFamily="34" charset="0"/>
                          <a:ea typeface="Calibri" pitchFamily="34" charset="-122"/>
                          <a:cs typeface="Calibri" pitchFamily="34" charset="-120"/>
                        </a:rPr>
                        <a:t>sent \ said</a:t>
                      </a:r>
                      <a:endParaRPr lang="en-US" sz="11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1,808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126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1,961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200" b="1" dirty="0">
                          <a:solidFill>
                            <a:srgbClr val="1E293B"/>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99.1%</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98.7%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93.4%</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87.7%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8" name="Text 5"/>
          <p:cNvSpPr txBox="1"/>
          <p:nvPr/>
        </p:nvSpPr>
        <p:spPr>
          <a:xfrm>
            <a:off x="548640" y="4800600"/>
            <a:ext cx="7132320" cy="731520"/>
          </a:xfrm>
          <a:prstGeom prst="rect">
            <a:avLst/>
          </a:prstGeom>
          <a:noFill/>
          <a:ln/>
        </p:spPr>
        <p:txBody>
          <a:bodyPr wrap="square" lIns="0" tIns="0" rIns="0" bIns="0" rtlCol="0" anchor="t"/>
          <a:lstStyle/>
          <a:p>
            <a:pPr indent="0" marL="0">
              <a:buNone/>
            </a:pPr>
            <a:r>
              <a:rPr lang="en-US" sz="1250" b="1" dirty="0">
                <a:solidFill>
                  <a:srgbClr val="5B6B7F"/>
                </a:solidFill>
                <a:latin typeface="Calibri" pitchFamily="34" charset="0"/>
                <a:ea typeface="Calibri" pitchFamily="34" charset="-122"/>
                <a:cs typeface="Calibri" pitchFamily="34" charset="-120"/>
              </a:rPr>
              <a:t>Recall</a:t>
            </a:r>
            <a:pPr indent="0" marL="0">
              <a:buNone/>
            </a:pPr>
            <a:r>
              <a:rPr lang="en-US" sz="1250" dirty="0">
                <a:solidFill>
                  <a:srgbClr val="5B6B7F"/>
                </a:solidFill>
                <a:latin typeface="Calibri" pitchFamily="34" charset="0"/>
                <a:ea typeface="Calibri" pitchFamily="34" charset="-122"/>
                <a:cs typeface="Calibri" pitchFamily="34" charset="-120"/>
              </a:rPr>
              <a:t> = of the frames that were this kind, how many it named right (a row).</a:t>
            </a:r>
            <a:endParaRPr lang="en-US" sz="1250" dirty="0"/>
          </a:p>
          <a:p>
            <a:pPr indent="0" marL="0">
              <a:buNone/>
            </a:pPr>
            <a:r>
              <a:rPr lang="en-US" sz="1250" b="1" dirty="0">
                <a:solidFill>
                  <a:srgbClr val="5B6B7F"/>
                </a:solidFill>
                <a:latin typeface="Calibri" pitchFamily="34" charset="0"/>
                <a:ea typeface="Calibri" pitchFamily="34" charset="-122"/>
                <a:cs typeface="Calibri" pitchFamily="34" charset="-120"/>
              </a:rPr>
              <a:t>Precision</a:t>
            </a:r>
            <a:pPr indent="0" marL="0">
              <a:buNone/>
            </a:pPr>
            <a:r>
              <a:rPr lang="en-US" sz="1250" dirty="0">
                <a:solidFill>
                  <a:srgbClr val="5B6B7F"/>
                </a:solidFill>
                <a:latin typeface="Calibri" pitchFamily="34" charset="0"/>
                <a:ea typeface="Calibri" pitchFamily="34" charset="-122"/>
                <a:cs typeface="Calibri" pitchFamily="34" charset="-120"/>
              </a:rPr>
              <a:t> = of the frames it gave this name, how many were right (a column).</a:t>
            </a:r>
            <a:endParaRPr lang="en-US" sz="1250" dirty="0"/>
          </a:p>
        </p:txBody>
      </p:sp>
      <p:sp>
        <p:nvSpPr>
          <p:cNvPr id="9" name="Shape 6"/>
          <p:cNvSpPr/>
          <p:nvPr/>
        </p:nvSpPr>
        <p:spPr>
          <a:xfrm>
            <a:off x="8138160" y="1874520"/>
            <a:ext cx="3502152" cy="2743200"/>
          </a:xfrm>
          <a:prstGeom prst="roundRect">
            <a:avLst>
              <a:gd name="adj" fmla="val 3333"/>
            </a:avLst>
          </a:prstGeom>
          <a:solidFill>
            <a:srgbClr val="EEF2F6"/>
          </a:solidFill>
          <a:ln w="12700">
            <a:solidFill>
              <a:srgbClr val="EEF2F6"/>
            </a:solidFill>
            <a:prstDash val="solid"/>
          </a:ln>
        </p:spPr>
      </p:sp>
      <p:sp>
        <p:nvSpPr>
          <p:cNvPr id="10" name="Text 7"/>
          <p:cNvSpPr txBox="1"/>
          <p:nvPr/>
        </p:nvSpPr>
        <p:spPr>
          <a:xfrm>
            <a:off x="8321040" y="2011680"/>
            <a:ext cx="3108960" cy="822960"/>
          </a:xfrm>
          <a:prstGeom prst="rect">
            <a:avLst/>
          </a:prstGeom>
          <a:noFill/>
          <a:ln/>
        </p:spPr>
        <p:txBody>
          <a:bodyPr wrap="square" lIns="0" tIns="0" rIns="0" bIns="0" rtlCol="0" anchor="b"/>
          <a:lstStyle/>
          <a:p>
            <a:pPr indent="0" marL="0">
              <a:buNone/>
            </a:pPr>
            <a:r>
              <a:rPr lang="en-US" sz="4600" b="1" dirty="0">
                <a:solidFill>
                  <a:srgbClr val="F08A24"/>
                </a:solidFill>
                <a:latin typeface="Calibri" pitchFamily="34" charset="0"/>
                <a:ea typeface="Calibri" pitchFamily="34" charset="-122"/>
                <a:cs typeface="Calibri" pitchFamily="34" charset="-120"/>
              </a:rPr>
              <a:t>448</a:t>
            </a:r>
            <a:endParaRPr lang="en-US" sz="4600" dirty="0"/>
          </a:p>
        </p:txBody>
      </p:sp>
      <p:sp>
        <p:nvSpPr>
          <p:cNvPr id="11" name="Text 8"/>
          <p:cNvSpPr txBox="1"/>
          <p:nvPr/>
        </p:nvSpPr>
        <p:spPr>
          <a:xfrm>
            <a:off x="8321040" y="2834640"/>
            <a:ext cx="3108960"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out of 8,400</a:t>
            </a:r>
            <a:endParaRPr lang="en-US" sz="1400" dirty="0"/>
          </a:p>
        </p:txBody>
      </p:sp>
      <p:sp>
        <p:nvSpPr>
          <p:cNvPr id="12" name="Text 9"/>
          <p:cNvSpPr txBox="1"/>
          <p:nvPr/>
        </p:nvSpPr>
        <p:spPr>
          <a:xfrm>
            <a:off x="8321040" y="3246120"/>
            <a:ext cx="3108960" cy="731520"/>
          </a:xfrm>
          <a:prstGeom prst="rect">
            <a:avLst/>
          </a:prstGeom>
          <a:noFill/>
          <a:ln/>
        </p:spPr>
        <p:txBody>
          <a:bodyPr wrap="square" lIns="0" tIns="0" rIns="0" bIns="0" rtlCol="0" anchor="b"/>
          <a:lstStyle/>
          <a:p>
            <a:pPr indent="0" marL="0">
              <a:buNone/>
            </a:pPr>
            <a:r>
              <a:rPr lang="en-US" sz="3400" b="1" dirty="0">
                <a:solidFill>
                  <a:srgbClr val="1E293B"/>
                </a:solidFill>
                <a:latin typeface="Calibri" pitchFamily="34" charset="0"/>
                <a:ea typeface="Calibri" pitchFamily="34" charset="-122"/>
                <a:cs typeface="Calibri" pitchFamily="34" charset="-120"/>
              </a:rPr>
              <a:t>395</a:t>
            </a:r>
            <a:endParaRPr lang="en-US" sz="3400" dirty="0"/>
          </a:p>
        </p:txBody>
      </p:sp>
      <p:sp>
        <p:nvSpPr>
          <p:cNvPr id="13" name="Text 10"/>
          <p:cNvSpPr txBox="1"/>
          <p:nvPr/>
        </p:nvSpPr>
        <p:spPr>
          <a:xfrm>
            <a:off x="8321040" y="3977640"/>
            <a:ext cx="3108960" cy="45720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of them are QAM16 and QAM64 mixed up</a:t>
            </a:r>
            <a:endParaRPr lang="en-US" sz="1400" dirty="0"/>
          </a:p>
        </p:txBody>
      </p:sp>
      <p:sp>
        <p:nvSpPr>
          <p:cNvPr id="14" name="Text 1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BPSK and QPSK are essentially solved.</a:t>
            </a:r>
            <a:pPr indent="0" marL="0">
              <a:buNone/>
            </a:pPr>
            <a:r>
              <a:rPr lang="en-US" sz="1500" dirty="0">
                <a:solidFill>
                  <a:srgbClr val="1E293B"/>
                </a:solidFill>
                <a:latin typeface="Calibri" pitchFamily="34" charset="0"/>
                <a:ea typeface="Calibri" pitchFamily="34" charset="-122"/>
                <a:cs typeface="Calibri" pitchFamily="34" charset="-120"/>
              </a:rPr>
              <a:t>  Almost every mistake is QAM16 against QAM64.</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BY STEP  ·  LESS SIGNAL</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Turn the noise up: when does it break?</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answers out of 8,400 test frames at each label.</a:t>
            </a:r>
            <a:endParaRPr lang="en-US" sz="1400" dirty="0"/>
          </a:p>
        </p:txBody>
      </p:sp>
      <p:graphicFrame>
        <p:nvGraphicFramePr>
          <p:cNvPr id="7" name="Chart 0" descr=""/>
          <p:cNvGraphicFramePr/>
          <p:nvPr/>
        </p:nvGraphicFramePr>
        <p:xfrm>
          <a:off x="548640" y="1783080"/>
          <a:ext cx="7863840" cy="38404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732520" y="1920240"/>
            <a:ext cx="2907792" cy="1554480"/>
          </a:xfrm>
          <a:prstGeom prst="roundRect">
            <a:avLst>
              <a:gd name="adj" fmla="val 5882"/>
            </a:avLst>
          </a:prstGeom>
          <a:solidFill>
            <a:srgbClr val="EEF2F6"/>
          </a:solidFill>
          <a:ln w="12700">
            <a:solidFill>
              <a:srgbClr val="EEF2F6"/>
            </a:solidFill>
            <a:prstDash val="solid"/>
          </a:ln>
        </p:spPr>
      </p:sp>
      <p:sp>
        <p:nvSpPr>
          <p:cNvPr id="9" name="Text 6"/>
          <p:cNvSpPr txBox="1"/>
          <p:nvPr/>
        </p:nvSpPr>
        <p:spPr>
          <a:xfrm>
            <a:off x="8915400" y="2011680"/>
            <a:ext cx="2560320" cy="54864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10 → 2 dB</a:t>
            </a:r>
            <a:endParaRPr lang="en-US" sz="2400" dirty="0"/>
          </a:p>
        </p:txBody>
      </p:sp>
      <p:sp>
        <p:nvSpPr>
          <p:cNvPr id="10" name="Text 7"/>
          <p:cNvSpPr txBox="1"/>
          <p:nvPr/>
        </p:nvSpPr>
        <p:spPr>
          <a:xfrm>
            <a:off x="8915400" y="256032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about 450–490 wrong every time: the same box</a:t>
            </a:r>
            <a:endParaRPr lang="en-US" sz="1300" dirty="0"/>
          </a:p>
        </p:txBody>
      </p:sp>
      <p:sp>
        <p:nvSpPr>
          <p:cNvPr id="11" name="Shape 8"/>
          <p:cNvSpPr/>
          <p:nvPr/>
        </p:nvSpPr>
        <p:spPr>
          <a:xfrm>
            <a:off x="8732520" y="3657600"/>
            <a:ext cx="2907792" cy="1554480"/>
          </a:xfrm>
          <a:prstGeom prst="roundRect">
            <a:avLst>
              <a:gd name="adj" fmla="val 5882"/>
            </a:avLst>
          </a:prstGeom>
          <a:solidFill>
            <a:srgbClr val="EEF2F6"/>
          </a:solidFill>
          <a:ln w="12700">
            <a:solidFill>
              <a:srgbClr val="EEF2F6"/>
            </a:solidFill>
            <a:prstDash val="solid"/>
          </a:ln>
        </p:spPr>
      </p:sp>
      <p:sp>
        <p:nvSpPr>
          <p:cNvPr id="12" name="Text 9"/>
          <p:cNvSpPr txBox="1"/>
          <p:nvPr/>
        </p:nvSpPr>
        <p:spPr>
          <a:xfrm>
            <a:off x="8915400" y="3749040"/>
            <a:ext cx="2560320" cy="54864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below 0 dB</a:t>
            </a:r>
            <a:endParaRPr lang="en-US" sz="2400" dirty="0"/>
          </a:p>
        </p:txBody>
      </p:sp>
      <p:sp>
        <p:nvSpPr>
          <p:cNvPr id="13" name="Text 10"/>
          <p:cNvSpPr txBox="1"/>
          <p:nvPr/>
        </p:nvSpPr>
        <p:spPr>
          <a:xfrm>
            <a:off x="8915400" y="429768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it breaks: QPSK starts going to the QAMs first</a:t>
            </a:r>
            <a:endParaRPr lang="en-US" sz="1300" dirty="0"/>
          </a:p>
        </p:txBody>
      </p:sp>
      <p:sp>
        <p:nvSpPr>
          <p:cNvPr id="14" name="Text 11"/>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From 10 dB down to 2 dB nothing changes.</a:t>
            </a:r>
            <a:pPr indent="0" marL="0">
              <a:buNone/>
            </a:pPr>
            <a:r>
              <a:rPr lang="en-US" sz="1500" dirty="0">
                <a:solidFill>
                  <a:srgbClr val="1E293B"/>
                </a:solidFill>
                <a:latin typeface="Calibri" pitchFamily="34" charset="0"/>
                <a:ea typeface="Calibri" pitchFamily="34" charset="-122"/>
                <a:cs typeface="Calibri" pitchFamily="34" charset="-120"/>
              </a:rPr>
              <a:t>  The mistakes there are not caused by noise.</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FRAME LENGTHS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16, 8 or 4 symbols: what does it need?</a:t>
            </a:r>
            <a:endParaRPr lang="en-US" sz="3000" dirty="0"/>
          </a:p>
        </p:txBody>
      </p:sp>
      <p:sp>
        <p:nvSpPr>
          <p:cNvPr id="4" name="Shape 2"/>
          <p:cNvSpPr/>
          <p:nvPr/>
        </p:nvSpPr>
        <p:spPr>
          <a:xfrm>
            <a:off x="7214616" y="347472"/>
            <a:ext cx="4425696"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214616" y="347472"/>
            <a:ext cx="4425696"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--frame-len 64 / 32</a:t>
            </a:r>
            <a:endParaRPr lang="en-US" sz="1100" dirty="0"/>
          </a:p>
        </p:txBody>
      </p:sp>
      <p:graphicFrame>
        <p:nvGraphicFramePr>
          <p:cNvPr id="6" name="Chart 0" descr=""/>
          <p:cNvGraphicFramePr/>
          <p:nvPr/>
        </p:nvGraphicFramePr>
        <p:xfrm>
          <a:off x="548640" y="15087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364224" y="1609344"/>
            <a:ext cx="3502152" cy="2440795"/>
          </a:xfrm>
          <a:prstGeom prst="roundRect">
            <a:avLst>
              <a:gd name="adj" fmla="val 2248"/>
            </a:avLst>
          </a:prstGeom>
          <a:solidFill>
            <a:srgbClr val="0F1B2D"/>
          </a:solidFill>
          <a:ln w="12700">
            <a:solidFill>
              <a:srgbClr val="0F1B2D"/>
            </a:solidFill>
            <a:prstDash val="solid"/>
          </a:ln>
        </p:spPr>
      </p:sp>
      <p:pic>
        <p:nvPicPr>
          <p:cNvPr id="8" name="Image 0" descr="simple/fewer.png">    </p:cNvPr>
          <p:cNvPicPr>
            <a:picLocks noChangeAspect="1"/>
          </p:cNvPicPr>
          <p:nvPr/>
        </p:nvPicPr>
        <p:blipFill>
          <a:blip r:embed="rId2"/>
          <a:stretch>
            <a:fillRect/>
          </a:stretch>
        </p:blipFill>
        <p:spPr>
          <a:xfrm>
            <a:off x="6400800" y="1645920"/>
            <a:ext cx="3429000" cy="2367643"/>
          </a:xfrm>
          <a:prstGeom prst="rect">
            <a:avLst/>
          </a:prstGeom>
        </p:spPr>
      </p:pic>
      <p:sp>
        <p:nvSpPr>
          <p:cNvPr id="9" name="Text 5"/>
          <p:cNvSpPr txBox="1"/>
          <p:nvPr/>
        </p:nvSpPr>
        <p:spPr>
          <a:xfrm>
            <a:off x="10104120" y="1600200"/>
            <a:ext cx="1554480" cy="45720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5.7%</a:t>
            </a:r>
            <a:endParaRPr lang="en-US" sz="2400" dirty="0"/>
          </a:p>
        </p:txBody>
      </p:sp>
      <p:sp>
        <p:nvSpPr>
          <p:cNvPr id="10" name="Text 6"/>
          <p:cNvSpPr txBox="1"/>
          <p:nvPr/>
        </p:nvSpPr>
        <p:spPr>
          <a:xfrm>
            <a:off x="10104120" y="201168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16 symbols</a:t>
            </a:r>
            <a:endParaRPr lang="en-US" sz="1100" dirty="0"/>
          </a:p>
        </p:txBody>
      </p:sp>
      <p:sp>
        <p:nvSpPr>
          <p:cNvPr id="11" name="Text 7"/>
          <p:cNvSpPr txBox="1"/>
          <p:nvPr/>
        </p:nvSpPr>
        <p:spPr>
          <a:xfrm>
            <a:off x="10104120" y="2377440"/>
            <a:ext cx="155448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15.5%</a:t>
            </a:r>
            <a:endParaRPr lang="en-US" sz="2400" dirty="0"/>
          </a:p>
        </p:txBody>
      </p:sp>
      <p:sp>
        <p:nvSpPr>
          <p:cNvPr id="12" name="Text 8"/>
          <p:cNvSpPr txBox="1"/>
          <p:nvPr/>
        </p:nvSpPr>
        <p:spPr>
          <a:xfrm>
            <a:off x="10104120" y="278892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8 symbols</a:t>
            </a:r>
            <a:endParaRPr lang="en-US" sz="1100" dirty="0"/>
          </a:p>
        </p:txBody>
      </p:sp>
      <p:sp>
        <p:nvSpPr>
          <p:cNvPr id="13" name="Text 9"/>
          <p:cNvSpPr txBox="1"/>
          <p:nvPr/>
        </p:nvSpPr>
        <p:spPr>
          <a:xfrm>
            <a:off x="10104120" y="3154680"/>
            <a:ext cx="1554480" cy="457200"/>
          </a:xfrm>
          <a:prstGeom prst="rect">
            <a:avLst/>
          </a:prstGeom>
          <a:noFill/>
          <a:ln/>
        </p:spPr>
        <p:txBody>
          <a:bodyPr wrap="square" lIns="0" tIns="0" rIns="0" bIns="0" rtlCol="0" anchor="t"/>
          <a:lstStyle/>
          <a:p>
            <a:pPr indent="0" marL="0">
              <a:buNone/>
            </a:pPr>
            <a:r>
              <a:rPr lang="en-US" sz="2400" b="1" dirty="0">
                <a:solidFill>
                  <a:srgbClr val="8FA0B5"/>
                </a:solidFill>
                <a:latin typeface="Calibri" pitchFamily="34" charset="0"/>
                <a:ea typeface="Calibri" pitchFamily="34" charset="-122"/>
                <a:cs typeface="Calibri" pitchFamily="34" charset="-120"/>
              </a:rPr>
              <a:t>25.2%</a:t>
            </a:r>
            <a:endParaRPr lang="en-US" sz="2400" dirty="0"/>
          </a:p>
        </p:txBody>
      </p:sp>
      <p:sp>
        <p:nvSpPr>
          <p:cNvPr id="14" name="Text 10"/>
          <p:cNvSpPr txBox="1"/>
          <p:nvPr/>
        </p:nvSpPr>
        <p:spPr>
          <a:xfrm>
            <a:off x="10104120" y="356616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4 symbols</a:t>
            </a:r>
            <a:endParaRPr lang="en-US" sz="1100" dirty="0"/>
          </a:p>
        </p:txBody>
      </p:sp>
      <p:sp>
        <p:nvSpPr>
          <p:cNvPr id="15" name="Text 11"/>
          <p:cNvSpPr txBox="1"/>
          <p:nvPr/>
        </p:nvSpPr>
        <p:spPr>
          <a:xfrm>
            <a:off x="10104120" y="3931920"/>
            <a:ext cx="1554480" cy="32004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wrong, from +2 dB up</a:t>
            </a:r>
            <a:endParaRPr lang="en-US" sz="1100" dirty="0"/>
          </a:p>
        </p:txBody>
      </p:sp>
      <p:sp>
        <p:nvSpPr>
          <p:cNvPr id="16" name="Text 12"/>
          <p:cNvSpPr txBox="1"/>
          <p:nvPr/>
        </p:nvSpPr>
        <p:spPr>
          <a:xfrm>
            <a:off x="6400800" y="4114800"/>
            <a:ext cx="3429000" cy="82296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Fewer symbols, fewer points of the grid shown: QAM64 and QAM16 start to look alike.</a:t>
            </a:r>
            <a:endParaRPr lang="en-US" sz="1200" dirty="0"/>
          </a:p>
        </p:txBody>
      </p:sp>
      <p:sp>
        <p:nvSpPr>
          <p:cNvPr id="17" name="Text 13"/>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More signal does not fix it. More symbols does.</a:t>
            </a:r>
            <a:pPr indent="0" marL="0">
              <a:buNone/>
            </a:pPr>
            <a:r>
              <a:rPr lang="en-US" sz="1500" dirty="0">
                <a:solidFill>
                  <a:srgbClr val="1E293B"/>
                </a:solidFill>
                <a:latin typeface="Calibri" pitchFamily="34" charset="0"/>
                <a:ea typeface="Calibri" pitchFamily="34" charset="-122"/>
                <a:cs typeface="Calibri" pitchFamily="34" charset="-120"/>
              </a:rPr>
              <a:t>  Noise decides where the curve falls; the number of symbols decides how low it can go.</a:t>
            </a:r>
            <a:endParaRPr lang="en-US" sz="1500" dirty="0"/>
          </a:p>
        </p:txBody>
      </p:sp>
      <p:sp>
        <p:nvSpPr>
          <p:cNvPr id="19" name="Text 14"/>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SOMETHING WE FOUND</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With no signal at all, it still answers</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Shape 4"/>
          <p:cNvSpPr/>
          <p:nvPr/>
        </p:nvSpPr>
        <p:spPr>
          <a:xfrm>
            <a:off x="914400" y="1600200"/>
            <a:ext cx="3291840" cy="2194560"/>
          </a:xfrm>
          <a:prstGeom prst="roundRect">
            <a:avLst>
              <a:gd name="adj" fmla="val 4167"/>
            </a:avLst>
          </a:prstGeom>
          <a:solidFill>
            <a:srgbClr val="EEF2F6"/>
          </a:solidFill>
          <a:ln w="12700">
            <a:solidFill>
              <a:srgbClr val="EEF2F6"/>
            </a:solidFill>
            <a:prstDash val="solid"/>
          </a:ln>
        </p:spPr>
      </p:sp>
      <p:sp>
        <p:nvSpPr>
          <p:cNvPr id="7" name="Shape 5"/>
          <p:cNvSpPr/>
          <p:nvPr/>
        </p:nvSpPr>
        <p:spPr>
          <a:xfrm>
            <a:off x="5029200" y="1600200"/>
            <a:ext cx="3291840" cy="2194560"/>
          </a:xfrm>
          <a:prstGeom prst="roundRect">
            <a:avLst>
              <a:gd name="adj" fmla="val 4167"/>
            </a:avLst>
          </a:prstGeom>
          <a:solidFill>
            <a:srgbClr val="EEF2F6"/>
          </a:solidFill>
          <a:ln w="12700">
            <a:solidFill>
              <a:srgbClr val="EEF2F6"/>
            </a:solidFill>
            <a:prstDash val="solid"/>
          </a:ln>
        </p:spPr>
      </p:sp>
      <p:sp>
        <p:nvSpPr>
          <p:cNvPr id="8" name="Text 6"/>
          <p:cNvSpPr txBox="1"/>
          <p:nvPr/>
        </p:nvSpPr>
        <p:spPr>
          <a:xfrm>
            <a:off x="914400" y="1737360"/>
            <a:ext cx="3291840" cy="914400"/>
          </a:xfrm>
          <a:prstGeom prst="rect">
            <a:avLst/>
          </a:prstGeom>
          <a:noFill/>
          <a:ln/>
        </p:spPr>
        <p:txBody>
          <a:bodyPr wrap="square" lIns="0" tIns="0" rIns="0" bIns="0" rtlCol="0" anchor="b"/>
          <a:lstStyle/>
          <a:p>
            <a:pPr algn="ctr" indent="0" marL="0">
              <a:buNone/>
            </a:pPr>
            <a:r>
              <a:rPr lang="en-US" sz="5000" b="1" dirty="0">
                <a:solidFill>
                  <a:srgbClr val="1E293B"/>
                </a:solidFill>
                <a:latin typeface="Calibri" pitchFamily="34" charset="0"/>
                <a:ea typeface="Calibri" pitchFamily="34" charset="-122"/>
                <a:cs typeface="Calibri" pitchFamily="34" charset="-120"/>
              </a:rPr>
              <a:t>52.2%</a:t>
            </a:r>
            <a:endParaRPr lang="en-US" sz="5000" dirty="0"/>
          </a:p>
        </p:txBody>
      </p:sp>
      <p:sp>
        <p:nvSpPr>
          <p:cNvPr id="9" name="Text 7"/>
          <p:cNvSpPr txBox="1"/>
          <p:nvPr/>
        </p:nvSpPr>
        <p:spPr>
          <a:xfrm>
            <a:off x="9144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recall at −20 dB</a:t>
            </a:r>
            <a:endParaRPr lang="en-US" sz="1400" dirty="0"/>
          </a:p>
        </p:txBody>
      </p:sp>
      <p:sp>
        <p:nvSpPr>
          <p:cNvPr id="10" name="Text 8"/>
          <p:cNvSpPr txBox="1"/>
          <p:nvPr/>
        </p:nvSpPr>
        <p:spPr>
          <a:xfrm>
            <a:off x="9144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looks like it recognises QPSK</a:t>
            </a:r>
            <a:endParaRPr lang="en-US" sz="1500" dirty="0"/>
          </a:p>
        </p:txBody>
      </p:sp>
      <p:sp>
        <p:nvSpPr>
          <p:cNvPr id="11" name="Text 9"/>
          <p:cNvSpPr txBox="1"/>
          <p:nvPr/>
        </p:nvSpPr>
        <p:spPr>
          <a:xfrm>
            <a:off x="4251960" y="2377440"/>
            <a:ext cx="731520" cy="45720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vs</a:t>
            </a:r>
            <a:endParaRPr lang="en-US" sz="2000" dirty="0"/>
          </a:p>
        </p:txBody>
      </p:sp>
      <p:sp>
        <p:nvSpPr>
          <p:cNvPr id="12" name="Text 10"/>
          <p:cNvSpPr txBox="1"/>
          <p:nvPr/>
        </p:nvSpPr>
        <p:spPr>
          <a:xfrm>
            <a:off x="5029200" y="1737360"/>
            <a:ext cx="3291840" cy="914400"/>
          </a:xfrm>
          <a:prstGeom prst="rect">
            <a:avLst/>
          </a:prstGeom>
          <a:noFill/>
          <a:ln/>
        </p:spPr>
        <p:txBody>
          <a:bodyPr wrap="square" lIns="0" tIns="0" rIns="0" bIns="0" rtlCol="0" anchor="b"/>
          <a:lstStyle/>
          <a:p>
            <a:pPr algn="ctr" indent="0" marL="0">
              <a:buNone/>
            </a:pPr>
            <a:r>
              <a:rPr lang="en-US" sz="5000" b="1" dirty="0">
                <a:solidFill>
                  <a:srgbClr val="F08A24"/>
                </a:solidFill>
                <a:latin typeface="Calibri" pitchFamily="34" charset="0"/>
                <a:ea typeface="Calibri" pitchFamily="34" charset="-122"/>
                <a:cs typeface="Calibri" pitchFamily="34" charset="-120"/>
              </a:rPr>
              <a:t>24.8%</a:t>
            </a:r>
            <a:endParaRPr lang="en-US" sz="5000" dirty="0"/>
          </a:p>
        </p:txBody>
      </p:sp>
      <p:sp>
        <p:nvSpPr>
          <p:cNvPr id="13" name="Text 11"/>
          <p:cNvSpPr txBox="1"/>
          <p:nvPr/>
        </p:nvSpPr>
        <p:spPr>
          <a:xfrm>
            <a:off x="50292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precision at −20 dB</a:t>
            </a:r>
            <a:endParaRPr lang="en-US" sz="1400" dirty="0"/>
          </a:p>
        </p:txBody>
      </p:sp>
      <p:sp>
        <p:nvSpPr>
          <p:cNvPr id="14" name="Text 12"/>
          <p:cNvSpPr txBox="1"/>
          <p:nvPr/>
        </p:nvSpPr>
        <p:spPr>
          <a:xfrm>
            <a:off x="50292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it is guessing: 1 in 4</a:t>
            </a:r>
            <a:endParaRPr lang="en-US" sz="1500" dirty="0"/>
          </a:p>
        </p:txBody>
      </p:sp>
      <p:sp>
        <p:nvSpPr>
          <p:cNvPr id="15" name="Text 13"/>
          <p:cNvSpPr txBox="1"/>
          <p:nvPr/>
        </p:nvSpPr>
        <p:spPr>
          <a:xfrm>
            <a:off x="914400" y="4069080"/>
            <a:ext cx="7406640" cy="91440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Why? </a:t>
            </a:r>
            <a:pPr indent="0" marL="0">
              <a:buNone/>
            </a:pPr>
            <a:r>
              <a:rPr lang="en-US" sz="1400" dirty="0">
                <a:solidFill>
                  <a:srgbClr val="1E293B"/>
                </a:solidFill>
                <a:latin typeface="Calibri" pitchFamily="34" charset="0"/>
                <a:ea typeface="Calibri" pitchFamily="34" charset="-122"/>
                <a:cs typeface="Calibri" pitchFamily="34" charset="-120"/>
              </a:rPr>
              <a:t>It must name one of the four. With nothing to go on it says BPSK or QPSK 98.8% of the time, and which of the two changes from one training run to the next.</a:t>
            </a:r>
            <a:endParaRPr lang="en-US" sz="1400" dirty="0"/>
          </a:p>
        </p:txBody>
      </p:sp>
      <p:sp>
        <p:nvSpPr>
          <p:cNvPr id="16" name="Shape 14"/>
          <p:cNvSpPr/>
          <p:nvPr/>
        </p:nvSpPr>
        <p:spPr>
          <a:xfrm>
            <a:off x="8732520" y="1600200"/>
            <a:ext cx="2907792" cy="3383280"/>
          </a:xfrm>
          <a:prstGeom prst="roundRect">
            <a:avLst>
              <a:gd name="adj" fmla="val 3145"/>
            </a:avLst>
          </a:prstGeom>
          <a:solidFill>
            <a:srgbClr val="EEF2F6"/>
          </a:solidFill>
          <a:ln w="12700">
            <a:solidFill>
              <a:srgbClr val="EEF2F6"/>
            </a:solidFill>
            <a:prstDash val="solid"/>
          </a:ln>
        </p:spPr>
      </p:sp>
      <p:sp>
        <p:nvSpPr>
          <p:cNvPr id="17" name="Text 15"/>
          <p:cNvSpPr txBox="1"/>
          <p:nvPr/>
        </p:nvSpPr>
        <p:spPr>
          <a:xfrm>
            <a:off x="8915400" y="1691640"/>
            <a:ext cx="2560320" cy="36576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How they are counted</a:t>
            </a:r>
            <a:endParaRPr lang="en-US" sz="1300" dirty="0"/>
          </a:p>
        </p:txBody>
      </p:sp>
      <p:sp>
        <p:nvSpPr>
          <p:cNvPr id="18" name="Text 16"/>
          <p:cNvSpPr txBox="1"/>
          <p:nvPr/>
        </p:nvSpPr>
        <p:spPr>
          <a:xfrm>
            <a:off x="8915400" y="2103120"/>
            <a:ext cx="2606040" cy="2743200"/>
          </a:xfrm>
          <a:prstGeom prst="rect">
            <a:avLst/>
          </a:prstGeom>
          <a:noFill/>
          <a:ln/>
        </p:spPr>
        <p:txBody>
          <a:bodyPr wrap="square" lIns="0" tIns="0" rIns="0" bIns="0" rtlCol="0" anchor="t"/>
          <a:lstStyle/>
          <a:p>
            <a:pP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sent of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1E293B"/>
                </a:solidFill>
                <a:latin typeface="Calibri" pitchFamily="34" charset="0"/>
                <a:ea typeface="Calibri" pitchFamily="34" charset="-122"/>
                <a:cs typeface="Calibri" pitchFamily="34" charset="-120"/>
              </a:rPr>
              <a:t>Precision</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it called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5B6B7F"/>
                </a:solidFill>
                <a:latin typeface="Calibri" pitchFamily="34" charset="0"/>
                <a:ea typeface="Calibri" pitchFamily="34" charset="-122"/>
                <a:cs typeface="Calibri" pitchFamily="34" charset="-120"/>
              </a:rPr>
              <a:t>Recall alone can look good while the detector is only guessing.</a:t>
            </a:r>
            <a:endParaRPr lang="en-US" sz="1300" dirty="0"/>
          </a:p>
        </p:txBody>
      </p:sp>
      <p:sp>
        <p:nvSpPr>
          <p:cNvPr id="19" name="Text 17"/>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Every chart now shows precision next to recall,</a:t>
            </a:r>
            <a:pPr indent="0" marL="0">
              <a:buNone/>
            </a:pPr>
            <a:r>
              <a:rPr lang="en-US" sz="1500" dirty="0">
                <a:solidFill>
                  <a:srgbClr val="1E293B"/>
                </a:solidFill>
                <a:latin typeface="Calibri" pitchFamily="34" charset="0"/>
                <a:ea typeface="Calibri" pitchFamily="34" charset="-122"/>
                <a:cs typeface="Calibri" pitchFamily="34" charset="-120"/>
              </a:rPr>
              <a:t>  and how many decisions sit behind each point.</a:t>
            </a:r>
            <a:endParaRPr lang="en-US" sz="1500" dirty="0"/>
          </a:p>
        </p:txBody>
      </p:sp>
      <p:sp>
        <p:nvSpPr>
          <p:cNvPr id="21" name="Text 18"/>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ARCHITECTURES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How does ICRNNA compare with published models?</a:t>
            </a:r>
            <a:endParaRPr lang="en-US" sz="3000" dirty="0"/>
          </a:p>
        </p:txBody>
      </p:sp>
      <p:sp>
        <p:nvSpPr>
          <p:cNvPr id="4" name="Shape 2"/>
          <p:cNvSpPr/>
          <p:nvPr/>
        </p:nvSpPr>
        <p:spPr>
          <a:xfrm>
            <a:off x="7872984" y="347472"/>
            <a:ext cx="3767328"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872984" y="347472"/>
            <a:ext cx="376732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--arch MCLDNN</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All 11 types, all noise levels. Same data, same split, same 3 repeats for every model: only the model changes.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035040" cy="914400"/>
        </p:xfrm>
        <a:graphic>
          <a:graphicData uri="http://schemas.openxmlformats.org/drawingml/2006/table">
            <a:tbl>
              <a:tblPr/>
              <a:tblGrid>
                <a:gridCol w="1783080"/>
                <a:gridCol w="1188720"/>
                <a:gridCol w="868680"/>
                <a:gridCol w="868680"/>
                <a:gridCol w="1325880"/>
              </a:tblGrid>
              <a:tr h="438912">
                <a:tc>
                  <a:txBody>
                    <a:bodyPr/>
                    <a:lstStyle/>
                    <a:p>
                      <a:pPr algn="l" indent="0" marL="0">
                        <a:buNone/>
                      </a:pPr>
                      <a:r>
                        <a:rPr lang="en-US" sz="1300" b="1" dirty="0">
                          <a:solidFill>
                            <a:srgbClr val="1E293B"/>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numbers learned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ours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ours, ≥ 10 dB</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38912">
                <a:tc>
                  <a:txBody>
                    <a:bodyPr/>
                    <a:lstStyle/>
                    <a:p>
                      <a:pPr algn="l" indent="0" marL="0">
                        <a:buNone/>
                      </a:pPr>
                      <a:r>
                        <a:rPr lang="en-US" sz="1300" b="1" dirty="0">
                          <a:solidFill>
                            <a:srgbClr val="F08A24"/>
                          </a:solidFill>
                          <a:latin typeface="Calibri" pitchFamily="34" charset="0"/>
                          <a:ea typeface="Calibri" pitchFamily="34" charset="-122"/>
                          <a:cs typeface="Calibri" pitchFamily="34" charset="-120"/>
                        </a:rPr>
                        <a:t>ICRNNA (2025)</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786,379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62.2%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LSTM2 (2018)</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201,099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MCLDNN (2020)</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406,199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62.1%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PET-CGDNN (2021)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71,871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60.4%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VT-CNN2 (2016)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1,592,383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56.1%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82.0%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5"/>
          <p:cNvSpPr txBox="1"/>
          <p:nvPr/>
        </p:nvSpPr>
        <p:spPr>
          <a:xfrm>
            <a:off x="548640" y="4800600"/>
            <a:ext cx="6035040" cy="7315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“Paper”: overall accuracy as published — ICRNNA from its own paper (we measure our colleague's version of it); the others from Zhang et al. 2021, one run each. Same number of learned parameters as published, to the digit.</a:t>
            </a:r>
            <a:endParaRPr lang="en-US" sz="1050" dirty="0"/>
          </a:p>
        </p:txBody>
      </p:sp>
      <p:pic>
        <p:nvPicPr>
          <p:cNvPr id="9" name="Image 0" descr="../figures/38_literature_2016.png">    </p:cNvPr>
          <p:cNvPicPr>
            <a:picLocks noChangeAspect="1"/>
          </p:cNvPicPr>
          <p:nvPr/>
        </p:nvPicPr>
        <p:blipFill>
          <a:blip r:embed="rId1"/>
          <a:stretch>
            <a:fillRect/>
          </a:stretch>
        </p:blipFill>
        <p:spPr>
          <a:xfrm>
            <a:off x="6812280" y="1828800"/>
            <a:ext cx="4828032" cy="2682240"/>
          </a:xfrm>
          <a:prstGeom prst="rect">
            <a:avLst/>
          </a:prstGeom>
        </p:spPr>
      </p:pic>
      <p:sp>
        <p:nvSpPr>
          <p:cNvPr id="10" name="Text 6"/>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Our numbers match the papers within 1 point. ICRNNA is first, the best four within 1.2 points.</a:t>
            </a:r>
            <a:pPr indent="0" marL="0">
              <a:buNone/>
            </a:pPr>
            <a:r>
              <a:rPr lang="en-US" sz="1500" dirty="0">
                <a:solidFill>
                  <a:srgbClr val="1E293B"/>
                </a:solidFill>
                <a:latin typeface="Calibri" pitchFamily="34" charset="0"/>
                <a:ea typeface="Calibri" pitchFamily="34" charset="-122"/>
                <a:cs typeface="Calibri" pitchFamily="34" charset="-120"/>
              </a:rPr>
              <a:t>  Above 10 dB they all stop near 91%: that limit is in the data, not the model.</a:t>
            </a:r>
            <a:endParaRPr lang="en-US" sz="1500" dirty="0"/>
          </a:p>
        </p:txBody>
      </p:sp>
      <p:sp>
        <p:nvSpPr>
          <p:cNvPr id="12" name="Text 7"/>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In short</a:t>
            </a:r>
            <a:endParaRPr lang="en-US" sz="3600" dirty="0"/>
          </a:p>
        </p:txBody>
      </p:sp>
      <p:sp>
        <p:nvSpPr>
          <p:cNvPr id="3" name="Shape 1"/>
          <p:cNvSpPr/>
          <p:nvPr/>
        </p:nvSpPr>
        <p:spPr>
          <a:xfrm>
            <a:off x="548640" y="1600200"/>
            <a:ext cx="502920" cy="502920"/>
          </a:xfrm>
          <a:prstGeom prst="ellipse">
            <a:avLst/>
          </a:prstGeom>
          <a:solidFill>
            <a:srgbClr val="F08A24"/>
          </a:solidFill>
          <a:ln w="12700">
            <a:solidFill>
              <a:srgbClr val="F08A24"/>
            </a:solidFill>
            <a:prstDash val="solid"/>
          </a:ln>
        </p:spPr>
      </p:sp>
      <p:sp>
        <p:nvSpPr>
          <p:cNvPr id="4" name="Text 2"/>
          <p:cNvSpPr txBox="1"/>
          <p:nvPr/>
        </p:nvSpPr>
        <p:spPr>
          <a:xfrm>
            <a:off x="548640" y="1600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25880" y="155448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BPSK and QPSK are essentially solved. The mistakes are QAM16 against QAM64.</a:t>
            </a:r>
            <a:endParaRPr lang="en-US" sz="1700" dirty="0"/>
          </a:p>
        </p:txBody>
      </p:sp>
      <p:sp>
        <p:nvSpPr>
          <p:cNvPr id="6" name="Shape 4"/>
          <p:cNvSpPr/>
          <p:nvPr/>
        </p:nvSpPr>
        <p:spPr>
          <a:xfrm>
            <a:off x="548640" y="2788920"/>
            <a:ext cx="502920" cy="502920"/>
          </a:xfrm>
          <a:prstGeom prst="ellipse">
            <a:avLst/>
          </a:prstGeom>
          <a:solidFill>
            <a:srgbClr val="F08A24"/>
          </a:solidFill>
          <a:ln w="12700">
            <a:solidFill>
              <a:srgbClr val="F08A24"/>
            </a:solidFill>
            <a:prstDash val="solid"/>
          </a:ln>
        </p:spPr>
      </p:sp>
      <p:sp>
        <p:nvSpPr>
          <p:cNvPr id="7" name="Text 5"/>
          <p:cNvSpPr txBox="1"/>
          <p:nvPr/>
        </p:nvSpPr>
        <p:spPr>
          <a:xfrm>
            <a:off x="548640" y="27889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25880" y="274320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Those mistakes come from having only 16 symbols, not from noise: with 8 or 4 symbols they grow 2.7 and 4.3 times.</a:t>
            </a:r>
            <a:endParaRPr lang="en-US" sz="1700" dirty="0"/>
          </a:p>
        </p:txBody>
      </p:sp>
      <p:sp>
        <p:nvSpPr>
          <p:cNvPr id="9" name="Shape 7"/>
          <p:cNvSpPr/>
          <p:nvPr/>
        </p:nvSpPr>
        <p:spPr>
          <a:xfrm>
            <a:off x="548640" y="3977640"/>
            <a:ext cx="502920" cy="502920"/>
          </a:xfrm>
          <a:prstGeom prst="ellipse">
            <a:avLst/>
          </a:prstGeom>
          <a:solidFill>
            <a:srgbClr val="F08A24"/>
          </a:solidFill>
          <a:ln w="12700">
            <a:solidFill>
              <a:srgbClr val="F08A24"/>
            </a:solidFill>
            <a:prstDash val="solid"/>
          </a:ln>
        </p:spPr>
      </p:sp>
      <p:sp>
        <p:nvSpPr>
          <p:cNvPr id="10" name="Text 8"/>
          <p:cNvSpPr txBox="1"/>
          <p:nvPr/>
        </p:nvSpPr>
        <p:spPr>
          <a:xfrm>
            <a:off x="548640" y="3977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25880" y="393192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“10 dB” in this data is a setting, not a measurement, and it means a different noise level for each kind of signal.</a:t>
            </a:r>
            <a:endParaRPr lang="en-US" sz="1700" dirty="0"/>
          </a:p>
        </p:txBody>
      </p:sp>
      <p:sp>
        <p:nvSpPr>
          <p:cNvPr id="12" name="Text 10"/>
          <p:cNvSpPr txBox="1"/>
          <p:nvPr/>
        </p:nvSpPr>
        <p:spPr>
          <a:xfrm>
            <a:off x="548640" y="5257800"/>
            <a:ext cx="7132320" cy="73152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Next: </a:t>
            </a:r>
            <a:pPr indent="0" marL="0">
              <a:buNone/>
            </a:pPr>
            <a:r>
              <a:rPr lang="en-US" sz="1400" dirty="0">
                <a:solidFill>
                  <a:srgbClr val="C9D3E0"/>
                </a:solidFill>
                <a:latin typeface="Calibri" pitchFamily="34" charset="0"/>
                <a:ea typeface="Calibri" pitchFamily="34" charset="-122"/>
                <a:cs typeface="Calibri" pitchFamily="34" charset="-120"/>
              </a:rPr>
              <a:t>switch off the carrier offset, fading and echoes one at a time, and see which one the QAM mistakes belong to.</a:t>
            </a:r>
            <a:endParaRPr lang="en-US" sz="1400" dirty="0"/>
          </a:p>
        </p:txBody>
      </p:sp>
      <p:pic>
        <p:nvPicPr>
          <p:cNvPr id="13" name="Image 0" descr="simple/fewer.png">    </p:cNvPr>
          <p:cNvPicPr>
            <a:picLocks noChangeAspect="1"/>
          </p:cNvPicPr>
          <p:nvPr/>
        </p:nvPicPr>
        <p:blipFill>
          <a:blip r:embed="rId1"/>
          <a:stretch>
            <a:fillRect/>
          </a:stretch>
        </p:blipFill>
        <p:spPr>
          <a:xfrm>
            <a:off x="7680960" y="1600200"/>
            <a:ext cx="3959352" cy="2733838"/>
          </a:xfrm>
          <a:prstGeom prst="rect">
            <a:avLst/>
          </a:prstGeom>
        </p:spPr>
      </p:pic>
      <p:sp>
        <p:nvSpPr>
          <p:cNvPr id="14" name="Text 11"/>
          <p:cNvSpPr txBox="1"/>
          <p:nvPr/>
        </p:nvSpPr>
        <p:spPr>
          <a:xfrm>
            <a:off x="7680960" y="4389120"/>
            <a:ext cx="3959352" cy="27432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QAM16 and QAM64 with 16, 8 and 4 symbols</a:t>
            </a:r>
            <a:endParaRPr lang="en-US" sz="11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2026-10-06T19:41:22Z</dcterms:created>
  <dcterms:modified xsi:type="dcterms:W3CDTF">2026-10-06T19:41:22Z</dcterms:modified>
</cp:coreProperties>
</file>