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5B6B7F"/>
                </a:solidFill>
                <a:latin typeface="Calibri"/>
              </a:defRPr>
            </a:pPr>
            <a:r>
              <a:rPr sz="1800" b="0" i="0" u="none" strike="noStrike">
                <a:solidFill>
                  <a:srgbClr val="5B6B7F"/>
                </a:solidFill>
                <a:latin typeface="Calibri"/>
              </a:rPr>
              <a:t>wrong answers out of 8,400 at each label</a:t>
            </a:r>
          </a:p>
        </c:rich>
      </c:tx>
      <c:layout/>
      <c:overlay val="0"/>
    </c:title>
    <c:autoTitleDeleted val="0"/>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810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1B2D"/>
              </a:solidFill>
              <a:ln w="9525" cap="flat">
                <a:solidFill>
                  <a:srgbClr val="0F1B2D"/>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810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08A24"/>
              </a:solidFill>
              <a:ln w="9525" cap="flat">
                <a:solidFill>
                  <a:srgbClr val="F08A24"/>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810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FA0B5"/>
              </a:solidFill>
              <a:ln w="9525" cap="flat">
                <a:solidFill>
                  <a:srgbClr val="8FA0B5"/>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500" b="0" i="0" u="none" strike="noStrike">
                    <a:solidFill>
                      <a:srgbClr val="5B6B7F"/>
                    </a:solidFill>
                    <a:latin typeface="Arial"/>
                  </a:defRPr>
                </a:pPr>
                <a:r>
                  <a:rPr sz="15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500" b="0" i="0" u="none" strike="noStrike">
                    <a:solidFill>
                      <a:srgbClr val="5B6B7F"/>
                    </a:solidFill>
                    <a:latin typeface="Arial"/>
                  </a:defRPr>
                </a:pPr>
                <a:r>
                  <a:rPr sz="15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6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open up our detector, step by step, on the four signals you asked about: BPSK, QPSK, QAM16 and QAM64. The picture is one QAM16 frame: sixteen points, spreading out as the noise grows. That's the whole talk: how many symbols, and how much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AMC means automatic modulation classification. A receiver gets a signal and has to say how it was modulated. You need that to watch the spectrum, to find interference, and for radios that adapt. My work has three steps: build a detector, open it up, then ask why it gets worse on a different transmitter. Today is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from DeepSig. It's simulated, and most papers use it. Eleven signal types, twenty noise levels, a thousand frames each. One frame is 128 samples: only sixteen symbols. Remember that. Today, the four in orange. BPSK and QPSK change only the phase; the QAMs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works in three steps. It looks at short pieces of the frame. It reads them in order, forwards and backwards; that's where most of the model is. Then it gives four scores, and the biggest wins. Once trained: same frame, same answer. And it can never say "I don't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from a 2025 paper; the model is called ICRNNA. Our code comes from a colleague's version, with five small differences. I rebuilt it from the paper alone: 63.21 percent, against the paper's 63.24. So the number is real. The code and slides were written with Claude Code, an AI assistant. The numbers come from running that code,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experiment: the detector learns on 70 percent of the frames, uses 15 to decide when to stop, and is tested on 15 it never saw. Fourteen times, with different splits. Result: 94 percent right at 10 dB and above. BPSK and QPSK almost perfect. At minus 20 dB, 25 percent: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QAM16 frame, without noise. A symbol every eight samples, each on one of four levels. Four times four: sixteen points. Now the key point. QAM64 has sixty-four points, but a frame has only sixteen symbols. So a QAM64 frame can look like QAM16 even with no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what "10 dB" is. It's a setting in their code, not a measurement. It sets the noise amplitude, not the power, so one dB of label is really about two. I measured it in the file: 1.9. And at the same label, QAM64 has about 15 dB more signal than BPSK and QPSK. So "10 dB" is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 dB: rows are what was sent, columns what it said. The diagonal is correct. Last time you asked what recall is. Recall is one row: of the frames that really were QAM16, how many did it call QAM16? Here 1,808 of 2,100, 86.1 percent. Precision is one column: when it says QAM64, how often is it right? 1,961 of 2,236, 87.7 percent. So recall asks "did it find them?", and precision asks "can I believe it?" BPSK and QPSK: 99.6 percent. 448 mistakes out of 8,400, and 395 of them are QAM16 and QAM64 mixed up. One problem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turned the noise up. From 10 down to 2 dB the mistakes stay around 450 to 490. Nothing changes. It only breaks below 0 dB. So the mistakes at 10 dB are not noise. Then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length. I cut the frames to eight symbols, then four, and trained again. At low noise every curve goes flat: 5.7 percent wrong with sixteen symbols, 15.5 with eight, 25 with four. Almost all of it is the QAM pair. Noise decides where the curve drops. Symbols decide how low it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minus 20 dB there's no signal, but it still has to pick one. QPSK recall is 52 percent, which looks good. But precision is 25 percent: a guess. It just says BPSK or QPSK almost every time. So now every chart shows precision next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trained four published models the same way, on all eleven types. They have the same parameter counts as in their papers, and accuracy within one point of what the papers publish. ICRNNA is first, but the top four are within one point, and above 10 dB they all stop near 91 percent. That limit is in the data,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BPSK and QPSK are solved; the mistakes are QAM16 against QAM64. Those come from having only sixteen symbols, not from noise. And "10 dB" is a setting, not a measurement. Next: switch off the channel effects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371600"/>
            <a:ext cx="6766560" cy="182880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Telling four radio signals apart</a:t>
            </a:r>
            <a:endParaRPr lang="en-US" sz="5000" dirty="0"/>
          </a:p>
        </p:txBody>
      </p:sp>
      <p:sp>
        <p:nvSpPr>
          <p:cNvPr id="3" name="Text 1"/>
          <p:cNvSpPr txBox="1"/>
          <p:nvPr/>
        </p:nvSpPr>
        <p:spPr>
          <a:xfrm>
            <a:off x="548640" y="3383280"/>
            <a:ext cx="6766560" cy="54864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BPSK  ·  QPSK  ·  QAM16  ·  QAM64</a:t>
            </a:r>
            <a:endParaRPr lang="en-US" sz="2600" dirty="0"/>
          </a:p>
        </p:txBody>
      </p:sp>
      <p:sp>
        <p:nvSpPr>
          <p:cNvPr id="4" name="Text 2"/>
          <p:cNvSpPr txBox="1"/>
          <p:nvPr/>
        </p:nvSpPr>
        <p:spPr>
          <a:xfrm>
            <a:off x="548640" y="4023360"/>
            <a:ext cx="6766560" cy="54864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What our detector does, step by step</a:t>
            </a:r>
            <a:endParaRPr lang="en-US" sz="2200" dirty="0"/>
          </a:p>
        </p:txBody>
      </p:sp>
      <p:pic>
        <p:nvPicPr>
          <p:cNvPr id="5" name="Image 0" descr="simple/noise.gif">    </p:cNvPr>
          <p:cNvPicPr>
            <a:picLocks noChangeAspect="1"/>
          </p:cNvPicPr>
          <p:nvPr/>
        </p:nvPicPr>
        <p:blipFill>
          <a:blip r:embed="rId1"/>
          <a:stretch>
            <a:fillRect/>
          </a:stretch>
        </p:blipFill>
        <p:spPr>
          <a:xfrm>
            <a:off x="7589520" y="1005840"/>
            <a:ext cx="3931920" cy="4224528"/>
          </a:xfrm>
          <a:prstGeom prst="rect">
            <a:avLst/>
          </a:prstGeom>
        </p:spPr>
      </p:pic>
      <p:sp>
        <p:nvSpPr>
          <p:cNvPr id="6" name="Text 3"/>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Moshe Kam's research group  ·  NJIT  ·  October 2026</a:t>
            </a:r>
            <a:endParaRPr lang="en-US" sz="16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is AMC?</a:t>
            </a:r>
            <a:endParaRPr lang="en-US" sz="36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Automatic Modulation Classification: a receiver gets a signal and says how it was modulated.</a:t>
            </a:r>
            <a:endParaRPr lang="en-US" sz="2200" dirty="0"/>
          </a:p>
        </p:txBody>
      </p:sp>
      <p:pic>
        <p:nvPicPr>
          <p:cNvPr id="4" name="Image 0" descr="simple/frame.png">    </p:cNvPr>
          <p:cNvPicPr>
            <a:picLocks noChangeAspect="1"/>
          </p:cNvPicPr>
          <p:nvPr/>
        </p:nvPicPr>
        <p:blipFill>
          <a:blip r:embed="rId1"/>
          <a:stretch>
            <a:fillRect/>
          </a:stretch>
        </p:blipFill>
        <p:spPr>
          <a:xfrm>
            <a:off x="548640" y="2743200"/>
            <a:ext cx="3108960" cy="1105408"/>
          </a:xfrm>
          <a:prstGeom prst="rect">
            <a:avLst/>
          </a:prstGeom>
        </p:spPr>
      </p:pic>
      <p:sp>
        <p:nvSpPr>
          <p:cNvPr id="5" name="Shape 2"/>
          <p:cNvSpPr/>
          <p:nvPr/>
        </p:nvSpPr>
        <p:spPr>
          <a:xfrm>
            <a:off x="3840480" y="3044952"/>
            <a:ext cx="548640" cy="457200"/>
          </a:xfrm>
          <a:prstGeom prst="rightArrow">
            <a:avLst/>
          </a:prstGeom>
          <a:solidFill>
            <a:srgbClr val="F08A24"/>
          </a:solidFill>
          <a:ln w="12700">
            <a:solidFill>
              <a:srgbClr val="F08A24"/>
            </a:solidFill>
            <a:prstDash val="solid"/>
          </a:ln>
        </p:spPr>
      </p:sp>
      <p:sp>
        <p:nvSpPr>
          <p:cNvPr id="6" name="Shape 3"/>
          <p:cNvSpPr/>
          <p:nvPr/>
        </p:nvSpPr>
        <p:spPr>
          <a:xfrm>
            <a:off x="4572000" y="2816352"/>
            <a:ext cx="1737360" cy="960120"/>
          </a:xfrm>
          <a:prstGeom prst="roundRect">
            <a:avLst>
              <a:gd name="adj" fmla="val 9524"/>
            </a:avLst>
          </a:prstGeom>
          <a:solidFill>
            <a:srgbClr val="0F1B2D"/>
          </a:solidFill>
          <a:ln w="12700">
            <a:solidFill>
              <a:srgbClr val="0F1B2D"/>
            </a:solidFill>
            <a:prstDash val="solid"/>
          </a:ln>
        </p:spPr>
      </p:sp>
      <p:sp>
        <p:nvSpPr>
          <p:cNvPr id="7" name="Text 4"/>
          <p:cNvSpPr txBox="1"/>
          <p:nvPr/>
        </p:nvSpPr>
        <p:spPr>
          <a:xfrm>
            <a:off x="4572000" y="2816352"/>
            <a:ext cx="1737360"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detector</a:t>
            </a:r>
            <a:endParaRPr lang="en-US" sz="2200" dirty="0"/>
          </a:p>
        </p:txBody>
      </p:sp>
      <p:sp>
        <p:nvSpPr>
          <p:cNvPr id="8" name="Shape 5"/>
          <p:cNvSpPr/>
          <p:nvPr/>
        </p:nvSpPr>
        <p:spPr>
          <a:xfrm>
            <a:off x="6492240" y="3044952"/>
            <a:ext cx="548640" cy="457200"/>
          </a:xfrm>
          <a:prstGeom prst="rightArrow">
            <a:avLst/>
          </a:prstGeom>
          <a:solidFill>
            <a:srgbClr val="F08A24"/>
          </a:solidFill>
          <a:ln w="12700">
            <a:solidFill>
              <a:srgbClr val="F08A24"/>
            </a:solidFill>
            <a:prstDash val="solid"/>
          </a:ln>
        </p:spPr>
      </p:sp>
      <p:sp>
        <p:nvSpPr>
          <p:cNvPr id="9" name="Text 6"/>
          <p:cNvSpPr txBox="1"/>
          <p:nvPr/>
        </p:nvSpPr>
        <p:spPr>
          <a:xfrm>
            <a:off x="7223760" y="2816352"/>
            <a:ext cx="1645920" cy="960120"/>
          </a:xfrm>
          <a:prstGeom prst="rect">
            <a:avLst/>
          </a:prstGeom>
          <a:noFill/>
          <a:ln/>
        </p:spPr>
        <p:txBody>
          <a:bodyPr wrap="square" lIns="0" tIns="0" rIns="0" bIns="0" rtlCol="0" anchor="ctr"/>
          <a:lstStyle/>
          <a:p>
            <a:pPr indent="0" marL="0">
              <a:buNone/>
            </a:pPr>
            <a:r>
              <a:rPr lang="en-US" sz="3600" b="1" dirty="0">
                <a:solidFill>
                  <a:srgbClr val="F08A24"/>
                </a:solidFill>
                <a:latin typeface="Calibri" pitchFamily="34" charset="0"/>
                <a:ea typeface="Calibri" pitchFamily="34" charset="-122"/>
                <a:cs typeface="Calibri" pitchFamily="34" charset="-120"/>
              </a:rPr>
              <a:t>QPSK</a:t>
            </a:r>
            <a:endParaRPr lang="en-US" sz="3600" dirty="0"/>
          </a:p>
        </p:txBody>
      </p:sp>
      <p:sp>
        <p:nvSpPr>
          <p:cNvPr id="10" name="Shape 7"/>
          <p:cNvSpPr/>
          <p:nvPr/>
        </p:nvSpPr>
        <p:spPr>
          <a:xfrm>
            <a:off x="548640" y="4937760"/>
            <a:ext cx="548640" cy="548640"/>
          </a:xfrm>
          <a:prstGeom prst="ellipse">
            <a:avLst/>
          </a:prstGeom>
          <a:solidFill>
            <a:srgbClr val="0F1B2D"/>
          </a:solidFill>
          <a:ln w="12700">
            <a:solidFill>
              <a:srgbClr val="0F1B2D"/>
            </a:solidFill>
            <a:prstDash val="solid"/>
          </a:ln>
        </p:spPr>
      </p:sp>
      <p:sp>
        <p:nvSpPr>
          <p:cNvPr id="11" name="Text 8"/>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9"/>
          <p:cNvSpPr txBox="1"/>
          <p:nvPr/>
        </p:nvSpPr>
        <p:spPr>
          <a:xfrm>
            <a:off x="128016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Build a detector</a:t>
            </a:r>
            <a:endParaRPr lang="en-US" sz="2200" dirty="0"/>
          </a:p>
        </p:txBody>
      </p:sp>
      <p:sp>
        <p:nvSpPr>
          <p:cNvPr id="13" name="Shape 10"/>
          <p:cNvSpPr/>
          <p:nvPr/>
        </p:nvSpPr>
        <p:spPr>
          <a:xfrm>
            <a:off x="4297680" y="4937760"/>
            <a:ext cx="548640" cy="548640"/>
          </a:xfrm>
          <a:prstGeom prst="ellipse">
            <a:avLst/>
          </a:prstGeom>
          <a:solidFill>
            <a:srgbClr val="F08A24"/>
          </a:solidFill>
          <a:ln w="12700">
            <a:solidFill>
              <a:srgbClr val="F08A24"/>
            </a:solidFill>
            <a:prstDash val="solid"/>
          </a:ln>
        </p:spPr>
      </p:sp>
      <p:sp>
        <p:nvSpPr>
          <p:cNvPr id="14" name="Text 11"/>
          <p:cNvSpPr txBox="1"/>
          <p:nvPr/>
        </p:nvSpPr>
        <p:spPr>
          <a:xfrm>
            <a:off x="429768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5" name="Text 12"/>
          <p:cNvSpPr txBox="1"/>
          <p:nvPr/>
        </p:nvSpPr>
        <p:spPr>
          <a:xfrm>
            <a:off x="5029200" y="4846320"/>
            <a:ext cx="2926080" cy="777240"/>
          </a:xfrm>
          <a:prstGeom prst="rect">
            <a:avLst/>
          </a:prstGeom>
          <a:noFill/>
          <a:ln/>
        </p:spPr>
        <p:txBody>
          <a:bodyPr wrap="square" lIns="0" tIns="0" rIns="0" bIns="0" rtlCol="0" anchor="ctr"/>
          <a:lstStyle/>
          <a:p>
            <a:pPr indent="0" marL="0">
              <a:buNone/>
            </a:pPr>
            <a:r>
              <a:rPr lang="en-US" sz="2200" b="1" dirty="0">
                <a:solidFill>
                  <a:srgbClr val="F08A24"/>
                </a:solidFill>
                <a:latin typeface="Calibri" pitchFamily="34" charset="0"/>
                <a:ea typeface="Calibri" pitchFamily="34" charset="-122"/>
                <a:cs typeface="Calibri" pitchFamily="34" charset="-120"/>
              </a:rPr>
              <a:t>Open it up: today</a:t>
            </a:r>
            <a:endParaRPr lang="en-US" sz="2200" dirty="0"/>
          </a:p>
        </p:txBody>
      </p:sp>
      <p:sp>
        <p:nvSpPr>
          <p:cNvPr id="16" name="Shape 13"/>
          <p:cNvSpPr/>
          <p:nvPr/>
        </p:nvSpPr>
        <p:spPr>
          <a:xfrm>
            <a:off x="8046720" y="4937760"/>
            <a:ext cx="548640" cy="548640"/>
          </a:xfrm>
          <a:prstGeom prst="ellipse">
            <a:avLst/>
          </a:prstGeom>
          <a:solidFill>
            <a:srgbClr val="0F1B2D"/>
          </a:solidFill>
          <a:ln w="12700">
            <a:solidFill>
              <a:srgbClr val="0F1B2D"/>
            </a:solidFill>
            <a:prstDash val="solid"/>
          </a:ln>
        </p:spPr>
      </p:sp>
      <p:sp>
        <p:nvSpPr>
          <p:cNvPr id="17" name="Text 14"/>
          <p:cNvSpPr txBox="1"/>
          <p:nvPr/>
        </p:nvSpPr>
        <p:spPr>
          <a:xfrm>
            <a:off x="804672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877824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Why it fails on a new transmitter</a:t>
            </a:r>
            <a:endParaRPr lang="en-US" sz="2200" dirty="0"/>
          </a:p>
        </p:txBody>
      </p:sp>
      <p:sp>
        <p:nvSpPr>
          <p:cNvPr id="20"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data: RML2016.10a</a:t>
            </a:r>
            <a:endParaRPr lang="en-US" sz="36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Made by DeepSig in a simulator. Most AMC papers use it.</a:t>
            </a:r>
            <a:endParaRPr lang="en-US" sz="2200" dirty="0"/>
          </a:p>
        </p:txBody>
      </p:sp>
      <p:sp>
        <p:nvSpPr>
          <p:cNvPr id="4" name="Text 2"/>
          <p:cNvSpPr txBox="1"/>
          <p:nvPr/>
        </p:nvSpPr>
        <p:spPr>
          <a:xfrm>
            <a:off x="548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11</a:t>
            </a:r>
            <a:endParaRPr lang="en-US" sz="6600" dirty="0"/>
          </a:p>
        </p:txBody>
      </p:sp>
      <p:sp>
        <p:nvSpPr>
          <p:cNvPr id="5" name="Text 3"/>
          <p:cNvSpPr txBox="1"/>
          <p:nvPr/>
        </p:nvSpPr>
        <p:spPr>
          <a:xfrm>
            <a:off x="548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signal types</a:t>
            </a:r>
            <a:endParaRPr lang="en-US" sz="2000" dirty="0"/>
          </a:p>
        </p:txBody>
      </p:sp>
      <p:sp>
        <p:nvSpPr>
          <p:cNvPr id="6" name="Text 4"/>
          <p:cNvSpPr txBox="1"/>
          <p:nvPr/>
        </p:nvSpPr>
        <p:spPr>
          <a:xfrm>
            <a:off x="2834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20</a:t>
            </a:r>
            <a:endParaRPr lang="en-US" sz="6600" dirty="0"/>
          </a:p>
        </p:txBody>
      </p:sp>
      <p:sp>
        <p:nvSpPr>
          <p:cNvPr id="7" name="Text 5"/>
          <p:cNvSpPr txBox="1"/>
          <p:nvPr/>
        </p:nvSpPr>
        <p:spPr>
          <a:xfrm>
            <a:off x="2834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noise levels</a:t>
            </a:r>
            <a:endParaRPr lang="en-US" sz="2000" dirty="0"/>
          </a:p>
        </p:txBody>
      </p:sp>
      <p:sp>
        <p:nvSpPr>
          <p:cNvPr id="8" name="Text 6"/>
          <p:cNvSpPr txBox="1"/>
          <p:nvPr/>
        </p:nvSpPr>
        <p:spPr>
          <a:xfrm>
            <a:off x="5120640" y="1828800"/>
            <a:ext cx="31089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1,000</a:t>
            </a:r>
            <a:endParaRPr lang="en-US" sz="6600" dirty="0"/>
          </a:p>
        </p:txBody>
      </p:sp>
      <p:sp>
        <p:nvSpPr>
          <p:cNvPr id="9" name="Text 7"/>
          <p:cNvSpPr txBox="1"/>
          <p:nvPr/>
        </p:nvSpPr>
        <p:spPr>
          <a:xfrm>
            <a:off x="5120640" y="292608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frames each</a:t>
            </a:r>
            <a:endParaRPr lang="en-US" sz="2000" dirty="0"/>
          </a:p>
        </p:txBody>
      </p:sp>
      <p:sp>
        <p:nvSpPr>
          <p:cNvPr id="10" name="Text 8"/>
          <p:cNvSpPr txBox="1"/>
          <p:nvPr/>
        </p:nvSpPr>
        <p:spPr>
          <a:xfrm>
            <a:off x="8412480" y="1828800"/>
            <a:ext cx="2651760" cy="1051560"/>
          </a:xfrm>
          <a:prstGeom prst="rect">
            <a:avLst/>
          </a:prstGeom>
          <a:noFill/>
          <a:ln/>
        </p:spPr>
        <p:txBody>
          <a:bodyPr wrap="square" lIns="0" tIns="0" rIns="0" bIns="0" rtlCol="0" anchor="b"/>
          <a:lstStyle/>
          <a:p>
            <a:pPr algn="l" indent="0" marL="0">
              <a:buNone/>
            </a:pPr>
            <a:r>
              <a:rPr lang="en-US" sz="6600" b="1" dirty="0">
                <a:solidFill>
                  <a:srgbClr val="F08A24"/>
                </a:solidFill>
                <a:latin typeface="Calibri" pitchFamily="34" charset="0"/>
                <a:ea typeface="Calibri" pitchFamily="34" charset="-122"/>
                <a:cs typeface="Calibri" pitchFamily="34" charset="-120"/>
              </a:rPr>
              <a:t>16</a:t>
            </a:r>
            <a:endParaRPr lang="en-US" sz="6600" dirty="0"/>
          </a:p>
        </p:txBody>
      </p:sp>
      <p:sp>
        <p:nvSpPr>
          <p:cNvPr id="11" name="Text 9"/>
          <p:cNvSpPr txBox="1"/>
          <p:nvPr/>
        </p:nvSpPr>
        <p:spPr>
          <a:xfrm>
            <a:off x="841248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symbols per frame</a:t>
            </a:r>
            <a:endParaRPr lang="en-US" sz="2000" dirty="0"/>
          </a:p>
        </p:txBody>
      </p:sp>
      <p:sp>
        <p:nvSpPr>
          <p:cNvPr id="12" name="Shape 10"/>
          <p:cNvSpPr/>
          <p:nvPr/>
        </p:nvSpPr>
        <p:spPr>
          <a:xfrm>
            <a:off x="548640" y="4206240"/>
            <a:ext cx="932688" cy="502920"/>
          </a:xfrm>
          <a:prstGeom prst="roundRect">
            <a:avLst>
              <a:gd name="adj" fmla="val 21818"/>
            </a:avLst>
          </a:prstGeom>
          <a:solidFill>
            <a:srgbClr val="F08A24"/>
          </a:solidFill>
          <a:ln w="12700">
            <a:solidFill>
              <a:srgbClr val="F08A24"/>
            </a:solidFill>
            <a:prstDash val="solid"/>
          </a:ln>
        </p:spPr>
      </p:sp>
      <p:sp>
        <p:nvSpPr>
          <p:cNvPr id="13" name="Text 11"/>
          <p:cNvSpPr txBox="1"/>
          <p:nvPr/>
        </p:nvSpPr>
        <p:spPr>
          <a:xfrm>
            <a:off x="54864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BPSK</a:t>
            </a:r>
            <a:endParaRPr lang="en-US" sz="1400" dirty="0"/>
          </a:p>
        </p:txBody>
      </p:sp>
      <p:sp>
        <p:nvSpPr>
          <p:cNvPr id="14" name="Shape 12"/>
          <p:cNvSpPr/>
          <p:nvPr/>
        </p:nvSpPr>
        <p:spPr>
          <a:xfrm>
            <a:off x="1554480" y="4206240"/>
            <a:ext cx="932688" cy="502920"/>
          </a:xfrm>
          <a:prstGeom prst="roundRect">
            <a:avLst>
              <a:gd name="adj" fmla="val 21818"/>
            </a:avLst>
          </a:prstGeom>
          <a:solidFill>
            <a:srgbClr val="F08A24"/>
          </a:solidFill>
          <a:ln w="12700">
            <a:solidFill>
              <a:srgbClr val="F08A24"/>
            </a:solidFill>
            <a:prstDash val="solid"/>
          </a:ln>
        </p:spPr>
      </p:sp>
      <p:sp>
        <p:nvSpPr>
          <p:cNvPr id="15" name="Text 13"/>
          <p:cNvSpPr txBox="1"/>
          <p:nvPr/>
        </p:nvSpPr>
        <p:spPr>
          <a:xfrm>
            <a:off x="155448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QPSK</a:t>
            </a:r>
            <a:endParaRPr lang="en-US" sz="1400" dirty="0"/>
          </a:p>
        </p:txBody>
      </p:sp>
      <p:sp>
        <p:nvSpPr>
          <p:cNvPr id="16" name="Shape 14"/>
          <p:cNvSpPr/>
          <p:nvPr/>
        </p:nvSpPr>
        <p:spPr>
          <a:xfrm>
            <a:off x="2560320" y="4206240"/>
            <a:ext cx="932688" cy="502920"/>
          </a:xfrm>
          <a:prstGeom prst="roundRect">
            <a:avLst>
              <a:gd name="adj" fmla="val 21818"/>
            </a:avLst>
          </a:prstGeom>
          <a:solidFill>
            <a:srgbClr val="EEF2F6"/>
          </a:solidFill>
          <a:ln w="12700">
            <a:solidFill>
              <a:srgbClr val="EEF2F6"/>
            </a:solidFill>
            <a:prstDash val="solid"/>
          </a:ln>
        </p:spPr>
      </p:sp>
      <p:sp>
        <p:nvSpPr>
          <p:cNvPr id="17" name="Text 15"/>
          <p:cNvSpPr txBox="1"/>
          <p:nvPr/>
        </p:nvSpPr>
        <p:spPr>
          <a:xfrm>
            <a:off x="25603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8PSK</a:t>
            </a:r>
            <a:endParaRPr lang="en-US" sz="1400" dirty="0"/>
          </a:p>
        </p:txBody>
      </p:sp>
      <p:sp>
        <p:nvSpPr>
          <p:cNvPr id="18" name="Shape 16"/>
          <p:cNvSpPr/>
          <p:nvPr/>
        </p:nvSpPr>
        <p:spPr>
          <a:xfrm>
            <a:off x="3566160" y="4206240"/>
            <a:ext cx="932688" cy="502920"/>
          </a:xfrm>
          <a:prstGeom prst="roundRect">
            <a:avLst>
              <a:gd name="adj" fmla="val 21818"/>
            </a:avLst>
          </a:prstGeom>
          <a:solidFill>
            <a:srgbClr val="F08A24"/>
          </a:solidFill>
          <a:ln w="12700">
            <a:solidFill>
              <a:srgbClr val="F08A24"/>
            </a:solidFill>
            <a:prstDash val="solid"/>
          </a:ln>
        </p:spPr>
      </p:sp>
      <p:sp>
        <p:nvSpPr>
          <p:cNvPr id="19" name="Text 17"/>
          <p:cNvSpPr txBox="1"/>
          <p:nvPr/>
        </p:nvSpPr>
        <p:spPr>
          <a:xfrm>
            <a:off x="356616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QAM16</a:t>
            </a:r>
            <a:endParaRPr lang="en-US" sz="1400" dirty="0"/>
          </a:p>
        </p:txBody>
      </p:sp>
      <p:sp>
        <p:nvSpPr>
          <p:cNvPr id="20" name="Shape 18"/>
          <p:cNvSpPr/>
          <p:nvPr/>
        </p:nvSpPr>
        <p:spPr>
          <a:xfrm>
            <a:off x="4572000" y="4206240"/>
            <a:ext cx="932688" cy="502920"/>
          </a:xfrm>
          <a:prstGeom prst="roundRect">
            <a:avLst>
              <a:gd name="adj" fmla="val 21818"/>
            </a:avLst>
          </a:prstGeom>
          <a:solidFill>
            <a:srgbClr val="F08A24"/>
          </a:solidFill>
          <a:ln w="12700">
            <a:solidFill>
              <a:srgbClr val="F08A24"/>
            </a:solidFill>
            <a:prstDash val="solid"/>
          </a:ln>
        </p:spPr>
      </p:sp>
      <p:sp>
        <p:nvSpPr>
          <p:cNvPr id="21" name="Text 19"/>
          <p:cNvSpPr txBox="1"/>
          <p:nvPr/>
        </p:nvSpPr>
        <p:spPr>
          <a:xfrm>
            <a:off x="457200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QAM64</a:t>
            </a:r>
            <a:endParaRPr lang="en-US" sz="1400" dirty="0"/>
          </a:p>
        </p:txBody>
      </p:sp>
      <p:sp>
        <p:nvSpPr>
          <p:cNvPr id="22" name="Shape 20"/>
          <p:cNvSpPr/>
          <p:nvPr/>
        </p:nvSpPr>
        <p:spPr>
          <a:xfrm>
            <a:off x="5577840" y="4206240"/>
            <a:ext cx="932688" cy="502920"/>
          </a:xfrm>
          <a:prstGeom prst="roundRect">
            <a:avLst>
              <a:gd name="adj" fmla="val 21818"/>
            </a:avLst>
          </a:prstGeom>
          <a:solidFill>
            <a:srgbClr val="EEF2F6"/>
          </a:solidFill>
          <a:ln w="12700">
            <a:solidFill>
              <a:srgbClr val="EEF2F6"/>
            </a:solidFill>
            <a:prstDash val="solid"/>
          </a:ln>
        </p:spPr>
      </p:sp>
      <p:sp>
        <p:nvSpPr>
          <p:cNvPr id="23" name="Text 21"/>
          <p:cNvSpPr txBox="1"/>
          <p:nvPr/>
        </p:nvSpPr>
        <p:spPr>
          <a:xfrm>
            <a:off x="55778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PAM4</a:t>
            </a:r>
            <a:endParaRPr lang="en-US" sz="1400" dirty="0"/>
          </a:p>
        </p:txBody>
      </p:sp>
      <p:sp>
        <p:nvSpPr>
          <p:cNvPr id="24" name="Shape 22"/>
          <p:cNvSpPr/>
          <p:nvPr/>
        </p:nvSpPr>
        <p:spPr>
          <a:xfrm>
            <a:off x="6583680" y="4206240"/>
            <a:ext cx="932688" cy="502920"/>
          </a:xfrm>
          <a:prstGeom prst="roundRect">
            <a:avLst>
              <a:gd name="adj" fmla="val 21818"/>
            </a:avLst>
          </a:prstGeom>
          <a:solidFill>
            <a:srgbClr val="EEF2F6"/>
          </a:solidFill>
          <a:ln w="12700">
            <a:solidFill>
              <a:srgbClr val="EEF2F6"/>
            </a:solidFill>
            <a:prstDash val="solid"/>
          </a:ln>
        </p:spPr>
      </p:sp>
      <p:sp>
        <p:nvSpPr>
          <p:cNvPr id="25" name="Text 23"/>
          <p:cNvSpPr txBox="1"/>
          <p:nvPr/>
        </p:nvSpPr>
        <p:spPr>
          <a:xfrm>
            <a:off x="658368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GFSK</a:t>
            </a:r>
            <a:endParaRPr lang="en-US" sz="1400" dirty="0"/>
          </a:p>
        </p:txBody>
      </p:sp>
      <p:sp>
        <p:nvSpPr>
          <p:cNvPr id="26" name="Shape 24"/>
          <p:cNvSpPr/>
          <p:nvPr/>
        </p:nvSpPr>
        <p:spPr>
          <a:xfrm>
            <a:off x="7589520" y="4206240"/>
            <a:ext cx="932688" cy="502920"/>
          </a:xfrm>
          <a:prstGeom prst="roundRect">
            <a:avLst>
              <a:gd name="adj" fmla="val 21818"/>
            </a:avLst>
          </a:prstGeom>
          <a:solidFill>
            <a:srgbClr val="EEF2F6"/>
          </a:solidFill>
          <a:ln w="12700">
            <a:solidFill>
              <a:srgbClr val="EEF2F6"/>
            </a:solidFill>
            <a:prstDash val="solid"/>
          </a:ln>
        </p:spPr>
      </p:sp>
      <p:sp>
        <p:nvSpPr>
          <p:cNvPr id="27" name="Text 25"/>
          <p:cNvSpPr txBox="1"/>
          <p:nvPr/>
        </p:nvSpPr>
        <p:spPr>
          <a:xfrm>
            <a:off x="75895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CPFSK</a:t>
            </a:r>
            <a:endParaRPr lang="en-US" sz="1400" dirty="0"/>
          </a:p>
        </p:txBody>
      </p:sp>
      <p:sp>
        <p:nvSpPr>
          <p:cNvPr id="28" name="Shape 26"/>
          <p:cNvSpPr/>
          <p:nvPr/>
        </p:nvSpPr>
        <p:spPr>
          <a:xfrm>
            <a:off x="8595360" y="4206240"/>
            <a:ext cx="932688" cy="502920"/>
          </a:xfrm>
          <a:prstGeom prst="roundRect">
            <a:avLst>
              <a:gd name="adj" fmla="val 21818"/>
            </a:avLst>
          </a:prstGeom>
          <a:solidFill>
            <a:srgbClr val="EEF2F6"/>
          </a:solidFill>
          <a:ln w="12700">
            <a:solidFill>
              <a:srgbClr val="EEF2F6"/>
            </a:solidFill>
            <a:prstDash val="solid"/>
          </a:ln>
        </p:spPr>
      </p:sp>
      <p:sp>
        <p:nvSpPr>
          <p:cNvPr id="29" name="Text 27"/>
          <p:cNvSpPr txBox="1"/>
          <p:nvPr/>
        </p:nvSpPr>
        <p:spPr>
          <a:xfrm>
            <a:off x="859536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WBFM</a:t>
            </a:r>
            <a:endParaRPr lang="en-US" sz="1400" dirty="0"/>
          </a:p>
        </p:txBody>
      </p:sp>
      <p:sp>
        <p:nvSpPr>
          <p:cNvPr id="30" name="Shape 28"/>
          <p:cNvSpPr/>
          <p:nvPr/>
        </p:nvSpPr>
        <p:spPr>
          <a:xfrm>
            <a:off x="9601200" y="4206240"/>
            <a:ext cx="932688" cy="502920"/>
          </a:xfrm>
          <a:prstGeom prst="roundRect">
            <a:avLst>
              <a:gd name="adj" fmla="val 21818"/>
            </a:avLst>
          </a:prstGeom>
          <a:solidFill>
            <a:srgbClr val="EEF2F6"/>
          </a:solidFill>
          <a:ln w="12700">
            <a:solidFill>
              <a:srgbClr val="EEF2F6"/>
            </a:solidFill>
            <a:prstDash val="solid"/>
          </a:ln>
        </p:spPr>
      </p:sp>
      <p:sp>
        <p:nvSpPr>
          <p:cNvPr id="31" name="Text 29"/>
          <p:cNvSpPr txBox="1"/>
          <p:nvPr/>
        </p:nvSpPr>
        <p:spPr>
          <a:xfrm>
            <a:off x="960120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AM-DSB</a:t>
            </a:r>
            <a:endParaRPr lang="en-US" sz="1400" dirty="0"/>
          </a:p>
        </p:txBody>
      </p:sp>
      <p:sp>
        <p:nvSpPr>
          <p:cNvPr id="32" name="Shape 30"/>
          <p:cNvSpPr/>
          <p:nvPr/>
        </p:nvSpPr>
        <p:spPr>
          <a:xfrm>
            <a:off x="10607040" y="4206240"/>
            <a:ext cx="932688" cy="502920"/>
          </a:xfrm>
          <a:prstGeom prst="roundRect">
            <a:avLst>
              <a:gd name="adj" fmla="val 21818"/>
            </a:avLst>
          </a:prstGeom>
          <a:solidFill>
            <a:srgbClr val="EEF2F6"/>
          </a:solidFill>
          <a:ln w="12700">
            <a:solidFill>
              <a:srgbClr val="EEF2F6"/>
            </a:solidFill>
            <a:prstDash val="solid"/>
          </a:ln>
        </p:spPr>
      </p:sp>
      <p:sp>
        <p:nvSpPr>
          <p:cNvPr id="33" name="Text 31"/>
          <p:cNvSpPr txBox="1"/>
          <p:nvPr/>
        </p:nvSpPr>
        <p:spPr>
          <a:xfrm>
            <a:off x="106070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AM-SSB</a:t>
            </a:r>
            <a:endParaRPr lang="en-US" sz="1400" dirty="0"/>
          </a:p>
        </p:txBody>
      </p:sp>
      <p:sp>
        <p:nvSpPr>
          <p:cNvPr id="34" name="Text 32"/>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the four in orange.</a:t>
            </a:r>
            <a:endParaRPr lang="en-US" sz="2400" dirty="0"/>
          </a:p>
        </p:txBody>
      </p:sp>
      <p:sp>
        <p:nvSpPr>
          <p:cNvPr id="36" name="Text 3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the detector do?</a:t>
            </a:r>
            <a:endParaRPr lang="en-US" sz="3600" dirty="0"/>
          </a:p>
        </p:txBody>
      </p:sp>
      <p:sp>
        <p:nvSpPr>
          <p:cNvPr id="3" name="Shape 1"/>
          <p:cNvSpPr/>
          <p:nvPr/>
        </p:nvSpPr>
        <p:spPr>
          <a:xfrm>
            <a:off x="548640" y="1645920"/>
            <a:ext cx="3246120" cy="2926080"/>
          </a:xfrm>
          <a:prstGeom prst="roundRect">
            <a:avLst>
              <a:gd name="adj" fmla="val 3750"/>
            </a:avLst>
          </a:prstGeom>
          <a:solidFill>
            <a:srgbClr val="EEF2F6"/>
          </a:solidFill>
          <a:ln w="12700">
            <a:solidFill>
              <a:srgbClr val="EEF2F6"/>
            </a:solidFill>
            <a:prstDash val="solid"/>
          </a:ln>
        </p:spPr>
      </p:sp>
      <p:sp>
        <p:nvSpPr>
          <p:cNvPr id="4" name="Shape 2"/>
          <p:cNvSpPr/>
          <p:nvPr/>
        </p:nvSpPr>
        <p:spPr>
          <a:xfrm>
            <a:off x="822960" y="1920240"/>
            <a:ext cx="548640" cy="548640"/>
          </a:xfrm>
          <a:prstGeom prst="ellipse">
            <a:avLst/>
          </a:prstGeom>
          <a:solidFill>
            <a:srgbClr val="0F1B2D"/>
          </a:solidFill>
          <a:ln w="12700">
            <a:solidFill>
              <a:srgbClr val="0F1B2D"/>
            </a:solidFill>
            <a:prstDash val="solid"/>
          </a:ln>
        </p:spPr>
      </p:sp>
      <p:sp>
        <p:nvSpPr>
          <p:cNvPr id="5" name="Text 3"/>
          <p:cNvSpPr txBox="1"/>
          <p:nvPr/>
        </p:nvSpPr>
        <p:spPr>
          <a:xfrm>
            <a:off x="82296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Look at short pieces</a:t>
            </a:r>
            <a:endParaRPr lang="en-US" sz="2800" dirty="0"/>
          </a:p>
        </p:txBody>
      </p:sp>
      <p:sp>
        <p:nvSpPr>
          <p:cNvPr id="7" name="Text 5"/>
          <p:cNvSpPr txBox="1"/>
          <p:nvPr/>
        </p:nvSpPr>
        <p:spPr>
          <a:xfrm>
            <a:off x="82296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2 convolutions</a:t>
            </a:r>
            <a:endParaRPr lang="en-US" sz="2000" dirty="0"/>
          </a:p>
        </p:txBody>
      </p:sp>
      <p:sp>
        <p:nvSpPr>
          <p:cNvPr id="8" name="Shape 6"/>
          <p:cNvSpPr/>
          <p:nvPr/>
        </p:nvSpPr>
        <p:spPr>
          <a:xfrm>
            <a:off x="3813048" y="2880360"/>
            <a:ext cx="548640" cy="457200"/>
          </a:xfrm>
          <a:prstGeom prst="rightArrow">
            <a:avLst/>
          </a:prstGeom>
          <a:solidFill>
            <a:srgbClr val="F08A24"/>
          </a:solidFill>
          <a:ln w="12700">
            <a:solidFill>
              <a:srgbClr val="F08A24"/>
            </a:solidFill>
            <a:prstDash val="solid"/>
          </a:ln>
        </p:spPr>
      </p:sp>
      <p:sp>
        <p:nvSpPr>
          <p:cNvPr id="9" name="Shape 7"/>
          <p:cNvSpPr/>
          <p:nvPr/>
        </p:nvSpPr>
        <p:spPr>
          <a:xfrm>
            <a:off x="4343400" y="1645920"/>
            <a:ext cx="3246120" cy="2926080"/>
          </a:xfrm>
          <a:prstGeom prst="roundRect">
            <a:avLst>
              <a:gd name="adj" fmla="val 3750"/>
            </a:avLst>
          </a:prstGeom>
          <a:solidFill>
            <a:srgbClr val="EEF2F6"/>
          </a:solidFill>
          <a:ln w="12700">
            <a:solidFill>
              <a:srgbClr val="EEF2F6"/>
            </a:solidFill>
            <a:prstDash val="solid"/>
          </a:ln>
        </p:spPr>
      </p:sp>
      <p:sp>
        <p:nvSpPr>
          <p:cNvPr id="10" name="Shape 8"/>
          <p:cNvSpPr/>
          <p:nvPr/>
        </p:nvSpPr>
        <p:spPr>
          <a:xfrm>
            <a:off x="4617720" y="1920240"/>
            <a:ext cx="548640" cy="548640"/>
          </a:xfrm>
          <a:prstGeom prst="ellipse">
            <a:avLst/>
          </a:prstGeom>
          <a:solidFill>
            <a:srgbClr val="F08A24"/>
          </a:solidFill>
          <a:ln w="12700">
            <a:solidFill>
              <a:srgbClr val="F08A24"/>
            </a:solidFill>
            <a:prstDash val="solid"/>
          </a:ln>
        </p:spPr>
      </p:sp>
      <p:sp>
        <p:nvSpPr>
          <p:cNvPr id="11" name="Text 9"/>
          <p:cNvSpPr txBox="1"/>
          <p:nvPr/>
        </p:nvSpPr>
        <p:spPr>
          <a:xfrm>
            <a:off x="461772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461772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Read them in order</a:t>
            </a:r>
            <a:endParaRPr lang="en-US" sz="2800" dirty="0"/>
          </a:p>
        </p:txBody>
      </p:sp>
      <p:sp>
        <p:nvSpPr>
          <p:cNvPr id="13" name="Text 11"/>
          <p:cNvSpPr txBox="1"/>
          <p:nvPr/>
        </p:nvSpPr>
        <p:spPr>
          <a:xfrm>
            <a:off x="461772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BiLSTM: 84% of the model</a:t>
            </a:r>
            <a:endParaRPr lang="en-US" sz="2000" dirty="0"/>
          </a:p>
        </p:txBody>
      </p:sp>
      <p:sp>
        <p:nvSpPr>
          <p:cNvPr id="14" name="Shape 12"/>
          <p:cNvSpPr/>
          <p:nvPr/>
        </p:nvSpPr>
        <p:spPr>
          <a:xfrm>
            <a:off x="7607808" y="2880360"/>
            <a:ext cx="548640" cy="457200"/>
          </a:xfrm>
          <a:prstGeom prst="rightArrow">
            <a:avLst/>
          </a:prstGeom>
          <a:solidFill>
            <a:srgbClr val="F08A24"/>
          </a:solidFill>
          <a:ln w="12700">
            <a:solidFill>
              <a:srgbClr val="F08A24"/>
            </a:solidFill>
            <a:prstDash val="solid"/>
          </a:ln>
        </p:spPr>
      </p:sp>
      <p:sp>
        <p:nvSpPr>
          <p:cNvPr id="15" name="Shape 13"/>
          <p:cNvSpPr/>
          <p:nvPr/>
        </p:nvSpPr>
        <p:spPr>
          <a:xfrm>
            <a:off x="8138160" y="1645920"/>
            <a:ext cx="3246120" cy="2926080"/>
          </a:xfrm>
          <a:prstGeom prst="roundRect">
            <a:avLst>
              <a:gd name="adj" fmla="val 3750"/>
            </a:avLst>
          </a:prstGeom>
          <a:solidFill>
            <a:srgbClr val="EEF2F6"/>
          </a:solidFill>
          <a:ln w="12700">
            <a:solidFill>
              <a:srgbClr val="EEF2F6"/>
            </a:solidFill>
            <a:prstDash val="solid"/>
          </a:ln>
        </p:spPr>
      </p:sp>
      <p:sp>
        <p:nvSpPr>
          <p:cNvPr id="16" name="Shape 14"/>
          <p:cNvSpPr/>
          <p:nvPr/>
        </p:nvSpPr>
        <p:spPr>
          <a:xfrm>
            <a:off x="8412480" y="1920240"/>
            <a:ext cx="548640" cy="548640"/>
          </a:xfrm>
          <a:prstGeom prst="ellipse">
            <a:avLst/>
          </a:prstGeom>
          <a:solidFill>
            <a:srgbClr val="0F1B2D"/>
          </a:solidFill>
          <a:ln w="12700">
            <a:solidFill>
              <a:srgbClr val="0F1B2D"/>
            </a:solidFill>
            <a:prstDash val="solid"/>
          </a:ln>
        </p:spPr>
      </p:sp>
      <p:sp>
        <p:nvSpPr>
          <p:cNvPr id="17" name="Text 15"/>
          <p:cNvSpPr txBox="1"/>
          <p:nvPr/>
        </p:nvSpPr>
        <p:spPr>
          <a:xfrm>
            <a:off x="841248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txBox="1"/>
          <p:nvPr/>
        </p:nvSpPr>
        <p:spPr>
          <a:xfrm>
            <a:off x="841248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Decide</a:t>
            </a:r>
            <a:endParaRPr lang="en-US" sz="2800" dirty="0"/>
          </a:p>
        </p:txBody>
      </p:sp>
      <p:sp>
        <p:nvSpPr>
          <p:cNvPr id="19" name="Text 17"/>
          <p:cNvSpPr txBox="1"/>
          <p:nvPr/>
        </p:nvSpPr>
        <p:spPr>
          <a:xfrm>
            <a:off x="841248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4 scores, the largest wins</a:t>
            </a:r>
            <a:endParaRPr lang="en-US" sz="2000" dirty="0"/>
          </a:p>
        </p:txBody>
      </p:sp>
      <p:sp>
        <p:nvSpPr>
          <p:cNvPr id="20" name="Text 18"/>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785,476 numbers learned.  Same frame, same answer.</a:t>
            </a:r>
            <a:endParaRPr lang="en-US" sz="2400" dirty="0"/>
          </a:p>
        </p:txBody>
      </p:sp>
      <p:sp>
        <p:nvSpPr>
          <p:cNvPr id="22" name="Text 1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Where did it come from?</a:t>
            </a:r>
            <a:endParaRPr lang="en-US" sz="3600" dirty="0"/>
          </a:p>
        </p:txBody>
      </p:sp>
      <p:sp>
        <p:nvSpPr>
          <p:cNvPr id="3" name="Shape 1"/>
          <p:cNvSpPr/>
          <p:nvPr/>
        </p:nvSpPr>
        <p:spPr>
          <a:xfrm>
            <a:off x="548640" y="1554480"/>
            <a:ext cx="3246120" cy="1188720"/>
          </a:xfrm>
          <a:prstGeom prst="roundRect">
            <a:avLst>
              <a:gd name="adj" fmla="val 9231"/>
            </a:avLst>
          </a:prstGeom>
          <a:solidFill>
            <a:srgbClr val="EEF2F6"/>
          </a:solidFill>
          <a:ln w="12700">
            <a:solidFill>
              <a:srgbClr val="EEF2F6"/>
            </a:solidFill>
            <a:prstDash val="solid"/>
          </a:ln>
        </p:spPr>
      </p:sp>
      <p:sp>
        <p:nvSpPr>
          <p:cNvPr id="4" name="Text 2"/>
          <p:cNvSpPr txBox="1"/>
          <p:nvPr/>
        </p:nvSpPr>
        <p:spPr>
          <a:xfrm>
            <a:off x="82296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2025 paper: ICRNNA</a:t>
            </a:r>
            <a:endParaRPr lang="en-US" sz="2200" dirty="0"/>
          </a:p>
        </p:txBody>
      </p:sp>
      <p:sp>
        <p:nvSpPr>
          <p:cNvPr id="5" name="Shape 3"/>
          <p:cNvSpPr/>
          <p:nvPr/>
        </p:nvSpPr>
        <p:spPr>
          <a:xfrm>
            <a:off x="3813048" y="1920240"/>
            <a:ext cx="548640" cy="457200"/>
          </a:xfrm>
          <a:prstGeom prst="rightArrow">
            <a:avLst/>
          </a:prstGeom>
          <a:solidFill>
            <a:srgbClr val="F08A24"/>
          </a:solidFill>
          <a:ln w="12700">
            <a:solidFill>
              <a:srgbClr val="F08A24"/>
            </a:solidFill>
            <a:prstDash val="solid"/>
          </a:ln>
        </p:spPr>
      </p:sp>
      <p:sp>
        <p:nvSpPr>
          <p:cNvPr id="6" name="Shape 4"/>
          <p:cNvSpPr/>
          <p:nvPr/>
        </p:nvSpPr>
        <p:spPr>
          <a:xfrm>
            <a:off x="4343400" y="1554480"/>
            <a:ext cx="3246120" cy="1188720"/>
          </a:xfrm>
          <a:prstGeom prst="roundRect">
            <a:avLst>
              <a:gd name="adj" fmla="val 9231"/>
            </a:avLst>
          </a:prstGeom>
          <a:solidFill>
            <a:srgbClr val="EEF2F6"/>
          </a:solidFill>
          <a:ln w="12700">
            <a:solidFill>
              <a:srgbClr val="EEF2F6"/>
            </a:solidFill>
            <a:prstDash val="solid"/>
          </a:ln>
        </p:spPr>
      </p:sp>
      <p:sp>
        <p:nvSpPr>
          <p:cNvPr id="7" name="Text 5"/>
          <p:cNvSpPr txBox="1"/>
          <p:nvPr/>
        </p:nvSpPr>
        <p:spPr>
          <a:xfrm>
            <a:off x="461772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A colleague's code</a:t>
            </a:r>
            <a:endParaRPr lang="en-US" sz="2200" dirty="0"/>
          </a:p>
        </p:txBody>
      </p:sp>
      <p:sp>
        <p:nvSpPr>
          <p:cNvPr id="8" name="Shape 6"/>
          <p:cNvSpPr/>
          <p:nvPr/>
        </p:nvSpPr>
        <p:spPr>
          <a:xfrm>
            <a:off x="7607808" y="1920240"/>
            <a:ext cx="548640" cy="457200"/>
          </a:xfrm>
          <a:prstGeom prst="rightArrow">
            <a:avLst/>
          </a:prstGeom>
          <a:solidFill>
            <a:srgbClr val="F08A24"/>
          </a:solidFill>
          <a:ln w="12700">
            <a:solidFill>
              <a:srgbClr val="F08A24"/>
            </a:solidFill>
            <a:prstDash val="solid"/>
          </a:ln>
        </p:spPr>
      </p:sp>
      <p:sp>
        <p:nvSpPr>
          <p:cNvPr id="9" name="Shape 7"/>
          <p:cNvSpPr/>
          <p:nvPr/>
        </p:nvSpPr>
        <p:spPr>
          <a:xfrm>
            <a:off x="8138160" y="1554480"/>
            <a:ext cx="3246120" cy="1188720"/>
          </a:xfrm>
          <a:prstGeom prst="roundRect">
            <a:avLst>
              <a:gd name="adj" fmla="val 9231"/>
            </a:avLst>
          </a:prstGeom>
          <a:solidFill>
            <a:srgbClr val="EEF2F6"/>
          </a:solidFill>
          <a:ln w="12700">
            <a:solidFill>
              <a:srgbClr val="EEF2F6"/>
            </a:solidFill>
            <a:prstDash val="solid"/>
          </a:ln>
        </p:spPr>
      </p:sp>
      <p:sp>
        <p:nvSpPr>
          <p:cNvPr id="10" name="Text 8"/>
          <p:cNvSpPr txBox="1"/>
          <p:nvPr/>
        </p:nvSpPr>
        <p:spPr>
          <a:xfrm>
            <a:off x="841248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Our code: 5 small differences</a:t>
            </a:r>
            <a:endParaRPr lang="en-US" sz="2200" dirty="0"/>
          </a:p>
        </p:txBody>
      </p:sp>
      <p:sp>
        <p:nvSpPr>
          <p:cNvPr id="11" name="Text 9"/>
          <p:cNvSpPr txBox="1"/>
          <p:nvPr/>
        </p:nvSpPr>
        <p:spPr>
          <a:xfrm>
            <a:off x="548640" y="3063240"/>
            <a:ext cx="4206240" cy="1188720"/>
          </a:xfrm>
          <a:prstGeom prst="rect">
            <a:avLst/>
          </a:prstGeom>
          <a:noFill/>
          <a:ln/>
        </p:spPr>
        <p:txBody>
          <a:bodyPr wrap="square" lIns="0" tIns="0" rIns="0" bIns="0" rtlCol="0" anchor="b"/>
          <a:lstStyle/>
          <a:p>
            <a:pPr indent="0" marL="0">
              <a:buNone/>
            </a:pPr>
            <a:r>
              <a:rPr lang="en-US" sz="7200" b="1" dirty="0">
                <a:solidFill>
                  <a:srgbClr val="F08A24"/>
                </a:solidFill>
                <a:latin typeface="Calibri" pitchFamily="34" charset="0"/>
                <a:ea typeface="Calibri" pitchFamily="34" charset="-122"/>
                <a:cs typeface="Calibri" pitchFamily="34" charset="-120"/>
              </a:rPr>
              <a:t>63.21%</a:t>
            </a:r>
            <a:endParaRPr lang="en-US" sz="7200" dirty="0"/>
          </a:p>
        </p:txBody>
      </p:sp>
      <p:sp>
        <p:nvSpPr>
          <p:cNvPr id="12" name="Text 10"/>
          <p:cNvSpPr txBox="1"/>
          <p:nvPr/>
        </p:nvSpPr>
        <p:spPr>
          <a:xfrm>
            <a:off x="4846320" y="3246120"/>
            <a:ext cx="6675120" cy="1005840"/>
          </a:xfrm>
          <a:prstGeom prst="rect">
            <a:avLst/>
          </a:prstGeom>
          <a:noFill/>
          <a:ln/>
        </p:spPr>
        <p:txBody>
          <a:bodyPr wrap="square" lIns="0" tIns="0" rIns="0" bIns="0" rtlCol="0" anchor="b"/>
          <a:lstStyle/>
          <a:p>
            <a:pPr indent="0" marL="0">
              <a:buNone/>
            </a:pPr>
            <a:r>
              <a:rPr lang="en-US" sz="2400" dirty="0">
                <a:solidFill>
                  <a:srgbClr val="1E293B"/>
                </a:solidFill>
                <a:latin typeface="Calibri" pitchFamily="34" charset="0"/>
                <a:ea typeface="Calibri" pitchFamily="34" charset="-122"/>
                <a:cs typeface="Calibri" pitchFamily="34" charset="-120"/>
              </a:rPr>
              <a:t>rebuilt from the paper alone,</a:t>
            </a:r>
            <a:endParaRPr lang="en-US" sz="2400" dirty="0"/>
          </a:p>
          <a:p>
            <a:pPr indent="0" marL="0">
              <a:buNone/>
            </a:pPr>
            <a:r>
              <a:rPr lang="en-US" sz="2400" dirty="0">
                <a:solidFill>
                  <a:srgbClr val="1E293B"/>
                </a:solidFill>
                <a:latin typeface="Calibri" pitchFamily="34" charset="0"/>
                <a:ea typeface="Calibri" pitchFamily="34" charset="-122"/>
                <a:cs typeface="Calibri" pitchFamily="34" charset="-120"/>
              </a:rPr>
              <a:t>against the paper's 63.24%</a:t>
            </a:r>
            <a:endParaRPr lang="en-US" sz="2400" dirty="0"/>
          </a:p>
        </p:txBody>
      </p:sp>
      <p:sp>
        <p:nvSpPr>
          <p:cNvPr id="13" name="Text 11"/>
          <p:cNvSpPr txBox="1"/>
          <p:nvPr/>
        </p:nvSpPr>
        <p:spPr>
          <a:xfrm>
            <a:off x="548640" y="4846320"/>
            <a:ext cx="11091672" cy="8229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Code, plots and slides written with Claude Code, an AI assistant. Every number comes from running that code.</a:t>
            </a:r>
            <a:endParaRPr lang="en-US" sz="20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whole experiment</a:t>
            </a:r>
            <a:endParaRPr lang="en-US" sz="3600" dirty="0"/>
          </a:p>
        </p:txBody>
      </p:sp>
      <p:sp>
        <p:nvSpPr>
          <p:cNvPr id="3" name="Shape 1"/>
          <p:cNvSpPr/>
          <p:nvPr/>
        </p:nvSpPr>
        <p:spPr>
          <a:xfrm>
            <a:off x="548640" y="1554480"/>
            <a:ext cx="3246120" cy="3566160"/>
          </a:xfrm>
          <a:prstGeom prst="roundRect">
            <a:avLst>
              <a:gd name="adj" fmla="val 3380"/>
            </a:avLst>
          </a:prstGeom>
          <a:solidFill>
            <a:srgbClr val="EEF2F6"/>
          </a:solidFill>
          <a:ln w="12700">
            <a:solidFill>
              <a:srgbClr val="EEF2F6"/>
            </a:solidFill>
            <a:prstDash val="solid"/>
          </a:ln>
        </p:spPr>
      </p:sp>
      <p:sp>
        <p:nvSpPr>
          <p:cNvPr id="4" name="Text 2"/>
          <p:cNvSpPr txBox="1"/>
          <p:nvPr/>
        </p:nvSpPr>
        <p:spPr>
          <a:xfrm>
            <a:off x="82296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IN</a:t>
            </a:r>
            <a:endParaRPr lang="en-US" sz="1800" dirty="0"/>
          </a:p>
        </p:txBody>
      </p:sp>
      <p:sp>
        <p:nvSpPr>
          <p:cNvPr id="5" name="Text 3"/>
          <p:cNvSpPr txBox="1"/>
          <p:nvPr/>
        </p:nvSpPr>
        <p:spPr>
          <a:xfrm>
            <a:off x="82296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4 kinds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20 noise levels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1,000 frames each</a:t>
            </a:r>
            <a:endParaRPr lang="en-US" sz="2400" dirty="0"/>
          </a:p>
        </p:txBody>
      </p:sp>
      <p:sp>
        <p:nvSpPr>
          <p:cNvPr id="6" name="Shape 4"/>
          <p:cNvSpPr/>
          <p:nvPr/>
        </p:nvSpPr>
        <p:spPr>
          <a:xfrm>
            <a:off x="3813048" y="3108960"/>
            <a:ext cx="548640" cy="457200"/>
          </a:xfrm>
          <a:prstGeom prst="rightArrow">
            <a:avLst/>
          </a:prstGeom>
          <a:solidFill>
            <a:srgbClr val="F08A24"/>
          </a:solidFill>
          <a:ln w="12700">
            <a:solidFill>
              <a:srgbClr val="F08A24"/>
            </a:solidFill>
            <a:prstDash val="solid"/>
          </a:ln>
        </p:spPr>
      </p:sp>
      <p:sp>
        <p:nvSpPr>
          <p:cNvPr id="7" name="Shape 5"/>
          <p:cNvSpPr/>
          <p:nvPr/>
        </p:nvSpPr>
        <p:spPr>
          <a:xfrm>
            <a:off x="4343400" y="1554480"/>
            <a:ext cx="3246120" cy="3566160"/>
          </a:xfrm>
          <a:prstGeom prst="roundRect">
            <a:avLst>
              <a:gd name="adj" fmla="val 3380"/>
            </a:avLst>
          </a:prstGeom>
          <a:solidFill>
            <a:srgbClr val="EEF2F6"/>
          </a:solidFill>
          <a:ln w="12700">
            <a:solidFill>
              <a:srgbClr val="EEF2F6"/>
            </a:solidFill>
            <a:prstDash val="solid"/>
          </a:ln>
        </p:spPr>
      </p:sp>
      <p:sp>
        <p:nvSpPr>
          <p:cNvPr id="8" name="Text 6"/>
          <p:cNvSpPr txBox="1"/>
          <p:nvPr/>
        </p:nvSpPr>
        <p:spPr>
          <a:xfrm>
            <a:off x="461772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DETECTOR</a:t>
            </a:r>
            <a:endParaRPr lang="en-US" sz="1800" dirty="0"/>
          </a:p>
        </p:txBody>
      </p:sp>
      <p:sp>
        <p:nvSpPr>
          <p:cNvPr id="9" name="Text 7"/>
          <p:cNvSpPr txBox="1"/>
          <p:nvPr/>
        </p:nvSpPr>
        <p:spPr>
          <a:xfrm>
            <a:off x="461772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learns on 70%</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stops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tested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14 repeats</a:t>
            </a:r>
            <a:endParaRPr lang="en-US" sz="2400" dirty="0"/>
          </a:p>
        </p:txBody>
      </p:sp>
      <p:sp>
        <p:nvSpPr>
          <p:cNvPr id="10" name="Shape 8"/>
          <p:cNvSpPr/>
          <p:nvPr/>
        </p:nvSpPr>
        <p:spPr>
          <a:xfrm>
            <a:off x="7607808" y="3108960"/>
            <a:ext cx="548640" cy="457200"/>
          </a:xfrm>
          <a:prstGeom prst="rightArrow">
            <a:avLst/>
          </a:prstGeom>
          <a:solidFill>
            <a:srgbClr val="F08A24"/>
          </a:solidFill>
          <a:ln w="12700">
            <a:solidFill>
              <a:srgbClr val="F08A24"/>
            </a:solidFill>
            <a:prstDash val="solid"/>
          </a:ln>
        </p:spPr>
      </p:sp>
      <p:sp>
        <p:nvSpPr>
          <p:cNvPr id="11" name="Shape 9"/>
          <p:cNvSpPr/>
          <p:nvPr/>
        </p:nvSpPr>
        <p:spPr>
          <a:xfrm>
            <a:off x="8138160" y="1554480"/>
            <a:ext cx="3502152" cy="3566160"/>
          </a:xfrm>
          <a:prstGeom prst="roundRect">
            <a:avLst>
              <a:gd name="adj" fmla="val 3133"/>
            </a:avLst>
          </a:prstGeom>
          <a:solidFill>
            <a:srgbClr val="EEF2F6"/>
          </a:solidFill>
          <a:ln w="12700">
            <a:solidFill>
              <a:srgbClr val="EEF2F6"/>
            </a:solidFill>
            <a:prstDash val="solid"/>
          </a:ln>
        </p:spPr>
      </p:sp>
      <p:sp>
        <p:nvSpPr>
          <p:cNvPr id="12" name="Text 10"/>
          <p:cNvSpPr txBox="1"/>
          <p:nvPr/>
        </p:nvSpPr>
        <p:spPr>
          <a:xfrm>
            <a:off x="8412480" y="1691640"/>
            <a:ext cx="274320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OUT</a:t>
            </a:r>
            <a:endParaRPr lang="en-US" sz="1800" dirty="0"/>
          </a:p>
        </p:txBody>
      </p:sp>
      <p:sp>
        <p:nvSpPr>
          <p:cNvPr id="13" name="Text 11"/>
          <p:cNvSpPr txBox="1"/>
          <p:nvPr/>
        </p:nvSpPr>
        <p:spPr>
          <a:xfrm>
            <a:off x="8412480" y="21031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94.2%</a:t>
            </a:r>
            <a:endParaRPr lang="en-US" sz="6000" dirty="0"/>
          </a:p>
        </p:txBody>
      </p:sp>
      <p:sp>
        <p:nvSpPr>
          <p:cNvPr id="14" name="Text 12"/>
          <p:cNvSpPr txBox="1"/>
          <p:nvPr/>
        </p:nvSpPr>
        <p:spPr>
          <a:xfrm>
            <a:off x="8412480" y="310896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right at 10 dB and above</a:t>
            </a:r>
            <a:endParaRPr lang="en-US" sz="2000" dirty="0"/>
          </a:p>
        </p:txBody>
      </p:sp>
      <p:sp>
        <p:nvSpPr>
          <p:cNvPr id="15" name="Text 13"/>
          <p:cNvSpPr txBox="1"/>
          <p:nvPr/>
        </p:nvSpPr>
        <p:spPr>
          <a:xfrm>
            <a:off x="8412480" y="3657600"/>
            <a:ext cx="3291840" cy="731520"/>
          </a:xfrm>
          <a:prstGeom prst="rect">
            <a:avLst/>
          </a:prstGeom>
          <a:noFill/>
          <a:ln/>
        </p:spPr>
        <p:txBody>
          <a:bodyPr wrap="square" lIns="0" tIns="0" rIns="0" bIns="0" rtlCol="0" anchor="b"/>
          <a:lstStyle/>
          <a:p>
            <a:pPr indent="0" marL="0">
              <a:buNone/>
            </a:pPr>
            <a:r>
              <a:rPr lang="en-US" sz="4000" b="1" dirty="0">
                <a:solidFill>
                  <a:srgbClr val="1E293B"/>
                </a:solidFill>
                <a:latin typeface="Calibri" pitchFamily="34" charset="0"/>
                <a:ea typeface="Calibri" pitchFamily="34" charset="-122"/>
                <a:cs typeface="Calibri" pitchFamily="34" charset="-120"/>
              </a:rPr>
              <a:t>25%</a:t>
            </a:r>
            <a:endParaRPr lang="en-US" sz="4000" dirty="0"/>
          </a:p>
        </p:txBody>
      </p:sp>
      <p:sp>
        <p:nvSpPr>
          <p:cNvPr id="16" name="Text 14"/>
          <p:cNvSpPr txBox="1"/>
          <p:nvPr/>
        </p:nvSpPr>
        <p:spPr>
          <a:xfrm>
            <a:off x="8412480" y="443484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at −20 dB: a guess</a:t>
            </a:r>
            <a:endParaRPr lang="en-US" sz="2000" dirty="0"/>
          </a:p>
        </p:txBody>
      </p:sp>
      <p:sp>
        <p:nvSpPr>
          <p:cNvPr id="17" name="Text 15"/>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Every number is counted on frames it never saw.</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one frame looks like</a:t>
            </a:r>
            <a:endParaRPr lang="en-US" sz="3600" dirty="0"/>
          </a:p>
        </p:txBody>
      </p:sp>
      <p:pic>
        <p:nvPicPr>
          <p:cNvPr id="3" name="Image 0" descr="simple/frame.png">    </p:cNvPr>
          <p:cNvPicPr>
            <a:picLocks noChangeAspect="1"/>
          </p:cNvPicPr>
          <p:nvPr/>
        </p:nvPicPr>
        <p:blipFill>
          <a:blip r:embed="rId1"/>
          <a:stretch>
            <a:fillRect/>
          </a:stretch>
        </p:blipFill>
        <p:spPr>
          <a:xfrm>
            <a:off x="548640" y="1600200"/>
            <a:ext cx="6858000" cy="2438400"/>
          </a:xfrm>
          <a:prstGeom prst="rect">
            <a:avLst/>
          </a:prstGeom>
        </p:spPr>
      </p:pic>
      <p:sp>
        <p:nvSpPr>
          <p:cNvPr id="4" name="Text 1"/>
          <p:cNvSpPr txBox="1"/>
          <p:nvPr/>
        </p:nvSpPr>
        <p:spPr>
          <a:xfrm>
            <a:off x="548640" y="4160520"/>
            <a:ext cx="6858000" cy="45720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One QAM16 frame: 128 samples, 16 symbols (dots)</a:t>
            </a:r>
            <a:endParaRPr lang="en-US" sz="1800" dirty="0"/>
          </a:p>
        </p:txBody>
      </p:sp>
      <p:pic>
        <p:nvPicPr>
          <p:cNvPr id="5" name="Image 1" descr="simple/symbols_2x2.png">    </p:cNvPr>
          <p:cNvPicPr>
            <a:picLocks noChangeAspect="1"/>
          </p:cNvPicPr>
          <p:nvPr/>
        </p:nvPicPr>
        <p:blipFill>
          <a:blip r:embed="rId2"/>
          <a:stretch>
            <a:fillRect/>
          </a:stretch>
        </p:blipFill>
        <p:spPr>
          <a:xfrm>
            <a:off x="7955280" y="1325880"/>
            <a:ext cx="3657600" cy="3840480"/>
          </a:xfrm>
          <a:prstGeom prst="rect">
            <a:avLst/>
          </a:prstGeom>
        </p:spPr>
      </p:pic>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16 symbols cannot show all 64 points of QAM64.</a:t>
            </a:r>
            <a:endParaRPr lang="en-US" sz="2400" dirty="0"/>
          </a:p>
        </p:txBody>
      </p:sp>
      <p:sp>
        <p:nvSpPr>
          <p:cNvPr id="7" name="Text 3"/>
          <p:cNvSpPr txBox="1"/>
          <p:nvPr/>
        </p:nvSpPr>
        <p:spPr>
          <a:xfrm>
            <a:off x="548640" y="5989320"/>
            <a:ext cx="7315200" cy="365760"/>
          </a:xfrm>
          <a:prstGeom prst="rect">
            <a:avLst/>
          </a:prstGeom>
          <a:noFill/>
          <a:ln/>
        </p:spPr>
        <p:txBody>
          <a:bodyPr wrap="square" lIns="0" tIns="0" rIns="0" bIns="0" rtlCol="0" anchor="t"/>
          <a:lstStyle/>
          <a:p>
            <a:pPr indent="0" marL="0">
              <a:buNone/>
            </a:pPr>
            <a:r>
              <a:rPr lang="en-US" sz="1400" i="1" dirty="0">
                <a:solidFill>
                  <a:srgbClr val="5B6B7F"/>
                </a:solidFill>
                <a:latin typeface="Calibri" pitchFamily="34" charset="0"/>
                <a:ea typeface="Calibri" pitchFamily="34" charset="-122"/>
                <a:cs typeface="Calibri" pitchFamily="34" charset="-120"/>
              </a:rPr>
              <a:t>Drawn by us, without noise.</a:t>
            </a:r>
            <a:endParaRPr lang="en-US" sz="1400" dirty="0"/>
          </a:p>
        </p:txBody>
      </p:sp>
      <p:sp>
        <p:nvSpPr>
          <p:cNvPr id="9"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“10 dB” mean here?</a:t>
            </a:r>
            <a:endParaRPr lang="en-US" sz="3600" dirty="0"/>
          </a:p>
        </p:txBody>
      </p:sp>
      <p:sp>
        <p:nvSpPr>
          <p:cNvPr id="3" name="Shape 1"/>
          <p:cNvSpPr/>
          <p:nvPr/>
        </p:nvSpPr>
        <p:spPr>
          <a:xfrm>
            <a:off x="548640" y="1554480"/>
            <a:ext cx="5349240" cy="2743200"/>
          </a:xfrm>
          <a:prstGeom prst="roundRect">
            <a:avLst>
              <a:gd name="adj" fmla="val 4000"/>
            </a:avLst>
          </a:prstGeom>
          <a:solidFill>
            <a:srgbClr val="EEF2F6"/>
          </a:solidFill>
          <a:ln w="12700">
            <a:solidFill>
              <a:srgbClr val="EEF2F6"/>
            </a:solidFill>
            <a:prstDash val="solid"/>
          </a:ln>
        </p:spPr>
      </p:sp>
      <p:sp>
        <p:nvSpPr>
          <p:cNvPr id="4" name="Shape 2"/>
          <p:cNvSpPr/>
          <p:nvPr/>
        </p:nvSpPr>
        <p:spPr>
          <a:xfrm>
            <a:off x="6291072" y="1554480"/>
            <a:ext cx="5349240" cy="2743200"/>
          </a:xfrm>
          <a:prstGeom prst="roundRect">
            <a:avLst>
              <a:gd name="adj" fmla="val 4000"/>
            </a:avLst>
          </a:prstGeom>
          <a:solidFill>
            <a:srgbClr val="EEF2F6"/>
          </a:solidFill>
          <a:ln w="12700">
            <a:solidFill>
              <a:srgbClr val="EEF2F6"/>
            </a:solidFill>
            <a:prstDash val="solid"/>
          </a:ln>
        </p:spPr>
      </p:sp>
      <p:sp>
        <p:nvSpPr>
          <p:cNvPr id="5" name="Text 3"/>
          <p:cNvSpPr txBox="1"/>
          <p:nvPr/>
        </p:nvSpPr>
        <p:spPr>
          <a:xfrm>
            <a:off x="822960" y="1783080"/>
            <a:ext cx="4800600" cy="1051560"/>
          </a:xfrm>
          <a:prstGeom prst="rect">
            <a:avLst/>
          </a:prstGeom>
          <a:noFill/>
          <a:ln/>
        </p:spPr>
        <p:txBody>
          <a:bodyPr wrap="square" lIns="0" tIns="0" rIns="0" bIns="0" rtlCol="0" anchor="b"/>
          <a:lstStyle/>
          <a:p>
            <a:pPr algn="ctr" indent="0" marL="0">
              <a:buNone/>
            </a:pPr>
            <a:r>
              <a:rPr lang="en-US" sz="6600" b="1" dirty="0">
                <a:solidFill>
                  <a:srgbClr val="1E293B"/>
                </a:solidFill>
                <a:latin typeface="Calibri" pitchFamily="34" charset="0"/>
                <a:ea typeface="Calibri" pitchFamily="34" charset="-122"/>
                <a:cs typeface="Calibri" pitchFamily="34" charset="-120"/>
              </a:rPr>
              <a:t>1.9 dB</a:t>
            </a:r>
            <a:endParaRPr lang="en-US" sz="6600" dirty="0"/>
          </a:p>
        </p:txBody>
      </p:sp>
      <p:sp>
        <p:nvSpPr>
          <p:cNvPr id="6" name="Text 4"/>
          <p:cNvSpPr txBox="1"/>
          <p:nvPr/>
        </p:nvSpPr>
        <p:spPr>
          <a:xfrm>
            <a:off x="822960"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real change per 1 dB of label</a:t>
            </a:r>
            <a:endParaRPr lang="en-US" sz="2000" dirty="0"/>
          </a:p>
        </p:txBody>
      </p:sp>
      <p:sp>
        <p:nvSpPr>
          <p:cNvPr id="7" name="Text 5"/>
          <p:cNvSpPr txBox="1"/>
          <p:nvPr/>
        </p:nvSpPr>
        <p:spPr>
          <a:xfrm>
            <a:off x="6565392" y="1783080"/>
            <a:ext cx="4800600" cy="1051560"/>
          </a:xfrm>
          <a:prstGeom prst="rect">
            <a:avLst/>
          </a:prstGeom>
          <a:noFill/>
          <a:ln/>
        </p:spPr>
        <p:txBody>
          <a:bodyPr wrap="square" lIns="0" tIns="0" rIns="0" bIns="0" rtlCol="0" anchor="b"/>
          <a:lstStyle/>
          <a:p>
            <a:pPr algn="ctr" indent="0" marL="0">
              <a:buNone/>
            </a:pPr>
            <a:r>
              <a:rPr lang="en-US" sz="6600" b="1" dirty="0">
                <a:solidFill>
                  <a:srgbClr val="F08A24"/>
                </a:solidFill>
                <a:latin typeface="Calibri" pitchFamily="34" charset="0"/>
                <a:ea typeface="Calibri" pitchFamily="34" charset="-122"/>
                <a:cs typeface="Calibri" pitchFamily="34" charset="-120"/>
              </a:rPr>
              <a:t>+15 dB</a:t>
            </a:r>
            <a:endParaRPr lang="en-US" sz="6600" dirty="0"/>
          </a:p>
        </p:txBody>
      </p:sp>
      <p:sp>
        <p:nvSpPr>
          <p:cNvPr id="8" name="Text 6"/>
          <p:cNvSpPr txBox="1"/>
          <p:nvPr/>
        </p:nvSpPr>
        <p:spPr>
          <a:xfrm>
            <a:off x="6565392"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2000" dirty="0"/>
          </a:p>
        </p:txBody>
      </p:sp>
      <p:sp>
        <p:nvSpPr>
          <p:cNvPr id="9" name="Text 7"/>
          <p:cNvSpPr txBox="1"/>
          <p:nvPr/>
        </p:nvSpPr>
        <p:spPr>
          <a:xfrm>
            <a:off x="548640" y="4526280"/>
            <a:ext cx="11091672" cy="73152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Measured in the file itself. Every frame also gets frequency offset, fading and echoes.</a:t>
            </a:r>
            <a:endParaRPr lang="en-US" sz="2000" dirty="0"/>
          </a:p>
        </p:txBody>
      </p:sp>
      <p:sp>
        <p:nvSpPr>
          <p:cNvPr id="10" name="Text 8"/>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dB” is a setting, not a measurement.</a:t>
            </a:r>
            <a:endParaRPr lang="en-US" sz="2400" dirty="0"/>
          </a:p>
        </p:txBody>
      </p:sp>
      <p:sp>
        <p:nvSpPr>
          <p:cNvPr id="12"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answer at 10 dB</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1463040"/>
                <a:gridCol w="1234440"/>
                <a:gridCol w="1234440"/>
                <a:gridCol w="1234440"/>
                <a:gridCol w="1234440"/>
                <a:gridCol w="1188720"/>
              </a:tblGrid>
              <a:tr h="566928">
                <a:tc>
                  <a:txBody>
                    <a:bodyPr/>
                    <a:lstStyle/>
                    <a:p>
                      <a:pPr algn="ctr" indent="0" marL="0">
                        <a:buNone/>
                      </a:pPr>
                      <a:r>
                        <a:rPr lang="en-US" sz="1400" b="1" dirty="0">
                          <a:solidFill>
                            <a:srgbClr val="1E293B"/>
                          </a:solidFill>
                          <a:latin typeface="Calibri" pitchFamily="34" charset="0"/>
                          <a:ea typeface="Calibri" pitchFamily="34" charset="-122"/>
                          <a:cs typeface="Calibri" pitchFamily="34" charset="-120"/>
                        </a:rPr>
                        <a:t>sent \ said</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recall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1,808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269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86.1%</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126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1,961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93.4%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precision</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99.1%</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98.7%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93.4%</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87.7%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548640" y="5029200"/>
            <a:ext cx="7589520" cy="457200"/>
          </a:xfrm>
          <a:prstGeom prst="rect">
            <a:avLst/>
          </a:prstGeom>
          <a:noFill/>
          <a:ln/>
        </p:spPr>
        <p:txBody>
          <a:bodyPr wrap="square" lIns="0" tIns="0" rIns="0" bIns="0" rtlCol="0" anchor="t"/>
          <a:lstStyle/>
          <a:p>
            <a:pPr indent="0" marL="0">
              <a:buNone/>
            </a:pPr>
            <a:r>
              <a:rPr lang="en-US" sz="2000" b="1" dirty="0">
                <a:solidFill>
                  <a:srgbClr val="5B6B7F"/>
                </a:solidFill>
                <a:latin typeface="Calibri" pitchFamily="34" charset="0"/>
                <a:ea typeface="Calibri" pitchFamily="34" charset="-122"/>
                <a:cs typeface="Calibri" pitchFamily="34" charset="-120"/>
              </a:rPr>
              <a:t>Recall</a:t>
            </a:r>
            <a:pPr indent="0" marL="0">
              <a:buNone/>
            </a:pPr>
            <a:r>
              <a:rPr lang="en-US" sz="2000" dirty="0">
                <a:solidFill>
                  <a:srgbClr val="5B6B7F"/>
                </a:solidFill>
                <a:latin typeface="Calibri" pitchFamily="34" charset="0"/>
                <a:ea typeface="Calibri" pitchFamily="34" charset="-122"/>
                <a:cs typeface="Calibri" pitchFamily="34" charset="-120"/>
              </a:rPr>
              <a:t> = a row     </a:t>
            </a:r>
            <a:pPr indent="0" marL="0">
              <a:buNone/>
            </a:pPr>
            <a:r>
              <a:rPr lang="en-US" sz="2000" b="1" dirty="0">
                <a:solidFill>
                  <a:srgbClr val="5B6B7F"/>
                </a:solidFill>
                <a:latin typeface="Calibri" pitchFamily="34" charset="0"/>
                <a:ea typeface="Calibri" pitchFamily="34" charset="-122"/>
                <a:cs typeface="Calibri" pitchFamily="34" charset="-120"/>
              </a:rPr>
              <a:t>Precision</a:t>
            </a:r>
            <a:pPr indent="0" marL="0">
              <a:buNone/>
            </a:pPr>
            <a:r>
              <a:rPr lang="en-US" sz="2000" dirty="0">
                <a:solidFill>
                  <a:srgbClr val="5B6B7F"/>
                </a:solidFill>
                <a:latin typeface="Calibri" pitchFamily="34" charset="0"/>
                <a:ea typeface="Calibri" pitchFamily="34" charset="-122"/>
                <a:cs typeface="Calibri" pitchFamily="34" charset="-120"/>
              </a:rPr>
              <a:t> = a column</a:t>
            </a:r>
            <a:endParaRPr lang="en-US" sz="2000" dirty="0"/>
          </a:p>
        </p:txBody>
      </p:sp>
      <p:sp>
        <p:nvSpPr>
          <p:cNvPr id="5" name="Text 2"/>
          <p:cNvSpPr txBox="1"/>
          <p:nvPr/>
        </p:nvSpPr>
        <p:spPr>
          <a:xfrm>
            <a:off x="8549640" y="1417320"/>
            <a:ext cx="3108960" cy="105156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448</a:t>
            </a:r>
            <a:endParaRPr lang="en-US" sz="6000" dirty="0"/>
          </a:p>
        </p:txBody>
      </p:sp>
      <p:sp>
        <p:nvSpPr>
          <p:cNvPr id="6" name="Text 3"/>
          <p:cNvSpPr txBox="1"/>
          <p:nvPr/>
        </p:nvSpPr>
        <p:spPr>
          <a:xfrm>
            <a:off x="8549640" y="25146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wrong of 8,400</a:t>
            </a:r>
            <a:endParaRPr lang="en-US" sz="2000" dirty="0"/>
          </a:p>
        </p:txBody>
      </p:sp>
      <p:sp>
        <p:nvSpPr>
          <p:cNvPr id="7" name="Text 4"/>
          <p:cNvSpPr txBox="1"/>
          <p:nvPr/>
        </p:nvSpPr>
        <p:spPr>
          <a:xfrm>
            <a:off x="8549640" y="3246120"/>
            <a:ext cx="3108960" cy="105156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395</a:t>
            </a:r>
            <a:endParaRPr lang="en-US" sz="6000" dirty="0"/>
          </a:p>
        </p:txBody>
      </p:sp>
      <p:sp>
        <p:nvSpPr>
          <p:cNvPr id="8" name="Text 5"/>
          <p:cNvSpPr txBox="1"/>
          <p:nvPr/>
        </p:nvSpPr>
        <p:spPr>
          <a:xfrm>
            <a:off x="8549640" y="43434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are QAM16 ↔ QAM64</a:t>
            </a:r>
            <a:endParaRPr lang="en-US" sz="2000" dirty="0"/>
          </a:p>
        </p:txBody>
      </p:sp>
      <p:sp>
        <p:nvSpPr>
          <p:cNvPr id="9" name="Text 6"/>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problem left: QAM16 against QAM64.</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Turn the noise up</a:t>
            </a:r>
            <a:endParaRPr lang="en-US" sz="3600" dirty="0"/>
          </a:p>
        </p:txBody>
      </p:sp>
      <p:graphicFrame>
        <p:nvGraphicFramePr>
          <p:cNvPr id="3" name="Chart 0" descr=""/>
          <p:cNvGraphicFramePr/>
          <p:nvPr/>
        </p:nvGraphicFramePr>
        <p:xfrm>
          <a:off x="548640" y="1280160"/>
          <a:ext cx="11091672"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 2 dB: nothing changes. These mistakes are not noise.</a:t>
            </a:r>
            <a:endParaRPr lang="en-US" sz="2400" dirty="0"/>
          </a:p>
        </p:txBody>
      </p:sp>
      <p:sp>
        <p:nvSpPr>
          <p:cNvPr id="6" name="Text 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16, 8 or 4 symbols</a:t>
            </a:r>
            <a:endParaRPr lang="en-US" sz="3600" dirty="0"/>
          </a:p>
        </p:txBody>
      </p:sp>
      <p:graphicFrame>
        <p:nvGraphicFramePr>
          <p:cNvPr id="3" name="Chart 0" descr=""/>
          <p:cNvGraphicFramePr/>
          <p:nvPr/>
        </p:nvGraphicFramePr>
        <p:xfrm>
          <a:off x="457200" y="1234440"/>
          <a:ext cx="6035040" cy="4297680"/>
        </p:xfrm>
        <a:graphic xmlns:a="http://schemas.openxmlformats.org/drawingml/2006/main">
          <a:graphicData uri="http://schemas.openxmlformats.org/drawingml/2006/chart">
            <c:chart xmlns:c="http://schemas.openxmlformats.org/drawingml/2006/chart" r:id="rId1"/>
          </a:graphicData>
        </a:graphic>
      </p:graphicFrame>
      <p:pic>
        <p:nvPicPr>
          <p:cNvPr id="4" name="Image 0" descr="simple/fewer.png">    </p:cNvPr>
          <p:cNvPicPr>
            <a:picLocks noChangeAspect="1"/>
          </p:cNvPicPr>
          <p:nvPr/>
        </p:nvPicPr>
        <p:blipFill>
          <a:blip r:embed="rId2"/>
          <a:stretch>
            <a:fillRect/>
          </a:stretch>
        </p:blipFill>
        <p:spPr>
          <a:xfrm>
            <a:off x="6583680" y="1325880"/>
            <a:ext cx="5029200" cy="3472543"/>
          </a:xfrm>
          <a:prstGeom prst="rect">
            <a:avLst/>
          </a:prstGeom>
        </p:spPr>
      </p:pic>
      <p:sp>
        <p:nvSpPr>
          <p:cNvPr id="5" name="Text 1"/>
          <p:cNvSpPr txBox="1"/>
          <p:nvPr/>
        </p:nvSpPr>
        <p:spPr>
          <a:xfrm>
            <a:off x="6583680" y="4846320"/>
            <a:ext cx="1645920" cy="594360"/>
          </a:xfrm>
          <a:prstGeom prst="rect">
            <a:avLst/>
          </a:prstGeom>
          <a:noFill/>
          <a:ln/>
        </p:spPr>
        <p:txBody>
          <a:bodyPr wrap="square" lIns="0" tIns="0" rIns="0" bIns="0" rtlCol="0" anchor="b"/>
          <a:lstStyle/>
          <a:p>
            <a:pPr indent="0" marL="0">
              <a:buNone/>
            </a:pPr>
            <a:r>
              <a:rPr lang="en-US" sz="3200" b="1" dirty="0">
                <a:solidFill>
                  <a:srgbClr val="0F1B2D"/>
                </a:solidFill>
                <a:latin typeface="Calibri" pitchFamily="34" charset="0"/>
                <a:ea typeface="Calibri" pitchFamily="34" charset="-122"/>
                <a:cs typeface="Calibri" pitchFamily="34" charset="-120"/>
              </a:rPr>
              <a:t>5.7%</a:t>
            </a:r>
            <a:endParaRPr lang="en-US" sz="3200" dirty="0"/>
          </a:p>
        </p:txBody>
      </p:sp>
      <p:sp>
        <p:nvSpPr>
          <p:cNvPr id="6" name="Text 2"/>
          <p:cNvSpPr txBox="1"/>
          <p:nvPr/>
        </p:nvSpPr>
        <p:spPr>
          <a:xfrm>
            <a:off x="8275320" y="4846320"/>
            <a:ext cx="1645920" cy="594360"/>
          </a:xfrm>
          <a:prstGeom prst="rect">
            <a:avLst/>
          </a:prstGeom>
          <a:noFill/>
          <a:ln/>
        </p:spPr>
        <p:txBody>
          <a:bodyPr wrap="square" lIns="0" tIns="0" rIns="0" bIns="0" rtlCol="0" anchor="b"/>
          <a:lstStyle/>
          <a:p>
            <a:pPr indent="0" marL="0">
              <a:buNone/>
            </a:pPr>
            <a:r>
              <a:rPr lang="en-US" sz="3200" b="1" dirty="0">
                <a:solidFill>
                  <a:srgbClr val="F08A24"/>
                </a:solidFill>
                <a:latin typeface="Calibri" pitchFamily="34" charset="0"/>
                <a:ea typeface="Calibri" pitchFamily="34" charset="-122"/>
                <a:cs typeface="Calibri" pitchFamily="34" charset="-120"/>
              </a:rPr>
              <a:t>15.5%</a:t>
            </a:r>
            <a:endParaRPr lang="en-US" sz="3200" dirty="0"/>
          </a:p>
        </p:txBody>
      </p:sp>
      <p:sp>
        <p:nvSpPr>
          <p:cNvPr id="7" name="Text 3"/>
          <p:cNvSpPr txBox="1"/>
          <p:nvPr/>
        </p:nvSpPr>
        <p:spPr>
          <a:xfrm>
            <a:off x="9966960" y="4846320"/>
            <a:ext cx="1645920" cy="594360"/>
          </a:xfrm>
          <a:prstGeom prst="rect">
            <a:avLst/>
          </a:prstGeom>
          <a:noFill/>
          <a:ln/>
        </p:spPr>
        <p:txBody>
          <a:bodyPr wrap="square" lIns="0" tIns="0" rIns="0" bIns="0" rtlCol="0" anchor="b"/>
          <a:lstStyle/>
          <a:p>
            <a:pPr indent="0" marL="0">
              <a:buNone/>
            </a:pPr>
            <a:r>
              <a:rPr lang="en-US" sz="3200" b="1" dirty="0">
                <a:solidFill>
                  <a:srgbClr val="8FA0B5"/>
                </a:solidFill>
                <a:latin typeface="Calibri" pitchFamily="34" charset="0"/>
                <a:ea typeface="Calibri" pitchFamily="34" charset="-122"/>
                <a:cs typeface="Calibri" pitchFamily="34" charset="-120"/>
              </a:rPr>
              <a:t>25.2%</a:t>
            </a:r>
            <a:endParaRPr lang="en-US" sz="3200" dirty="0"/>
          </a:p>
        </p:txBody>
      </p:sp>
      <p:sp>
        <p:nvSpPr>
          <p:cNvPr id="8" name="Text 4"/>
          <p:cNvSpPr txBox="1"/>
          <p:nvPr/>
        </p:nvSpPr>
        <p:spPr>
          <a:xfrm>
            <a:off x="6583680" y="5440680"/>
            <a:ext cx="5029200" cy="365760"/>
          </a:xfrm>
          <a:prstGeom prst="rect">
            <a:avLst/>
          </a:prstGeom>
          <a:noFill/>
          <a:ln/>
        </p:spPr>
        <p:txBody>
          <a:bodyPr wrap="square" lIns="0" tIns="0" rIns="0" bIns="0" rtlCol="0" anchor="t"/>
          <a:lstStyle/>
          <a:p>
            <a:pPr indent="0" marL="0">
              <a:buNone/>
            </a:pPr>
            <a:r>
              <a:rPr lang="en-US" sz="1600" dirty="0">
                <a:solidFill>
                  <a:srgbClr val="5B6B7F"/>
                </a:solidFill>
                <a:latin typeface="Calibri" pitchFamily="34" charset="0"/>
                <a:ea typeface="Calibri" pitchFamily="34" charset="-122"/>
                <a:cs typeface="Calibri" pitchFamily="34" charset="-120"/>
              </a:rPr>
              <a:t>wrong at low noise</a:t>
            </a:r>
            <a:endParaRPr lang="en-US" sz="1600" dirty="0"/>
          </a:p>
        </p:txBody>
      </p:sp>
      <p:sp>
        <p:nvSpPr>
          <p:cNvPr id="9" name="Text 5"/>
          <p:cNvSpPr txBox="1"/>
          <p:nvPr/>
        </p:nvSpPr>
        <p:spPr>
          <a:xfrm>
            <a:off x="548640" y="58064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More signal does not fix it. More symbols does.</a:t>
            </a:r>
            <a:endParaRPr lang="en-US" sz="2400" dirty="0"/>
          </a:p>
        </p:txBody>
      </p:sp>
      <p:sp>
        <p:nvSpPr>
          <p:cNvPr id="11" name="Text 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No signal at all, and it still answers</a:t>
            </a:r>
            <a:endParaRPr lang="en-US" sz="3600" dirty="0"/>
          </a:p>
        </p:txBody>
      </p:sp>
      <p:sp>
        <p:nvSpPr>
          <p:cNvPr id="3" name="Shape 1"/>
          <p:cNvSpPr/>
          <p:nvPr/>
        </p:nvSpPr>
        <p:spPr>
          <a:xfrm>
            <a:off x="548640" y="1463040"/>
            <a:ext cx="5120640" cy="2880360"/>
          </a:xfrm>
          <a:prstGeom prst="roundRect">
            <a:avLst>
              <a:gd name="adj" fmla="val 3810"/>
            </a:avLst>
          </a:prstGeom>
          <a:solidFill>
            <a:srgbClr val="EEF2F6"/>
          </a:solidFill>
          <a:ln w="12700">
            <a:solidFill>
              <a:srgbClr val="EEF2F6"/>
            </a:solidFill>
            <a:prstDash val="solid"/>
          </a:ln>
        </p:spPr>
      </p:sp>
      <p:sp>
        <p:nvSpPr>
          <p:cNvPr id="4" name="Shape 2"/>
          <p:cNvSpPr/>
          <p:nvPr/>
        </p:nvSpPr>
        <p:spPr>
          <a:xfrm>
            <a:off x="6519672" y="1463040"/>
            <a:ext cx="5120640" cy="2880360"/>
          </a:xfrm>
          <a:prstGeom prst="roundRect">
            <a:avLst>
              <a:gd name="adj" fmla="val 3810"/>
            </a:avLst>
          </a:prstGeom>
          <a:solidFill>
            <a:srgbClr val="EEF2F6"/>
          </a:solidFill>
          <a:ln w="12700">
            <a:solidFill>
              <a:srgbClr val="EEF2F6"/>
            </a:solidFill>
            <a:prstDash val="solid"/>
          </a:ln>
        </p:spPr>
      </p:sp>
      <p:sp>
        <p:nvSpPr>
          <p:cNvPr id="5" name="Text 3"/>
          <p:cNvSpPr txBox="1"/>
          <p:nvPr/>
        </p:nvSpPr>
        <p:spPr>
          <a:xfrm>
            <a:off x="822960" y="1645920"/>
            <a:ext cx="4572000" cy="1051560"/>
          </a:xfrm>
          <a:prstGeom prst="rect">
            <a:avLst/>
          </a:prstGeom>
          <a:noFill/>
          <a:ln/>
        </p:spPr>
        <p:txBody>
          <a:bodyPr wrap="square" lIns="0" tIns="0" rIns="0" bIns="0" rtlCol="0" anchor="b"/>
          <a:lstStyle/>
          <a:p>
            <a:pPr algn="ctr" indent="0" marL="0">
              <a:buNone/>
            </a:pPr>
            <a:r>
              <a:rPr lang="en-US" sz="8000" b="1" dirty="0">
                <a:solidFill>
                  <a:srgbClr val="1E293B"/>
                </a:solidFill>
                <a:latin typeface="Calibri" pitchFamily="34" charset="0"/>
                <a:ea typeface="Calibri" pitchFamily="34" charset="-122"/>
                <a:cs typeface="Calibri" pitchFamily="34" charset="-120"/>
              </a:rPr>
              <a:t>52.2%</a:t>
            </a:r>
            <a:endParaRPr lang="en-US" sz="8000" dirty="0"/>
          </a:p>
        </p:txBody>
      </p:sp>
      <p:sp>
        <p:nvSpPr>
          <p:cNvPr id="6" name="Text 4"/>
          <p:cNvSpPr txBox="1"/>
          <p:nvPr/>
        </p:nvSpPr>
        <p:spPr>
          <a:xfrm>
            <a:off x="822960"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recall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looks like recognition</a:t>
            </a:r>
            <a:endParaRPr lang="en-US" sz="2000" dirty="0"/>
          </a:p>
        </p:txBody>
      </p:sp>
      <p:sp>
        <p:nvSpPr>
          <p:cNvPr id="7" name="Text 5"/>
          <p:cNvSpPr txBox="1"/>
          <p:nvPr/>
        </p:nvSpPr>
        <p:spPr>
          <a:xfrm>
            <a:off x="6793992" y="1645920"/>
            <a:ext cx="4572000" cy="1051560"/>
          </a:xfrm>
          <a:prstGeom prst="rect">
            <a:avLst/>
          </a:prstGeom>
          <a:noFill/>
          <a:ln/>
        </p:spPr>
        <p:txBody>
          <a:bodyPr wrap="square" lIns="0" tIns="0" rIns="0" bIns="0" rtlCol="0" anchor="b"/>
          <a:lstStyle/>
          <a:p>
            <a:pPr algn="ctr" indent="0" marL="0">
              <a:buNone/>
            </a:pPr>
            <a:r>
              <a:rPr lang="en-US" sz="8000" b="1" dirty="0">
                <a:solidFill>
                  <a:srgbClr val="F08A24"/>
                </a:solidFill>
                <a:latin typeface="Calibri" pitchFamily="34" charset="0"/>
                <a:ea typeface="Calibri" pitchFamily="34" charset="-122"/>
                <a:cs typeface="Calibri" pitchFamily="34" charset="-120"/>
              </a:rPr>
              <a:t>24.8%</a:t>
            </a:r>
            <a:endParaRPr lang="en-US" sz="8000" dirty="0"/>
          </a:p>
        </p:txBody>
      </p:sp>
      <p:sp>
        <p:nvSpPr>
          <p:cNvPr id="8" name="Text 6"/>
          <p:cNvSpPr txBox="1"/>
          <p:nvPr/>
        </p:nvSpPr>
        <p:spPr>
          <a:xfrm>
            <a:off x="6793992"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precision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a guess, 1 in 4</a:t>
            </a:r>
            <a:endParaRPr lang="en-US" sz="2000" dirty="0"/>
          </a:p>
        </p:txBody>
      </p:sp>
      <p:sp>
        <p:nvSpPr>
          <p:cNvPr id="9" name="Text 7"/>
          <p:cNvSpPr txBox="1"/>
          <p:nvPr/>
        </p:nvSpPr>
        <p:spPr>
          <a:xfrm>
            <a:off x="5669280" y="2377440"/>
            <a:ext cx="850392" cy="548640"/>
          </a:xfrm>
          <a:prstGeom prst="rect">
            <a:avLst/>
          </a:prstGeom>
          <a:noFill/>
          <a:ln/>
        </p:spPr>
        <p:txBody>
          <a:bodyPr wrap="square" lIns="0" tIns="0" rIns="0" bIns="0" rtlCol="0" anchor="t"/>
          <a:lstStyle/>
          <a:p>
            <a:pPr algn="ctr" indent="0" marL="0">
              <a:buNone/>
            </a:pPr>
            <a:r>
              <a:rPr lang="en-US" sz="2400" dirty="0">
                <a:solidFill>
                  <a:srgbClr val="5B6B7F"/>
                </a:solidFill>
                <a:latin typeface="Calibri" pitchFamily="34" charset="0"/>
                <a:ea typeface="Calibri" pitchFamily="34" charset="-122"/>
                <a:cs typeface="Calibri" pitchFamily="34" charset="-120"/>
              </a:rPr>
              <a:t>vs</a:t>
            </a:r>
            <a:endParaRPr lang="en-US" sz="2400" dirty="0"/>
          </a:p>
        </p:txBody>
      </p:sp>
      <p:sp>
        <p:nvSpPr>
          <p:cNvPr id="10" name="Text 8"/>
          <p:cNvSpPr txBox="1"/>
          <p:nvPr/>
        </p:nvSpPr>
        <p:spPr>
          <a:xfrm>
            <a:off x="548640" y="480060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It says BPSK or QPSK 98.8% of the time.</a:t>
            </a:r>
            <a:endParaRPr lang="en-US" sz="2200" dirty="0"/>
          </a:p>
        </p:txBody>
      </p:sp>
      <p:sp>
        <p:nvSpPr>
          <p:cNvPr id="11" name="Text 9"/>
          <p:cNvSpPr txBox="1"/>
          <p:nvPr/>
        </p:nvSpPr>
        <p:spPr>
          <a:xfrm>
            <a:off x="548640" y="55778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Recall alone can fool you. Precision now sits next to it.</a:t>
            </a:r>
            <a:endParaRPr lang="en-US" sz="2400" dirty="0"/>
          </a:p>
        </p:txBody>
      </p:sp>
      <p:sp>
        <p:nvSpPr>
          <p:cNvPr id="13" name="Text 1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ICRNNA against published models</a:t>
            </a:r>
            <a:endParaRPr lang="en-US" sz="36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repeats for every model.</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194560"/>
                <a:gridCol w="2194560"/>
                <a:gridCol w="27706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paper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Within 1 point of the papers. Above 10 dB, all stop near 91%.</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BPSK and QPSK: solved. The mistakes are QAM16 against QAM64.</a:t>
            </a:r>
            <a:endParaRPr lang="en-US" sz="28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The cause is 16 symbols, not noise.</a:t>
            </a:r>
            <a:endParaRPr lang="en-US" sz="28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“10 dB” is a setting, not a measurement.</a:t>
            </a:r>
            <a:endParaRPr lang="en-US" sz="28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Next: </a:t>
            </a:r>
            <a:pPr indent="0" marL="0">
              <a:buNone/>
            </a:pPr>
            <a:r>
              <a:rPr lang="en-US" sz="2400" dirty="0">
                <a:solidFill>
                  <a:srgbClr val="C9D3E0"/>
                </a:solidFill>
                <a:latin typeface="Calibri" pitchFamily="34" charset="0"/>
                <a:ea typeface="Calibri" pitchFamily="34" charset="-122"/>
                <a:cs typeface="Calibri" pitchFamily="34" charset="-120"/>
              </a:rPr>
              <a:t>switch off offset, fading and echoes one at a time.</a:t>
            </a:r>
            <a:endParaRPr lang="en-US" sz="24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2026-10-06T20:17:08Z</dcterms:created>
  <dcterms:modified xsi:type="dcterms:W3CDTF">2026-10-06T20:17:08Z</dcterms:modified>
</cp:coreProperties>
</file>