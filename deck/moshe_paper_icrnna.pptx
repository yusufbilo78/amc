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step 1 only</c:v>
                  </c:pt>
                  <c:pt idx="1">
                    <c:v>step 2 only</c:v>
                  </c:pt>
                  <c:pt idx="2">
                    <c:v>all but step 3</c:v>
                  </c:pt>
                  <c:pt idx="3">
                    <c:v>all four steps</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from a group in Morocco, published in 2025. I'll keep it simple: what it does, how it works, what it reports, and whether it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in one sentence: a neural network looks at 128 samples of a radio signal and says which of 11 modulations sent it. They report 63.24 percent right on this dataset, the best of the twelve models they compare. Our own detector is built on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noise levels, 220,000 frames. Each frame is 128 samples of I and 128 of Q. That is the only input; the network sees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it work? Four steps. One: it looks at short pieces of the signal, with small filters that slide along it. Two: it reads those pieces in order, forwards and backwards, carrying a memory from piece to piece. Three: it weighs the pieces and takes a weighted average. Four: it gives eleven scores, one per modulation, and the largest wins. Most of the network, 83 percent, is in step two. That is the heart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trained and tested? The frames are split three ways. 154,000 frames, with the right answer, to learn from. 33,000 to decide when to stop learning. And 33,000 kept aside, never used for learning: every result is counted on those. It stopped by itself after 58 passes over the data, and they did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ICRNNA is first, at 63.24 percent. The next model is half a point behind. The well-known older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noise. At the noisiest level it is right 9 percent of the time, which is guessing among eleven. It improves quickly between minus 10 and 0 dB, and from 0 dB up it is right about 93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make mistakes, at 0 dB? Two places. WBFM is called AM-DSB more than half the time. And QAM16 and QAM64 are mixed up, about 6 percent each way. These are the same two problems we see in our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step matters? They removed steps one at a time. Step one alone: 59.9. Step two alone: 63.1. All four: 63.2. So step two, reading in order, does almost all the work; the other steps add a fraction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came out without code. In August this year the authors put their code on GitHub, but not the trained network itself. So we are now running their code ourselves on Colab, three times, to see if we also get 63.24 percent. I'll have the numbers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their number real? Before their code existed, I rebuilt the network from the paper's description alone. It gets 63.21 percent, against their 63.24. So yes, the result can be reproduced. It needed longer training than their 58 passes; ours was best at pass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better is it, really? We trained five published models the same way: same data, same split, three repeats each. ICRNNA is first, but only by about one point. At 10 dB and above, the best four are all about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It is a neural network in four steps, and step two, reading in order, does most of the work. Its 63.24 percent is real: we get 63.21 from the paper alone. And it is about one point better than older models, not a big jump. For us, it is a solid detector to build on. Thank you. I have more detail on each step if you'd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with the details, if you want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their code tell us? Three things. First, the model in the code is the model in the paper: same layers, 794 thousand numbers. Second, the 58 epochs in the paper were not a choice: the training stops by itself when it stops improving, and for them that happened at 58. Third, they trained it once: one split of the data, one run, one number. And one run leaves a question: how much would that number move if you ran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Look</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Read in order</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Weigh</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Decide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paper in one sentence</a:t>
            </a:r>
            <a:endParaRPr lang="en-US" sz="3400" dirty="0"/>
          </a:p>
        </p:txBody>
      </p:sp>
      <p:sp>
        <p:nvSpPr>
          <p:cNvPr id="4" name="Shape 2"/>
          <p:cNvSpPr/>
          <p:nvPr/>
        </p:nvSpPr>
        <p:spPr>
          <a:xfrm>
            <a:off x="548640" y="1463040"/>
            <a:ext cx="11091672" cy="1737360"/>
          </a:xfrm>
          <a:prstGeom prst="roundRect">
            <a:avLst>
              <a:gd name="adj" fmla="val 6316"/>
            </a:avLst>
          </a:prstGeom>
          <a:solidFill>
            <a:srgbClr val="0F1B2D"/>
          </a:solidFill>
          <a:ln w="12700">
            <a:solidFill>
              <a:srgbClr val="0F1B2D"/>
            </a:solidFill>
            <a:prstDash val="solid"/>
          </a:ln>
        </p:spPr>
      </p:sp>
      <p:sp>
        <p:nvSpPr>
          <p:cNvPr id="5" name="Text 3"/>
          <p:cNvSpPr txBox="1"/>
          <p:nvPr/>
        </p:nvSpPr>
        <p:spPr>
          <a:xfrm>
            <a:off x="914400" y="1463040"/>
            <a:ext cx="10360152" cy="17373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 neural network looks at 128 samples of a radio signal and says which of 11 modulations sent it.</a:t>
            </a:r>
            <a:endParaRPr lang="en-US" sz="2800" dirty="0"/>
          </a:p>
        </p:txBody>
      </p:sp>
      <p:sp>
        <p:nvSpPr>
          <p:cNvPr id="6" name="Text 4"/>
          <p:cNvSpPr txBox="1"/>
          <p:nvPr/>
        </p:nvSpPr>
        <p:spPr>
          <a:xfrm>
            <a:off x="548640" y="3520440"/>
            <a:ext cx="5120640" cy="914400"/>
          </a:xfrm>
          <a:prstGeom prst="rect">
            <a:avLst/>
          </a:prstGeom>
          <a:noFill/>
          <a:ln/>
        </p:spPr>
        <p:txBody>
          <a:bodyPr wrap="square" lIns="0" tIns="0" rIns="0" bIns="0" rtlCol="0" anchor="b"/>
          <a:lstStyle/>
          <a:p>
            <a:pPr algn="l" indent="0" marL="0">
              <a:buNone/>
            </a:pPr>
            <a:r>
              <a:rPr lang="en-US" sz="5600" b="1" dirty="0">
                <a:solidFill>
                  <a:srgbClr val="F08A24"/>
                </a:solidFill>
                <a:latin typeface="Calibri" pitchFamily="34" charset="0"/>
                <a:ea typeface="Calibri" pitchFamily="34" charset="-122"/>
                <a:cs typeface="Calibri" pitchFamily="34" charset="-120"/>
              </a:rPr>
              <a:t>63.24%</a:t>
            </a:r>
            <a:endParaRPr lang="en-US" sz="5600" dirty="0"/>
          </a:p>
        </p:txBody>
      </p:sp>
      <p:sp>
        <p:nvSpPr>
          <p:cNvPr id="7" name="Text 5"/>
          <p:cNvSpPr txBox="1"/>
          <p:nvPr/>
        </p:nvSpPr>
        <p:spPr>
          <a:xfrm>
            <a:off x="54864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right on RML2016.10a: the best of the 12 models they compare</a:t>
            </a:r>
            <a:endParaRPr lang="en-US" sz="1900" dirty="0"/>
          </a:p>
        </p:txBody>
      </p:sp>
      <p:sp>
        <p:nvSpPr>
          <p:cNvPr id="8" name="Text 6"/>
          <p:cNvSpPr txBox="1"/>
          <p:nvPr/>
        </p:nvSpPr>
        <p:spPr>
          <a:xfrm>
            <a:off x="6172200" y="3520440"/>
            <a:ext cx="5120640" cy="914400"/>
          </a:xfrm>
          <a:prstGeom prst="rect">
            <a:avLst/>
          </a:prstGeom>
          <a:noFill/>
          <a:ln/>
        </p:spPr>
        <p:txBody>
          <a:bodyPr wrap="square" lIns="0" tIns="0" rIns="0" bIns="0" rtlCol="0" anchor="b"/>
          <a:lstStyle/>
          <a:p>
            <a:pPr algn="l" indent="0" marL="0">
              <a:buNone/>
            </a:pPr>
            <a:r>
              <a:rPr lang="en-US" sz="5600" b="1" dirty="0">
                <a:solidFill>
                  <a:srgbClr val="1E293B"/>
                </a:solidFill>
                <a:latin typeface="Calibri" pitchFamily="34" charset="0"/>
                <a:ea typeface="Calibri" pitchFamily="34" charset="-122"/>
                <a:cs typeface="Calibri" pitchFamily="34" charset="-120"/>
              </a:rPr>
              <a:t>our detector</a:t>
            </a:r>
            <a:endParaRPr lang="en-US" sz="5600" dirty="0"/>
          </a:p>
        </p:txBody>
      </p:sp>
      <p:sp>
        <p:nvSpPr>
          <p:cNvPr id="9" name="Text 7"/>
          <p:cNvSpPr txBox="1"/>
          <p:nvPr/>
        </p:nvSpPr>
        <p:spPr>
          <a:xfrm>
            <a:off x="617220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is built on this design</a:t>
            </a:r>
            <a:endParaRPr lang="en-US" sz="1900" dirty="0"/>
          </a:p>
        </p:txBody>
      </p:sp>
      <p:sp>
        <p:nvSpPr>
          <p:cNvPr id="11"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THE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works: four steps</a:t>
            </a:r>
            <a:endParaRPr lang="en-US" sz="3400" dirty="0"/>
          </a:p>
        </p:txBody>
      </p:sp>
      <p:sp>
        <p:nvSpPr>
          <p:cNvPr id="4" name="Shape 2"/>
          <p:cNvSpPr/>
          <p:nvPr/>
        </p:nvSpPr>
        <p:spPr>
          <a:xfrm>
            <a:off x="548640" y="1417320"/>
            <a:ext cx="2606040" cy="3246120"/>
          </a:xfrm>
          <a:prstGeom prst="roundRect">
            <a:avLst>
              <a:gd name="adj" fmla="val 4211"/>
            </a:avLst>
          </a:prstGeom>
          <a:solidFill>
            <a:srgbClr val="EEF2F6"/>
          </a:solidFill>
          <a:ln w="12700">
            <a:solidFill>
              <a:srgbClr val="EEF2F6"/>
            </a:solidFill>
            <a:prstDash val="solid"/>
          </a:ln>
        </p:spPr>
      </p:sp>
      <p:sp>
        <p:nvSpPr>
          <p:cNvPr id="5" name="Shape 3"/>
          <p:cNvSpPr/>
          <p:nvPr/>
        </p:nvSpPr>
        <p:spPr>
          <a:xfrm>
            <a:off x="777240" y="1600200"/>
            <a:ext cx="548640" cy="548640"/>
          </a:xfrm>
          <a:prstGeom prst="ellipse">
            <a:avLst/>
          </a:prstGeom>
          <a:solidFill>
            <a:srgbClr val="0F1B2D"/>
          </a:solidFill>
          <a:ln w="12700">
            <a:solidFill>
              <a:srgbClr val="0F1B2D"/>
            </a:solidFill>
            <a:prstDash val="solid"/>
          </a:ln>
        </p:spPr>
      </p:sp>
      <p:sp>
        <p:nvSpPr>
          <p:cNvPr id="6" name="Text 4"/>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777240"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Look at short pieces</a:t>
            </a:r>
            <a:endParaRPr lang="en-US" sz="2300" dirty="0"/>
          </a:p>
        </p:txBody>
      </p:sp>
      <p:sp>
        <p:nvSpPr>
          <p:cNvPr id="8" name="Text 6"/>
          <p:cNvSpPr txBox="1"/>
          <p:nvPr/>
        </p:nvSpPr>
        <p:spPr>
          <a:xfrm>
            <a:off x="777240"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CNN</a:t>
            </a:r>
            <a:endParaRPr lang="en-US" sz="1600" dirty="0"/>
          </a:p>
        </p:txBody>
      </p:sp>
      <p:sp>
        <p:nvSpPr>
          <p:cNvPr id="9" name="Text 7"/>
          <p:cNvSpPr txBox="1"/>
          <p:nvPr/>
        </p:nvSpPr>
        <p:spPr>
          <a:xfrm>
            <a:off x="777240"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short filters slide along the signal</a:t>
            </a:r>
            <a:endParaRPr lang="en-US" sz="1800" dirty="0"/>
          </a:p>
        </p:txBody>
      </p:sp>
      <p:sp>
        <p:nvSpPr>
          <p:cNvPr id="10" name="Shape 8"/>
          <p:cNvSpPr/>
          <p:nvPr/>
        </p:nvSpPr>
        <p:spPr>
          <a:xfrm>
            <a:off x="3364992" y="1417320"/>
            <a:ext cx="2606040" cy="3246120"/>
          </a:xfrm>
          <a:prstGeom prst="roundRect">
            <a:avLst>
              <a:gd name="adj" fmla="val 4211"/>
            </a:avLst>
          </a:prstGeom>
          <a:solidFill>
            <a:srgbClr val="0F1B2D"/>
          </a:solidFill>
          <a:ln w="12700">
            <a:solidFill>
              <a:srgbClr val="0F1B2D"/>
            </a:solidFill>
            <a:prstDash val="solid"/>
          </a:ln>
        </p:spPr>
      </p:sp>
      <p:sp>
        <p:nvSpPr>
          <p:cNvPr id="11" name="Shape 9"/>
          <p:cNvSpPr/>
          <p:nvPr/>
        </p:nvSpPr>
        <p:spPr>
          <a:xfrm>
            <a:off x="3593592" y="1600200"/>
            <a:ext cx="548640" cy="548640"/>
          </a:xfrm>
          <a:prstGeom prst="ellipse">
            <a:avLst/>
          </a:prstGeom>
          <a:solidFill>
            <a:srgbClr val="F08A24"/>
          </a:solidFill>
          <a:ln w="12700">
            <a:solidFill>
              <a:srgbClr val="F08A24"/>
            </a:solidFill>
            <a:prstDash val="solid"/>
          </a:ln>
        </p:spPr>
      </p:sp>
      <p:sp>
        <p:nvSpPr>
          <p:cNvPr id="12" name="Text 10"/>
          <p:cNvSpPr txBox="1"/>
          <p:nvPr/>
        </p:nvSpPr>
        <p:spPr>
          <a:xfrm>
            <a:off x="3593592"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txBox="1"/>
          <p:nvPr/>
        </p:nvSpPr>
        <p:spPr>
          <a:xfrm>
            <a:off x="3593592" y="2286000"/>
            <a:ext cx="2194560" cy="86868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Read them in order</a:t>
            </a:r>
            <a:endParaRPr lang="en-US" sz="2300" dirty="0"/>
          </a:p>
        </p:txBody>
      </p:sp>
      <p:sp>
        <p:nvSpPr>
          <p:cNvPr id="14" name="Text 12"/>
          <p:cNvSpPr txBox="1"/>
          <p:nvPr/>
        </p:nvSpPr>
        <p:spPr>
          <a:xfrm>
            <a:off x="3593592" y="3154680"/>
            <a:ext cx="2194560" cy="411480"/>
          </a:xfrm>
          <a:prstGeom prst="rect">
            <a:avLst/>
          </a:prstGeom>
          <a:noFill/>
          <a:ln/>
        </p:spPr>
        <p:txBody>
          <a:bodyPr wrap="square" lIns="0" tIns="0" rIns="0" bIns="0" rtlCol="0" anchor="t"/>
          <a:lstStyle/>
          <a:p>
            <a:pPr indent="0" marL="0">
              <a:buNone/>
            </a:pPr>
            <a:r>
              <a:rPr lang="en-US" sz="1600" i="1" dirty="0">
                <a:solidFill>
                  <a:srgbClr val="C9D3E0"/>
                </a:solidFill>
                <a:latin typeface="Calibri" pitchFamily="34" charset="0"/>
                <a:ea typeface="Calibri" pitchFamily="34" charset="-122"/>
                <a:cs typeface="Calibri" pitchFamily="34" charset="-120"/>
              </a:rPr>
              <a:t>LSTM, both directions</a:t>
            </a:r>
            <a:endParaRPr lang="en-US" sz="1600" dirty="0"/>
          </a:p>
        </p:txBody>
      </p:sp>
      <p:sp>
        <p:nvSpPr>
          <p:cNvPr id="15" name="Text 13"/>
          <p:cNvSpPr txBox="1"/>
          <p:nvPr/>
        </p:nvSpPr>
        <p:spPr>
          <a:xfrm>
            <a:off x="3593592" y="3611880"/>
            <a:ext cx="2194560" cy="9144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carries a memory from piece to piece</a:t>
            </a:r>
            <a:endParaRPr lang="en-US" sz="1800" dirty="0"/>
          </a:p>
        </p:txBody>
      </p:sp>
      <p:sp>
        <p:nvSpPr>
          <p:cNvPr id="16" name="Shape 14"/>
          <p:cNvSpPr/>
          <p:nvPr/>
        </p:nvSpPr>
        <p:spPr>
          <a:xfrm>
            <a:off x="6181344" y="1417320"/>
            <a:ext cx="2606040" cy="3246120"/>
          </a:xfrm>
          <a:prstGeom prst="roundRect">
            <a:avLst>
              <a:gd name="adj" fmla="val 4211"/>
            </a:avLst>
          </a:prstGeom>
          <a:solidFill>
            <a:srgbClr val="EEF2F6"/>
          </a:solidFill>
          <a:ln w="12700">
            <a:solidFill>
              <a:srgbClr val="EEF2F6"/>
            </a:solidFill>
            <a:prstDash val="solid"/>
          </a:ln>
        </p:spPr>
      </p:sp>
      <p:sp>
        <p:nvSpPr>
          <p:cNvPr id="17" name="Shape 15"/>
          <p:cNvSpPr/>
          <p:nvPr/>
        </p:nvSpPr>
        <p:spPr>
          <a:xfrm>
            <a:off x="6409944" y="1600200"/>
            <a:ext cx="548640" cy="548640"/>
          </a:xfrm>
          <a:prstGeom prst="ellipse">
            <a:avLst/>
          </a:prstGeom>
          <a:solidFill>
            <a:srgbClr val="0F1B2D"/>
          </a:solidFill>
          <a:ln w="12700">
            <a:solidFill>
              <a:srgbClr val="0F1B2D"/>
            </a:solidFill>
            <a:prstDash val="solid"/>
          </a:ln>
        </p:spPr>
      </p:sp>
      <p:sp>
        <p:nvSpPr>
          <p:cNvPr id="18" name="Text 16"/>
          <p:cNvSpPr txBox="1"/>
          <p:nvPr/>
        </p:nvSpPr>
        <p:spPr>
          <a:xfrm>
            <a:off x="6409944"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9" name="Text 17"/>
          <p:cNvSpPr txBox="1"/>
          <p:nvPr/>
        </p:nvSpPr>
        <p:spPr>
          <a:xfrm>
            <a:off x="6409944"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Weigh the pieces</a:t>
            </a:r>
            <a:endParaRPr lang="en-US" sz="2300" dirty="0"/>
          </a:p>
        </p:txBody>
      </p:sp>
      <p:sp>
        <p:nvSpPr>
          <p:cNvPr id="20" name="Text 18"/>
          <p:cNvSpPr txBox="1"/>
          <p:nvPr/>
        </p:nvSpPr>
        <p:spPr>
          <a:xfrm>
            <a:off x="6409944"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attention</a:t>
            </a:r>
            <a:endParaRPr lang="en-US" sz="1600" dirty="0"/>
          </a:p>
        </p:txBody>
      </p:sp>
      <p:sp>
        <p:nvSpPr>
          <p:cNvPr id="21" name="Text 19"/>
          <p:cNvSpPr txBox="1"/>
          <p:nvPr/>
        </p:nvSpPr>
        <p:spPr>
          <a:xfrm>
            <a:off x="6409944"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a weighted average of all the pieces</a:t>
            </a:r>
            <a:endParaRPr lang="en-US" sz="1800" dirty="0"/>
          </a:p>
        </p:txBody>
      </p:sp>
      <p:sp>
        <p:nvSpPr>
          <p:cNvPr id="22" name="Shape 20"/>
          <p:cNvSpPr/>
          <p:nvPr/>
        </p:nvSpPr>
        <p:spPr>
          <a:xfrm>
            <a:off x="8997696" y="1417320"/>
            <a:ext cx="2606040" cy="3246120"/>
          </a:xfrm>
          <a:prstGeom prst="roundRect">
            <a:avLst>
              <a:gd name="adj" fmla="val 4211"/>
            </a:avLst>
          </a:prstGeom>
          <a:solidFill>
            <a:srgbClr val="EEF2F6"/>
          </a:solidFill>
          <a:ln w="12700">
            <a:solidFill>
              <a:srgbClr val="EEF2F6"/>
            </a:solidFill>
            <a:prstDash val="solid"/>
          </a:ln>
        </p:spPr>
      </p:sp>
      <p:sp>
        <p:nvSpPr>
          <p:cNvPr id="23" name="Shape 21"/>
          <p:cNvSpPr/>
          <p:nvPr/>
        </p:nvSpPr>
        <p:spPr>
          <a:xfrm>
            <a:off x="9226296" y="1600200"/>
            <a:ext cx="548640" cy="548640"/>
          </a:xfrm>
          <a:prstGeom prst="ellipse">
            <a:avLst/>
          </a:prstGeom>
          <a:solidFill>
            <a:srgbClr val="0F1B2D"/>
          </a:solidFill>
          <a:ln w="12700">
            <a:solidFill>
              <a:srgbClr val="0F1B2D"/>
            </a:solidFill>
            <a:prstDash val="solid"/>
          </a:ln>
        </p:spPr>
      </p:sp>
      <p:sp>
        <p:nvSpPr>
          <p:cNvPr id="24" name="Text 22"/>
          <p:cNvSpPr txBox="1"/>
          <p:nvPr/>
        </p:nvSpPr>
        <p:spPr>
          <a:xfrm>
            <a:off x="9226296"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3"/>
          <p:cNvSpPr txBox="1"/>
          <p:nvPr/>
        </p:nvSpPr>
        <p:spPr>
          <a:xfrm>
            <a:off x="9226296"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Decide</a:t>
            </a:r>
            <a:endParaRPr lang="en-US" sz="2300" dirty="0"/>
          </a:p>
        </p:txBody>
      </p:sp>
      <p:sp>
        <p:nvSpPr>
          <p:cNvPr id="26" name="Text 24"/>
          <p:cNvSpPr txBox="1"/>
          <p:nvPr/>
        </p:nvSpPr>
        <p:spPr>
          <a:xfrm>
            <a:off x="9226296"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dense layers</a:t>
            </a:r>
            <a:endParaRPr lang="en-US" sz="1600" dirty="0"/>
          </a:p>
        </p:txBody>
      </p:sp>
      <p:sp>
        <p:nvSpPr>
          <p:cNvPr id="27" name="Text 25"/>
          <p:cNvSpPr txBox="1"/>
          <p:nvPr/>
        </p:nvSpPr>
        <p:spPr>
          <a:xfrm>
            <a:off x="9226296"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11 scores; the largest one wins</a:t>
            </a:r>
            <a:endParaRPr lang="en-US" sz="1800" dirty="0"/>
          </a:p>
        </p:txBody>
      </p:sp>
      <p:sp>
        <p:nvSpPr>
          <p:cNvPr id="28" name="Text 26"/>
          <p:cNvSpPr txBox="1"/>
          <p:nvPr/>
        </p:nvSpPr>
        <p:spPr>
          <a:xfrm>
            <a:off x="548640" y="4892040"/>
            <a:ext cx="11091672"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In: 128 samples (I and Q).  Out: 11 scores.  794,188 numbers learned, 83% of them in step 2.</a:t>
            </a:r>
            <a:endParaRPr lang="en-US" sz="1900" dirty="0"/>
          </a:p>
        </p:txBody>
      </p:sp>
      <p:sp>
        <p:nvSpPr>
          <p:cNvPr id="29" name="Text 2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Step 2, reading the pieces in order, is the heart of it.</a:t>
            </a:r>
            <a:endParaRPr lang="en-US" sz="24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they trained and tested it</a:t>
            </a:r>
            <a:endParaRPr lang="en-US" sz="3400" dirty="0"/>
          </a:p>
        </p:txBody>
      </p:sp>
      <p:sp>
        <p:nvSpPr>
          <p:cNvPr id="4" name="Shape 2"/>
          <p:cNvSpPr/>
          <p:nvPr/>
        </p:nvSpPr>
        <p:spPr>
          <a:xfrm>
            <a:off x="548640" y="1463040"/>
            <a:ext cx="3520440" cy="2651760"/>
          </a:xfrm>
          <a:prstGeom prst="roundRect">
            <a:avLst>
              <a:gd name="adj" fmla="val 4138"/>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70%</a:t>
            </a:r>
            <a:endParaRPr lang="en-US" sz="1800" dirty="0"/>
          </a:p>
        </p:txBody>
      </p:sp>
      <p:sp>
        <p:nvSpPr>
          <p:cNvPr id="6" name="Text 4"/>
          <p:cNvSpPr txBox="1"/>
          <p:nvPr/>
        </p:nvSpPr>
        <p:spPr>
          <a:xfrm>
            <a:off x="82296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154,000</a:t>
            </a:r>
            <a:endParaRPr lang="en-US" sz="5000" dirty="0"/>
          </a:p>
        </p:txBody>
      </p:sp>
      <p:sp>
        <p:nvSpPr>
          <p:cNvPr id="7" name="Text 5"/>
          <p:cNvSpPr txBox="1"/>
          <p:nvPr/>
        </p:nvSpPr>
        <p:spPr>
          <a:xfrm>
            <a:off x="82296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with the right answer: it learns from these</a:t>
            </a:r>
            <a:endParaRPr lang="en-US" sz="1900" dirty="0"/>
          </a:p>
        </p:txBody>
      </p:sp>
      <p:sp>
        <p:nvSpPr>
          <p:cNvPr id="8" name="Shape 6"/>
          <p:cNvSpPr/>
          <p:nvPr/>
        </p:nvSpPr>
        <p:spPr>
          <a:xfrm>
            <a:off x="4343400" y="1463040"/>
            <a:ext cx="3520440" cy="2651760"/>
          </a:xfrm>
          <a:prstGeom prst="roundRect">
            <a:avLst>
              <a:gd name="adj" fmla="val 4138"/>
            </a:avLst>
          </a:prstGeom>
          <a:solidFill>
            <a:srgbClr val="EEF2F6"/>
          </a:solidFill>
          <a:ln w="12700">
            <a:solidFill>
              <a:srgbClr val="EEF2F6"/>
            </a:solidFill>
            <a:prstDash val="solid"/>
          </a:ln>
        </p:spPr>
      </p:sp>
      <p:sp>
        <p:nvSpPr>
          <p:cNvPr id="9" name="Text 7"/>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800" b="1" dirty="0">
                <a:solidFill>
                  <a:srgbClr val="8FA0B5"/>
                </a:solidFill>
                <a:latin typeface="Calibri" pitchFamily="34" charset="0"/>
                <a:ea typeface="Calibri" pitchFamily="34" charset="-122"/>
                <a:cs typeface="Calibri" pitchFamily="34" charset="-120"/>
              </a:rPr>
              <a:t>15%</a:t>
            </a:r>
            <a:endParaRPr lang="en-US" sz="1800" dirty="0"/>
          </a:p>
        </p:txBody>
      </p:sp>
      <p:sp>
        <p:nvSpPr>
          <p:cNvPr id="10" name="Text 8"/>
          <p:cNvSpPr txBox="1"/>
          <p:nvPr/>
        </p:nvSpPr>
        <p:spPr>
          <a:xfrm>
            <a:off x="461772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1" name="Text 9"/>
          <p:cNvSpPr txBox="1"/>
          <p:nvPr/>
        </p:nvSpPr>
        <p:spPr>
          <a:xfrm>
            <a:off x="461772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to decide when to stop learning</a:t>
            </a:r>
            <a:endParaRPr lang="en-US" sz="1900" dirty="0"/>
          </a:p>
        </p:txBody>
      </p:sp>
      <p:sp>
        <p:nvSpPr>
          <p:cNvPr id="12" name="Shape 10"/>
          <p:cNvSpPr/>
          <p:nvPr/>
        </p:nvSpPr>
        <p:spPr>
          <a:xfrm>
            <a:off x="8138160" y="1463040"/>
            <a:ext cx="3520440" cy="2651760"/>
          </a:xfrm>
          <a:prstGeom prst="roundRect">
            <a:avLst>
              <a:gd name="adj" fmla="val 4138"/>
            </a:avLst>
          </a:prstGeom>
          <a:solidFill>
            <a:srgbClr val="EEF2F6"/>
          </a:solidFill>
          <a:ln w="12700">
            <a:solidFill>
              <a:srgbClr val="EEF2F6"/>
            </a:solidFill>
            <a:prstDash val="solid"/>
          </a:ln>
        </p:spPr>
      </p:sp>
      <p:sp>
        <p:nvSpPr>
          <p:cNvPr id="13" name="Text 11"/>
          <p:cNvSpPr txBox="1"/>
          <p:nvPr/>
        </p:nvSpPr>
        <p:spPr>
          <a:xfrm>
            <a:off x="8412480" y="1600200"/>
            <a:ext cx="3017520" cy="411480"/>
          </a:xfrm>
          <a:prstGeom prst="rect">
            <a:avLst/>
          </a:prstGeom>
          <a:noFill/>
          <a:ln/>
        </p:spPr>
        <p:txBody>
          <a:bodyPr wrap="square" lIns="0" tIns="0" rIns="0" bIns="0" rtlCol="0" anchor="t"/>
          <a:lstStyle/>
          <a:p>
            <a:pPr indent="0" marL="0">
              <a:buNone/>
            </a:pPr>
            <a:r>
              <a:rPr lang="en-US" sz="1800" b="1" dirty="0">
                <a:solidFill>
                  <a:srgbClr val="F08A24"/>
                </a:solidFill>
                <a:latin typeface="Calibri" pitchFamily="34" charset="0"/>
                <a:ea typeface="Calibri" pitchFamily="34" charset="-122"/>
                <a:cs typeface="Calibri" pitchFamily="34" charset="-120"/>
              </a:rPr>
              <a:t>15%</a:t>
            </a:r>
            <a:endParaRPr lang="en-US" sz="1800" dirty="0"/>
          </a:p>
        </p:txBody>
      </p:sp>
      <p:sp>
        <p:nvSpPr>
          <p:cNvPr id="14" name="Text 12"/>
          <p:cNvSpPr txBox="1"/>
          <p:nvPr/>
        </p:nvSpPr>
        <p:spPr>
          <a:xfrm>
            <a:off x="841248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5" name="Text 13"/>
          <p:cNvSpPr txBox="1"/>
          <p:nvPr/>
        </p:nvSpPr>
        <p:spPr>
          <a:xfrm>
            <a:off x="841248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kept aside: every result is counted on these</a:t>
            </a:r>
            <a:endParaRPr lang="en-US" sz="1900" dirty="0"/>
          </a:p>
        </p:txBody>
      </p:sp>
      <p:sp>
        <p:nvSpPr>
          <p:cNvPr id="16" name="Text 14"/>
          <p:cNvSpPr txBox="1"/>
          <p:nvPr/>
        </p:nvSpPr>
        <p:spPr>
          <a:xfrm>
            <a:off x="548640" y="4389120"/>
            <a:ext cx="11091672" cy="548640"/>
          </a:xfrm>
          <a:prstGeom prst="rect">
            <a:avLst/>
          </a:prstGeom>
          <a:noFill/>
          <a:ln/>
        </p:spPr>
        <p:txBody>
          <a:bodyPr wrap="square" lIns="0" tIns="0" rIns="0" bIns="0" rtlCol="0" anchor="t"/>
          <a:lstStyle/>
          <a:p>
            <a:pPr indent="0" marL="0">
              <a:buNone/>
            </a:pPr>
            <a:r>
              <a:rPr lang="en-US" sz="2100" dirty="0">
                <a:solidFill>
                  <a:srgbClr val="1E293B"/>
                </a:solidFill>
                <a:latin typeface="Calibri" pitchFamily="34" charset="0"/>
                <a:ea typeface="Calibri" pitchFamily="34" charset="-122"/>
                <a:cs typeface="Calibri" pitchFamily="34" charset="-120"/>
              </a:rPr>
              <a:t>It stopped by itself after 58 passes over the data, when it stopped improving. Done once.</a:t>
            </a:r>
            <a:endParaRPr lang="en-US" sz="2100" dirty="0"/>
          </a:p>
        </p:txBody>
      </p:sp>
      <p:sp>
        <p:nvSpPr>
          <p:cNvPr id="17" name="Text 1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test frames are never used for learning.</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step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added by step 3 (weighing)</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step 2 alone and all four</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Step 2, reading in order,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code, and what it gives</a:t>
            </a:r>
            <a:endParaRPr lang="en-US" sz="3400" dirty="0"/>
          </a:p>
        </p:txBody>
      </p:sp>
      <p:sp>
        <p:nvSpPr>
          <p:cNvPr id="4" name="Shape 2"/>
          <p:cNvSpPr/>
          <p:nvPr/>
        </p:nvSpPr>
        <p:spPr>
          <a:xfrm>
            <a:off x="548640" y="1463040"/>
            <a:ext cx="4937760" cy="1234440"/>
          </a:xfrm>
          <a:prstGeom prst="roundRect">
            <a:avLst>
              <a:gd name="adj" fmla="val 8889"/>
            </a:avLst>
          </a:prstGeom>
          <a:solidFill>
            <a:srgbClr val="EEF2F6"/>
          </a:solidFill>
          <a:ln w="12700">
            <a:solidFill>
              <a:srgbClr val="EEF2F6"/>
            </a:solidFill>
            <a:prstDash val="solid"/>
          </a:ln>
        </p:spPr>
      </p:sp>
      <p:sp>
        <p:nvSpPr>
          <p:cNvPr id="5" name="Text 3"/>
          <p:cNvSpPr txBox="1"/>
          <p:nvPr/>
        </p:nvSpPr>
        <p:spPr>
          <a:xfrm>
            <a:off x="822960" y="1572768"/>
            <a:ext cx="43891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Apr 2025</a:t>
            </a:r>
            <a:endParaRPr lang="en-US" sz="2400" dirty="0"/>
          </a:p>
        </p:txBody>
      </p:sp>
      <p:sp>
        <p:nvSpPr>
          <p:cNvPr id="6" name="Text 4"/>
          <p:cNvSpPr txBox="1"/>
          <p:nvPr/>
        </p:nvSpPr>
        <p:spPr>
          <a:xfrm>
            <a:off x="822960" y="2057400"/>
            <a:ext cx="4480560" cy="5486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 paper, without code</a:t>
            </a:r>
            <a:endParaRPr lang="en-US" sz="1900" dirty="0"/>
          </a:p>
        </p:txBody>
      </p:sp>
      <p:sp>
        <p:nvSpPr>
          <p:cNvPr id="7" name="Shape 5"/>
          <p:cNvSpPr/>
          <p:nvPr/>
        </p:nvSpPr>
        <p:spPr>
          <a:xfrm>
            <a:off x="548640" y="2880360"/>
            <a:ext cx="4937760" cy="1234440"/>
          </a:xfrm>
          <a:prstGeom prst="roundRect">
            <a:avLst>
              <a:gd name="adj" fmla="val 8889"/>
            </a:avLst>
          </a:prstGeom>
          <a:solidFill>
            <a:srgbClr val="EEF2F6"/>
          </a:solidFill>
          <a:ln w="12700">
            <a:solidFill>
              <a:srgbClr val="EEF2F6"/>
            </a:solidFill>
            <a:prstDash val="solid"/>
          </a:ln>
        </p:spPr>
      </p:sp>
      <p:sp>
        <p:nvSpPr>
          <p:cNvPr id="8" name="Text 6"/>
          <p:cNvSpPr txBox="1"/>
          <p:nvPr/>
        </p:nvSpPr>
        <p:spPr>
          <a:xfrm>
            <a:off x="822960" y="2990088"/>
            <a:ext cx="43891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Aug 2026</a:t>
            </a:r>
            <a:endParaRPr lang="en-US" sz="2400" dirty="0"/>
          </a:p>
        </p:txBody>
      </p:sp>
      <p:sp>
        <p:nvSpPr>
          <p:cNvPr id="9" name="Text 7"/>
          <p:cNvSpPr txBox="1"/>
          <p:nvPr/>
        </p:nvSpPr>
        <p:spPr>
          <a:xfrm>
            <a:off x="822960" y="3474720"/>
            <a:ext cx="4480560" cy="5486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their code on GitHub (no trained network)</a:t>
            </a:r>
            <a:endParaRPr lang="en-US" sz="1900" dirty="0"/>
          </a:p>
        </p:txBody>
      </p:sp>
      <p:sp>
        <p:nvSpPr>
          <p:cNvPr id="10" name="Shape 8"/>
          <p:cNvSpPr/>
          <p:nvPr/>
        </p:nvSpPr>
        <p:spPr>
          <a:xfrm>
            <a:off x="5760720" y="1463040"/>
            <a:ext cx="5879592" cy="2651760"/>
          </a:xfrm>
          <a:prstGeom prst="roundRect">
            <a:avLst>
              <a:gd name="adj" fmla="val 4138"/>
            </a:avLst>
          </a:prstGeom>
          <a:solidFill>
            <a:srgbClr val="0F1B2D"/>
          </a:solidFill>
          <a:ln w="12700">
            <a:solidFill>
              <a:srgbClr val="0F1B2D"/>
            </a:solidFill>
            <a:prstDash val="solid"/>
          </a:ln>
        </p:spPr>
      </p:sp>
      <p:sp>
        <p:nvSpPr>
          <p:cNvPr id="11" name="Text 9"/>
          <p:cNvSpPr txBox="1"/>
          <p:nvPr/>
        </p:nvSpPr>
        <p:spPr>
          <a:xfrm>
            <a:off x="6035040" y="1691640"/>
            <a:ext cx="530352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3 runs</a:t>
            </a:r>
            <a:endParaRPr lang="en-US" sz="6000" dirty="0"/>
          </a:p>
        </p:txBody>
      </p:sp>
      <p:sp>
        <p:nvSpPr>
          <p:cNvPr id="12" name="Text 10"/>
          <p:cNvSpPr txBox="1"/>
          <p:nvPr/>
        </p:nvSpPr>
        <p:spPr>
          <a:xfrm>
            <a:off x="6035040" y="2834640"/>
            <a:ext cx="5394960" cy="100584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of their own code, on Colab now. Do we get 63.24% too?</a:t>
            </a:r>
            <a:endParaRPr lang="en-US" sz="2100" dirty="0"/>
          </a:p>
        </p:txBody>
      </p:sp>
      <p:sp>
        <p:nvSpPr>
          <p:cNvPr id="13" name="Text 11"/>
          <p:cNvSpPr txBox="1"/>
          <p:nvPr/>
        </p:nvSpPr>
        <p:spPr>
          <a:xfrm>
            <a:off x="548640" y="4572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Now we can run exactly what they ran; results next time.</a:t>
            </a:r>
            <a:endParaRPr lang="en-US" sz="24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Is their number real?</a:t>
            </a:r>
            <a:endParaRPr lang="en-US" sz="3400" dirty="0"/>
          </a:p>
        </p:txBody>
      </p:sp>
      <p:sp>
        <p:nvSpPr>
          <p:cNvPr id="4" name="Shape 2"/>
          <p:cNvSpPr/>
          <p:nvPr/>
        </p:nvSpPr>
        <p:spPr>
          <a:xfrm>
            <a:off x="548640" y="1463040"/>
            <a:ext cx="5394960" cy="2468880"/>
          </a:xfrm>
          <a:prstGeom prst="roundRect">
            <a:avLst>
              <a:gd name="adj" fmla="val 4444"/>
            </a:avLst>
          </a:prstGeom>
          <a:solidFill>
            <a:srgbClr val="EEF2F6"/>
          </a:solidFill>
          <a:ln w="12700">
            <a:solidFill>
              <a:srgbClr val="EEF2F6"/>
            </a:solidFill>
            <a:prstDash val="solid"/>
          </a:ln>
        </p:spPr>
      </p:sp>
      <p:sp>
        <p:nvSpPr>
          <p:cNvPr id="5" name="Text 3"/>
          <p:cNvSpPr txBox="1"/>
          <p:nvPr/>
        </p:nvSpPr>
        <p:spPr>
          <a:xfrm>
            <a:off x="868680" y="1645920"/>
            <a:ext cx="4754880" cy="91440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63.24%</a:t>
            </a:r>
            <a:endParaRPr lang="en-US" sz="6600" dirty="0"/>
          </a:p>
        </p:txBody>
      </p:sp>
      <p:sp>
        <p:nvSpPr>
          <p:cNvPr id="6" name="Text 4"/>
          <p:cNvSpPr txBox="1"/>
          <p:nvPr/>
        </p:nvSpPr>
        <p:spPr>
          <a:xfrm>
            <a:off x="868680" y="2606040"/>
            <a:ext cx="475488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paper</a:t>
            </a:r>
            <a:endParaRPr lang="en-US" sz="1900" dirty="0"/>
          </a:p>
        </p:txBody>
      </p:sp>
      <p:sp>
        <p:nvSpPr>
          <p:cNvPr id="7" name="Shape 5"/>
          <p:cNvSpPr/>
          <p:nvPr/>
        </p:nvSpPr>
        <p:spPr>
          <a:xfrm>
            <a:off x="6172200" y="1463040"/>
            <a:ext cx="5468112" cy="2468880"/>
          </a:xfrm>
          <a:prstGeom prst="roundRect">
            <a:avLst>
              <a:gd name="adj" fmla="val 4444"/>
            </a:avLst>
          </a:prstGeom>
          <a:solidFill>
            <a:srgbClr val="0F1B2D"/>
          </a:solidFill>
          <a:ln w="12700">
            <a:solidFill>
              <a:srgbClr val="0F1B2D"/>
            </a:solidFill>
            <a:prstDash val="solid"/>
          </a:ln>
        </p:spPr>
      </p:sp>
      <p:sp>
        <p:nvSpPr>
          <p:cNvPr id="8" name="Text 6"/>
          <p:cNvSpPr txBox="1"/>
          <p:nvPr/>
        </p:nvSpPr>
        <p:spPr>
          <a:xfrm>
            <a:off x="6492240" y="1645920"/>
            <a:ext cx="4754880" cy="914400"/>
          </a:xfrm>
          <a:prstGeom prst="rect">
            <a:avLst/>
          </a:prstGeom>
          <a:noFill/>
          <a:ln/>
        </p:spPr>
        <p:txBody>
          <a:bodyPr wrap="square" lIns="0" tIns="0" rIns="0" bIns="0" rtlCol="0" anchor="b"/>
          <a:lstStyle/>
          <a:p>
            <a:pPr indent="0" marL="0">
              <a:buNone/>
            </a:pPr>
            <a:r>
              <a:rPr lang="en-US" sz="6600" b="1" dirty="0">
                <a:solidFill>
                  <a:srgbClr val="F08A24"/>
                </a:solidFill>
                <a:latin typeface="Calibri" pitchFamily="34" charset="0"/>
                <a:ea typeface="Calibri" pitchFamily="34" charset="-122"/>
                <a:cs typeface="Calibri" pitchFamily="34" charset="-120"/>
              </a:rPr>
              <a:t>63.21%</a:t>
            </a:r>
            <a:endParaRPr lang="en-US" sz="6600" dirty="0"/>
          </a:p>
        </p:txBody>
      </p:sp>
      <p:sp>
        <p:nvSpPr>
          <p:cNvPr id="9" name="Text 7"/>
          <p:cNvSpPr txBox="1"/>
          <p:nvPr/>
        </p:nvSpPr>
        <p:spPr>
          <a:xfrm>
            <a:off x="6492240" y="2606040"/>
            <a:ext cx="4846320" cy="731520"/>
          </a:xfrm>
          <a:prstGeom prst="rect">
            <a:avLst/>
          </a:prstGeom>
          <a:noFill/>
          <a:ln/>
        </p:spPr>
        <p:txBody>
          <a:bodyPr wrap="square" lIns="0" tIns="0" rIns="0" bIns="0" rtlCol="0" anchor="t"/>
          <a:lstStyle/>
          <a:p>
            <a:pPr indent="0" marL="0">
              <a:buNone/>
            </a:pPr>
            <a:r>
              <a:rPr lang="en-US" sz="1900" dirty="0">
                <a:solidFill>
                  <a:srgbClr val="FFFFFF"/>
                </a:solidFill>
                <a:latin typeface="Calibri" pitchFamily="34" charset="0"/>
                <a:ea typeface="Calibri" pitchFamily="34" charset="-122"/>
                <a:cs typeface="Calibri" pitchFamily="34" charset="-120"/>
              </a:rPr>
              <a:t>our rebuild, from the paper's text alone</a:t>
            </a:r>
            <a:endParaRPr lang="en-US" sz="1900" dirty="0"/>
          </a:p>
        </p:txBody>
      </p:sp>
      <p:sp>
        <p:nvSpPr>
          <p:cNvPr id="10" name="Text 8"/>
          <p:cNvSpPr txBox="1"/>
          <p:nvPr/>
        </p:nvSpPr>
        <p:spPr>
          <a:xfrm>
            <a:off x="548640" y="4206240"/>
            <a:ext cx="11091672" cy="548640"/>
          </a:xfrm>
          <a:prstGeom prst="rect">
            <a:avLst/>
          </a:prstGeom>
          <a:noFill/>
          <a:ln/>
        </p:spPr>
        <p:txBody>
          <a:bodyPr wrap="square" lIns="0" tIns="0" rIns="0" bIns="0" rtlCol="0" anchor="t"/>
          <a:lstStyle/>
          <a:p>
            <a:pPr indent="0" marL="0">
              <a:buNone/>
            </a:pPr>
            <a:r>
              <a:rPr lang="en-US" sz="2100" dirty="0">
                <a:solidFill>
                  <a:srgbClr val="1E293B"/>
                </a:solidFill>
                <a:latin typeface="Calibri" pitchFamily="34" charset="0"/>
                <a:ea typeface="Calibri" pitchFamily="34" charset="-122"/>
                <a:cs typeface="Calibri" pitchFamily="34" charset="-120"/>
              </a:rPr>
              <a:t>It needed longer training than the paper's 58 passes: our best was at pass 107.</a:t>
            </a:r>
            <a:endParaRPr lang="en-US" sz="2100" dirty="0"/>
          </a:p>
        </p:txBody>
      </p:sp>
      <p:sp>
        <p:nvSpPr>
          <p:cNvPr id="11" name="Text 9"/>
          <p:cNvSpPr txBox="1"/>
          <p:nvPr/>
        </p:nvSpPr>
        <p:spPr>
          <a:xfrm>
            <a:off x="548640" y="50292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Yes: the result can be reproduced.</a:t>
            </a:r>
            <a:endParaRPr lang="en-US" sz="2400" dirty="0"/>
          </a:p>
        </p:txBody>
      </p:sp>
      <p:sp>
        <p:nvSpPr>
          <p:cNvPr id="13" name="Text 1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much better is it, really?</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We trained five published models the same way: same data, same split, 3 repeats each.</a:t>
            </a:r>
            <a:endParaRPr lang="en-US" sz="2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4206240"/>
                <a:gridCol w="3429000"/>
                <a:gridCol w="34564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all noise levels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10 dB and above</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only by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A neural network in four steps; step 2, reading in order,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63.24% is real: we get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 is about one point better than older models, not a big jump.</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detector to build on.</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BACKUP</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Details, if asked</a:t>
            </a:r>
            <a:endParaRPr lang="en-US" sz="6000" dirty="0"/>
          </a:p>
        </p:txBody>
      </p:sp>
      <p:sp>
        <p:nvSpPr>
          <p:cNvPr id="4" name="Text 2"/>
          <p:cNvSpPr txBox="1"/>
          <p:nvPr/>
        </p:nvSpPr>
        <p:spPr>
          <a:xfrm>
            <a:off x="548640" y="3886200"/>
            <a:ext cx="109728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Each step of the model, the training recipe, their code, and what we checked in their tables.</a:t>
            </a:r>
            <a:endParaRPr lang="en-US" sz="22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their code tells us</a:t>
            </a:r>
            <a:endParaRPr lang="en-US" sz="3400" dirty="0"/>
          </a:p>
        </p:txBody>
      </p:sp>
      <p:sp>
        <p:nvSpPr>
          <p:cNvPr id="4" name="Shape 2"/>
          <p:cNvSpPr/>
          <p:nvPr/>
        </p:nvSpPr>
        <p:spPr>
          <a:xfrm>
            <a:off x="548640" y="1600200"/>
            <a:ext cx="640080" cy="640080"/>
          </a:xfrm>
          <a:prstGeom prst="ellipse">
            <a:avLst/>
          </a:prstGeom>
          <a:solidFill>
            <a:srgbClr val="0F1B2D"/>
          </a:solidFill>
          <a:ln w="12700">
            <a:solidFill>
              <a:srgbClr val="0F1B2D"/>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463040" y="146304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 model is the one in the paper</a:t>
            </a:r>
            <a:endParaRPr lang="en-US" sz="2600" dirty="0"/>
          </a:p>
        </p:txBody>
      </p:sp>
      <p:sp>
        <p:nvSpPr>
          <p:cNvPr id="7" name="Text 5"/>
          <p:cNvSpPr txBox="1"/>
          <p:nvPr/>
        </p:nvSpPr>
        <p:spPr>
          <a:xfrm>
            <a:off x="1463040" y="201168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same layers, 794,188 numbers (paper: 0.79 M)</a:t>
            </a:r>
            <a:endParaRPr lang="en-US" sz="2000" dirty="0"/>
          </a:p>
        </p:txBody>
      </p:sp>
      <p:sp>
        <p:nvSpPr>
          <p:cNvPr id="8" name="Shape 6"/>
          <p:cNvSpPr/>
          <p:nvPr/>
        </p:nvSpPr>
        <p:spPr>
          <a:xfrm>
            <a:off x="548640" y="2880360"/>
            <a:ext cx="640080" cy="640080"/>
          </a:xfrm>
          <a:prstGeom prst="ellipse">
            <a:avLst/>
          </a:prstGeom>
          <a:solidFill>
            <a:srgbClr val="F08A24"/>
          </a:solidFill>
          <a:ln w="12700">
            <a:solidFill>
              <a:srgbClr val="F08A24"/>
            </a:solidFill>
            <a:prstDash val="solid"/>
          </a:ln>
        </p:spPr>
      </p:sp>
      <p:sp>
        <p:nvSpPr>
          <p:cNvPr id="9" name="Text 7"/>
          <p:cNvSpPr txBox="1"/>
          <p:nvPr/>
        </p:nvSpPr>
        <p:spPr>
          <a:xfrm>
            <a:off x="548640" y="2880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463040" y="274320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“58 epochs” was not a choice</a:t>
            </a:r>
            <a:endParaRPr lang="en-US" sz="2600" dirty="0"/>
          </a:p>
        </p:txBody>
      </p:sp>
      <p:sp>
        <p:nvSpPr>
          <p:cNvPr id="11" name="Text 9"/>
          <p:cNvSpPr txBox="1"/>
          <p:nvPr/>
        </p:nvSpPr>
        <p:spPr>
          <a:xfrm>
            <a:off x="1463040" y="329184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training stops by itself when it stops improving; for them, at 58</a:t>
            </a:r>
            <a:endParaRPr lang="en-US" sz="2000" dirty="0"/>
          </a:p>
        </p:txBody>
      </p:sp>
      <p:sp>
        <p:nvSpPr>
          <p:cNvPr id="12" name="Shape 10"/>
          <p:cNvSpPr/>
          <p:nvPr/>
        </p:nvSpPr>
        <p:spPr>
          <a:xfrm>
            <a:off x="548640" y="4160520"/>
            <a:ext cx="640080" cy="640080"/>
          </a:xfrm>
          <a:prstGeom prst="ellipse">
            <a:avLst/>
          </a:prstGeom>
          <a:solidFill>
            <a:srgbClr val="0F1B2D"/>
          </a:solidFill>
          <a:ln w="12700">
            <a:solidFill>
              <a:srgbClr val="0F1B2D"/>
            </a:solidFill>
            <a:prstDash val="solid"/>
          </a:ln>
        </p:spPr>
      </p:sp>
      <p:sp>
        <p:nvSpPr>
          <p:cNvPr id="13" name="Text 11"/>
          <p:cNvSpPr txBox="1"/>
          <p:nvPr/>
        </p:nvSpPr>
        <p:spPr>
          <a:xfrm>
            <a:off x="548640" y="41605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463040" y="402336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They trained it once</a:t>
            </a:r>
            <a:endParaRPr lang="en-US" sz="2600" dirty="0"/>
          </a:p>
        </p:txBody>
      </p:sp>
      <p:sp>
        <p:nvSpPr>
          <p:cNvPr id="15" name="Text 13"/>
          <p:cNvSpPr txBox="1"/>
          <p:nvPr/>
        </p:nvSpPr>
        <p:spPr>
          <a:xfrm>
            <a:off x="1463040" y="457200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one split of the data, one run, one number</a:t>
            </a:r>
            <a:endParaRPr lang="en-US" sz="2000" dirty="0"/>
          </a:p>
        </p:txBody>
      </p:sp>
      <p:sp>
        <p:nvSpPr>
          <p:cNvPr id="16" name="Text 14"/>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run gives one number: how much would it move?</a:t>
            </a:r>
            <a:endParaRPr lang="en-US" sz="2400" dirty="0"/>
          </a:p>
        </p:txBody>
      </p:sp>
      <p:sp>
        <p:nvSpPr>
          <p:cNvPr id="18" name="Text 1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2026-10-13T04:48:52Z</dcterms:created>
  <dcterms:modified xsi:type="dcterms:W3CDTF">2026-10-13T04:48:52Z</dcterms:modified>
</cp:coreProperties>
</file>