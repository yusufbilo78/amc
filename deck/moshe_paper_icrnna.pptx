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classifier comes from: ICRNNA, from a group in Morocco, published in 2025. I'll keep it simple: what it does, how it works, what it reports, and whether it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in one sentence: a neural network looks at 128 samples of a radio signal and says which of 11 modulations sent it. They report 63.24 percent right on this dataset, the best of the twelve models they compare. Our own classifier is built on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eight digital and three analog. Twenty noise levels, from minus 20 to plus 18 dB in steps of 2, and 1,000 frames of each type at each level: 220,000 frames. Each frame is 128 samples of I and 128 of Q. That is the only input; the network sees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it work? Four steps. One: it looks at short pieces of the signal, with small filters that slide along it. Two: it reads those pieces in order, forwards and backwards, carrying a memory from piece to piece. Three: it weighs the pieces and takes a weighted average. Four: it gives eleven confidence scores, one per modulation, and the largest wins. Most of the network, 83 percent, is in step two. That is the heart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trained and tested? The dataset is split three ways. 70 percent of it, 154,000 frames with the right answer, to learn from. 15 percent, 33,000 frames, to decide when to stop learning. And the last 15 percent, 33,000 frames, kept aside to test the classifier: they are never used for learning, and every result is counted on them. It stopped by itself after 58 passes over the data, and they did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ICRNNA is first, at 63.24 percent. The next model is half a point behind. The well-known older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noise. At the noisiest level it is right 9 percent of the time, which is guessing among eleven. It improves quickly between minus 10 and 0 dB, and from 0 dB up it is right about 93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make mistakes, at 0 dB? This is their figure. About 150 test frames of each type, labelled 0 dB, went in; each row is one true type, and the columns are what the classifier said. Three weak spots. WBFM is called AM-DSB more than half the time: about 85 of some 145 frames. QAM16 and QAM64 are mixed up, about 6 percent each way. And 8PSK: of 161 frames, 148 are right; 7 are called QPSK, its nearest neighbour, and a few go to the QAM types. The other seven types are 96 to 100 percent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better is it, really? We trained five published models the same way: same data, same split, three repeats each. ICRNNA is first, but only by about one point. At 10 dB and above, the best four are all about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It is a neural network in four steps, and step two, reading in order, does most of the work. Its 63.24 percent is real: we get 63.21 from the paper alone. And it is about one point better than older models, not a big jump. For us, it is a solid classifier to build on. Thank you. I have more detail on each step if you'd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with the details, if you want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their code tell us? Three things. First, the model in the code is the model in the paper: same layers, 794 thousand numbers. Second, the 58 epochs in the paper were not a choice: the training stops by itself when it stops improving, and for them that happened at 58. Third, they trained it once: one split of the data, one run, one number. And one run leaves a question: how much would that number move if you ran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Look</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Read in order</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Weigh</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Decide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paper in one sentence</a:t>
            </a:r>
            <a:endParaRPr lang="en-US" sz="3400" dirty="0"/>
          </a:p>
        </p:txBody>
      </p:sp>
      <p:sp>
        <p:nvSpPr>
          <p:cNvPr id="4" name="Shape 2"/>
          <p:cNvSpPr/>
          <p:nvPr/>
        </p:nvSpPr>
        <p:spPr>
          <a:xfrm>
            <a:off x="548640" y="1463040"/>
            <a:ext cx="11091672" cy="1737360"/>
          </a:xfrm>
          <a:prstGeom prst="roundRect">
            <a:avLst>
              <a:gd name="adj" fmla="val 6316"/>
            </a:avLst>
          </a:prstGeom>
          <a:solidFill>
            <a:srgbClr val="0F1B2D"/>
          </a:solidFill>
          <a:ln w="12700">
            <a:solidFill>
              <a:srgbClr val="0F1B2D"/>
            </a:solidFill>
            <a:prstDash val="solid"/>
          </a:ln>
        </p:spPr>
      </p:sp>
      <p:sp>
        <p:nvSpPr>
          <p:cNvPr id="5" name="Text 3"/>
          <p:cNvSpPr txBox="1"/>
          <p:nvPr/>
        </p:nvSpPr>
        <p:spPr>
          <a:xfrm>
            <a:off x="914400" y="1463040"/>
            <a:ext cx="10360152" cy="17373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 neural network looks at 128 samples of a radio signal and says which of 11 modulations sent it.</a:t>
            </a:r>
            <a:endParaRPr lang="en-US" sz="2800" dirty="0"/>
          </a:p>
        </p:txBody>
      </p:sp>
      <p:sp>
        <p:nvSpPr>
          <p:cNvPr id="6" name="Text 4"/>
          <p:cNvSpPr txBox="1"/>
          <p:nvPr/>
        </p:nvSpPr>
        <p:spPr>
          <a:xfrm>
            <a:off x="548640" y="3520440"/>
            <a:ext cx="5120640" cy="914400"/>
          </a:xfrm>
          <a:prstGeom prst="rect">
            <a:avLst/>
          </a:prstGeom>
          <a:noFill/>
          <a:ln/>
        </p:spPr>
        <p:txBody>
          <a:bodyPr wrap="square" lIns="0" tIns="0" rIns="0" bIns="0" rtlCol="0" anchor="b"/>
          <a:lstStyle/>
          <a:p>
            <a:pPr algn="l" indent="0" marL="0">
              <a:buNone/>
            </a:pPr>
            <a:r>
              <a:rPr lang="en-US" sz="5600" b="1" dirty="0">
                <a:solidFill>
                  <a:srgbClr val="F08A24"/>
                </a:solidFill>
                <a:latin typeface="Calibri" pitchFamily="34" charset="0"/>
                <a:ea typeface="Calibri" pitchFamily="34" charset="-122"/>
                <a:cs typeface="Calibri" pitchFamily="34" charset="-120"/>
              </a:rPr>
              <a:t>63.24%</a:t>
            </a:r>
            <a:endParaRPr lang="en-US" sz="5600" dirty="0"/>
          </a:p>
        </p:txBody>
      </p:sp>
      <p:sp>
        <p:nvSpPr>
          <p:cNvPr id="7" name="Text 5"/>
          <p:cNvSpPr txBox="1"/>
          <p:nvPr/>
        </p:nvSpPr>
        <p:spPr>
          <a:xfrm>
            <a:off x="54864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right on RML2016.10a: the best of the 12 models they compare</a:t>
            </a:r>
            <a:endParaRPr lang="en-US" sz="1900" dirty="0"/>
          </a:p>
        </p:txBody>
      </p:sp>
      <p:sp>
        <p:nvSpPr>
          <p:cNvPr id="8" name="Text 6"/>
          <p:cNvSpPr txBox="1"/>
          <p:nvPr/>
        </p:nvSpPr>
        <p:spPr>
          <a:xfrm>
            <a:off x="6172200" y="3520440"/>
            <a:ext cx="5120640" cy="914400"/>
          </a:xfrm>
          <a:prstGeom prst="rect">
            <a:avLst/>
          </a:prstGeom>
          <a:noFill/>
          <a:ln/>
        </p:spPr>
        <p:txBody>
          <a:bodyPr wrap="square" lIns="0" tIns="0" rIns="0" bIns="0" rtlCol="0" anchor="b"/>
          <a:lstStyle/>
          <a:p>
            <a:pPr algn="l" indent="0" marL="0">
              <a:buNone/>
            </a:pPr>
            <a:r>
              <a:rPr lang="en-US" sz="5600" b="1" dirty="0">
                <a:solidFill>
                  <a:srgbClr val="1E293B"/>
                </a:solidFill>
                <a:latin typeface="Calibri" pitchFamily="34" charset="0"/>
                <a:ea typeface="Calibri" pitchFamily="34" charset="-122"/>
                <a:cs typeface="Calibri" pitchFamily="34" charset="-120"/>
              </a:rPr>
              <a:t>our classifier</a:t>
            </a:r>
            <a:endParaRPr lang="en-US" sz="5600" dirty="0"/>
          </a:p>
        </p:txBody>
      </p:sp>
      <p:sp>
        <p:nvSpPr>
          <p:cNvPr id="9" name="Text 7"/>
          <p:cNvSpPr txBox="1"/>
          <p:nvPr/>
        </p:nvSpPr>
        <p:spPr>
          <a:xfrm>
            <a:off x="617220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is built on this design</a:t>
            </a:r>
            <a:endParaRPr lang="en-US" sz="1900" dirty="0"/>
          </a:p>
        </p:txBody>
      </p:sp>
      <p:sp>
        <p:nvSpPr>
          <p:cNvPr id="11"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8 digital, 3 analog</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in steps of 2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1,000 per type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at each SNR</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THE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works: four steps</a:t>
            </a:r>
            <a:endParaRPr lang="en-US" sz="3400" dirty="0"/>
          </a:p>
        </p:txBody>
      </p:sp>
      <p:sp>
        <p:nvSpPr>
          <p:cNvPr id="4" name="Shape 2"/>
          <p:cNvSpPr/>
          <p:nvPr/>
        </p:nvSpPr>
        <p:spPr>
          <a:xfrm>
            <a:off x="548640" y="1417320"/>
            <a:ext cx="2606040" cy="3246120"/>
          </a:xfrm>
          <a:prstGeom prst="roundRect">
            <a:avLst>
              <a:gd name="adj" fmla="val 4211"/>
            </a:avLst>
          </a:prstGeom>
          <a:solidFill>
            <a:srgbClr val="EEF2F6"/>
          </a:solidFill>
          <a:ln w="12700">
            <a:solidFill>
              <a:srgbClr val="EEF2F6"/>
            </a:solidFill>
            <a:prstDash val="solid"/>
          </a:ln>
        </p:spPr>
      </p:sp>
      <p:sp>
        <p:nvSpPr>
          <p:cNvPr id="5" name="Shape 3"/>
          <p:cNvSpPr/>
          <p:nvPr/>
        </p:nvSpPr>
        <p:spPr>
          <a:xfrm>
            <a:off x="777240" y="1600200"/>
            <a:ext cx="548640" cy="548640"/>
          </a:xfrm>
          <a:prstGeom prst="ellipse">
            <a:avLst/>
          </a:prstGeom>
          <a:solidFill>
            <a:srgbClr val="0F1B2D"/>
          </a:solidFill>
          <a:ln w="12700">
            <a:solidFill>
              <a:srgbClr val="0F1B2D"/>
            </a:solidFill>
            <a:prstDash val="solid"/>
          </a:ln>
        </p:spPr>
      </p:sp>
      <p:sp>
        <p:nvSpPr>
          <p:cNvPr id="6" name="Text 4"/>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777240"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Look at short pieces</a:t>
            </a:r>
            <a:endParaRPr lang="en-US" sz="2300" dirty="0"/>
          </a:p>
        </p:txBody>
      </p:sp>
      <p:sp>
        <p:nvSpPr>
          <p:cNvPr id="8" name="Text 6"/>
          <p:cNvSpPr txBox="1"/>
          <p:nvPr/>
        </p:nvSpPr>
        <p:spPr>
          <a:xfrm>
            <a:off x="777240"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CNN</a:t>
            </a:r>
            <a:endParaRPr lang="en-US" sz="1600" dirty="0"/>
          </a:p>
        </p:txBody>
      </p:sp>
      <p:sp>
        <p:nvSpPr>
          <p:cNvPr id="9" name="Text 7"/>
          <p:cNvSpPr txBox="1"/>
          <p:nvPr/>
        </p:nvSpPr>
        <p:spPr>
          <a:xfrm>
            <a:off x="777240"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short filters slide along the signal</a:t>
            </a:r>
            <a:endParaRPr lang="en-US" sz="1800" dirty="0"/>
          </a:p>
        </p:txBody>
      </p:sp>
      <p:sp>
        <p:nvSpPr>
          <p:cNvPr id="10" name="Shape 8"/>
          <p:cNvSpPr/>
          <p:nvPr/>
        </p:nvSpPr>
        <p:spPr>
          <a:xfrm>
            <a:off x="3364992" y="1417320"/>
            <a:ext cx="2606040" cy="3246120"/>
          </a:xfrm>
          <a:prstGeom prst="roundRect">
            <a:avLst>
              <a:gd name="adj" fmla="val 4211"/>
            </a:avLst>
          </a:prstGeom>
          <a:solidFill>
            <a:srgbClr val="0F1B2D"/>
          </a:solidFill>
          <a:ln w="12700">
            <a:solidFill>
              <a:srgbClr val="0F1B2D"/>
            </a:solidFill>
            <a:prstDash val="solid"/>
          </a:ln>
        </p:spPr>
      </p:sp>
      <p:sp>
        <p:nvSpPr>
          <p:cNvPr id="11" name="Shape 9"/>
          <p:cNvSpPr/>
          <p:nvPr/>
        </p:nvSpPr>
        <p:spPr>
          <a:xfrm>
            <a:off x="3593592" y="1600200"/>
            <a:ext cx="548640" cy="548640"/>
          </a:xfrm>
          <a:prstGeom prst="ellipse">
            <a:avLst/>
          </a:prstGeom>
          <a:solidFill>
            <a:srgbClr val="F08A24"/>
          </a:solidFill>
          <a:ln w="12700">
            <a:solidFill>
              <a:srgbClr val="F08A24"/>
            </a:solidFill>
            <a:prstDash val="solid"/>
          </a:ln>
        </p:spPr>
      </p:sp>
      <p:sp>
        <p:nvSpPr>
          <p:cNvPr id="12" name="Text 10"/>
          <p:cNvSpPr txBox="1"/>
          <p:nvPr/>
        </p:nvSpPr>
        <p:spPr>
          <a:xfrm>
            <a:off x="3593592"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txBox="1"/>
          <p:nvPr/>
        </p:nvSpPr>
        <p:spPr>
          <a:xfrm>
            <a:off x="3593592" y="2286000"/>
            <a:ext cx="2194560" cy="86868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Read them in order</a:t>
            </a:r>
            <a:endParaRPr lang="en-US" sz="2300" dirty="0"/>
          </a:p>
        </p:txBody>
      </p:sp>
      <p:sp>
        <p:nvSpPr>
          <p:cNvPr id="14" name="Text 12"/>
          <p:cNvSpPr txBox="1"/>
          <p:nvPr/>
        </p:nvSpPr>
        <p:spPr>
          <a:xfrm>
            <a:off x="3593592" y="3154680"/>
            <a:ext cx="2194560" cy="411480"/>
          </a:xfrm>
          <a:prstGeom prst="rect">
            <a:avLst/>
          </a:prstGeom>
          <a:noFill/>
          <a:ln/>
        </p:spPr>
        <p:txBody>
          <a:bodyPr wrap="square" lIns="0" tIns="0" rIns="0" bIns="0" rtlCol="0" anchor="t"/>
          <a:lstStyle/>
          <a:p>
            <a:pPr indent="0" marL="0">
              <a:buNone/>
            </a:pPr>
            <a:r>
              <a:rPr lang="en-US" sz="1600" i="1" dirty="0">
                <a:solidFill>
                  <a:srgbClr val="C9D3E0"/>
                </a:solidFill>
                <a:latin typeface="Calibri" pitchFamily="34" charset="0"/>
                <a:ea typeface="Calibri" pitchFamily="34" charset="-122"/>
                <a:cs typeface="Calibri" pitchFamily="34" charset="-120"/>
              </a:rPr>
              <a:t>LSTM, both directions</a:t>
            </a:r>
            <a:endParaRPr lang="en-US" sz="1600" dirty="0"/>
          </a:p>
        </p:txBody>
      </p:sp>
      <p:sp>
        <p:nvSpPr>
          <p:cNvPr id="15" name="Text 13"/>
          <p:cNvSpPr txBox="1"/>
          <p:nvPr/>
        </p:nvSpPr>
        <p:spPr>
          <a:xfrm>
            <a:off x="3593592" y="3611880"/>
            <a:ext cx="2194560" cy="9144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carries a memory from piece to piece</a:t>
            </a:r>
            <a:endParaRPr lang="en-US" sz="1800" dirty="0"/>
          </a:p>
        </p:txBody>
      </p:sp>
      <p:sp>
        <p:nvSpPr>
          <p:cNvPr id="16" name="Shape 14"/>
          <p:cNvSpPr/>
          <p:nvPr/>
        </p:nvSpPr>
        <p:spPr>
          <a:xfrm>
            <a:off x="6181344" y="1417320"/>
            <a:ext cx="2606040" cy="3246120"/>
          </a:xfrm>
          <a:prstGeom prst="roundRect">
            <a:avLst>
              <a:gd name="adj" fmla="val 4211"/>
            </a:avLst>
          </a:prstGeom>
          <a:solidFill>
            <a:srgbClr val="EEF2F6"/>
          </a:solidFill>
          <a:ln w="12700">
            <a:solidFill>
              <a:srgbClr val="EEF2F6"/>
            </a:solidFill>
            <a:prstDash val="solid"/>
          </a:ln>
        </p:spPr>
      </p:sp>
      <p:sp>
        <p:nvSpPr>
          <p:cNvPr id="17" name="Shape 15"/>
          <p:cNvSpPr/>
          <p:nvPr/>
        </p:nvSpPr>
        <p:spPr>
          <a:xfrm>
            <a:off x="6409944" y="1600200"/>
            <a:ext cx="548640" cy="548640"/>
          </a:xfrm>
          <a:prstGeom prst="ellipse">
            <a:avLst/>
          </a:prstGeom>
          <a:solidFill>
            <a:srgbClr val="0F1B2D"/>
          </a:solidFill>
          <a:ln w="12700">
            <a:solidFill>
              <a:srgbClr val="0F1B2D"/>
            </a:solidFill>
            <a:prstDash val="solid"/>
          </a:ln>
        </p:spPr>
      </p:sp>
      <p:sp>
        <p:nvSpPr>
          <p:cNvPr id="18" name="Text 16"/>
          <p:cNvSpPr txBox="1"/>
          <p:nvPr/>
        </p:nvSpPr>
        <p:spPr>
          <a:xfrm>
            <a:off x="6409944"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9" name="Text 17"/>
          <p:cNvSpPr txBox="1"/>
          <p:nvPr/>
        </p:nvSpPr>
        <p:spPr>
          <a:xfrm>
            <a:off x="6409944"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Weigh the pieces</a:t>
            </a:r>
            <a:endParaRPr lang="en-US" sz="2300" dirty="0"/>
          </a:p>
        </p:txBody>
      </p:sp>
      <p:sp>
        <p:nvSpPr>
          <p:cNvPr id="20" name="Text 18"/>
          <p:cNvSpPr txBox="1"/>
          <p:nvPr/>
        </p:nvSpPr>
        <p:spPr>
          <a:xfrm>
            <a:off x="6409944"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attention</a:t>
            </a:r>
            <a:endParaRPr lang="en-US" sz="1600" dirty="0"/>
          </a:p>
        </p:txBody>
      </p:sp>
      <p:sp>
        <p:nvSpPr>
          <p:cNvPr id="21" name="Text 19"/>
          <p:cNvSpPr txBox="1"/>
          <p:nvPr/>
        </p:nvSpPr>
        <p:spPr>
          <a:xfrm>
            <a:off x="6409944"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a weighted average of all the pieces</a:t>
            </a:r>
            <a:endParaRPr lang="en-US" sz="1800" dirty="0"/>
          </a:p>
        </p:txBody>
      </p:sp>
      <p:sp>
        <p:nvSpPr>
          <p:cNvPr id="22" name="Shape 20"/>
          <p:cNvSpPr/>
          <p:nvPr/>
        </p:nvSpPr>
        <p:spPr>
          <a:xfrm>
            <a:off x="8997696" y="1417320"/>
            <a:ext cx="2606040" cy="3246120"/>
          </a:xfrm>
          <a:prstGeom prst="roundRect">
            <a:avLst>
              <a:gd name="adj" fmla="val 4211"/>
            </a:avLst>
          </a:prstGeom>
          <a:solidFill>
            <a:srgbClr val="EEF2F6"/>
          </a:solidFill>
          <a:ln w="12700">
            <a:solidFill>
              <a:srgbClr val="EEF2F6"/>
            </a:solidFill>
            <a:prstDash val="solid"/>
          </a:ln>
        </p:spPr>
      </p:sp>
      <p:sp>
        <p:nvSpPr>
          <p:cNvPr id="23" name="Shape 21"/>
          <p:cNvSpPr/>
          <p:nvPr/>
        </p:nvSpPr>
        <p:spPr>
          <a:xfrm>
            <a:off x="9226296" y="1600200"/>
            <a:ext cx="548640" cy="548640"/>
          </a:xfrm>
          <a:prstGeom prst="ellipse">
            <a:avLst/>
          </a:prstGeom>
          <a:solidFill>
            <a:srgbClr val="0F1B2D"/>
          </a:solidFill>
          <a:ln w="12700">
            <a:solidFill>
              <a:srgbClr val="0F1B2D"/>
            </a:solidFill>
            <a:prstDash val="solid"/>
          </a:ln>
        </p:spPr>
      </p:sp>
      <p:sp>
        <p:nvSpPr>
          <p:cNvPr id="24" name="Text 22"/>
          <p:cNvSpPr txBox="1"/>
          <p:nvPr/>
        </p:nvSpPr>
        <p:spPr>
          <a:xfrm>
            <a:off x="9226296"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3"/>
          <p:cNvSpPr txBox="1"/>
          <p:nvPr/>
        </p:nvSpPr>
        <p:spPr>
          <a:xfrm>
            <a:off x="9226296"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Decide</a:t>
            </a:r>
            <a:endParaRPr lang="en-US" sz="2300" dirty="0"/>
          </a:p>
        </p:txBody>
      </p:sp>
      <p:sp>
        <p:nvSpPr>
          <p:cNvPr id="26" name="Text 24"/>
          <p:cNvSpPr txBox="1"/>
          <p:nvPr/>
        </p:nvSpPr>
        <p:spPr>
          <a:xfrm>
            <a:off x="9226296"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dense layers</a:t>
            </a:r>
            <a:endParaRPr lang="en-US" sz="1600" dirty="0"/>
          </a:p>
        </p:txBody>
      </p:sp>
      <p:sp>
        <p:nvSpPr>
          <p:cNvPr id="27" name="Text 25"/>
          <p:cNvSpPr txBox="1"/>
          <p:nvPr/>
        </p:nvSpPr>
        <p:spPr>
          <a:xfrm>
            <a:off x="9226296"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11 confidence scores, one per type; the largest wins</a:t>
            </a:r>
            <a:endParaRPr lang="en-US" sz="1800" dirty="0"/>
          </a:p>
        </p:txBody>
      </p:sp>
      <p:sp>
        <p:nvSpPr>
          <p:cNvPr id="28" name="Text 26"/>
          <p:cNvSpPr txBox="1"/>
          <p:nvPr/>
        </p:nvSpPr>
        <p:spPr>
          <a:xfrm>
            <a:off x="548640" y="4892040"/>
            <a:ext cx="11091672"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In: 128 samples (I and Q).  Out: 11 scores.  794,188 numbers learned, 83% of them in step 2.</a:t>
            </a:r>
            <a:endParaRPr lang="en-US" sz="1900" dirty="0"/>
          </a:p>
        </p:txBody>
      </p:sp>
      <p:sp>
        <p:nvSpPr>
          <p:cNvPr id="29" name="Text 2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Step 2, reading the pieces in order, is the heart of it.</a:t>
            </a:r>
            <a:endParaRPr lang="en-US" sz="24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they trained and tested it</a:t>
            </a:r>
            <a:endParaRPr lang="en-US" sz="3400" dirty="0"/>
          </a:p>
        </p:txBody>
      </p:sp>
      <p:sp>
        <p:nvSpPr>
          <p:cNvPr id="4" name="Shape 2"/>
          <p:cNvSpPr/>
          <p:nvPr/>
        </p:nvSpPr>
        <p:spPr>
          <a:xfrm>
            <a:off x="548640" y="1463040"/>
            <a:ext cx="3520440" cy="2651760"/>
          </a:xfrm>
          <a:prstGeom prst="roundRect">
            <a:avLst>
              <a:gd name="adj" fmla="val 4138"/>
            </a:avLst>
          </a:prstGeom>
          <a:solidFill>
            <a:srgbClr val="EEF2F6"/>
          </a:solidFill>
          <a:ln w="12700">
            <a:solidFill>
              <a:srgbClr val="EEF2F6"/>
            </a:solidFill>
            <a:prstDash val="solid"/>
          </a:ln>
        </p:spPr>
      </p:sp>
      <p:sp>
        <p:nvSpPr>
          <p:cNvPr id="5" name="Text 3"/>
          <p:cNvSpPr txBox="1"/>
          <p:nvPr/>
        </p:nvSpPr>
        <p:spPr>
          <a:xfrm>
            <a:off x="822960" y="1600200"/>
            <a:ext cx="3108960" cy="41148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70% of the dataset: training</a:t>
            </a:r>
            <a:endParaRPr lang="en-US" sz="1800" dirty="0"/>
          </a:p>
        </p:txBody>
      </p:sp>
      <p:sp>
        <p:nvSpPr>
          <p:cNvPr id="6" name="Text 4"/>
          <p:cNvSpPr txBox="1"/>
          <p:nvPr/>
        </p:nvSpPr>
        <p:spPr>
          <a:xfrm>
            <a:off x="82296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154,000</a:t>
            </a:r>
            <a:endParaRPr lang="en-US" sz="5000" dirty="0"/>
          </a:p>
        </p:txBody>
      </p:sp>
      <p:sp>
        <p:nvSpPr>
          <p:cNvPr id="7" name="Text 5"/>
          <p:cNvSpPr txBox="1"/>
          <p:nvPr/>
        </p:nvSpPr>
        <p:spPr>
          <a:xfrm>
            <a:off x="82296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with the right answer: it learns from these</a:t>
            </a:r>
            <a:endParaRPr lang="en-US" sz="1900" dirty="0"/>
          </a:p>
        </p:txBody>
      </p:sp>
      <p:sp>
        <p:nvSpPr>
          <p:cNvPr id="8" name="Shape 6"/>
          <p:cNvSpPr/>
          <p:nvPr/>
        </p:nvSpPr>
        <p:spPr>
          <a:xfrm>
            <a:off x="4343400" y="1463040"/>
            <a:ext cx="3520440" cy="2651760"/>
          </a:xfrm>
          <a:prstGeom prst="roundRect">
            <a:avLst>
              <a:gd name="adj" fmla="val 4138"/>
            </a:avLst>
          </a:prstGeom>
          <a:solidFill>
            <a:srgbClr val="EEF2F6"/>
          </a:solidFill>
          <a:ln w="12700">
            <a:solidFill>
              <a:srgbClr val="EEF2F6"/>
            </a:solidFill>
            <a:prstDash val="solid"/>
          </a:ln>
        </p:spPr>
      </p:sp>
      <p:sp>
        <p:nvSpPr>
          <p:cNvPr id="9" name="Text 7"/>
          <p:cNvSpPr txBox="1"/>
          <p:nvPr/>
        </p:nvSpPr>
        <p:spPr>
          <a:xfrm>
            <a:off x="4617720" y="1600200"/>
            <a:ext cx="3108960" cy="411480"/>
          </a:xfrm>
          <a:prstGeom prst="rect">
            <a:avLst/>
          </a:prstGeom>
          <a:noFill/>
          <a:ln/>
        </p:spPr>
        <p:txBody>
          <a:bodyPr wrap="square" lIns="0" tIns="0" rIns="0" bIns="0" rtlCol="0" anchor="t"/>
          <a:lstStyle/>
          <a:p>
            <a:pPr indent="0" marL="0">
              <a:buNone/>
            </a:pPr>
            <a:r>
              <a:rPr lang="en-US" sz="1800" b="1" dirty="0">
                <a:solidFill>
                  <a:srgbClr val="8FA0B5"/>
                </a:solidFill>
                <a:latin typeface="Calibri" pitchFamily="34" charset="0"/>
                <a:ea typeface="Calibri" pitchFamily="34" charset="-122"/>
                <a:cs typeface="Calibri" pitchFamily="34" charset="-120"/>
              </a:rPr>
              <a:t>15%: validation</a:t>
            </a:r>
            <a:endParaRPr lang="en-US" sz="1800" dirty="0"/>
          </a:p>
        </p:txBody>
      </p:sp>
      <p:sp>
        <p:nvSpPr>
          <p:cNvPr id="10" name="Text 8"/>
          <p:cNvSpPr txBox="1"/>
          <p:nvPr/>
        </p:nvSpPr>
        <p:spPr>
          <a:xfrm>
            <a:off x="461772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1" name="Text 9"/>
          <p:cNvSpPr txBox="1"/>
          <p:nvPr/>
        </p:nvSpPr>
        <p:spPr>
          <a:xfrm>
            <a:off x="461772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to decide when to stop learning</a:t>
            </a:r>
            <a:endParaRPr lang="en-US" sz="1900" dirty="0"/>
          </a:p>
        </p:txBody>
      </p:sp>
      <p:sp>
        <p:nvSpPr>
          <p:cNvPr id="12" name="Shape 10"/>
          <p:cNvSpPr/>
          <p:nvPr/>
        </p:nvSpPr>
        <p:spPr>
          <a:xfrm>
            <a:off x="8138160" y="1463040"/>
            <a:ext cx="3520440" cy="2651760"/>
          </a:xfrm>
          <a:prstGeom prst="roundRect">
            <a:avLst>
              <a:gd name="adj" fmla="val 4138"/>
            </a:avLst>
          </a:prstGeom>
          <a:solidFill>
            <a:srgbClr val="EEF2F6"/>
          </a:solidFill>
          <a:ln w="12700">
            <a:solidFill>
              <a:srgbClr val="EEF2F6"/>
            </a:solidFill>
            <a:prstDash val="solid"/>
          </a:ln>
        </p:spPr>
      </p:sp>
      <p:sp>
        <p:nvSpPr>
          <p:cNvPr id="13" name="Text 11"/>
          <p:cNvSpPr txBox="1"/>
          <p:nvPr/>
        </p:nvSpPr>
        <p:spPr>
          <a:xfrm>
            <a:off x="8412480" y="1600200"/>
            <a:ext cx="3108960" cy="411480"/>
          </a:xfrm>
          <a:prstGeom prst="rect">
            <a:avLst/>
          </a:prstGeom>
          <a:noFill/>
          <a:ln/>
        </p:spPr>
        <p:txBody>
          <a:bodyPr wrap="square" lIns="0" tIns="0" rIns="0" bIns="0" rtlCol="0" anchor="t"/>
          <a:lstStyle/>
          <a:p>
            <a:pPr indent="0" marL="0">
              <a:buNone/>
            </a:pPr>
            <a:r>
              <a:rPr lang="en-US" sz="1800" b="1" dirty="0">
                <a:solidFill>
                  <a:srgbClr val="F08A24"/>
                </a:solidFill>
                <a:latin typeface="Calibri" pitchFamily="34" charset="0"/>
                <a:ea typeface="Calibri" pitchFamily="34" charset="-122"/>
                <a:cs typeface="Calibri" pitchFamily="34" charset="-120"/>
              </a:rPr>
              <a:t>15%: testing the classifier</a:t>
            </a:r>
            <a:endParaRPr lang="en-US" sz="1800" dirty="0"/>
          </a:p>
        </p:txBody>
      </p:sp>
      <p:sp>
        <p:nvSpPr>
          <p:cNvPr id="14" name="Text 12"/>
          <p:cNvSpPr txBox="1"/>
          <p:nvPr/>
        </p:nvSpPr>
        <p:spPr>
          <a:xfrm>
            <a:off x="841248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5" name="Text 13"/>
          <p:cNvSpPr txBox="1"/>
          <p:nvPr/>
        </p:nvSpPr>
        <p:spPr>
          <a:xfrm>
            <a:off x="841248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kept aside: every result is counted on these</a:t>
            </a:r>
            <a:endParaRPr lang="en-US" sz="1900" dirty="0"/>
          </a:p>
        </p:txBody>
      </p:sp>
      <p:sp>
        <p:nvSpPr>
          <p:cNvPr id="16" name="Text 14"/>
          <p:cNvSpPr txBox="1"/>
          <p:nvPr/>
        </p:nvSpPr>
        <p:spPr>
          <a:xfrm>
            <a:off x="548640" y="4389120"/>
            <a:ext cx="11091672" cy="548640"/>
          </a:xfrm>
          <a:prstGeom prst="rect">
            <a:avLst/>
          </a:prstGeom>
          <a:noFill/>
          <a:ln/>
        </p:spPr>
        <p:txBody>
          <a:bodyPr wrap="square" lIns="0" tIns="0" rIns="0" bIns="0" rtlCol="0" anchor="t"/>
          <a:lstStyle/>
          <a:p>
            <a:pPr indent="0" marL="0">
              <a:buNone/>
            </a:pPr>
            <a:r>
              <a:rPr lang="en-US" sz="2100" dirty="0">
                <a:solidFill>
                  <a:srgbClr val="1E293B"/>
                </a:solidFill>
                <a:latin typeface="Calibri" pitchFamily="34" charset="0"/>
                <a:ea typeface="Calibri" pitchFamily="34" charset="-122"/>
                <a:cs typeface="Calibri" pitchFamily="34" charset="-120"/>
              </a:rPr>
              <a:t>It stopped by itself after 58 passes over the data, when it stopped improving. Done once.</a:t>
            </a:r>
            <a:endParaRPr lang="en-US" sz="2100" dirty="0"/>
          </a:p>
        </p:txBody>
      </p:sp>
      <p:sp>
        <p:nvSpPr>
          <p:cNvPr id="17" name="Text 1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test frames are never used for learning.</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5577840" y="1325880"/>
            <a:ext cx="6062472" cy="822960"/>
          </a:xfrm>
          <a:prstGeom prst="rect">
            <a:avLst/>
          </a:prstGeom>
          <a:noFill/>
          <a:ln/>
        </p:spPr>
        <p:txBody>
          <a:bodyPr wrap="square" lIns="0" tIns="0" rIns="0" bIns="0" rtlCol="0" anchor="t"/>
          <a:lstStyle/>
          <a:p>
            <a:pPr indent="0" marL="0">
              <a:buNone/>
            </a:pPr>
            <a:r>
              <a:rPr lang="en-US" sz="1600" dirty="0">
                <a:solidFill>
                  <a:srgbClr val="5B6B7F"/>
                </a:solidFill>
                <a:latin typeface="Calibri" pitchFamily="34" charset="0"/>
                <a:ea typeface="Calibri" pitchFamily="34" charset="-122"/>
                <a:cs typeface="Calibri" pitchFamily="34" charset="-120"/>
              </a:rPr>
              <a:t>Test frames labelled 0 dB, about 150 per type (≈1,650). Row: the true type. Column: the classifier's answer. Each row adds up to 100%.</a:t>
            </a:r>
            <a:endParaRPr lang="en-US" sz="1600" dirty="0"/>
          </a:p>
        </p:txBody>
      </p:sp>
      <p:sp>
        <p:nvSpPr>
          <p:cNvPr id="7" name="Text 4"/>
          <p:cNvSpPr txBox="1"/>
          <p:nvPr/>
        </p:nvSpPr>
        <p:spPr>
          <a:xfrm>
            <a:off x="5577840" y="2286000"/>
            <a:ext cx="2240280" cy="777240"/>
          </a:xfrm>
          <a:prstGeom prst="rect">
            <a:avLst/>
          </a:prstGeom>
          <a:noFill/>
          <a:ln/>
        </p:spPr>
        <p:txBody>
          <a:bodyPr wrap="square" lIns="0" tIns="0" rIns="0" bIns="0" rtlCol="0" anchor="ctr"/>
          <a:lstStyle/>
          <a:p>
            <a:pPr indent="0" marL="0">
              <a:buNone/>
            </a:pPr>
            <a:r>
              <a:rPr lang="en-US" sz="3600" b="1" dirty="0">
                <a:solidFill>
                  <a:srgbClr val="F08A24"/>
                </a:solidFill>
                <a:latin typeface="Calibri" pitchFamily="34" charset="0"/>
                <a:ea typeface="Calibri" pitchFamily="34" charset="-122"/>
                <a:cs typeface="Calibri" pitchFamily="34" charset="-120"/>
              </a:rPr>
              <a:t>57.9%</a:t>
            </a:r>
            <a:endParaRPr lang="en-US" sz="3600" dirty="0"/>
          </a:p>
        </p:txBody>
      </p:sp>
      <p:sp>
        <p:nvSpPr>
          <p:cNvPr id="8" name="Text 5"/>
          <p:cNvSpPr txBox="1"/>
          <p:nvPr/>
        </p:nvSpPr>
        <p:spPr>
          <a:xfrm>
            <a:off x="7909560" y="2286000"/>
            <a:ext cx="3730752" cy="77724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of WBFM called AM-DSB: about 85 of ~145 frames</a:t>
            </a:r>
            <a:endParaRPr lang="en-US" sz="1700" dirty="0"/>
          </a:p>
        </p:txBody>
      </p:sp>
      <p:sp>
        <p:nvSpPr>
          <p:cNvPr id="9" name="Text 6"/>
          <p:cNvSpPr txBox="1"/>
          <p:nvPr/>
        </p:nvSpPr>
        <p:spPr>
          <a:xfrm>
            <a:off x="5577840" y="3273552"/>
            <a:ext cx="2240280" cy="77724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~6%</a:t>
            </a:r>
            <a:endParaRPr lang="en-US" sz="3600" dirty="0"/>
          </a:p>
        </p:txBody>
      </p:sp>
      <p:sp>
        <p:nvSpPr>
          <p:cNvPr id="10" name="Text 7"/>
          <p:cNvSpPr txBox="1"/>
          <p:nvPr/>
        </p:nvSpPr>
        <p:spPr>
          <a:xfrm>
            <a:off x="7909560" y="3273552"/>
            <a:ext cx="3730752" cy="77724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QAM16 ↔ QAM64, each way: about 9 to 10 frames</a:t>
            </a:r>
            <a:endParaRPr lang="en-US" sz="1700" dirty="0"/>
          </a:p>
        </p:txBody>
      </p:sp>
      <p:sp>
        <p:nvSpPr>
          <p:cNvPr id="11" name="Text 8"/>
          <p:cNvSpPr txBox="1"/>
          <p:nvPr/>
        </p:nvSpPr>
        <p:spPr>
          <a:xfrm>
            <a:off x="5577840" y="4261104"/>
            <a:ext cx="2240280" cy="77724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91.9%</a:t>
            </a:r>
            <a:endParaRPr lang="en-US" sz="3600" dirty="0"/>
          </a:p>
        </p:txBody>
      </p:sp>
      <p:sp>
        <p:nvSpPr>
          <p:cNvPr id="12" name="Text 9"/>
          <p:cNvSpPr txBox="1"/>
          <p:nvPr/>
        </p:nvSpPr>
        <p:spPr>
          <a:xfrm>
            <a:off x="7909560" y="4261104"/>
            <a:ext cx="3730752" cy="77724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of 8PSK right: 148 of 161 frames. The rest: 7 → QPSK, 3 → QAM16, 2 → AM-SSB, 1 → QAM64</a:t>
            </a:r>
            <a:endParaRPr lang="en-US" sz="1700" dirty="0"/>
          </a:p>
        </p:txBody>
      </p:sp>
      <p:sp>
        <p:nvSpPr>
          <p:cNvPr id="13" name="Text 10"/>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other seven types are 96 to 100% right at this level.</a:t>
            </a:r>
            <a:endParaRPr lang="en-US" sz="2400" dirty="0"/>
          </a:p>
        </p:txBody>
      </p:sp>
      <p:sp>
        <p:nvSpPr>
          <p:cNvPr id="15"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much better is it, really?</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We trained five published models the same way: same data, same split, 3 repeats each.</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4206240"/>
                <a:gridCol w="3429000"/>
                <a:gridCol w="34564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all noise levels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10 dB and above</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only by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A neural network in four steps; step 2, reading in order,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63.24% is real: we get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 is about one point better than older models, not a big jump.</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classifier to build on.</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BACKUP</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Details, if asked</a:t>
            </a:r>
            <a:endParaRPr lang="en-US" sz="6000" dirty="0"/>
          </a:p>
        </p:txBody>
      </p:sp>
      <p:sp>
        <p:nvSpPr>
          <p:cNvPr id="4" name="Text 2"/>
          <p:cNvSpPr txBox="1"/>
          <p:nvPr/>
        </p:nvSpPr>
        <p:spPr>
          <a:xfrm>
            <a:off x="548640" y="3886200"/>
            <a:ext cx="109728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Each step of the model, the training recipe, their code, and what we checked in their tables.</a:t>
            </a:r>
            <a:endParaRPr lang="en-US" sz="22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their code tells us</a:t>
            </a:r>
            <a:endParaRPr lang="en-US" sz="3400" dirty="0"/>
          </a:p>
        </p:txBody>
      </p:sp>
      <p:sp>
        <p:nvSpPr>
          <p:cNvPr id="4" name="Shape 2"/>
          <p:cNvSpPr/>
          <p:nvPr/>
        </p:nvSpPr>
        <p:spPr>
          <a:xfrm>
            <a:off x="548640" y="1600200"/>
            <a:ext cx="640080" cy="640080"/>
          </a:xfrm>
          <a:prstGeom prst="ellipse">
            <a:avLst/>
          </a:prstGeom>
          <a:solidFill>
            <a:srgbClr val="0F1B2D"/>
          </a:solidFill>
          <a:ln w="12700">
            <a:solidFill>
              <a:srgbClr val="0F1B2D"/>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463040" y="146304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 model is the one in the paper</a:t>
            </a:r>
            <a:endParaRPr lang="en-US" sz="2600" dirty="0"/>
          </a:p>
        </p:txBody>
      </p:sp>
      <p:sp>
        <p:nvSpPr>
          <p:cNvPr id="7" name="Text 5"/>
          <p:cNvSpPr txBox="1"/>
          <p:nvPr/>
        </p:nvSpPr>
        <p:spPr>
          <a:xfrm>
            <a:off x="1463040" y="201168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same layers, 794,188 numbers (paper: 0.79 M)</a:t>
            </a:r>
            <a:endParaRPr lang="en-US" sz="2000" dirty="0"/>
          </a:p>
        </p:txBody>
      </p:sp>
      <p:sp>
        <p:nvSpPr>
          <p:cNvPr id="8" name="Shape 6"/>
          <p:cNvSpPr/>
          <p:nvPr/>
        </p:nvSpPr>
        <p:spPr>
          <a:xfrm>
            <a:off x="548640" y="2880360"/>
            <a:ext cx="640080" cy="640080"/>
          </a:xfrm>
          <a:prstGeom prst="ellipse">
            <a:avLst/>
          </a:prstGeom>
          <a:solidFill>
            <a:srgbClr val="F08A24"/>
          </a:solidFill>
          <a:ln w="12700">
            <a:solidFill>
              <a:srgbClr val="F08A24"/>
            </a:solidFill>
            <a:prstDash val="solid"/>
          </a:ln>
        </p:spPr>
      </p:sp>
      <p:sp>
        <p:nvSpPr>
          <p:cNvPr id="9" name="Text 7"/>
          <p:cNvSpPr txBox="1"/>
          <p:nvPr/>
        </p:nvSpPr>
        <p:spPr>
          <a:xfrm>
            <a:off x="548640" y="2880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463040" y="274320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“58 epochs” was not a choice</a:t>
            </a:r>
            <a:endParaRPr lang="en-US" sz="2600" dirty="0"/>
          </a:p>
        </p:txBody>
      </p:sp>
      <p:sp>
        <p:nvSpPr>
          <p:cNvPr id="11" name="Text 9"/>
          <p:cNvSpPr txBox="1"/>
          <p:nvPr/>
        </p:nvSpPr>
        <p:spPr>
          <a:xfrm>
            <a:off x="1463040" y="329184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training stops by itself when it stops improving; for them, at 58</a:t>
            </a:r>
            <a:endParaRPr lang="en-US" sz="2000" dirty="0"/>
          </a:p>
        </p:txBody>
      </p:sp>
      <p:sp>
        <p:nvSpPr>
          <p:cNvPr id="12" name="Shape 10"/>
          <p:cNvSpPr/>
          <p:nvPr/>
        </p:nvSpPr>
        <p:spPr>
          <a:xfrm>
            <a:off x="548640" y="4160520"/>
            <a:ext cx="640080" cy="640080"/>
          </a:xfrm>
          <a:prstGeom prst="ellipse">
            <a:avLst/>
          </a:prstGeom>
          <a:solidFill>
            <a:srgbClr val="0F1B2D"/>
          </a:solidFill>
          <a:ln w="12700">
            <a:solidFill>
              <a:srgbClr val="0F1B2D"/>
            </a:solidFill>
            <a:prstDash val="solid"/>
          </a:ln>
        </p:spPr>
      </p:sp>
      <p:sp>
        <p:nvSpPr>
          <p:cNvPr id="13" name="Text 11"/>
          <p:cNvSpPr txBox="1"/>
          <p:nvPr/>
        </p:nvSpPr>
        <p:spPr>
          <a:xfrm>
            <a:off x="548640" y="41605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463040" y="402336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They trained it once</a:t>
            </a:r>
            <a:endParaRPr lang="en-US" sz="2600" dirty="0"/>
          </a:p>
        </p:txBody>
      </p:sp>
      <p:sp>
        <p:nvSpPr>
          <p:cNvPr id="15" name="Text 13"/>
          <p:cNvSpPr txBox="1"/>
          <p:nvPr/>
        </p:nvSpPr>
        <p:spPr>
          <a:xfrm>
            <a:off x="1463040" y="457200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one split of the data, one run, one number</a:t>
            </a:r>
            <a:endParaRPr lang="en-US" sz="2000" dirty="0"/>
          </a:p>
        </p:txBody>
      </p:sp>
      <p:sp>
        <p:nvSpPr>
          <p:cNvPr id="16" name="Text 14"/>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run gives one number: how much would it move?</a:t>
            </a:r>
            <a:endParaRPr lang="en-US" sz="2400" dirty="0"/>
          </a:p>
        </p:txBody>
      </p:sp>
      <p:sp>
        <p:nvSpPr>
          <p:cNvPr id="18" name="Text 1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2026-10-13T08:54:47Z</dcterms:created>
  <dcterms:modified xsi:type="dcterms:W3CDTF">2026-10-13T08:54:47Z</dcterms:modified>
</cp:coreProperties>
</file>