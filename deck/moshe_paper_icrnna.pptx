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 %</c:v>
                </c:pt>
              </c:strCache>
            </c:strRef>
          </c:tx>
          <c:spPr>
            <a:solidFill>
              <a:srgbClr val="0F1B2D"/>
            </a:solidFill>
            <a:effectLst/>
          </c:spPr>
          <c:invertIfNegative val="0"/>
          <c:dLbls>
            <c:numFmt formatCode="0.00" sourceLinked="0"/>
            <c:txPr>
              <a:bodyPr/>
              <a:lstStyle/>
              <a:p>
                <a:pPr>
                  <a:defRPr b="0" i="0" strike="noStrike" sz="1500" u="none">
                    <a:solidFill>
                      <a:srgbClr val="1E293B"/>
                    </a:solidFill>
                    <a:latin typeface="Calibri"/>
                  </a:defRPr>
                </a:pPr>
              </a:p>
            </c:txPr>
            <c:showLegendKey val="0"/>
            <c:showVal val="1"/>
            <c:showCatName val="0"/>
            <c:showSerName val="0"/>
            <c:showPercent val="0"/>
            <c:showBubbleSize val="0"/>
            <c:showLeaderLines val="0"/>
          </c:dLbls>
          <c:dPt>
            <c:idx val="0"/>
            <c:invertIfNegative val="0"/>
            <c:bubble3D val="0"/>
            <c:spPr>
              <a:solidFill>
                <a:srgbClr val="0F1B2D"/>
              </a:solidFill>
              <a:effectLst/>
            </c:spPr>
          </c:dPt>
          <c:dPt>
            <c:idx val="1"/>
            <c:invertIfNegative val="0"/>
            <c:bubble3D val="0"/>
            <c:spPr>
              <a:solidFill>
                <a:srgbClr val="0F1B2D"/>
              </a:solidFill>
              <a:effectLst/>
            </c:spPr>
          </c:dPt>
          <c:dPt>
            <c:idx val="2"/>
            <c:invertIfNegative val="0"/>
            <c:bubble3D val="0"/>
            <c:spPr>
              <a:solidFill>
                <a:srgbClr val="0F1B2D"/>
              </a:solidFill>
              <a:effectLst/>
            </c:spPr>
          </c:dPt>
          <c:dPt>
            <c:idx val="3"/>
            <c:invertIfNegative val="0"/>
            <c:bubble3D val="0"/>
            <c:spPr>
              <a:solidFill>
                <a:srgbClr val="0F1B2D"/>
              </a:solidFill>
              <a:effectLst/>
            </c:spPr>
          </c:dPt>
          <c:dPt>
            <c:idx val="4"/>
            <c:invertIfNegative val="0"/>
            <c:bubble3D val="0"/>
            <c:spPr>
              <a:solidFill>
                <a:srgbClr val="0F1B2D"/>
              </a:solidFill>
              <a:effectLst/>
            </c:spPr>
          </c:dPt>
          <c:dPt>
            <c:idx val="5"/>
            <c:invertIfNegative val="0"/>
            <c:bubble3D val="0"/>
            <c:spPr>
              <a:solidFill>
                <a:srgbClr val="0F1B2D"/>
              </a:solidFill>
              <a:effectLst/>
            </c:spPr>
          </c:dPt>
          <c:dPt>
            <c:idx val="6"/>
            <c:invertIfNegative val="0"/>
            <c:bubble3D val="0"/>
            <c:spPr>
              <a:solidFill>
                <a:srgbClr val="0F1B2D"/>
              </a:solidFill>
              <a:effectLst/>
            </c:spPr>
          </c:dPt>
          <c:dPt>
            <c:idx val="7"/>
            <c:invertIfNegative val="0"/>
            <c:bubble3D val="0"/>
            <c:spPr>
              <a:solidFill>
                <a:srgbClr val="0F1B2D"/>
              </a:solidFill>
              <a:effectLst/>
            </c:spPr>
          </c:dPt>
          <c:dPt>
            <c:idx val="8"/>
            <c:invertIfNegative val="0"/>
            <c:bubble3D val="0"/>
            <c:spPr>
              <a:solidFill>
                <a:srgbClr val="0F1B2D"/>
              </a:solidFill>
              <a:effectLst/>
            </c:spPr>
          </c:dPt>
          <c:dPt>
            <c:idx val="9"/>
            <c:invertIfNegative val="0"/>
            <c:bubble3D val="0"/>
            <c:spPr>
              <a:solidFill>
                <a:srgbClr val="0F1B2D"/>
              </a:solidFill>
              <a:effectLst/>
            </c:spPr>
          </c:dPt>
          <c:dPt>
            <c:idx val="10"/>
            <c:invertIfNegative val="0"/>
            <c:bubble3D val="0"/>
            <c:spPr>
              <a:solidFill>
                <a:srgbClr val="8FA0B5"/>
              </a:solidFill>
              <a:effectLst/>
            </c:spPr>
          </c:dPt>
          <c:dPt>
            <c:idx val="11"/>
            <c:invertIfNegative val="0"/>
            <c:bubble3D val="0"/>
            <c:spPr>
              <a:solidFill>
                <a:srgbClr val="F08A24"/>
              </a:solidFill>
              <a:effectLst/>
            </c:spPr>
          </c:dPt>
          <c:cat>
            <c:multiLvlStrRef>
              <c:f>Sheet1!$A$2:$A$13</c:f>
              <c:multiLvlStrCache>
                <c:ptCount val="12"/>
                <c:lvl>
                  <c:pt idx="0">
                    <c:v>Transformer</c:v>
                  </c:pt>
                  <c:pt idx="1">
                    <c:v>MCNet</c:v>
                  </c:pt>
                  <c:pt idx="2">
                    <c:v>CGDNet</c:v>
                  </c:pt>
                  <c:pt idx="3">
                    <c:v>IC-AMCNet</c:v>
                  </c:pt>
                  <c:pt idx="4">
                    <c:v>CVCNN</c:v>
                  </c:pt>
                  <c:pt idx="5">
                    <c:v>ResNet</c:v>
                  </c:pt>
                  <c:pt idx="6">
                    <c:v>DAE</c:v>
                  </c:pt>
                  <c:pt idx="7">
                    <c:v>PET-CGDNN</c:v>
                  </c:pt>
                  <c:pt idx="8">
                    <c:v>MAMCA</c:v>
                  </c:pt>
                  <c:pt idx="9">
                    <c:v>MCLDNN</c:v>
                  </c:pt>
                  <c:pt idx="10">
                    <c:v>CNN-BiLSTM-DNN</c:v>
                  </c:pt>
                  <c:pt idx="11">
                    <c:v>ICRNNA</c:v>
                  </c:pt>
                </c:lvl>
              </c:multiLvlStrCache>
            </c:multiLvlStrRef>
          </c:cat>
          <c:val>
            <c:numRef>
              <c:f>Sheet1!$B$2:$B$13</c:f>
              <c:numCache>
                <c:formatCode>General</c:formatCode>
                <c:ptCount val="12"/>
                <c:pt idx="0">
                  <c:v>55.34</c:v>
                </c:pt>
                <c:pt idx="1">
                  <c:v>56.2</c:v>
                </c:pt>
                <c:pt idx="2">
                  <c:v>56.21</c:v>
                </c:pt>
                <c:pt idx="3">
                  <c:v>56.3</c:v>
                </c:pt>
                <c:pt idx="4">
                  <c:v>56.37</c:v>
                </c:pt>
                <c:pt idx="5">
                  <c:v>57.1</c:v>
                </c:pt>
                <c:pt idx="6">
                  <c:v>60.22</c:v>
                </c:pt>
                <c:pt idx="7">
                  <c:v>60.58</c:v>
                </c:pt>
                <c:pt idx="8">
                  <c:v>60.79</c:v>
                </c:pt>
                <c:pt idx="9">
                  <c:v>61.42</c:v>
                </c:pt>
                <c:pt idx="10">
                  <c:v>62.73</c:v>
                </c:pt>
                <c:pt idx="11">
                  <c:v>63.24</c:v>
                </c:pt>
              </c:numCache>
            </c:numRef>
          </c:val>
        </c:ser>
        <c:dLbls>
          <c:numFmt formatCode="0.00" sourceLinked="0"/>
          <c:txPr>
            <a:bodyPr/>
            <a:lstStyle/>
            <a:p>
              <a:pPr>
                <a:defRPr b="0" i="0" strike="noStrike" sz="1500" u="none">
                  <a:solidFill>
                    <a:srgbClr val="1E293B"/>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1E293B"/>
                </a:solidFill>
                <a:latin typeface="Calibri"/>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 %</c:v>
                </c:pt>
              </c:strCache>
            </c:strRef>
          </c:tx>
          <c:spPr>
            <a:solidFill>
              <a:srgbClr val="0F1B2D"/>
            </a:solidFill>
            <a:effectLst/>
          </c:spPr>
          <c:invertIfNegative val="0"/>
          <c:dLbls>
            <c:numFmt formatCode="0.0" sourceLinked="0"/>
            <c:txPr>
              <a:bodyPr/>
              <a:lstStyle/>
              <a:p>
                <a:pPr>
                  <a:defRPr b="0" i="0" strike="noStrike" sz="2000" u="none">
                    <a:solidFill>
                      <a:srgbClr val="1E293B"/>
                    </a:solidFill>
                    <a:latin typeface="Calibri"/>
                  </a:defRPr>
                </a:pPr>
              </a:p>
            </c:txPr>
            <c:showLegendKey val="0"/>
            <c:showVal val="1"/>
            <c:showCatName val="0"/>
            <c:showSerName val="0"/>
            <c:showPercent val="0"/>
            <c:showBubbleSize val="0"/>
            <c:showLeaderLines val="0"/>
          </c:dLbls>
          <c:dPt>
            <c:idx val="0"/>
            <c:invertIfNegative val="0"/>
            <c:bubble3D val="0"/>
            <c:spPr>
              <a:solidFill>
                <a:srgbClr val="0F1B2D"/>
              </a:solidFill>
              <a:effectLst/>
            </c:spPr>
          </c:dPt>
          <c:dPt>
            <c:idx val="1"/>
            <c:invertIfNegative val="0"/>
            <c:bubble3D val="0"/>
            <c:spPr>
              <a:solidFill>
                <a:srgbClr val="F08A24"/>
              </a:solidFill>
              <a:effectLst/>
            </c:spPr>
          </c:dPt>
          <c:dPt>
            <c:idx val="2"/>
            <c:invertIfNegative val="0"/>
            <c:bubble3D val="0"/>
            <c:spPr>
              <a:solidFill>
                <a:srgbClr val="0F1B2D"/>
              </a:solidFill>
              <a:effectLst/>
            </c:spPr>
          </c:dPt>
          <c:dPt>
            <c:idx val="3"/>
            <c:invertIfNegative val="0"/>
            <c:bubble3D val="0"/>
            <c:spPr>
              <a:solidFill>
                <a:srgbClr val="0F1B2D"/>
              </a:solidFill>
              <a:effectLst/>
            </c:spPr>
          </c:dPt>
          <c:cat>
            <c:multiLvlStrRef>
              <c:f>Sheet1!$A$2:$A$5</c:f>
              <c:multiLvlStrCache>
                <c:ptCount val="4"/>
                <c:lvl>
                  <c:pt idx="0">
                    <c:v>step 1 only</c:v>
                  </c:pt>
                  <c:pt idx="1">
                    <c:v>step 2 only</c:v>
                  </c:pt>
                  <c:pt idx="2">
                    <c:v>all but step 3</c:v>
                  </c:pt>
                  <c:pt idx="3">
                    <c:v>all four steps</c:v>
                  </c:pt>
                </c:lvl>
              </c:multiLvlStrCache>
            </c:multiLvlStrRef>
          </c:cat>
          <c:val>
            <c:numRef>
              <c:f>Sheet1!$B$2:$B$5</c:f>
              <c:numCache>
                <c:formatCode>General</c:formatCode>
                <c:ptCount val="4"/>
                <c:pt idx="0">
                  <c:v>59.9</c:v>
                </c:pt>
                <c:pt idx="1">
                  <c:v>63.1</c:v>
                </c:pt>
                <c:pt idx="2">
                  <c:v>62.8</c:v>
                </c:pt>
                <c:pt idx="3">
                  <c:v>63.2</c:v>
                </c:pt>
              </c:numCache>
            </c:numRef>
          </c:val>
        </c:ser>
        <c:dLbls>
          <c:numFmt formatCode="0.0" sourceLinked="0"/>
          <c:txPr>
            <a:bodyPr/>
            <a:lstStyle/>
            <a:p>
              <a:pPr>
                <a:defRPr b="0" i="0" strike="noStrike" sz="2000" u="none">
                  <a:solidFill>
                    <a:srgbClr val="1E293B"/>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1E293B"/>
                </a:solidFill>
                <a:latin typeface="Calibri"/>
              </a:defRPr>
            </a:pPr>
            <a:endParaRPr lang="en-US"/>
          </a:p>
        </c:txPr>
        <c:crossAx val="2094734552"/>
        <c:crosses val="autoZero"/>
        <c:auto val="1"/>
        <c:lblAlgn val="ctr"/>
        <c:noMultiLvlLbl val="1"/>
      </c:catAx>
      <c:valAx>
        <c:axId val="2094734552"/>
        <c:scaling>
          <c:orientation val="minMax"/>
          <c:max val="7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numbers</c:v>
                </c:pt>
              </c:strCache>
            </c:strRef>
          </c:tx>
          <c:spPr>
            <a:solidFill>
              <a:schemeClr val="accent1"/>
            </a:solidFill>
            <a:ln w="9525" cap="flat">
              <a:solidFill>
                <a:srgbClr val="F9F9F9"/>
              </a:solidFill>
              <a:prstDash val="solid"/>
              <a:round/>
            </a:ln>
            <a:effectLst/>
          </c:spPr>
          <c:dPt>
            <c:idx val="0"/>
            <c:bubble3D val="0"/>
            <c:spPr>
              <a:solidFill>
                <a:srgbClr val="F08A24"/>
              </a:solidFill>
              <a:effectLst/>
            </c:spPr>
          </c:dPt>
          <c:dPt>
            <c:idx val="1"/>
            <c:bubble3D val="0"/>
            <c:spPr>
              <a:solidFill>
                <a:srgbClr val="0F1B2D"/>
              </a:solidFill>
              <a:effectLst/>
            </c:spPr>
          </c:dPt>
          <c:dPt>
            <c:idx val="2"/>
            <c:bubble3D val="0"/>
            <c:spPr>
              <a:solidFill>
                <a:srgbClr val="8FA0B5"/>
              </a:solidFill>
              <a:effectLst/>
            </c:spPr>
          </c:dPt>
          <c:dPt>
            <c:idx val="3"/>
            <c:bubble3D val="0"/>
            <c:spPr>
              <a:solidFill>
                <a:srgbClr val="C9D3E0"/>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BiLSTM</c:v>
                </c:pt>
                <c:pt idx="1">
                  <c:v>Attention</c:v>
                </c:pt>
                <c:pt idx="2">
                  <c:v>Dense</c:v>
                </c:pt>
                <c:pt idx="3">
                  <c:v>CNN</c:v>
                </c:pt>
              </c:strCache>
            </c:strRef>
          </c:cat>
          <c:val>
            <c:numRef>
              <c:f>Sheet1!$B$2:$B$5</c:f>
              <c:numCache>
                <c:ptCount val="4"/>
                <c:pt idx="0">
                  <c:v>659456</c:v>
                </c:pt>
                <c:pt idx="1">
                  <c:v>66177</c:v>
                </c:pt>
                <c:pt idx="2">
                  <c:v>42635</c:v>
                </c:pt>
                <c:pt idx="3">
                  <c:v>25920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present the paper our detector comes from: ICRNNA, from a group in Morocco, published in 2025. I'll keep it simple: what it does, how it works, what it reports, and whether it holds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in one sentence: a neural network looks at 128 samples of a radio signal and says which of 11 modulations sent it. They report 63.24 percent right on this dataset, the best of the twelve models they compare. Our own detector is built on this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same dataset we use, RML2016.10a: eleven modulation types, twenty noise levels, 220,000 frames. Each frame is 128 samples of I and 128 of Q. That is the only input; the network sees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it work? Four steps. One: it looks at short pieces of the signal, with small filters that slide along it. Two: it reads those pieces in order, forwards and backwards, carrying a memory from piece to piece. Three: it weighs the pieces and takes a weighted average. Four: it gives eleven scores, one per modulation, and the largest wins. Most of the network, 83 percent, is in step two. That is the heart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was it trained and tested? The frames are split three ways. 154,000 frames, with the right answer, to learn from. 33,000 to decide when to stop learning. And 33,000 kept aside, never used for learning: every result is counted on those. It stopped by itself after 58 passes over the data, and they did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main result. ICRNNA is first, at 63.24 percent. The next model is half a point behind. The well-known older ones are two to three points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against noise. At the noisiest level it is right 9 percent of the time, which is guessing among eleven. It improves quickly between minus 10 and 0 dB, and from 0 dB up it is right about 93 percent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it still make mistakes, at 0 dB? Two places. WBFM is called AM-DSB more than half the time. And QAM16 and QAM64 are mixed up, about 6 percent each way. These are the same two problems we see in our own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step matters? They removed steps one at a time. Step one alone: 59.9. Step two alone: 63.1. All four: 63.2. So step two, reading in order, does almost all the work; the other steps add a fraction of 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came out without code. In August this year the authors put their code on GitHub, but not the trained network itself. We ran their code ourselves, once so far. It gives 62.71 percent, against their published 63.24: 0.5 points lower. Training behaved like theirs: it stopped by itself at epoch 61, with validation accuracy at 63.6, as in their paper. Half a point is the size of the run-to-run variation we see, so the next two runs will tell us whether this is just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their number real? Before their code existed, I rebuilt the network from the paper's description alone. It gets 63.21 percent, against their 63.24. So yes, the result can be reproduced. It needed longer training than their 58 passes; ours was best at pass 107.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better is it, really? We trained five published models the same way: same data, same split, three repeats each. ICRNNA is first, but only by about one point. At 10 dB and above, the best four are all about 91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It is a neural network in four steps, and step two, reading in order, does most of the work. Its 63.24 percent is real: we get 63.21 from the paper alone. And it is about one point better than older models, not a big jump. For us, it is a solid detector to build on. Thank you. I have more detail on each step if you'd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with the details, if you want to go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model. A frame of 2 by 128 goes in. Four blocks process it. Eleven probabilities come out, one per modulation, and the largest is the answer. Below each block I wrote the size of what comes out of it, so you can follow one frame through. I'll now take the blocks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one: two convolution layers. A convolution here is a short filter, three samples long, slid along the frame, like an FIR filter whose taps are learned instead of designed. The first layer has 64 such filters, the second 128. So every time step is now described by 128 numbers. Then a pooling step keeps the larger of each pair of neighbours, so 128 time steps become 64. Each of the 64 steps summarizes about 6 samples, less than one symbol.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two: two bidirectional LSTM layers. An LSTM reads the 64 steps in order, one at a time, and carries a memory from step to step. Bidirectional means a second LSTM reads the same steps backwards. So at every step, the output knows what came before and what comes after: 128 numbers from each direction, 256 in total. This block holds 83 percent of the model's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three: attention. Each of the 64 steps gets a score from a small learned network. A softmax turns the scores into weights that add up to one. The output is the weighted average of the 64 steps: one vector of 256 numbers for the whole frame. The paper calls it improved because of three additions. From their code we now know exactly what they are: a learned scale on the scores, dropout on the weights, and a normalization of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four: the decision. Two ordinary layers, 128 and 64 numbers, and then 11 outputs. A softmax turns them into probabilities, and the largest one is the answer. In total the model has 794 thousand numbers. The pie shows where they are: almost all in the LSTM.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is trained. Seventy percent of the frames to learn from, fifteen to watch, fifteen to test. Batches of 32 frames; the loss is cross-entropy; the optimizer is Adam with learning rate 0.001. When the validation loss stops improving for 5 epochs, the learning rate is cut by five. When it stops improving for 6 epochs, training stops and the best weights are restored. The paper's table says 58 epochs. From their code we now know that 58 is where this stopping rule fired, not a number they chose. They trained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their code tell us? Three things. First, the model in the code is the model in the paper: same layers, 794 thousand numbers. Second, the 58 epochs in the paper were not a choice: the training stops by itself when it stops improving, and for them that happened at 58. Third, they trained it once: one split of the data, one run, one number. And one run leaves a question: how much would that number move if you ran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detail about the 58 epochs. Their stopping rule watches the validation loss, and the loss had flattened. But the validation accuracy, in their own figure on the right, is still rising at 58. When I trained our rebuild for a fixed 58 epochs, I got 61.75 percent. Letting it continue, it peaked at epoch 107 at 63.21. So their number is real, but it sits where the accuracy was still climbing.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knew any code existed, I rebuilt the model from the paper's text alone. Its size matched: 794,827 numbers. In August the authors released their code, and it confirms our reading: one pooling step, normalization after each LSTM, dropout on the attention weights. We missed a few details: the exact form of the attention, the input normalization, and gradient clipping. Trained until it stopped improving, our rebuild reached 63.21 percent, against their 63.24.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their tables closely, three statements in the text don't match their own numbers. Best at low SNR: in their Table 5, other models are higher at minus 10, minus 8 and minus 6 dB. Highest precision: in Table 6, the LSTM-only model is higher. And MCLDNN is listed with 406 million parameters; it has 406 thousand. So ICRNNA is about twice the size of MCLDNN, not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three things the paper doesn't tell us. It reports one training run, with no spread; across seeds we see up to a point of variation, so a half-point lead may not be real. It doesn't say whether the other models were retrained or copied from their papers. And it treats the SNR label as a true SNR; in this data, at label 0 dB, QAM16 has about 9 dB more signal than QPSK.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914400"/>
            <a:ext cx="5486400" cy="365760"/>
          </a:xfrm>
          <a:prstGeom prst="rect">
            <a:avLst/>
          </a:prstGeom>
          <a:noFill/>
          <a:ln/>
        </p:spPr>
        <p:txBody>
          <a:bodyPr wrap="square" lIns="0" tIns="0" rIns="0" bIns="0" rtlCol="0" anchor="t"/>
          <a:lstStyle/>
          <a:p>
            <a:pPr indent="0" marL="0">
              <a:buNone/>
            </a:pPr>
            <a:r>
              <a:rPr lang="en-US" sz="1600" b="1" spc="400" kern="0" dirty="0">
                <a:solidFill>
                  <a:srgbClr val="F08A24"/>
                </a:solidFill>
                <a:latin typeface="Calibri" pitchFamily="34" charset="0"/>
                <a:ea typeface="Calibri" pitchFamily="34" charset="-122"/>
                <a:cs typeface="Calibri" pitchFamily="34" charset="-120"/>
              </a:rPr>
              <a:t>PAPER PRESENTATION</a:t>
            </a:r>
            <a:endParaRPr lang="en-US" sz="1600" dirty="0"/>
          </a:p>
        </p:txBody>
      </p:sp>
      <p:sp>
        <p:nvSpPr>
          <p:cNvPr id="3" name="Text 1"/>
          <p:cNvSpPr txBox="1"/>
          <p:nvPr/>
        </p:nvSpPr>
        <p:spPr>
          <a:xfrm>
            <a:off x="548640" y="1325880"/>
            <a:ext cx="10972800" cy="1097280"/>
          </a:xfrm>
          <a:prstGeom prst="rect">
            <a:avLst/>
          </a:prstGeom>
          <a:noFill/>
          <a:ln/>
        </p:spPr>
        <p:txBody>
          <a:bodyPr wrap="square" lIns="0" tIns="0" rIns="0" bIns="0" rtlCol="0" anchor="t"/>
          <a:lstStyle/>
          <a:p>
            <a:pPr indent="0" marL="0">
              <a:buNone/>
            </a:pPr>
            <a:r>
              <a:rPr lang="en-US" sz="6600" b="1" dirty="0">
                <a:solidFill>
                  <a:srgbClr val="FFFFFF"/>
                </a:solidFill>
                <a:latin typeface="Calibri" pitchFamily="34" charset="0"/>
                <a:ea typeface="Calibri" pitchFamily="34" charset="-122"/>
                <a:cs typeface="Calibri" pitchFamily="34" charset="-120"/>
              </a:rPr>
              <a:t>ICRNNA</a:t>
            </a:r>
            <a:endParaRPr lang="en-US" sz="6600" dirty="0"/>
          </a:p>
        </p:txBody>
      </p:sp>
      <p:sp>
        <p:nvSpPr>
          <p:cNvPr id="4" name="Text 2"/>
          <p:cNvSpPr txBox="1"/>
          <p:nvPr/>
        </p:nvSpPr>
        <p:spPr>
          <a:xfrm>
            <a:off x="548640" y="2468880"/>
            <a:ext cx="10515600" cy="914400"/>
          </a:xfrm>
          <a:prstGeom prst="rect">
            <a:avLst/>
          </a:prstGeom>
          <a:noFill/>
          <a:ln/>
        </p:spPr>
        <p:txBody>
          <a:bodyPr wrap="square" lIns="0" tIns="0" rIns="0" bIns="0" rtlCol="0" anchor="t"/>
          <a:lstStyle/>
          <a:p>
            <a:pPr indent="0" marL="0">
              <a:buNone/>
            </a:pPr>
            <a:r>
              <a:rPr lang="en-US" sz="2600" dirty="0">
                <a:solidFill>
                  <a:srgbClr val="C9D3E0"/>
                </a:solidFill>
                <a:latin typeface="Calibri" pitchFamily="34" charset="0"/>
                <a:ea typeface="Calibri" pitchFamily="34" charset="-122"/>
                <a:cs typeface="Calibri" pitchFamily="34" charset="-120"/>
              </a:rPr>
              <a:t>Improved automatic modulation recognition using deep learning with additive attention</a:t>
            </a:r>
            <a:endParaRPr lang="en-US" sz="2600" dirty="0"/>
          </a:p>
        </p:txBody>
      </p:sp>
      <p:sp>
        <p:nvSpPr>
          <p:cNvPr id="5" name="Text 3"/>
          <p:cNvSpPr txBox="1"/>
          <p:nvPr/>
        </p:nvSpPr>
        <p:spPr>
          <a:xfrm>
            <a:off x="548640" y="3520440"/>
            <a:ext cx="11155680" cy="457200"/>
          </a:xfrm>
          <a:prstGeom prst="rect">
            <a:avLst/>
          </a:prstGeom>
          <a:noFill/>
          <a:ln/>
        </p:spPr>
        <p:txBody>
          <a:bodyPr wrap="square" lIns="0" tIns="0" rIns="0" bIns="0" rtlCol="0" anchor="t"/>
          <a:lstStyle/>
          <a:p>
            <a:pPr indent="0" marL="0">
              <a:buNone/>
            </a:pPr>
            <a:r>
              <a:rPr lang="en-US" sz="1700" dirty="0">
                <a:solidFill>
                  <a:srgbClr val="9AA8BA"/>
                </a:solidFill>
                <a:latin typeface="Calibri" pitchFamily="34" charset="0"/>
                <a:ea typeface="Calibri" pitchFamily="34" charset="-122"/>
                <a:cs typeface="Calibri" pitchFamily="34" charset="-120"/>
              </a:rPr>
              <a:t>El-Haryqy, Kharbouche, Ouamna, Madini, Zouine  ·  Ibn Tofail University, Morocco  ·  Results in Engineering 26 (2025) 104783</a:t>
            </a:r>
            <a:endParaRPr lang="en-US" sz="1700" dirty="0"/>
          </a:p>
        </p:txBody>
      </p:sp>
      <p:sp>
        <p:nvSpPr>
          <p:cNvPr id="6" name="Shape 4"/>
          <p:cNvSpPr/>
          <p:nvPr/>
        </p:nvSpPr>
        <p:spPr>
          <a:xfrm>
            <a:off x="548640" y="4434840"/>
            <a:ext cx="1920240" cy="594360"/>
          </a:xfrm>
          <a:prstGeom prst="roundRect">
            <a:avLst>
              <a:gd name="adj" fmla="val 18462"/>
            </a:avLst>
          </a:prstGeom>
          <a:solidFill>
            <a:srgbClr val="F08A24"/>
          </a:solidFill>
          <a:ln w="12700">
            <a:solidFill>
              <a:srgbClr val="F08A24"/>
            </a:solidFill>
            <a:prstDash val="solid"/>
          </a:ln>
        </p:spPr>
      </p:sp>
      <p:sp>
        <p:nvSpPr>
          <p:cNvPr id="7" name="Text 5"/>
          <p:cNvSpPr txBox="1"/>
          <p:nvPr/>
        </p:nvSpPr>
        <p:spPr>
          <a:xfrm>
            <a:off x="548640" y="4434840"/>
            <a:ext cx="192024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Look</a:t>
            </a:r>
            <a:endParaRPr lang="en-US" sz="2000" dirty="0"/>
          </a:p>
        </p:txBody>
      </p:sp>
      <p:sp>
        <p:nvSpPr>
          <p:cNvPr id="8" name="Shape 6"/>
          <p:cNvSpPr/>
          <p:nvPr/>
        </p:nvSpPr>
        <p:spPr>
          <a:xfrm>
            <a:off x="2514600" y="4544568"/>
            <a:ext cx="365760" cy="384048"/>
          </a:xfrm>
          <a:prstGeom prst="rightArrow">
            <a:avLst/>
          </a:prstGeom>
          <a:solidFill>
            <a:srgbClr val="F08A24"/>
          </a:solidFill>
          <a:ln w="12700">
            <a:solidFill>
              <a:srgbClr val="F08A24"/>
            </a:solidFill>
            <a:prstDash val="solid"/>
          </a:ln>
        </p:spPr>
      </p:sp>
      <p:sp>
        <p:nvSpPr>
          <p:cNvPr id="9" name="Shape 7"/>
          <p:cNvSpPr/>
          <p:nvPr/>
        </p:nvSpPr>
        <p:spPr>
          <a:xfrm>
            <a:off x="2926080" y="4434840"/>
            <a:ext cx="1920240" cy="594360"/>
          </a:xfrm>
          <a:prstGeom prst="roundRect">
            <a:avLst>
              <a:gd name="adj" fmla="val 18462"/>
            </a:avLst>
          </a:prstGeom>
          <a:solidFill>
            <a:srgbClr val="F08A24"/>
          </a:solidFill>
          <a:ln w="12700">
            <a:solidFill>
              <a:srgbClr val="F08A24"/>
            </a:solidFill>
            <a:prstDash val="solid"/>
          </a:ln>
        </p:spPr>
      </p:sp>
      <p:sp>
        <p:nvSpPr>
          <p:cNvPr id="10" name="Text 8"/>
          <p:cNvSpPr txBox="1"/>
          <p:nvPr/>
        </p:nvSpPr>
        <p:spPr>
          <a:xfrm>
            <a:off x="2926080" y="4434840"/>
            <a:ext cx="192024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Read in order</a:t>
            </a:r>
            <a:endParaRPr lang="en-US" sz="2000" dirty="0"/>
          </a:p>
        </p:txBody>
      </p:sp>
      <p:sp>
        <p:nvSpPr>
          <p:cNvPr id="11" name="Shape 9"/>
          <p:cNvSpPr/>
          <p:nvPr/>
        </p:nvSpPr>
        <p:spPr>
          <a:xfrm>
            <a:off x="4892040" y="4544568"/>
            <a:ext cx="365760" cy="384048"/>
          </a:xfrm>
          <a:prstGeom prst="rightArrow">
            <a:avLst/>
          </a:prstGeom>
          <a:solidFill>
            <a:srgbClr val="F08A24"/>
          </a:solidFill>
          <a:ln w="12700">
            <a:solidFill>
              <a:srgbClr val="F08A24"/>
            </a:solidFill>
            <a:prstDash val="solid"/>
          </a:ln>
        </p:spPr>
      </p:sp>
      <p:sp>
        <p:nvSpPr>
          <p:cNvPr id="12" name="Shape 10"/>
          <p:cNvSpPr/>
          <p:nvPr/>
        </p:nvSpPr>
        <p:spPr>
          <a:xfrm>
            <a:off x="5303520" y="4434840"/>
            <a:ext cx="1920240" cy="594360"/>
          </a:xfrm>
          <a:prstGeom prst="roundRect">
            <a:avLst>
              <a:gd name="adj" fmla="val 18462"/>
            </a:avLst>
          </a:prstGeom>
          <a:solidFill>
            <a:srgbClr val="F08A24"/>
          </a:solidFill>
          <a:ln w="12700">
            <a:solidFill>
              <a:srgbClr val="F08A24"/>
            </a:solidFill>
            <a:prstDash val="solid"/>
          </a:ln>
        </p:spPr>
      </p:sp>
      <p:sp>
        <p:nvSpPr>
          <p:cNvPr id="13" name="Text 11"/>
          <p:cNvSpPr txBox="1"/>
          <p:nvPr/>
        </p:nvSpPr>
        <p:spPr>
          <a:xfrm>
            <a:off x="5303520" y="4434840"/>
            <a:ext cx="192024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Weigh</a:t>
            </a:r>
            <a:endParaRPr lang="en-US" sz="2000" dirty="0"/>
          </a:p>
        </p:txBody>
      </p:sp>
      <p:sp>
        <p:nvSpPr>
          <p:cNvPr id="14" name="Shape 12"/>
          <p:cNvSpPr/>
          <p:nvPr/>
        </p:nvSpPr>
        <p:spPr>
          <a:xfrm>
            <a:off x="7269480" y="4544568"/>
            <a:ext cx="365760" cy="384048"/>
          </a:xfrm>
          <a:prstGeom prst="rightArrow">
            <a:avLst/>
          </a:prstGeom>
          <a:solidFill>
            <a:srgbClr val="F08A24"/>
          </a:solidFill>
          <a:ln w="12700">
            <a:solidFill>
              <a:srgbClr val="F08A24"/>
            </a:solidFill>
            <a:prstDash val="solid"/>
          </a:ln>
        </p:spPr>
      </p:sp>
      <p:sp>
        <p:nvSpPr>
          <p:cNvPr id="15" name="Shape 13"/>
          <p:cNvSpPr/>
          <p:nvPr/>
        </p:nvSpPr>
        <p:spPr>
          <a:xfrm>
            <a:off x="7680960" y="4434840"/>
            <a:ext cx="1920240" cy="594360"/>
          </a:xfrm>
          <a:prstGeom prst="roundRect">
            <a:avLst>
              <a:gd name="adj" fmla="val 18462"/>
            </a:avLst>
          </a:prstGeom>
          <a:solidFill>
            <a:srgbClr val="F08A24"/>
          </a:solidFill>
          <a:ln w="12700">
            <a:solidFill>
              <a:srgbClr val="F08A24"/>
            </a:solidFill>
            <a:prstDash val="solid"/>
          </a:ln>
        </p:spPr>
      </p:sp>
      <p:sp>
        <p:nvSpPr>
          <p:cNvPr id="16" name="Text 14"/>
          <p:cNvSpPr txBox="1"/>
          <p:nvPr/>
        </p:nvSpPr>
        <p:spPr>
          <a:xfrm>
            <a:off x="7680960" y="4434840"/>
            <a:ext cx="192024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Decide</a:t>
            </a:r>
            <a:endParaRPr lang="en-US" sz="2000" dirty="0"/>
          </a:p>
        </p:txBody>
      </p:sp>
      <p:sp>
        <p:nvSpPr>
          <p:cNvPr id="17" name="Text 15"/>
          <p:cNvSpPr txBox="1"/>
          <p:nvPr/>
        </p:nvSpPr>
        <p:spPr>
          <a:xfrm>
            <a:off x="548640" y="5943600"/>
            <a:ext cx="9144000" cy="365760"/>
          </a:xfrm>
          <a:prstGeom prst="rect">
            <a:avLst/>
          </a:prstGeom>
          <a:noFill/>
          <a:ln/>
        </p:spPr>
        <p:txBody>
          <a:bodyPr wrap="square" lIns="0" tIns="0" rIns="0" bIns="0" rtlCol="0" anchor="t"/>
          <a:lstStyle/>
          <a:p>
            <a:pPr indent="0" marL="0">
              <a:buNone/>
            </a:pPr>
            <a:r>
              <a:rPr lang="en-US" sz="1600" dirty="0">
                <a:solidFill>
                  <a:srgbClr val="9AA8BA"/>
                </a:solidFill>
                <a:latin typeface="Calibri" pitchFamily="34" charset="0"/>
                <a:ea typeface="Calibri" pitchFamily="34" charset="-122"/>
                <a:cs typeface="Calibri" pitchFamily="34" charset="-120"/>
              </a:rPr>
              <a:t>Yusuf Bilal Cetinkaya  ·  Moshe Kam's research group  ·  NJIT  ·  October 2026</a:t>
            </a:r>
            <a:endParaRPr lang="en-US" sz="1600" dirty="0"/>
          </a:p>
        </p:txBody>
      </p:sp>
      <p:sp>
        <p:nvSpPr>
          <p:cNvPr id="19" name="Text 16"/>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8FA0B5"/>
                </a:solidFill>
                <a:latin typeface="Calibri" pitchFamily="34" charset="0"/>
                <a:ea typeface="Calibri" pitchFamily="34" charset="-122"/>
                <a:cs typeface="Calibri"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The paper in one sentence</a:t>
            </a:r>
            <a:endParaRPr lang="en-US" sz="3400" dirty="0"/>
          </a:p>
        </p:txBody>
      </p:sp>
      <p:sp>
        <p:nvSpPr>
          <p:cNvPr id="4" name="Shape 2"/>
          <p:cNvSpPr/>
          <p:nvPr/>
        </p:nvSpPr>
        <p:spPr>
          <a:xfrm>
            <a:off x="548640" y="1463040"/>
            <a:ext cx="11091672" cy="1737360"/>
          </a:xfrm>
          <a:prstGeom prst="roundRect">
            <a:avLst>
              <a:gd name="adj" fmla="val 6316"/>
            </a:avLst>
          </a:prstGeom>
          <a:solidFill>
            <a:srgbClr val="0F1B2D"/>
          </a:solidFill>
          <a:ln w="12700">
            <a:solidFill>
              <a:srgbClr val="0F1B2D"/>
            </a:solidFill>
            <a:prstDash val="solid"/>
          </a:ln>
        </p:spPr>
      </p:sp>
      <p:sp>
        <p:nvSpPr>
          <p:cNvPr id="5" name="Text 3"/>
          <p:cNvSpPr txBox="1"/>
          <p:nvPr/>
        </p:nvSpPr>
        <p:spPr>
          <a:xfrm>
            <a:off x="914400" y="1463040"/>
            <a:ext cx="10360152" cy="1737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 neural network looks at 128 samples of a radio signal and says which of 11 modulations sent it.</a:t>
            </a:r>
            <a:endParaRPr lang="en-US" sz="2800" dirty="0"/>
          </a:p>
        </p:txBody>
      </p:sp>
      <p:sp>
        <p:nvSpPr>
          <p:cNvPr id="6" name="Text 4"/>
          <p:cNvSpPr txBox="1"/>
          <p:nvPr/>
        </p:nvSpPr>
        <p:spPr>
          <a:xfrm>
            <a:off x="548640" y="3520440"/>
            <a:ext cx="5120640" cy="914400"/>
          </a:xfrm>
          <a:prstGeom prst="rect">
            <a:avLst/>
          </a:prstGeom>
          <a:noFill/>
          <a:ln/>
        </p:spPr>
        <p:txBody>
          <a:bodyPr wrap="square" lIns="0" tIns="0" rIns="0" bIns="0" rtlCol="0" anchor="b"/>
          <a:lstStyle/>
          <a:p>
            <a:pPr algn="l" indent="0" marL="0">
              <a:buNone/>
            </a:pPr>
            <a:r>
              <a:rPr lang="en-US" sz="5600" b="1" dirty="0">
                <a:solidFill>
                  <a:srgbClr val="F08A24"/>
                </a:solidFill>
                <a:latin typeface="Calibri" pitchFamily="34" charset="0"/>
                <a:ea typeface="Calibri" pitchFamily="34" charset="-122"/>
                <a:cs typeface="Calibri" pitchFamily="34" charset="-120"/>
              </a:rPr>
              <a:t>63.24%</a:t>
            </a:r>
            <a:endParaRPr lang="en-US" sz="5600" dirty="0"/>
          </a:p>
        </p:txBody>
      </p:sp>
      <p:sp>
        <p:nvSpPr>
          <p:cNvPr id="7" name="Text 5"/>
          <p:cNvSpPr txBox="1"/>
          <p:nvPr/>
        </p:nvSpPr>
        <p:spPr>
          <a:xfrm>
            <a:off x="548640" y="4480560"/>
            <a:ext cx="51206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right on RML2016.10a: the best of the 12 models they compare</a:t>
            </a:r>
            <a:endParaRPr lang="en-US" sz="1900" dirty="0"/>
          </a:p>
        </p:txBody>
      </p:sp>
      <p:sp>
        <p:nvSpPr>
          <p:cNvPr id="8" name="Text 6"/>
          <p:cNvSpPr txBox="1"/>
          <p:nvPr/>
        </p:nvSpPr>
        <p:spPr>
          <a:xfrm>
            <a:off x="6172200" y="3520440"/>
            <a:ext cx="5120640" cy="914400"/>
          </a:xfrm>
          <a:prstGeom prst="rect">
            <a:avLst/>
          </a:prstGeom>
          <a:noFill/>
          <a:ln/>
        </p:spPr>
        <p:txBody>
          <a:bodyPr wrap="square" lIns="0" tIns="0" rIns="0" bIns="0" rtlCol="0" anchor="b"/>
          <a:lstStyle/>
          <a:p>
            <a:pPr algn="l" indent="0" marL="0">
              <a:buNone/>
            </a:pPr>
            <a:r>
              <a:rPr lang="en-US" sz="5600" b="1" dirty="0">
                <a:solidFill>
                  <a:srgbClr val="1E293B"/>
                </a:solidFill>
                <a:latin typeface="Calibri" pitchFamily="34" charset="0"/>
                <a:ea typeface="Calibri" pitchFamily="34" charset="-122"/>
                <a:cs typeface="Calibri" pitchFamily="34" charset="-120"/>
              </a:rPr>
              <a:t>our detector</a:t>
            </a:r>
            <a:endParaRPr lang="en-US" sz="5600" dirty="0"/>
          </a:p>
        </p:txBody>
      </p:sp>
      <p:sp>
        <p:nvSpPr>
          <p:cNvPr id="9" name="Text 7"/>
          <p:cNvSpPr txBox="1"/>
          <p:nvPr/>
        </p:nvSpPr>
        <p:spPr>
          <a:xfrm>
            <a:off x="6172200" y="4480560"/>
            <a:ext cx="51206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is built on this design</a:t>
            </a:r>
            <a:endParaRPr lang="en-US" sz="1900" dirty="0"/>
          </a:p>
        </p:txBody>
      </p:sp>
      <p:sp>
        <p:nvSpPr>
          <p:cNvPr id="11" name="Text 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DATA</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The data: what the model sees</a:t>
            </a:r>
            <a:endParaRPr lang="en-US" sz="3400" dirty="0"/>
          </a:p>
        </p:txBody>
      </p:sp>
      <p:sp>
        <p:nvSpPr>
          <p:cNvPr id="4" name="Text 2"/>
          <p:cNvSpPr txBox="1"/>
          <p:nvPr/>
        </p:nvSpPr>
        <p:spPr>
          <a:xfrm>
            <a:off x="548640" y="1325880"/>
            <a:ext cx="265176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11</a:t>
            </a:r>
            <a:endParaRPr lang="en-US" sz="5000" dirty="0"/>
          </a:p>
        </p:txBody>
      </p:sp>
      <p:sp>
        <p:nvSpPr>
          <p:cNvPr id="5" name="Text 3"/>
          <p:cNvSpPr txBox="1"/>
          <p:nvPr/>
        </p:nvSpPr>
        <p:spPr>
          <a:xfrm>
            <a:off x="548640" y="2286000"/>
            <a:ext cx="265176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modulation types</a:t>
            </a:r>
            <a:endParaRPr lang="en-US" sz="1900" dirty="0"/>
          </a:p>
        </p:txBody>
      </p:sp>
      <p:sp>
        <p:nvSpPr>
          <p:cNvPr id="6" name="Text 4"/>
          <p:cNvSpPr txBox="1"/>
          <p:nvPr/>
        </p:nvSpPr>
        <p:spPr>
          <a:xfrm>
            <a:off x="3291840" y="1325880"/>
            <a:ext cx="265176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20</a:t>
            </a:r>
            <a:endParaRPr lang="en-US" sz="5000" dirty="0"/>
          </a:p>
        </p:txBody>
      </p:sp>
      <p:sp>
        <p:nvSpPr>
          <p:cNvPr id="7" name="Text 5"/>
          <p:cNvSpPr txBox="1"/>
          <p:nvPr/>
        </p:nvSpPr>
        <p:spPr>
          <a:xfrm>
            <a:off x="3291840" y="2286000"/>
            <a:ext cx="265176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SNR labels, −20 to 18 dB</a:t>
            </a:r>
            <a:endParaRPr lang="en-US" sz="1900" dirty="0"/>
          </a:p>
        </p:txBody>
      </p:sp>
      <p:sp>
        <p:nvSpPr>
          <p:cNvPr id="8" name="Text 6"/>
          <p:cNvSpPr txBox="1"/>
          <p:nvPr/>
        </p:nvSpPr>
        <p:spPr>
          <a:xfrm>
            <a:off x="6035040" y="1325880"/>
            <a:ext cx="265176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220,000</a:t>
            </a:r>
            <a:endParaRPr lang="en-US" sz="5000" dirty="0"/>
          </a:p>
        </p:txBody>
      </p:sp>
      <p:sp>
        <p:nvSpPr>
          <p:cNvPr id="9" name="Text 7"/>
          <p:cNvSpPr txBox="1"/>
          <p:nvPr/>
        </p:nvSpPr>
        <p:spPr>
          <a:xfrm>
            <a:off x="6035040" y="2286000"/>
            <a:ext cx="265176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frames</a:t>
            </a:r>
            <a:endParaRPr lang="en-US" sz="1900" dirty="0"/>
          </a:p>
        </p:txBody>
      </p:sp>
      <p:pic>
        <p:nvPicPr>
          <p:cNvPr id="10" name="Image 0" descr="simple/frame.png">    </p:cNvPr>
          <p:cNvPicPr>
            <a:picLocks noChangeAspect="1"/>
          </p:cNvPicPr>
          <p:nvPr/>
        </p:nvPicPr>
        <p:blipFill>
          <a:blip r:embed="rId1"/>
          <a:stretch>
            <a:fillRect/>
          </a:stretch>
        </p:blipFill>
        <p:spPr>
          <a:xfrm>
            <a:off x="8503920" y="1417320"/>
            <a:ext cx="3154680" cy="1121664"/>
          </a:xfrm>
          <a:prstGeom prst="rect">
            <a:avLst/>
          </a:prstGeom>
        </p:spPr>
      </p:pic>
      <p:sp>
        <p:nvSpPr>
          <p:cNvPr id="11" name="Text 8"/>
          <p:cNvSpPr txBox="1"/>
          <p:nvPr/>
        </p:nvSpPr>
        <p:spPr>
          <a:xfrm>
            <a:off x="8503920" y="2606040"/>
            <a:ext cx="3154680" cy="36576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one frame: I (orange), Q (blue)</a:t>
            </a:r>
            <a:endParaRPr lang="en-US" sz="1500" dirty="0"/>
          </a:p>
        </p:txBody>
      </p:sp>
      <p:sp>
        <p:nvSpPr>
          <p:cNvPr id="12" name="Shape 9"/>
          <p:cNvSpPr/>
          <p:nvPr/>
        </p:nvSpPr>
        <p:spPr>
          <a:xfrm>
            <a:off x="548640" y="3337560"/>
            <a:ext cx="11091672" cy="1554480"/>
          </a:xfrm>
          <a:prstGeom prst="roundRect">
            <a:avLst>
              <a:gd name="adj" fmla="val 7059"/>
            </a:avLst>
          </a:prstGeom>
          <a:solidFill>
            <a:srgbClr val="0F1B2D"/>
          </a:solidFill>
          <a:ln w="12700">
            <a:solidFill>
              <a:srgbClr val="0F1B2D"/>
            </a:solidFill>
            <a:prstDash val="solid"/>
          </a:ln>
        </p:spPr>
      </p:sp>
      <p:sp>
        <p:nvSpPr>
          <p:cNvPr id="13" name="Text 10"/>
          <p:cNvSpPr txBox="1"/>
          <p:nvPr/>
        </p:nvSpPr>
        <p:spPr>
          <a:xfrm>
            <a:off x="914400" y="3429000"/>
            <a:ext cx="3657600" cy="1371600"/>
          </a:xfrm>
          <a:prstGeom prst="rect">
            <a:avLst/>
          </a:prstGeom>
          <a:noFill/>
          <a:ln/>
        </p:spPr>
        <p:txBody>
          <a:bodyPr wrap="square" lIns="0" tIns="0" rIns="0" bIns="0" rtlCol="0" anchor="ctr"/>
          <a:lstStyle/>
          <a:p>
            <a:pPr indent="0" marL="0">
              <a:buNone/>
            </a:pPr>
            <a:r>
              <a:rPr lang="en-US" sz="6600" b="1" dirty="0">
                <a:solidFill>
                  <a:srgbClr val="F08A24"/>
                </a:solidFill>
                <a:latin typeface="Calibri" pitchFamily="34" charset="0"/>
                <a:ea typeface="Calibri" pitchFamily="34" charset="-122"/>
                <a:cs typeface="Calibri" pitchFamily="34" charset="-120"/>
              </a:rPr>
              <a:t>2 × 128</a:t>
            </a:r>
            <a:endParaRPr lang="en-US" sz="6600" dirty="0"/>
          </a:p>
        </p:txBody>
      </p:sp>
      <p:sp>
        <p:nvSpPr>
          <p:cNvPr id="14" name="Text 11"/>
          <p:cNvSpPr txBox="1"/>
          <p:nvPr/>
        </p:nvSpPr>
        <p:spPr>
          <a:xfrm>
            <a:off x="4754880" y="3429000"/>
            <a:ext cx="6583680" cy="137160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Each frame: 128 samples of I and 128 of Q.</a:t>
            </a:r>
            <a:endParaRPr lang="en-US" sz="2400" dirty="0"/>
          </a:p>
          <a:p>
            <a:pPr indent="0" marL="0">
              <a:buNone/>
            </a:pPr>
            <a:r>
              <a:rPr lang="en-US" sz="2400" dirty="0">
                <a:solidFill>
                  <a:srgbClr val="FFFFFF"/>
                </a:solidFill>
                <a:latin typeface="Calibri" pitchFamily="34" charset="0"/>
                <a:ea typeface="Calibri" pitchFamily="34" charset="-122"/>
                <a:cs typeface="Calibri" pitchFamily="34" charset="-120"/>
              </a:rPr>
              <a:t>That array is the only input.</a:t>
            </a:r>
            <a:endParaRPr lang="en-US" sz="2400" dirty="0"/>
          </a:p>
        </p:txBody>
      </p:sp>
      <p:sp>
        <p:nvSpPr>
          <p:cNvPr id="15" name="Text 12"/>
          <p:cNvSpPr txBox="1"/>
          <p:nvPr/>
        </p:nvSpPr>
        <p:spPr>
          <a:xfrm>
            <a:off x="548640" y="530352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RML2016.10a, the same dataset we use.</a:t>
            </a:r>
            <a:endParaRPr lang="en-US" sz="2400" dirty="0"/>
          </a:p>
        </p:txBody>
      </p:sp>
      <p:sp>
        <p:nvSpPr>
          <p:cNvPr id="17" name="Text 13"/>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THE MODEL</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How it works: four steps</a:t>
            </a:r>
            <a:endParaRPr lang="en-US" sz="3400" dirty="0"/>
          </a:p>
        </p:txBody>
      </p:sp>
      <p:sp>
        <p:nvSpPr>
          <p:cNvPr id="4" name="Shape 2"/>
          <p:cNvSpPr/>
          <p:nvPr/>
        </p:nvSpPr>
        <p:spPr>
          <a:xfrm>
            <a:off x="548640" y="1417320"/>
            <a:ext cx="2606040" cy="3246120"/>
          </a:xfrm>
          <a:prstGeom prst="roundRect">
            <a:avLst>
              <a:gd name="adj" fmla="val 4211"/>
            </a:avLst>
          </a:prstGeom>
          <a:solidFill>
            <a:srgbClr val="EEF2F6"/>
          </a:solidFill>
          <a:ln w="12700">
            <a:solidFill>
              <a:srgbClr val="EEF2F6"/>
            </a:solidFill>
            <a:prstDash val="solid"/>
          </a:ln>
        </p:spPr>
      </p:sp>
      <p:sp>
        <p:nvSpPr>
          <p:cNvPr id="5" name="Shape 3"/>
          <p:cNvSpPr/>
          <p:nvPr/>
        </p:nvSpPr>
        <p:spPr>
          <a:xfrm>
            <a:off x="777240" y="1600200"/>
            <a:ext cx="548640" cy="548640"/>
          </a:xfrm>
          <a:prstGeom prst="ellipse">
            <a:avLst/>
          </a:prstGeom>
          <a:solidFill>
            <a:srgbClr val="0F1B2D"/>
          </a:solidFill>
          <a:ln w="12700">
            <a:solidFill>
              <a:srgbClr val="0F1B2D"/>
            </a:solidFill>
            <a:prstDash val="solid"/>
          </a:ln>
        </p:spPr>
      </p:sp>
      <p:sp>
        <p:nvSpPr>
          <p:cNvPr id="6" name="Text 4"/>
          <p:cNvSpPr txBox="1"/>
          <p:nvPr/>
        </p:nvSpPr>
        <p:spPr>
          <a:xfrm>
            <a:off x="777240"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777240" y="2286000"/>
            <a:ext cx="2194560" cy="868680"/>
          </a:xfrm>
          <a:prstGeom prst="rect">
            <a:avLst/>
          </a:prstGeom>
          <a:noFill/>
          <a:ln/>
        </p:spPr>
        <p:txBody>
          <a:bodyPr wrap="square" lIns="0" tIns="0" rIns="0" bIns="0" rtlCol="0" anchor="t"/>
          <a:lstStyle/>
          <a:p>
            <a:pPr indent="0" marL="0">
              <a:buNone/>
            </a:pPr>
            <a:r>
              <a:rPr lang="en-US" sz="2300" b="1" dirty="0">
                <a:solidFill>
                  <a:srgbClr val="1E293B"/>
                </a:solidFill>
                <a:latin typeface="Calibri" pitchFamily="34" charset="0"/>
                <a:ea typeface="Calibri" pitchFamily="34" charset="-122"/>
                <a:cs typeface="Calibri" pitchFamily="34" charset="-120"/>
              </a:rPr>
              <a:t>Look at short pieces</a:t>
            </a:r>
            <a:endParaRPr lang="en-US" sz="2300" dirty="0"/>
          </a:p>
        </p:txBody>
      </p:sp>
      <p:sp>
        <p:nvSpPr>
          <p:cNvPr id="8" name="Text 6"/>
          <p:cNvSpPr txBox="1"/>
          <p:nvPr/>
        </p:nvSpPr>
        <p:spPr>
          <a:xfrm>
            <a:off x="777240" y="3154680"/>
            <a:ext cx="2194560" cy="411480"/>
          </a:xfrm>
          <a:prstGeom prst="rect">
            <a:avLst/>
          </a:prstGeom>
          <a:noFill/>
          <a:ln/>
        </p:spPr>
        <p:txBody>
          <a:bodyPr wrap="square" lIns="0" tIns="0" rIns="0" bIns="0" rtlCol="0" anchor="t"/>
          <a:lstStyle/>
          <a:p>
            <a:pPr indent="0" marL="0">
              <a:buNone/>
            </a:pPr>
            <a:r>
              <a:rPr lang="en-US" sz="1600" i="1" dirty="0">
                <a:solidFill>
                  <a:srgbClr val="5B6B7F"/>
                </a:solidFill>
                <a:latin typeface="Calibri" pitchFamily="34" charset="0"/>
                <a:ea typeface="Calibri" pitchFamily="34" charset="-122"/>
                <a:cs typeface="Calibri" pitchFamily="34" charset="-120"/>
              </a:rPr>
              <a:t>CNN</a:t>
            </a:r>
            <a:endParaRPr lang="en-US" sz="1600" dirty="0"/>
          </a:p>
        </p:txBody>
      </p:sp>
      <p:sp>
        <p:nvSpPr>
          <p:cNvPr id="9" name="Text 7"/>
          <p:cNvSpPr txBox="1"/>
          <p:nvPr/>
        </p:nvSpPr>
        <p:spPr>
          <a:xfrm>
            <a:off x="777240" y="3611880"/>
            <a:ext cx="2194560" cy="91440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short filters slide along the signal</a:t>
            </a:r>
            <a:endParaRPr lang="en-US" sz="1800" dirty="0"/>
          </a:p>
        </p:txBody>
      </p:sp>
      <p:sp>
        <p:nvSpPr>
          <p:cNvPr id="10" name="Shape 8"/>
          <p:cNvSpPr/>
          <p:nvPr/>
        </p:nvSpPr>
        <p:spPr>
          <a:xfrm>
            <a:off x="3364992" y="1417320"/>
            <a:ext cx="2606040" cy="3246120"/>
          </a:xfrm>
          <a:prstGeom prst="roundRect">
            <a:avLst>
              <a:gd name="adj" fmla="val 4211"/>
            </a:avLst>
          </a:prstGeom>
          <a:solidFill>
            <a:srgbClr val="0F1B2D"/>
          </a:solidFill>
          <a:ln w="12700">
            <a:solidFill>
              <a:srgbClr val="0F1B2D"/>
            </a:solidFill>
            <a:prstDash val="solid"/>
          </a:ln>
        </p:spPr>
      </p:sp>
      <p:sp>
        <p:nvSpPr>
          <p:cNvPr id="11" name="Shape 9"/>
          <p:cNvSpPr/>
          <p:nvPr/>
        </p:nvSpPr>
        <p:spPr>
          <a:xfrm>
            <a:off x="3593592" y="1600200"/>
            <a:ext cx="548640" cy="548640"/>
          </a:xfrm>
          <a:prstGeom prst="ellipse">
            <a:avLst/>
          </a:prstGeom>
          <a:solidFill>
            <a:srgbClr val="F08A24"/>
          </a:solidFill>
          <a:ln w="12700">
            <a:solidFill>
              <a:srgbClr val="F08A24"/>
            </a:solidFill>
            <a:prstDash val="solid"/>
          </a:ln>
        </p:spPr>
      </p:sp>
      <p:sp>
        <p:nvSpPr>
          <p:cNvPr id="12" name="Text 10"/>
          <p:cNvSpPr txBox="1"/>
          <p:nvPr/>
        </p:nvSpPr>
        <p:spPr>
          <a:xfrm>
            <a:off x="3593592"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txBox="1"/>
          <p:nvPr/>
        </p:nvSpPr>
        <p:spPr>
          <a:xfrm>
            <a:off x="3593592" y="2286000"/>
            <a:ext cx="2194560" cy="868680"/>
          </a:xfrm>
          <a:prstGeom prst="rect">
            <a:avLst/>
          </a:prstGeom>
          <a:noFill/>
          <a:ln/>
        </p:spPr>
        <p:txBody>
          <a:bodyPr wrap="square" lIns="0" tIns="0" rIns="0" bIns="0" rtlCol="0" anchor="t"/>
          <a:lstStyle/>
          <a:p>
            <a:pPr indent="0" marL="0">
              <a:buNone/>
            </a:pPr>
            <a:r>
              <a:rPr lang="en-US" sz="2300" b="1" dirty="0">
                <a:solidFill>
                  <a:srgbClr val="FFFFFF"/>
                </a:solidFill>
                <a:latin typeface="Calibri" pitchFamily="34" charset="0"/>
                <a:ea typeface="Calibri" pitchFamily="34" charset="-122"/>
                <a:cs typeface="Calibri" pitchFamily="34" charset="-120"/>
              </a:rPr>
              <a:t>Read them in order</a:t>
            </a:r>
            <a:endParaRPr lang="en-US" sz="2300" dirty="0"/>
          </a:p>
        </p:txBody>
      </p:sp>
      <p:sp>
        <p:nvSpPr>
          <p:cNvPr id="14" name="Text 12"/>
          <p:cNvSpPr txBox="1"/>
          <p:nvPr/>
        </p:nvSpPr>
        <p:spPr>
          <a:xfrm>
            <a:off x="3593592" y="3154680"/>
            <a:ext cx="2194560" cy="411480"/>
          </a:xfrm>
          <a:prstGeom prst="rect">
            <a:avLst/>
          </a:prstGeom>
          <a:noFill/>
          <a:ln/>
        </p:spPr>
        <p:txBody>
          <a:bodyPr wrap="square" lIns="0" tIns="0" rIns="0" bIns="0" rtlCol="0" anchor="t"/>
          <a:lstStyle/>
          <a:p>
            <a:pPr indent="0" marL="0">
              <a:buNone/>
            </a:pPr>
            <a:r>
              <a:rPr lang="en-US" sz="1600" i="1" dirty="0">
                <a:solidFill>
                  <a:srgbClr val="C9D3E0"/>
                </a:solidFill>
                <a:latin typeface="Calibri" pitchFamily="34" charset="0"/>
                <a:ea typeface="Calibri" pitchFamily="34" charset="-122"/>
                <a:cs typeface="Calibri" pitchFamily="34" charset="-120"/>
              </a:rPr>
              <a:t>LSTM, both directions</a:t>
            </a:r>
            <a:endParaRPr lang="en-US" sz="1600" dirty="0"/>
          </a:p>
        </p:txBody>
      </p:sp>
      <p:sp>
        <p:nvSpPr>
          <p:cNvPr id="15" name="Text 13"/>
          <p:cNvSpPr txBox="1"/>
          <p:nvPr/>
        </p:nvSpPr>
        <p:spPr>
          <a:xfrm>
            <a:off x="3593592" y="3611880"/>
            <a:ext cx="219456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carries a memory from piece to piece</a:t>
            </a:r>
            <a:endParaRPr lang="en-US" sz="1800" dirty="0"/>
          </a:p>
        </p:txBody>
      </p:sp>
      <p:sp>
        <p:nvSpPr>
          <p:cNvPr id="16" name="Shape 14"/>
          <p:cNvSpPr/>
          <p:nvPr/>
        </p:nvSpPr>
        <p:spPr>
          <a:xfrm>
            <a:off x="6181344" y="1417320"/>
            <a:ext cx="2606040" cy="3246120"/>
          </a:xfrm>
          <a:prstGeom prst="roundRect">
            <a:avLst>
              <a:gd name="adj" fmla="val 4211"/>
            </a:avLst>
          </a:prstGeom>
          <a:solidFill>
            <a:srgbClr val="EEF2F6"/>
          </a:solidFill>
          <a:ln w="12700">
            <a:solidFill>
              <a:srgbClr val="EEF2F6"/>
            </a:solidFill>
            <a:prstDash val="solid"/>
          </a:ln>
        </p:spPr>
      </p:sp>
      <p:sp>
        <p:nvSpPr>
          <p:cNvPr id="17" name="Shape 15"/>
          <p:cNvSpPr/>
          <p:nvPr/>
        </p:nvSpPr>
        <p:spPr>
          <a:xfrm>
            <a:off x="6409944" y="1600200"/>
            <a:ext cx="548640" cy="548640"/>
          </a:xfrm>
          <a:prstGeom prst="ellipse">
            <a:avLst/>
          </a:prstGeom>
          <a:solidFill>
            <a:srgbClr val="0F1B2D"/>
          </a:solidFill>
          <a:ln w="12700">
            <a:solidFill>
              <a:srgbClr val="0F1B2D"/>
            </a:solidFill>
            <a:prstDash val="solid"/>
          </a:ln>
        </p:spPr>
      </p:sp>
      <p:sp>
        <p:nvSpPr>
          <p:cNvPr id="18" name="Text 16"/>
          <p:cNvSpPr txBox="1"/>
          <p:nvPr/>
        </p:nvSpPr>
        <p:spPr>
          <a:xfrm>
            <a:off x="6409944"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7"/>
          <p:cNvSpPr txBox="1"/>
          <p:nvPr/>
        </p:nvSpPr>
        <p:spPr>
          <a:xfrm>
            <a:off x="6409944" y="2286000"/>
            <a:ext cx="2194560" cy="868680"/>
          </a:xfrm>
          <a:prstGeom prst="rect">
            <a:avLst/>
          </a:prstGeom>
          <a:noFill/>
          <a:ln/>
        </p:spPr>
        <p:txBody>
          <a:bodyPr wrap="square" lIns="0" tIns="0" rIns="0" bIns="0" rtlCol="0" anchor="t"/>
          <a:lstStyle/>
          <a:p>
            <a:pPr indent="0" marL="0">
              <a:buNone/>
            </a:pPr>
            <a:r>
              <a:rPr lang="en-US" sz="2300" b="1" dirty="0">
                <a:solidFill>
                  <a:srgbClr val="1E293B"/>
                </a:solidFill>
                <a:latin typeface="Calibri" pitchFamily="34" charset="0"/>
                <a:ea typeface="Calibri" pitchFamily="34" charset="-122"/>
                <a:cs typeface="Calibri" pitchFamily="34" charset="-120"/>
              </a:rPr>
              <a:t>Weigh the pieces</a:t>
            </a:r>
            <a:endParaRPr lang="en-US" sz="2300" dirty="0"/>
          </a:p>
        </p:txBody>
      </p:sp>
      <p:sp>
        <p:nvSpPr>
          <p:cNvPr id="20" name="Text 18"/>
          <p:cNvSpPr txBox="1"/>
          <p:nvPr/>
        </p:nvSpPr>
        <p:spPr>
          <a:xfrm>
            <a:off x="6409944" y="3154680"/>
            <a:ext cx="2194560" cy="411480"/>
          </a:xfrm>
          <a:prstGeom prst="rect">
            <a:avLst/>
          </a:prstGeom>
          <a:noFill/>
          <a:ln/>
        </p:spPr>
        <p:txBody>
          <a:bodyPr wrap="square" lIns="0" tIns="0" rIns="0" bIns="0" rtlCol="0" anchor="t"/>
          <a:lstStyle/>
          <a:p>
            <a:pPr indent="0" marL="0">
              <a:buNone/>
            </a:pPr>
            <a:r>
              <a:rPr lang="en-US" sz="1600" i="1" dirty="0">
                <a:solidFill>
                  <a:srgbClr val="5B6B7F"/>
                </a:solidFill>
                <a:latin typeface="Calibri" pitchFamily="34" charset="0"/>
                <a:ea typeface="Calibri" pitchFamily="34" charset="-122"/>
                <a:cs typeface="Calibri" pitchFamily="34" charset="-120"/>
              </a:rPr>
              <a:t>attention</a:t>
            </a:r>
            <a:endParaRPr lang="en-US" sz="1600" dirty="0"/>
          </a:p>
        </p:txBody>
      </p:sp>
      <p:sp>
        <p:nvSpPr>
          <p:cNvPr id="21" name="Text 19"/>
          <p:cNvSpPr txBox="1"/>
          <p:nvPr/>
        </p:nvSpPr>
        <p:spPr>
          <a:xfrm>
            <a:off x="6409944" y="3611880"/>
            <a:ext cx="2194560" cy="91440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a weighted average of all the pieces</a:t>
            </a:r>
            <a:endParaRPr lang="en-US" sz="1800" dirty="0"/>
          </a:p>
        </p:txBody>
      </p:sp>
      <p:sp>
        <p:nvSpPr>
          <p:cNvPr id="22" name="Shape 20"/>
          <p:cNvSpPr/>
          <p:nvPr/>
        </p:nvSpPr>
        <p:spPr>
          <a:xfrm>
            <a:off x="8997696" y="1417320"/>
            <a:ext cx="2606040" cy="3246120"/>
          </a:xfrm>
          <a:prstGeom prst="roundRect">
            <a:avLst>
              <a:gd name="adj" fmla="val 4211"/>
            </a:avLst>
          </a:prstGeom>
          <a:solidFill>
            <a:srgbClr val="EEF2F6"/>
          </a:solidFill>
          <a:ln w="12700">
            <a:solidFill>
              <a:srgbClr val="EEF2F6"/>
            </a:solidFill>
            <a:prstDash val="solid"/>
          </a:ln>
        </p:spPr>
      </p:sp>
      <p:sp>
        <p:nvSpPr>
          <p:cNvPr id="23" name="Shape 21"/>
          <p:cNvSpPr/>
          <p:nvPr/>
        </p:nvSpPr>
        <p:spPr>
          <a:xfrm>
            <a:off x="9226296" y="1600200"/>
            <a:ext cx="548640" cy="548640"/>
          </a:xfrm>
          <a:prstGeom prst="ellipse">
            <a:avLst/>
          </a:prstGeom>
          <a:solidFill>
            <a:srgbClr val="0F1B2D"/>
          </a:solidFill>
          <a:ln w="12700">
            <a:solidFill>
              <a:srgbClr val="0F1B2D"/>
            </a:solidFill>
            <a:prstDash val="solid"/>
          </a:ln>
        </p:spPr>
      </p:sp>
      <p:sp>
        <p:nvSpPr>
          <p:cNvPr id="24" name="Text 22"/>
          <p:cNvSpPr txBox="1"/>
          <p:nvPr/>
        </p:nvSpPr>
        <p:spPr>
          <a:xfrm>
            <a:off x="9226296"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5" name="Text 23"/>
          <p:cNvSpPr txBox="1"/>
          <p:nvPr/>
        </p:nvSpPr>
        <p:spPr>
          <a:xfrm>
            <a:off x="9226296" y="2286000"/>
            <a:ext cx="2194560" cy="868680"/>
          </a:xfrm>
          <a:prstGeom prst="rect">
            <a:avLst/>
          </a:prstGeom>
          <a:noFill/>
          <a:ln/>
        </p:spPr>
        <p:txBody>
          <a:bodyPr wrap="square" lIns="0" tIns="0" rIns="0" bIns="0" rtlCol="0" anchor="t"/>
          <a:lstStyle/>
          <a:p>
            <a:pPr indent="0" marL="0">
              <a:buNone/>
            </a:pPr>
            <a:r>
              <a:rPr lang="en-US" sz="2300" b="1" dirty="0">
                <a:solidFill>
                  <a:srgbClr val="1E293B"/>
                </a:solidFill>
                <a:latin typeface="Calibri" pitchFamily="34" charset="0"/>
                <a:ea typeface="Calibri" pitchFamily="34" charset="-122"/>
                <a:cs typeface="Calibri" pitchFamily="34" charset="-120"/>
              </a:rPr>
              <a:t>Decide</a:t>
            </a:r>
            <a:endParaRPr lang="en-US" sz="2300" dirty="0"/>
          </a:p>
        </p:txBody>
      </p:sp>
      <p:sp>
        <p:nvSpPr>
          <p:cNvPr id="26" name="Text 24"/>
          <p:cNvSpPr txBox="1"/>
          <p:nvPr/>
        </p:nvSpPr>
        <p:spPr>
          <a:xfrm>
            <a:off x="9226296" y="3154680"/>
            <a:ext cx="2194560" cy="411480"/>
          </a:xfrm>
          <a:prstGeom prst="rect">
            <a:avLst/>
          </a:prstGeom>
          <a:noFill/>
          <a:ln/>
        </p:spPr>
        <p:txBody>
          <a:bodyPr wrap="square" lIns="0" tIns="0" rIns="0" bIns="0" rtlCol="0" anchor="t"/>
          <a:lstStyle/>
          <a:p>
            <a:pPr indent="0" marL="0">
              <a:buNone/>
            </a:pPr>
            <a:r>
              <a:rPr lang="en-US" sz="1600" i="1" dirty="0">
                <a:solidFill>
                  <a:srgbClr val="5B6B7F"/>
                </a:solidFill>
                <a:latin typeface="Calibri" pitchFamily="34" charset="0"/>
                <a:ea typeface="Calibri" pitchFamily="34" charset="-122"/>
                <a:cs typeface="Calibri" pitchFamily="34" charset="-120"/>
              </a:rPr>
              <a:t>dense layers</a:t>
            </a:r>
            <a:endParaRPr lang="en-US" sz="1600" dirty="0"/>
          </a:p>
        </p:txBody>
      </p:sp>
      <p:sp>
        <p:nvSpPr>
          <p:cNvPr id="27" name="Text 25"/>
          <p:cNvSpPr txBox="1"/>
          <p:nvPr/>
        </p:nvSpPr>
        <p:spPr>
          <a:xfrm>
            <a:off x="9226296" y="3611880"/>
            <a:ext cx="2194560" cy="91440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11 scores; the largest one wins</a:t>
            </a:r>
            <a:endParaRPr lang="en-US" sz="1800" dirty="0"/>
          </a:p>
        </p:txBody>
      </p:sp>
      <p:sp>
        <p:nvSpPr>
          <p:cNvPr id="28" name="Text 26"/>
          <p:cNvSpPr txBox="1"/>
          <p:nvPr/>
        </p:nvSpPr>
        <p:spPr>
          <a:xfrm>
            <a:off x="548640" y="4892040"/>
            <a:ext cx="11091672" cy="45720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In: 128 samples (I and Q).  Out: 11 scores.  794,188 numbers learned, 83% of them in step 2.</a:t>
            </a:r>
            <a:endParaRPr lang="en-US" sz="1900" dirty="0"/>
          </a:p>
        </p:txBody>
      </p:sp>
      <p:sp>
        <p:nvSpPr>
          <p:cNvPr id="29" name="Text 27"/>
          <p:cNvSpPr txBox="1"/>
          <p:nvPr/>
        </p:nvSpPr>
        <p:spPr>
          <a:xfrm>
            <a:off x="548640" y="54406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Step 2, reading the pieces in order, is the heart of it.</a:t>
            </a:r>
            <a:endParaRPr lang="en-US" sz="2400" dirty="0"/>
          </a:p>
        </p:txBody>
      </p:sp>
      <p:sp>
        <p:nvSpPr>
          <p:cNvPr id="31" name="Text 2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How they trained and tested it</a:t>
            </a:r>
            <a:endParaRPr lang="en-US" sz="3400" dirty="0"/>
          </a:p>
        </p:txBody>
      </p:sp>
      <p:sp>
        <p:nvSpPr>
          <p:cNvPr id="4" name="Shape 2"/>
          <p:cNvSpPr/>
          <p:nvPr/>
        </p:nvSpPr>
        <p:spPr>
          <a:xfrm>
            <a:off x="548640" y="1463040"/>
            <a:ext cx="3520440" cy="2651760"/>
          </a:xfrm>
          <a:prstGeom prst="roundRect">
            <a:avLst>
              <a:gd name="adj" fmla="val 4138"/>
            </a:avLst>
          </a:prstGeom>
          <a:solidFill>
            <a:srgbClr val="EEF2F6"/>
          </a:solidFill>
          <a:ln w="12700">
            <a:solidFill>
              <a:srgbClr val="EEF2F6"/>
            </a:solidFill>
            <a:prstDash val="solid"/>
          </a:ln>
        </p:spPr>
      </p:sp>
      <p:sp>
        <p:nvSpPr>
          <p:cNvPr id="5" name="Text 3"/>
          <p:cNvSpPr txBox="1"/>
          <p:nvPr/>
        </p:nvSpPr>
        <p:spPr>
          <a:xfrm>
            <a:off x="822960" y="1600200"/>
            <a:ext cx="3017520" cy="41148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70%</a:t>
            </a:r>
            <a:endParaRPr lang="en-US" sz="1800" dirty="0"/>
          </a:p>
        </p:txBody>
      </p:sp>
      <p:sp>
        <p:nvSpPr>
          <p:cNvPr id="6" name="Text 4"/>
          <p:cNvSpPr txBox="1"/>
          <p:nvPr/>
        </p:nvSpPr>
        <p:spPr>
          <a:xfrm>
            <a:off x="822960" y="1920240"/>
            <a:ext cx="301752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154,000</a:t>
            </a:r>
            <a:endParaRPr lang="en-US" sz="5000" dirty="0"/>
          </a:p>
        </p:txBody>
      </p:sp>
      <p:sp>
        <p:nvSpPr>
          <p:cNvPr id="7" name="Text 5"/>
          <p:cNvSpPr txBox="1"/>
          <p:nvPr/>
        </p:nvSpPr>
        <p:spPr>
          <a:xfrm>
            <a:off x="822960" y="288036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frames with the right answer: it learns from these</a:t>
            </a:r>
            <a:endParaRPr lang="en-US" sz="1900" dirty="0"/>
          </a:p>
        </p:txBody>
      </p:sp>
      <p:sp>
        <p:nvSpPr>
          <p:cNvPr id="8" name="Shape 6"/>
          <p:cNvSpPr/>
          <p:nvPr/>
        </p:nvSpPr>
        <p:spPr>
          <a:xfrm>
            <a:off x="4343400" y="1463040"/>
            <a:ext cx="3520440" cy="2651760"/>
          </a:xfrm>
          <a:prstGeom prst="roundRect">
            <a:avLst>
              <a:gd name="adj" fmla="val 4138"/>
            </a:avLst>
          </a:prstGeom>
          <a:solidFill>
            <a:srgbClr val="EEF2F6"/>
          </a:solidFill>
          <a:ln w="12700">
            <a:solidFill>
              <a:srgbClr val="EEF2F6"/>
            </a:solidFill>
            <a:prstDash val="solid"/>
          </a:ln>
        </p:spPr>
      </p:sp>
      <p:sp>
        <p:nvSpPr>
          <p:cNvPr id="9" name="Text 7"/>
          <p:cNvSpPr txBox="1"/>
          <p:nvPr/>
        </p:nvSpPr>
        <p:spPr>
          <a:xfrm>
            <a:off x="4617720" y="1600200"/>
            <a:ext cx="3017520" cy="411480"/>
          </a:xfrm>
          <a:prstGeom prst="rect">
            <a:avLst/>
          </a:prstGeom>
          <a:noFill/>
          <a:ln/>
        </p:spPr>
        <p:txBody>
          <a:bodyPr wrap="square" lIns="0" tIns="0" rIns="0" bIns="0" rtlCol="0" anchor="t"/>
          <a:lstStyle/>
          <a:p>
            <a:pPr indent="0" marL="0">
              <a:buNone/>
            </a:pPr>
            <a:r>
              <a:rPr lang="en-US" sz="1800" b="1" dirty="0">
                <a:solidFill>
                  <a:srgbClr val="8FA0B5"/>
                </a:solidFill>
                <a:latin typeface="Calibri" pitchFamily="34" charset="0"/>
                <a:ea typeface="Calibri" pitchFamily="34" charset="-122"/>
                <a:cs typeface="Calibri" pitchFamily="34" charset="-120"/>
              </a:rPr>
              <a:t>15%</a:t>
            </a:r>
            <a:endParaRPr lang="en-US" sz="1800" dirty="0"/>
          </a:p>
        </p:txBody>
      </p:sp>
      <p:sp>
        <p:nvSpPr>
          <p:cNvPr id="10" name="Text 8"/>
          <p:cNvSpPr txBox="1"/>
          <p:nvPr/>
        </p:nvSpPr>
        <p:spPr>
          <a:xfrm>
            <a:off x="4617720" y="1920240"/>
            <a:ext cx="301752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33,000</a:t>
            </a:r>
            <a:endParaRPr lang="en-US" sz="5000" dirty="0"/>
          </a:p>
        </p:txBody>
      </p:sp>
      <p:sp>
        <p:nvSpPr>
          <p:cNvPr id="11" name="Text 9"/>
          <p:cNvSpPr txBox="1"/>
          <p:nvPr/>
        </p:nvSpPr>
        <p:spPr>
          <a:xfrm>
            <a:off x="4617720" y="288036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frames to decide when to stop learning</a:t>
            </a:r>
            <a:endParaRPr lang="en-US" sz="1900" dirty="0"/>
          </a:p>
        </p:txBody>
      </p:sp>
      <p:sp>
        <p:nvSpPr>
          <p:cNvPr id="12" name="Shape 10"/>
          <p:cNvSpPr/>
          <p:nvPr/>
        </p:nvSpPr>
        <p:spPr>
          <a:xfrm>
            <a:off x="8138160" y="1463040"/>
            <a:ext cx="3520440" cy="2651760"/>
          </a:xfrm>
          <a:prstGeom prst="roundRect">
            <a:avLst>
              <a:gd name="adj" fmla="val 4138"/>
            </a:avLst>
          </a:prstGeom>
          <a:solidFill>
            <a:srgbClr val="EEF2F6"/>
          </a:solidFill>
          <a:ln w="12700">
            <a:solidFill>
              <a:srgbClr val="EEF2F6"/>
            </a:solidFill>
            <a:prstDash val="solid"/>
          </a:ln>
        </p:spPr>
      </p:sp>
      <p:sp>
        <p:nvSpPr>
          <p:cNvPr id="13" name="Text 11"/>
          <p:cNvSpPr txBox="1"/>
          <p:nvPr/>
        </p:nvSpPr>
        <p:spPr>
          <a:xfrm>
            <a:off x="8412480" y="1600200"/>
            <a:ext cx="3017520" cy="411480"/>
          </a:xfrm>
          <a:prstGeom prst="rect">
            <a:avLst/>
          </a:prstGeom>
          <a:noFill/>
          <a:ln/>
        </p:spPr>
        <p:txBody>
          <a:bodyPr wrap="square" lIns="0" tIns="0" rIns="0" bIns="0" rtlCol="0" anchor="t"/>
          <a:lstStyle/>
          <a:p>
            <a:pPr indent="0" marL="0">
              <a:buNone/>
            </a:pPr>
            <a:r>
              <a:rPr lang="en-US" sz="1800" b="1" dirty="0">
                <a:solidFill>
                  <a:srgbClr val="F08A24"/>
                </a:solidFill>
                <a:latin typeface="Calibri" pitchFamily="34" charset="0"/>
                <a:ea typeface="Calibri" pitchFamily="34" charset="-122"/>
                <a:cs typeface="Calibri" pitchFamily="34" charset="-120"/>
              </a:rPr>
              <a:t>15%</a:t>
            </a:r>
            <a:endParaRPr lang="en-US" sz="1800" dirty="0"/>
          </a:p>
        </p:txBody>
      </p:sp>
      <p:sp>
        <p:nvSpPr>
          <p:cNvPr id="14" name="Text 12"/>
          <p:cNvSpPr txBox="1"/>
          <p:nvPr/>
        </p:nvSpPr>
        <p:spPr>
          <a:xfrm>
            <a:off x="8412480" y="1920240"/>
            <a:ext cx="301752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33,000</a:t>
            </a:r>
            <a:endParaRPr lang="en-US" sz="5000" dirty="0"/>
          </a:p>
        </p:txBody>
      </p:sp>
      <p:sp>
        <p:nvSpPr>
          <p:cNvPr id="15" name="Text 13"/>
          <p:cNvSpPr txBox="1"/>
          <p:nvPr/>
        </p:nvSpPr>
        <p:spPr>
          <a:xfrm>
            <a:off x="8412480" y="288036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frames kept aside: every result is counted on these</a:t>
            </a:r>
            <a:endParaRPr lang="en-US" sz="1900" dirty="0"/>
          </a:p>
        </p:txBody>
      </p:sp>
      <p:sp>
        <p:nvSpPr>
          <p:cNvPr id="16" name="Text 14"/>
          <p:cNvSpPr txBox="1"/>
          <p:nvPr/>
        </p:nvSpPr>
        <p:spPr>
          <a:xfrm>
            <a:off x="548640" y="4389120"/>
            <a:ext cx="11091672" cy="548640"/>
          </a:xfrm>
          <a:prstGeom prst="rect">
            <a:avLst/>
          </a:prstGeom>
          <a:noFill/>
          <a:ln/>
        </p:spPr>
        <p:txBody>
          <a:bodyPr wrap="square" lIns="0" tIns="0" rIns="0" bIns="0" rtlCol="0" anchor="t"/>
          <a:lstStyle/>
          <a:p>
            <a:pPr indent="0" marL="0">
              <a:buNone/>
            </a:pPr>
            <a:r>
              <a:rPr lang="en-US" sz="2100" dirty="0">
                <a:solidFill>
                  <a:srgbClr val="1E293B"/>
                </a:solidFill>
                <a:latin typeface="Calibri" pitchFamily="34" charset="0"/>
                <a:ea typeface="Calibri" pitchFamily="34" charset="-122"/>
                <a:cs typeface="Calibri" pitchFamily="34" charset="-120"/>
              </a:rPr>
              <a:t>It stopped by itself after 58 passes over the data, when it stopped improving. Done once.</a:t>
            </a:r>
            <a:endParaRPr lang="en-US" sz="2100" dirty="0"/>
          </a:p>
        </p:txBody>
      </p:sp>
      <p:sp>
        <p:nvSpPr>
          <p:cNvPr id="17" name="Text 15"/>
          <p:cNvSpPr txBox="1"/>
          <p:nvPr/>
        </p:nvSpPr>
        <p:spPr>
          <a:xfrm>
            <a:off x="548640" y="52578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 test frames are never used for learning.</a:t>
            </a:r>
            <a:endParaRPr lang="en-US" sz="2400" dirty="0"/>
          </a:p>
        </p:txBody>
      </p:sp>
      <p:sp>
        <p:nvSpPr>
          <p:cNvPr id="19" name="Text 16"/>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TABLE 3</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Their main table: first by half a point</a:t>
            </a:r>
            <a:endParaRPr lang="en-US" sz="3400" dirty="0"/>
          </a:p>
        </p:txBody>
      </p:sp>
      <p:graphicFrame>
        <p:nvGraphicFramePr>
          <p:cNvPr id="4" name="Chart 0" descr=""/>
          <p:cNvGraphicFramePr/>
          <p:nvPr/>
        </p:nvGraphicFramePr>
        <p:xfrm>
          <a:off x="548640" y="1325880"/>
          <a:ext cx="11091672" cy="4343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76072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63.24 vs 62.73: the runner-up is half a point behind.</a:t>
            </a:r>
            <a:endParaRPr lang="en-US" sz="2400" dirty="0"/>
          </a:p>
        </p:txBody>
      </p:sp>
      <p:sp>
        <p:nvSpPr>
          <p:cNvPr id="7" name="Text 3"/>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FIG. 8</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Accuracy against SNR</a:t>
            </a:r>
            <a:endParaRPr lang="en-US" sz="3400" dirty="0"/>
          </a:p>
        </p:txBody>
      </p:sp>
      <p:pic>
        <p:nvPicPr>
          <p:cNvPr id="4" name="Image 0" descr="paper/fig8_accuracy_snr.jpg">    </p:cNvPr>
          <p:cNvPicPr>
            <a:picLocks noChangeAspect="1"/>
          </p:cNvPicPr>
          <p:nvPr/>
        </p:nvPicPr>
        <p:blipFill>
          <a:blip r:embed="rId1"/>
          <a:stretch>
            <a:fillRect/>
          </a:stretch>
        </p:blipFill>
        <p:spPr>
          <a:xfrm>
            <a:off x="548640" y="1325880"/>
            <a:ext cx="6309360" cy="4134834"/>
          </a:xfrm>
          <a:prstGeom prst="rect">
            <a:avLst/>
          </a:prstGeom>
        </p:spPr>
      </p:pic>
      <p:sp>
        <p:nvSpPr>
          <p:cNvPr id="5" name="Text 2"/>
          <p:cNvSpPr txBox="1"/>
          <p:nvPr/>
        </p:nvSpPr>
        <p:spPr>
          <a:xfrm>
            <a:off x="548640" y="5486400"/>
            <a:ext cx="640080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Figure from El-Haryqy et al. 2025 (CC BY-NC 4.0)</a:t>
            </a:r>
            <a:endParaRPr lang="en-US" sz="1200" dirty="0"/>
          </a:p>
        </p:txBody>
      </p:sp>
      <p:sp>
        <p:nvSpPr>
          <p:cNvPr id="6" name="Text 3"/>
          <p:cNvSpPr txBox="1"/>
          <p:nvPr/>
        </p:nvSpPr>
        <p:spPr>
          <a:xfrm>
            <a:off x="7406640" y="1554480"/>
            <a:ext cx="4206240" cy="914400"/>
          </a:xfrm>
          <a:prstGeom prst="rect">
            <a:avLst/>
          </a:prstGeom>
          <a:noFill/>
          <a:ln/>
        </p:spPr>
        <p:txBody>
          <a:bodyPr wrap="square" lIns="0" tIns="0" rIns="0" bIns="0" rtlCol="0" anchor="b"/>
          <a:lstStyle/>
          <a:p>
            <a:pPr algn="l" indent="0" marL="0">
              <a:buNone/>
            </a:pPr>
            <a:r>
              <a:rPr lang="en-US" sz="6000" b="1" dirty="0">
                <a:solidFill>
                  <a:srgbClr val="1E293B"/>
                </a:solidFill>
                <a:latin typeface="Calibri" pitchFamily="34" charset="0"/>
                <a:ea typeface="Calibri" pitchFamily="34" charset="-122"/>
                <a:cs typeface="Calibri" pitchFamily="34" charset="-120"/>
              </a:rPr>
              <a:t>9%</a:t>
            </a:r>
            <a:endParaRPr lang="en-US" sz="6000" dirty="0"/>
          </a:p>
        </p:txBody>
      </p:sp>
      <p:sp>
        <p:nvSpPr>
          <p:cNvPr id="7" name="Text 4"/>
          <p:cNvSpPr txBox="1"/>
          <p:nvPr/>
        </p:nvSpPr>
        <p:spPr>
          <a:xfrm>
            <a:off x="7406640" y="2514600"/>
            <a:ext cx="42062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at −20 dB: chance</a:t>
            </a:r>
            <a:endParaRPr lang="en-US" sz="1900" dirty="0"/>
          </a:p>
          <a:p>
            <a:pPr algn="l" indent="0" marL="0">
              <a:buNone/>
            </a:pPr>
            <a:r>
              <a:rPr lang="en-US" sz="1900" dirty="0">
                <a:solidFill>
                  <a:srgbClr val="5B6B7F"/>
                </a:solidFill>
                <a:latin typeface="Calibri" pitchFamily="34" charset="0"/>
                <a:ea typeface="Calibri" pitchFamily="34" charset="-122"/>
                <a:cs typeface="Calibri" pitchFamily="34" charset="-120"/>
              </a:rPr>
              <a:t>(1 in 11)</a:t>
            </a:r>
            <a:endParaRPr lang="en-US" sz="1900" dirty="0"/>
          </a:p>
        </p:txBody>
      </p:sp>
      <p:sp>
        <p:nvSpPr>
          <p:cNvPr id="8" name="Text 5"/>
          <p:cNvSpPr txBox="1"/>
          <p:nvPr/>
        </p:nvSpPr>
        <p:spPr>
          <a:xfrm>
            <a:off x="7406640" y="3429000"/>
            <a:ext cx="4206240" cy="914400"/>
          </a:xfrm>
          <a:prstGeom prst="rect">
            <a:avLst/>
          </a:prstGeom>
          <a:noFill/>
          <a:ln/>
        </p:spPr>
        <p:txBody>
          <a:bodyPr wrap="square" lIns="0" tIns="0" rIns="0" bIns="0" rtlCol="0" anchor="b"/>
          <a:lstStyle/>
          <a:p>
            <a:pPr algn="l" indent="0" marL="0">
              <a:buNone/>
            </a:pPr>
            <a:r>
              <a:rPr lang="en-US" sz="6000" b="1" dirty="0">
                <a:solidFill>
                  <a:srgbClr val="F08A24"/>
                </a:solidFill>
                <a:latin typeface="Calibri" pitchFamily="34" charset="0"/>
                <a:ea typeface="Calibri" pitchFamily="34" charset="-122"/>
                <a:cs typeface="Calibri" pitchFamily="34" charset="-120"/>
              </a:rPr>
              <a:t>~93%</a:t>
            </a:r>
            <a:endParaRPr lang="en-US" sz="6000" dirty="0"/>
          </a:p>
        </p:txBody>
      </p:sp>
      <p:sp>
        <p:nvSpPr>
          <p:cNvPr id="9" name="Text 6"/>
          <p:cNvSpPr txBox="1"/>
          <p:nvPr/>
        </p:nvSpPr>
        <p:spPr>
          <a:xfrm>
            <a:off x="7406640" y="4389120"/>
            <a:ext cx="42062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from 0 dB up</a:t>
            </a:r>
            <a:endParaRPr lang="en-US" sz="1900" dirty="0"/>
          </a:p>
        </p:txBody>
      </p:sp>
      <p:sp>
        <p:nvSpPr>
          <p:cNvPr id="11" name="Text 7"/>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FIG. 11</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Where it still fails, at 0 dB</a:t>
            </a:r>
            <a:endParaRPr lang="en-US" sz="3400" dirty="0"/>
          </a:p>
        </p:txBody>
      </p:sp>
      <p:pic>
        <p:nvPicPr>
          <p:cNvPr id="4" name="Image 0" descr="paper/fig11_icrnna_0db.jpg">    </p:cNvPr>
          <p:cNvPicPr>
            <a:picLocks noChangeAspect="1"/>
          </p:cNvPicPr>
          <p:nvPr/>
        </p:nvPicPr>
        <p:blipFill>
          <a:blip r:embed="rId1"/>
          <a:stretch>
            <a:fillRect/>
          </a:stretch>
        </p:blipFill>
        <p:spPr>
          <a:xfrm>
            <a:off x="548640" y="1325880"/>
            <a:ext cx="4480560" cy="3823411"/>
          </a:xfrm>
          <a:prstGeom prst="rect">
            <a:avLst/>
          </a:prstGeom>
        </p:spPr>
      </p:pic>
      <p:sp>
        <p:nvSpPr>
          <p:cNvPr id="5" name="Text 2"/>
          <p:cNvSpPr txBox="1"/>
          <p:nvPr/>
        </p:nvSpPr>
        <p:spPr>
          <a:xfrm>
            <a:off x="548640" y="5212080"/>
            <a:ext cx="640080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Figure from El-Haryqy et al. 2025 (CC BY-NC 4.0)</a:t>
            </a:r>
            <a:endParaRPr lang="en-US" sz="1200" dirty="0"/>
          </a:p>
        </p:txBody>
      </p:sp>
      <p:sp>
        <p:nvSpPr>
          <p:cNvPr id="6" name="Text 3"/>
          <p:cNvSpPr txBox="1"/>
          <p:nvPr/>
        </p:nvSpPr>
        <p:spPr>
          <a:xfrm>
            <a:off x="6675120" y="1463040"/>
            <a:ext cx="4937760" cy="914400"/>
          </a:xfrm>
          <a:prstGeom prst="rect">
            <a:avLst/>
          </a:prstGeom>
          <a:noFill/>
          <a:ln/>
        </p:spPr>
        <p:txBody>
          <a:bodyPr wrap="square" lIns="0" tIns="0" rIns="0" bIns="0" rtlCol="0" anchor="b"/>
          <a:lstStyle/>
          <a:p>
            <a:pPr algn="l" indent="0" marL="0">
              <a:buNone/>
            </a:pPr>
            <a:r>
              <a:rPr lang="en-US" sz="6000" b="1" dirty="0">
                <a:solidFill>
                  <a:srgbClr val="F08A24"/>
                </a:solidFill>
                <a:latin typeface="Calibri" pitchFamily="34" charset="0"/>
                <a:ea typeface="Calibri" pitchFamily="34" charset="-122"/>
                <a:cs typeface="Calibri" pitchFamily="34" charset="-120"/>
              </a:rPr>
              <a:t>57.9%</a:t>
            </a:r>
            <a:endParaRPr lang="en-US" sz="6000" dirty="0"/>
          </a:p>
        </p:txBody>
      </p:sp>
      <p:sp>
        <p:nvSpPr>
          <p:cNvPr id="7" name="Text 4"/>
          <p:cNvSpPr txBox="1"/>
          <p:nvPr/>
        </p:nvSpPr>
        <p:spPr>
          <a:xfrm>
            <a:off x="6675120" y="2423160"/>
            <a:ext cx="493776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of WBFM called AM-DSB</a:t>
            </a:r>
            <a:endParaRPr lang="en-US" sz="1900" dirty="0"/>
          </a:p>
        </p:txBody>
      </p:sp>
      <p:sp>
        <p:nvSpPr>
          <p:cNvPr id="8" name="Text 5"/>
          <p:cNvSpPr txBox="1"/>
          <p:nvPr/>
        </p:nvSpPr>
        <p:spPr>
          <a:xfrm>
            <a:off x="6675120" y="3291840"/>
            <a:ext cx="4937760" cy="914400"/>
          </a:xfrm>
          <a:prstGeom prst="rect">
            <a:avLst/>
          </a:prstGeom>
          <a:noFill/>
          <a:ln/>
        </p:spPr>
        <p:txBody>
          <a:bodyPr wrap="square" lIns="0" tIns="0" rIns="0" bIns="0" rtlCol="0" anchor="b"/>
          <a:lstStyle/>
          <a:p>
            <a:pPr algn="l" indent="0" marL="0">
              <a:buNone/>
            </a:pPr>
            <a:r>
              <a:rPr lang="en-US" sz="6000" b="1" dirty="0">
                <a:solidFill>
                  <a:srgbClr val="1E293B"/>
                </a:solidFill>
                <a:latin typeface="Calibri" pitchFamily="34" charset="0"/>
                <a:ea typeface="Calibri" pitchFamily="34" charset="-122"/>
                <a:cs typeface="Calibri" pitchFamily="34" charset="-120"/>
              </a:rPr>
              <a:t>~6%</a:t>
            </a:r>
            <a:endParaRPr lang="en-US" sz="6000" dirty="0"/>
          </a:p>
        </p:txBody>
      </p:sp>
      <p:sp>
        <p:nvSpPr>
          <p:cNvPr id="9" name="Text 6"/>
          <p:cNvSpPr txBox="1"/>
          <p:nvPr/>
        </p:nvSpPr>
        <p:spPr>
          <a:xfrm>
            <a:off x="6675120" y="4251960"/>
            <a:ext cx="493776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QAM16 ↔ QAM64, each way</a:t>
            </a:r>
            <a:endParaRPr lang="en-US" sz="1900" dirty="0"/>
          </a:p>
        </p:txBody>
      </p:sp>
      <p:sp>
        <p:nvSpPr>
          <p:cNvPr id="10" name="Text 7"/>
          <p:cNvSpPr txBox="1"/>
          <p:nvPr/>
        </p:nvSpPr>
        <p:spPr>
          <a:xfrm>
            <a:off x="548640" y="56692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 same two problems we see in our runs.</a:t>
            </a:r>
            <a:endParaRPr lang="en-US" sz="2400" dirty="0"/>
          </a:p>
        </p:txBody>
      </p:sp>
      <p:sp>
        <p:nvSpPr>
          <p:cNvPr id="12" name="Text 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TABLE 6</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Which step matters?</a:t>
            </a:r>
            <a:endParaRPr lang="en-US" sz="3400" dirty="0"/>
          </a:p>
        </p:txBody>
      </p:sp>
      <p:graphicFrame>
        <p:nvGraphicFramePr>
          <p:cNvPr id="4" name="Chart 0" descr=""/>
          <p:cNvGraphicFramePr/>
          <p:nvPr/>
        </p:nvGraphicFramePr>
        <p:xfrm>
          <a:off x="548640" y="1325880"/>
          <a:ext cx="731520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321040" y="1554480"/>
            <a:ext cx="3291840" cy="914400"/>
          </a:xfrm>
          <a:prstGeom prst="rect">
            <a:avLst/>
          </a:prstGeom>
          <a:noFill/>
          <a:ln/>
        </p:spPr>
        <p:txBody>
          <a:bodyPr wrap="square" lIns="0" tIns="0" rIns="0" bIns="0" rtlCol="0" anchor="b"/>
          <a:lstStyle/>
          <a:p>
            <a:pPr algn="l" indent="0" marL="0">
              <a:buNone/>
            </a:pPr>
            <a:r>
              <a:rPr lang="en-US" sz="5400" b="1" dirty="0">
                <a:solidFill>
                  <a:srgbClr val="1E293B"/>
                </a:solidFill>
                <a:latin typeface="Calibri" pitchFamily="34" charset="0"/>
                <a:ea typeface="Calibri" pitchFamily="34" charset="-122"/>
                <a:cs typeface="Calibri" pitchFamily="34" charset="-120"/>
              </a:rPr>
              <a:t>+0.4</a:t>
            </a:r>
            <a:endParaRPr lang="en-US" sz="5400" dirty="0"/>
          </a:p>
        </p:txBody>
      </p:sp>
      <p:sp>
        <p:nvSpPr>
          <p:cNvPr id="6" name="Text 3"/>
          <p:cNvSpPr txBox="1"/>
          <p:nvPr/>
        </p:nvSpPr>
        <p:spPr>
          <a:xfrm>
            <a:off x="8321040" y="2514600"/>
            <a:ext cx="32918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points added by step 3 (weighing)</a:t>
            </a:r>
            <a:endParaRPr lang="en-US" sz="1900" dirty="0"/>
          </a:p>
        </p:txBody>
      </p:sp>
      <p:sp>
        <p:nvSpPr>
          <p:cNvPr id="7" name="Text 4"/>
          <p:cNvSpPr txBox="1"/>
          <p:nvPr/>
        </p:nvSpPr>
        <p:spPr>
          <a:xfrm>
            <a:off x="8321040" y="3429000"/>
            <a:ext cx="3291840" cy="914400"/>
          </a:xfrm>
          <a:prstGeom prst="rect">
            <a:avLst/>
          </a:prstGeom>
          <a:noFill/>
          <a:ln/>
        </p:spPr>
        <p:txBody>
          <a:bodyPr wrap="square" lIns="0" tIns="0" rIns="0" bIns="0" rtlCol="0" anchor="b"/>
          <a:lstStyle/>
          <a:p>
            <a:pPr algn="l" indent="0" marL="0">
              <a:buNone/>
            </a:pPr>
            <a:r>
              <a:rPr lang="en-US" sz="5400" b="1" dirty="0">
                <a:solidFill>
                  <a:srgbClr val="F08A24"/>
                </a:solidFill>
                <a:latin typeface="Calibri" pitchFamily="34" charset="0"/>
                <a:ea typeface="Calibri" pitchFamily="34" charset="-122"/>
                <a:cs typeface="Calibri" pitchFamily="34" charset="-120"/>
              </a:rPr>
              <a:t>0.1</a:t>
            </a:r>
            <a:endParaRPr lang="en-US" sz="5400" dirty="0"/>
          </a:p>
        </p:txBody>
      </p:sp>
      <p:sp>
        <p:nvSpPr>
          <p:cNvPr id="8" name="Text 5"/>
          <p:cNvSpPr txBox="1"/>
          <p:nvPr/>
        </p:nvSpPr>
        <p:spPr>
          <a:xfrm>
            <a:off x="8321040" y="4389120"/>
            <a:ext cx="32918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points between step 2 alone and all four</a:t>
            </a:r>
            <a:endParaRPr lang="en-US" sz="1900" dirty="0"/>
          </a:p>
        </p:txBody>
      </p:sp>
      <p:sp>
        <p:nvSpPr>
          <p:cNvPr id="9" name="Text 6"/>
          <p:cNvSpPr txBox="1"/>
          <p:nvPr/>
        </p:nvSpPr>
        <p:spPr>
          <a:xfrm>
            <a:off x="548640" y="57150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Step 2, reading in order, does almost all the work.</a:t>
            </a:r>
            <a:endParaRPr lang="en-US" sz="2400" dirty="0"/>
          </a:p>
        </p:txBody>
      </p:sp>
      <p:sp>
        <p:nvSpPr>
          <p:cNvPr id="11" name="Text 7"/>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THEIR CODE</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Their code, and what it gives</a:t>
            </a:r>
            <a:endParaRPr lang="en-US" sz="3400" dirty="0"/>
          </a:p>
        </p:txBody>
      </p:sp>
      <p:sp>
        <p:nvSpPr>
          <p:cNvPr id="4" name="Shape 2"/>
          <p:cNvSpPr/>
          <p:nvPr/>
        </p:nvSpPr>
        <p:spPr>
          <a:xfrm>
            <a:off x="548640" y="1463040"/>
            <a:ext cx="4937760" cy="1234440"/>
          </a:xfrm>
          <a:prstGeom prst="roundRect">
            <a:avLst>
              <a:gd name="adj" fmla="val 8889"/>
            </a:avLst>
          </a:prstGeom>
          <a:solidFill>
            <a:srgbClr val="EEF2F6"/>
          </a:solidFill>
          <a:ln w="12700">
            <a:solidFill>
              <a:srgbClr val="EEF2F6"/>
            </a:solidFill>
            <a:prstDash val="solid"/>
          </a:ln>
        </p:spPr>
      </p:sp>
      <p:sp>
        <p:nvSpPr>
          <p:cNvPr id="5" name="Text 3"/>
          <p:cNvSpPr txBox="1"/>
          <p:nvPr/>
        </p:nvSpPr>
        <p:spPr>
          <a:xfrm>
            <a:off x="822960" y="1572768"/>
            <a:ext cx="4389120" cy="457200"/>
          </a:xfrm>
          <a:prstGeom prst="rect">
            <a:avLst/>
          </a:prstGeom>
          <a:noFill/>
          <a:ln/>
        </p:spPr>
        <p:txBody>
          <a:bodyPr wrap="square" lIns="0" tIns="0" rIns="0" bIns="0" rtlCol="0" anchor="t"/>
          <a:lstStyle/>
          <a:p>
            <a:pPr indent="0" marL="0">
              <a:buNone/>
            </a:pPr>
            <a:r>
              <a:rPr lang="en-US" sz="2400" b="1" dirty="0">
                <a:solidFill>
                  <a:srgbClr val="F08A24"/>
                </a:solidFill>
                <a:latin typeface="Calibri" pitchFamily="34" charset="0"/>
                <a:ea typeface="Calibri" pitchFamily="34" charset="-122"/>
                <a:cs typeface="Calibri" pitchFamily="34" charset="-120"/>
              </a:rPr>
              <a:t>Apr 2025</a:t>
            </a:r>
            <a:endParaRPr lang="en-US" sz="2400" dirty="0"/>
          </a:p>
        </p:txBody>
      </p:sp>
      <p:sp>
        <p:nvSpPr>
          <p:cNvPr id="6" name="Text 4"/>
          <p:cNvSpPr txBox="1"/>
          <p:nvPr/>
        </p:nvSpPr>
        <p:spPr>
          <a:xfrm>
            <a:off x="822960" y="2057400"/>
            <a:ext cx="4480560" cy="54864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the paper, without code</a:t>
            </a:r>
            <a:endParaRPr lang="en-US" sz="1900" dirty="0"/>
          </a:p>
        </p:txBody>
      </p:sp>
      <p:sp>
        <p:nvSpPr>
          <p:cNvPr id="7" name="Shape 5"/>
          <p:cNvSpPr/>
          <p:nvPr/>
        </p:nvSpPr>
        <p:spPr>
          <a:xfrm>
            <a:off x="548640" y="2880360"/>
            <a:ext cx="4937760" cy="1234440"/>
          </a:xfrm>
          <a:prstGeom prst="roundRect">
            <a:avLst>
              <a:gd name="adj" fmla="val 8889"/>
            </a:avLst>
          </a:prstGeom>
          <a:solidFill>
            <a:srgbClr val="EEF2F6"/>
          </a:solidFill>
          <a:ln w="12700">
            <a:solidFill>
              <a:srgbClr val="EEF2F6"/>
            </a:solidFill>
            <a:prstDash val="solid"/>
          </a:ln>
        </p:spPr>
      </p:sp>
      <p:sp>
        <p:nvSpPr>
          <p:cNvPr id="8" name="Text 6"/>
          <p:cNvSpPr txBox="1"/>
          <p:nvPr/>
        </p:nvSpPr>
        <p:spPr>
          <a:xfrm>
            <a:off x="822960" y="2990088"/>
            <a:ext cx="4389120" cy="457200"/>
          </a:xfrm>
          <a:prstGeom prst="rect">
            <a:avLst/>
          </a:prstGeom>
          <a:noFill/>
          <a:ln/>
        </p:spPr>
        <p:txBody>
          <a:bodyPr wrap="square" lIns="0" tIns="0" rIns="0" bIns="0" rtlCol="0" anchor="t"/>
          <a:lstStyle/>
          <a:p>
            <a:pPr indent="0" marL="0">
              <a:buNone/>
            </a:pPr>
            <a:r>
              <a:rPr lang="en-US" sz="2400" b="1" dirty="0">
                <a:solidFill>
                  <a:srgbClr val="F08A24"/>
                </a:solidFill>
                <a:latin typeface="Calibri" pitchFamily="34" charset="0"/>
                <a:ea typeface="Calibri" pitchFamily="34" charset="-122"/>
                <a:cs typeface="Calibri" pitchFamily="34" charset="-120"/>
              </a:rPr>
              <a:t>Aug 2026</a:t>
            </a:r>
            <a:endParaRPr lang="en-US" sz="2400" dirty="0"/>
          </a:p>
        </p:txBody>
      </p:sp>
      <p:sp>
        <p:nvSpPr>
          <p:cNvPr id="9" name="Text 7"/>
          <p:cNvSpPr txBox="1"/>
          <p:nvPr/>
        </p:nvSpPr>
        <p:spPr>
          <a:xfrm>
            <a:off x="822960" y="3474720"/>
            <a:ext cx="4480560" cy="54864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their code on GitHub (no trained network)</a:t>
            </a:r>
            <a:endParaRPr lang="en-US" sz="1900" dirty="0"/>
          </a:p>
        </p:txBody>
      </p:sp>
      <p:sp>
        <p:nvSpPr>
          <p:cNvPr id="10" name="Shape 8"/>
          <p:cNvSpPr/>
          <p:nvPr/>
        </p:nvSpPr>
        <p:spPr>
          <a:xfrm>
            <a:off x="5760720" y="1463040"/>
            <a:ext cx="5879592" cy="2651760"/>
          </a:xfrm>
          <a:prstGeom prst="roundRect">
            <a:avLst>
              <a:gd name="adj" fmla="val 4138"/>
            </a:avLst>
          </a:prstGeom>
          <a:solidFill>
            <a:srgbClr val="0F1B2D"/>
          </a:solidFill>
          <a:ln w="12700">
            <a:solidFill>
              <a:srgbClr val="0F1B2D"/>
            </a:solidFill>
            <a:prstDash val="solid"/>
          </a:ln>
        </p:spPr>
      </p:sp>
      <p:sp>
        <p:nvSpPr>
          <p:cNvPr id="11" name="Text 9"/>
          <p:cNvSpPr txBox="1"/>
          <p:nvPr/>
        </p:nvSpPr>
        <p:spPr>
          <a:xfrm>
            <a:off x="6035040" y="1600200"/>
            <a:ext cx="5303520" cy="1005840"/>
          </a:xfrm>
          <a:prstGeom prst="rect">
            <a:avLst/>
          </a:prstGeom>
          <a:noFill/>
          <a:ln/>
        </p:spPr>
        <p:txBody>
          <a:bodyPr wrap="square" lIns="0" tIns="0" rIns="0" bIns="0" rtlCol="0" anchor="b"/>
          <a:lstStyle/>
          <a:p>
            <a:pPr indent="0" marL="0">
              <a:buNone/>
            </a:pPr>
            <a:r>
              <a:rPr lang="en-US" sz="6000" b="1" dirty="0">
                <a:solidFill>
                  <a:srgbClr val="F08A24"/>
                </a:solidFill>
                <a:latin typeface="Calibri" pitchFamily="34" charset="0"/>
                <a:ea typeface="Calibri" pitchFamily="34" charset="-122"/>
                <a:cs typeface="Calibri" pitchFamily="34" charset="-120"/>
              </a:rPr>
              <a:t>62.71%</a:t>
            </a:r>
            <a:endParaRPr lang="en-US" sz="6000" dirty="0"/>
          </a:p>
        </p:txBody>
      </p:sp>
      <p:sp>
        <p:nvSpPr>
          <p:cNvPr id="12" name="Text 10"/>
          <p:cNvSpPr txBox="1"/>
          <p:nvPr/>
        </p:nvSpPr>
        <p:spPr>
          <a:xfrm>
            <a:off x="6035040" y="2697480"/>
            <a:ext cx="5394960" cy="822960"/>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their code, run by us once (more runs going)</a:t>
            </a:r>
            <a:endParaRPr lang="en-US" sz="1900" dirty="0"/>
          </a:p>
          <a:p>
            <a:pPr indent="0" marL="0">
              <a:buNone/>
            </a:pPr>
            <a:r>
              <a:rPr lang="en-US" sz="1900" dirty="0">
                <a:solidFill>
                  <a:srgbClr val="FFFFFF"/>
                </a:solidFill>
                <a:latin typeface="Calibri" pitchFamily="34" charset="0"/>
                <a:ea typeface="Calibri" pitchFamily="34" charset="-122"/>
                <a:cs typeface="Calibri" pitchFamily="34" charset="-120"/>
              </a:rPr>
              <a:t>paper: 63.24%</a:t>
            </a:r>
            <a:endParaRPr lang="en-US" sz="1900" dirty="0"/>
          </a:p>
        </p:txBody>
      </p:sp>
      <p:sp>
        <p:nvSpPr>
          <p:cNvPr id="13" name="Text 11"/>
          <p:cNvSpPr txBox="1"/>
          <p:nvPr/>
        </p:nvSpPr>
        <p:spPr>
          <a:xfrm>
            <a:off x="548640" y="45720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Their own code, run once: 0.53 points below their paper.</a:t>
            </a:r>
            <a:endParaRPr lang="en-US" sz="2400" dirty="0"/>
          </a:p>
        </p:txBody>
      </p:sp>
      <p:sp>
        <p:nvSpPr>
          <p:cNvPr id="15" name="Text 1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OUR CHECK</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Is their number real?</a:t>
            </a:r>
            <a:endParaRPr lang="en-US" sz="3400" dirty="0"/>
          </a:p>
        </p:txBody>
      </p:sp>
      <p:sp>
        <p:nvSpPr>
          <p:cNvPr id="4" name="Shape 2"/>
          <p:cNvSpPr/>
          <p:nvPr/>
        </p:nvSpPr>
        <p:spPr>
          <a:xfrm>
            <a:off x="548640" y="1463040"/>
            <a:ext cx="5394960" cy="2468880"/>
          </a:xfrm>
          <a:prstGeom prst="roundRect">
            <a:avLst>
              <a:gd name="adj" fmla="val 4444"/>
            </a:avLst>
          </a:prstGeom>
          <a:solidFill>
            <a:srgbClr val="EEF2F6"/>
          </a:solidFill>
          <a:ln w="12700">
            <a:solidFill>
              <a:srgbClr val="EEF2F6"/>
            </a:solidFill>
            <a:prstDash val="solid"/>
          </a:ln>
        </p:spPr>
      </p:sp>
      <p:sp>
        <p:nvSpPr>
          <p:cNvPr id="5" name="Text 3"/>
          <p:cNvSpPr txBox="1"/>
          <p:nvPr/>
        </p:nvSpPr>
        <p:spPr>
          <a:xfrm>
            <a:off x="868680" y="1645920"/>
            <a:ext cx="4754880" cy="914400"/>
          </a:xfrm>
          <a:prstGeom prst="rect">
            <a:avLst/>
          </a:prstGeom>
          <a:noFill/>
          <a:ln/>
        </p:spPr>
        <p:txBody>
          <a:bodyPr wrap="square" lIns="0" tIns="0" rIns="0" bIns="0" rtlCol="0" anchor="b"/>
          <a:lstStyle/>
          <a:p>
            <a:pPr algn="l" indent="0" marL="0">
              <a:buNone/>
            </a:pPr>
            <a:r>
              <a:rPr lang="en-US" sz="6600" b="1" dirty="0">
                <a:solidFill>
                  <a:srgbClr val="1E293B"/>
                </a:solidFill>
                <a:latin typeface="Calibri" pitchFamily="34" charset="0"/>
                <a:ea typeface="Calibri" pitchFamily="34" charset="-122"/>
                <a:cs typeface="Calibri" pitchFamily="34" charset="-120"/>
              </a:rPr>
              <a:t>63.24%</a:t>
            </a:r>
            <a:endParaRPr lang="en-US" sz="6600" dirty="0"/>
          </a:p>
        </p:txBody>
      </p:sp>
      <p:sp>
        <p:nvSpPr>
          <p:cNvPr id="6" name="Text 4"/>
          <p:cNvSpPr txBox="1"/>
          <p:nvPr/>
        </p:nvSpPr>
        <p:spPr>
          <a:xfrm>
            <a:off x="868680" y="2606040"/>
            <a:ext cx="475488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the paper</a:t>
            </a:r>
            <a:endParaRPr lang="en-US" sz="1900" dirty="0"/>
          </a:p>
        </p:txBody>
      </p:sp>
      <p:sp>
        <p:nvSpPr>
          <p:cNvPr id="7" name="Shape 5"/>
          <p:cNvSpPr/>
          <p:nvPr/>
        </p:nvSpPr>
        <p:spPr>
          <a:xfrm>
            <a:off x="6172200" y="1463040"/>
            <a:ext cx="5468112" cy="2468880"/>
          </a:xfrm>
          <a:prstGeom prst="roundRect">
            <a:avLst>
              <a:gd name="adj" fmla="val 4444"/>
            </a:avLst>
          </a:prstGeom>
          <a:solidFill>
            <a:srgbClr val="0F1B2D"/>
          </a:solidFill>
          <a:ln w="12700">
            <a:solidFill>
              <a:srgbClr val="0F1B2D"/>
            </a:solidFill>
            <a:prstDash val="solid"/>
          </a:ln>
        </p:spPr>
      </p:sp>
      <p:sp>
        <p:nvSpPr>
          <p:cNvPr id="8" name="Text 6"/>
          <p:cNvSpPr txBox="1"/>
          <p:nvPr/>
        </p:nvSpPr>
        <p:spPr>
          <a:xfrm>
            <a:off x="6492240" y="1645920"/>
            <a:ext cx="4754880" cy="914400"/>
          </a:xfrm>
          <a:prstGeom prst="rect">
            <a:avLst/>
          </a:prstGeom>
          <a:noFill/>
          <a:ln/>
        </p:spPr>
        <p:txBody>
          <a:bodyPr wrap="square" lIns="0" tIns="0" rIns="0" bIns="0" rtlCol="0" anchor="b"/>
          <a:lstStyle/>
          <a:p>
            <a:pPr indent="0" marL="0">
              <a:buNone/>
            </a:pPr>
            <a:r>
              <a:rPr lang="en-US" sz="6600" b="1" dirty="0">
                <a:solidFill>
                  <a:srgbClr val="F08A24"/>
                </a:solidFill>
                <a:latin typeface="Calibri" pitchFamily="34" charset="0"/>
                <a:ea typeface="Calibri" pitchFamily="34" charset="-122"/>
                <a:cs typeface="Calibri" pitchFamily="34" charset="-120"/>
              </a:rPr>
              <a:t>63.21%</a:t>
            </a:r>
            <a:endParaRPr lang="en-US" sz="6600" dirty="0"/>
          </a:p>
        </p:txBody>
      </p:sp>
      <p:sp>
        <p:nvSpPr>
          <p:cNvPr id="9" name="Text 7"/>
          <p:cNvSpPr txBox="1"/>
          <p:nvPr/>
        </p:nvSpPr>
        <p:spPr>
          <a:xfrm>
            <a:off x="6492240" y="2606040"/>
            <a:ext cx="4846320" cy="731520"/>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our rebuild, from the paper's text alone</a:t>
            </a:r>
            <a:endParaRPr lang="en-US" sz="1900" dirty="0"/>
          </a:p>
        </p:txBody>
      </p:sp>
      <p:sp>
        <p:nvSpPr>
          <p:cNvPr id="10" name="Text 8"/>
          <p:cNvSpPr txBox="1"/>
          <p:nvPr/>
        </p:nvSpPr>
        <p:spPr>
          <a:xfrm>
            <a:off x="548640" y="4206240"/>
            <a:ext cx="11091672" cy="548640"/>
          </a:xfrm>
          <a:prstGeom prst="rect">
            <a:avLst/>
          </a:prstGeom>
          <a:noFill/>
          <a:ln/>
        </p:spPr>
        <p:txBody>
          <a:bodyPr wrap="square" lIns="0" tIns="0" rIns="0" bIns="0" rtlCol="0" anchor="t"/>
          <a:lstStyle/>
          <a:p>
            <a:pPr indent="0" marL="0">
              <a:buNone/>
            </a:pPr>
            <a:r>
              <a:rPr lang="en-US" sz="2100" dirty="0">
                <a:solidFill>
                  <a:srgbClr val="1E293B"/>
                </a:solidFill>
                <a:latin typeface="Calibri" pitchFamily="34" charset="0"/>
                <a:ea typeface="Calibri" pitchFamily="34" charset="-122"/>
                <a:cs typeface="Calibri" pitchFamily="34" charset="-120"/>
              </a:rPr>
              <a:t>It needed longer training than the paper's 58 passes: our best was at pass 107.</a:t>
            </a:r>
            <a:endParaRPr lang="en-US" sz="2100" dirty="0"/>
          </a:p>
        </p:txBody>
      </p:sp>
      <p:sp>
        <p:nvSpPr>
          <p:cNvPr id="11" name="Text 9"/>
          <p:cNvSpPr txBox="1"/>
          <p:nvPr/>
        </p:nvSpPr>
        <p:spPr>
          <a:xfrm>
            <a:off x="548640" y="50292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Yes: the result can be reproduced.</a:t>
            </a:r>
            <a:endParaRPr lang="en-US" sz="2400" dirty="0"/>
          </a:p>
        </p:txBody>
      </p:sp>
      <p:sp>
        <p:nvSpPr>
          <p:cNvPr id="13" name="Text 10"/>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OUR CHECK</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How much better is it, really?</a:t>
            </a:r>
            <a:endParaRPr lang="en-US" sz="3400" dirty="0"/>
          </a:p>
        </p:txBody>
      </p:sp>
      <p:sp>
        <p:nvSpPr>
          <p:cNvPr id="4" name="Text 2"/>
          <p:cNvSpPr txBox="1"/>
          <p:nvPr/>
        </p:nvSpPr>
        <p:spPr>
          <a:xfrm>
            <a:off x="548640" y="1234440"/>
            <a:ext cx="11091672" cy="457200"/>
          </a:xfrm>
          <a:prstGeom prst="rect">
            <a:avLst/>
          </a:prstGeom>
          <a:noFill/>
          <a:ln/>
        </p:spPr>
        <p:txBody>
          <a:bodyPr wrap="square" lIns="0" tIns="0" rIns="0" bIns="0" rtlCol="0" anchor="t"/>
          <a:lstStyle/>
          <a:p>
            <a:pPr indent="0" marL="0">
              <a:buNone/>
            </a:pPr>
            <a:r>
              <a:rPr lang="en-US" sz="2000" dirty="0">
                <a:solidFill>
                  <a:srgbClr val="5B6B7F"/>
                </a:solidFill>
                <a:latin typeface="Calibri" pitchFamily="34" charset="0"/>
                <a:ea typeface="Calibri" pitchFamily="34" charset="-122"/>
                <a:cs typeface="Calibri" pitchFamily="34" charset="-120"/>
              </a:rPr>
              <a:t>We trained five published models the same way: same data, same split, 3 repeats each.</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4206240"/>
                <a:gridCol w="3429000"/>
                <a:gridCol w="3456432"/>
              </a:tblGrid>
              <a:tr h="566928">
                <a:tc>
                  <a:txBody>
                    <a:bodyPr/>
                    <a:lstStyle/>
                    <a:p>
                      <a:pPr algn="l" indent="0" marL="0">
                        <a:buNone/>
                      </a:pPr>
                      <a:r>
                        <a:rPr lang="en-US" sz="1800" b="1" dirty="0">
                          <a:solidFill>
                            <a:srgbClr val="1E293B"/>
                          </a:solidFill>
                          <a:latin typeface="Calibri" pitchFamily="34" charset="0"/>
                          <a:ea typeface="Calibri" pitchFamily="34" charset="-122"/>
                          <a:cs typeface="Calibri" pitchFamily="34" charset="-120"/>
                        </a:rPr>
                        <a:t>model</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800" b="1" dirty="0">
                          <a:solidFill>
                            <a:srgbClr val="1E293B"/>
                          </a:solidFill>
                          <a:latin typeface="Calibri" pitchFamily="34" charset="0"/>
                          <a:ea typeface="Calibri" pitchFamily="34" charset="-122"/>
                          <a:cs typeface="Calibri" pitchFamily="34" charset="-120"/>
                        </a:rPr>
                        <a:t>right, all noise levels</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800" b="1" dirty="0">
                          <a:solidFill>
                            <a:srgbClr val="1E293B"/>
                          </a:solidFill>
                          <a:latin typeface="Calibri" pitchFamily="34" charset="0"/>
                          <a:ea typeface="Calibri" pitchFamily="34" charset="-122"/>
                          <a:cs typeface="Calibri" pitchFamily="34" charset="-120"/>
                        </a:rPr>
                        <a:t>right, 10 dB and above</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r>
              <a:tr h="566928">
                <a:tc>
                  <a:txBody>
                    <a:bodyPr/>
                    <a:lstStyle/>
                    <a:p>
                      <a:pPr algn="l" indent="0" marL="0">
                        <a:buNone/>
                      </a:pPr>
                      <a:r>
                        <a:rPr lang="en-US" sz="2200" b="1" dirty="0">
                          <a:solidFill>
                            <a:srgbClr val="F08A24"/>
                          </a:solidFill>
                          <a:latin typeface="Calibri" pitchFamily="34" charset="0"/>
                          <a:ea typeface="Calibri" pitchFamily="34" charset="-122"/>
                          <a:cs typeface="Calibri" pitchFamily="34" charset="-120"/>
                        </a:rPr>
                        <a:t>ICRNNA (2025)</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b="1" dirty="0">
                          <a:solidFill>
                            <a:srgbClr val="F08A24"/>
                          </a:solidFill>
                          <a:latin typeface="Calibri" pitchFamily="34" charset="0"/>
                          <a:ea typeface="Calibri" pitchFamily="34" charset="-122"/>
                          <a:cs typeface="Calibri" pitchFamily="34" charset="-120"/>
                        </a:rPr>
                        <a:t>62.2%</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b="1" dirty="0">
                          <a:solidFill>
                            <a:srgbClr val="F08A24"/>
                          </a:solidFill>
                          <a:latin typeface="Calibri" pitchFamily="34" charset="0"/>
                          <a:ea typeface="Calibri" pitchFamily="34" charset="-122"/>
                          <a:cs typeface="Calibri" pitchFamily="34" charset="-120"/>
                        </a:rPr>
                        <a:t>91.5%</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algn="l" indent="0" marL="0">
                        <a:buNone/>
                      </a:pPr>
                      <a:r>
                        <a:rPr lang="en-US" sz="2200" dirty="0">
                          <a:solidFill>
                            <a:srgbClr val="1E293B"/>
                          </a:solidFill>
                          <a:latin typeface="Calibri" pitchFamily="34" charset="0"/>
                          <a:ea typeface="Calibri" pitchFamily="34" charset="-122"/>
                          <a:cs typeface="Calibri" pitchFamily="34" charset="-120"/>
                        </a:rPr>
                        <a:t>LSTM2 (2018)</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61.4%</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91.5%</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algn="l" indent="0" marL="0">
                        <a:buNone/>
                      </a:pPr>
                      <a:r>
                        <a:rPr lang="en-US" sz="2200" dirty="0">
                          <a:solidFill>
                            <a:srgbClr val="1E293B"/>
                          </a:solidFill>
                          <a:latin typeface="Calibri" pitchFamily="34" charset="0"/>
                          <a:ea typeface="Calibri" pitchFamily="34" charset="-122"/>
                          <a:cs typeface="Calibri" pitchFamily="34" charset="-120"/>
                        </a:rPr>
                        <a:t>MCLDNN (2020)</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61.4%</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91.1%</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algn="l" indent="0" marL="0">
                        <a:buNone/>
                      </a:pPr>
                      <a:r>
                        <a:rPr lang="en-US" sz="2200" dirty="0">
                          <a:solidFill>
                            <a:srgbClr val="1E293B"/>
                          </a:solidFill>
                          <a:latin typeface="Calibri" pitchFamily="34" charset="0"/>
                          <a:ea typeface="Calibri" pitchFamily="34" charset="-122"/>
                          <a:cs typeface="Calibri" pitchFamily="34" charset="-120"/>
                        </a:rPr>
                        <a:t>PET-CGDNN (2021)</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61.0%</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90.6%</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algn="l" indent="0" marL="0">
                        <a:buNone/>
                      </a:pPr>
                      <a:r>
                        <a:rPr lang="en-US" sz="2200" dirty="0">
                          <a:solidFill>
                            <a:srgbClr val="1E293B"/>
                          </a:solidFill>
                          <a:latin typeface="Calibri" pitchFamily="34" charset="0"/>
                          <a:ea typeface="Calibri" pitchFamily="34" charset="-122"/>
                          <a:cs typeface="Calibri" pitchFamily="34" charset="-120"/>
                        </a:rPr>
                        <a:t>VT-CNN2 (2016)</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56.1%</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82.0%</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bl>
          </a:graphicData>
        </a:graphic>
      </p:graphicFrame>
      <p:sp>
        <p:nvSpPr>
          <p:cNvPr id="6" name="Text 3"/>
          <p:cNvSpPr txBox="1"/>
          <p:nvPr/>
        </p:nvSpPr>
        <p:spPr>
          <a:xfrm>
            <a:off x="548640" y="54864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First, but only by about one point.</a:t>
            </a:r>
            <a:endParaRPr lang="en-US" sz="2400" dirty="0"/>
          </a:p>
        </p:txBody>
      </p:sp>
      <p:sp>
        <p:nvSpPr>
          <p:cNvPr id="8" name="Text 4"/>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8229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In short</a:t>
            </a:r>
            <a:endParaRPr lang="en-US" sz="4000" dirty="0"/>
          </a:p>
        </p:txBody>
      </p:sp>
      <p:sp>
        <p:nvSpPr>
          <p:cNvPr id="3" name="Shape 1"/>
          <p:cNvSpPr/>
          <p:nvPr/>
        </p:nvSpPr>
        <p:spPr>
          <a:xfrm>
            <a:off x="548640" y="1691640"/>
            <a:ext cx="640080" cy="640080"/>
          </a:xfrm>
          <a:prstGeom prst="ellipse">
            <a:avLst/>
          </a:prstGeom>
          <a:solidFill>
            <a:srgbClr val="F08A24"/>
          </a:solidFill>
          <a:ln w="12700">
            <a:solidFill>
              <a:srgbClr val="F08A24"/>
            </a:solidFill>
            <a:prstDash val="solid"/>
          </a:ln>
        </p:spPr>
      </p:sp>
      <p:sp>
        <p:nvSpPr>
          <p:cNvPr id="4" name="Text 2"/>
          <p:cNvSpPr txBox="1"/>
          <p:nvPr/>
        </p:nvSpPr>
        <p:spPr>
          <a:xfrm>
            <a:off x="548640"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5" name="Text 3"/>
          <p:cNvSpPr txBox="1"/>
          <p:nvPr/>
        </p:nvSpPr>
        <p:spPr>
          <a:xfrm>
            <a:off x="1463040" y="1600200"/>
            <a:ext cx="10177272" cy="822960"/>
          </a:xfrm>
          <a:prstGeom prst="rect">
            <a:avLst/>
          </a:prstGeom>
          <a:noFill/>
          <a:ln/>
        </p:spPr>
        <p:txBody>
          <a:bodyPr wrap="square" lIns="0" tIns="0" rIns="0" bIns="0" rtlCol="0" anchor="ctr"/>
          <a:lstStyle/>
          <a:p>
            <a:pPr indent="0" marL="0">
              <a:buNone/>
            </a:pPr>
            <a:r>
              <a:rPr lang="en-US" sz="2700" dirty="0">
                <a:solidFill>
                  <a:srgbClr val="FFFFFF"/>
                </a:solidFill>
                <a:latin typeface="Calibri" pitchFamily="34" charset="0"/>
                <a:ea typeface="Calibri" pitchFamily="34" charset="-122"/>
                <a:cs typeface="Calibri" pitchFamily="34" charset="-120"/>
              </a:rPr>
              <a:t>A neural network in four steps; step 2, reading in order, does most of the work.</a:t>
            </a:r>
            <a:endParaRPr lang="en-US" sz="2700" dirty="0"/>
          </a:p>
        </p:txBody>
      </p:sp>
      <p:sp>
        <p:nvSpPr>
          <p:cNvPr id="6" name="Shape 4"/>
          <p:cNvSpPr/>
          <p:nvPr/>
        </p:nvSpPr>
        <p:spPr>
          <a:xfrm>
            <a:off x="548640" y="2834640"/>
            <a:ext cx="640080" cy="640080"/>
          </a:xfrm>
          <a:prstGeom prst="ellipse">
            <a:avLst/>
          </a:prstGeom>
          <a:solidFill>
            <a:srgbClr val="F08A24"/>
          </a:solidFill>
          <a:ln w="12700">
            <a:solidFill>
              <a:srgbClr val="F08A24"/>
            </a:solidFill>
            <a:prstDash val="solid"/>
          </a:ln>
        </p:spPr>
      </p:sp>
      <p:sp>
        <p:nvSpPr>
          <p:cNvPr id="7" name="Text 5"/>
          <p:cNvSpPr txBox="1"/>
          <p:nvPr/>
        </p:nvSpPr>
        <p:spPr>
          <a:xfrm>
            <a:off x="548640" y="2834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8" name="Text 6"/>
          <p:cNvSpPr txBox="1"/>
          <p:nvPr/>
        </p:nvSpPr>
        <p:spPr>
          <a:xfrm>
            <a:off x="1463040" y="2743200"/>
            <a:ext cx="10177272" cy="822960"/>
          </a:xfrm>
          <a:prstGeom prst="rect">
            <a:avLst/>
          </a:prstGeom>
          <a:noFill/>
          <a:ln/>
        </p:spPr>
        <p:txBody>
          <a:bodyPr wrap="square" lIns="0" tIns="0" rIns="0" bIns="0" rtlCol="0" anchor="ctr"/>
          <a:lstStyle/>
          <a:p>
            <a:pPr indent="0" marL="0">
              <a:buNone/>
            </a:pPr>
            <a:r>
              <a:rPr lang="en-US" sz="2700" dirty="0">
                <a:solidFill>
                  <a:srgbClr val="FFFFFF"/>
                </a:solidFill>
                <a:latin typeface="Calibri" pitchFamily="34" charset="0"/>
                <a:ea typeface="Calibri" pitchFamily="34" charset="-122"/>
                <a:cs typeface="Calibri" pitchFamily="34" charset="-120"/>
              </a:rPr>
              <a:t>Its 63.24% is real: we get 63.21% from the paper alone.</a:t>
            </a:r>
            <a:endParaRPr lang="en-US" sz="2700" dirty="0"/>
          </a:p>
        </p:txBody>
      </p:sp>
      <p:sp>
        <p:nvSpPr>
          <p:cNvPr id="9" name="Shape 7"/>
          <p:cNvSpPr/>
          <p:nvPr/>
        </p:nvSpPr>
        <p:spPr>
          <a:xfrm>
            <a:off x="548640" y="3977640"/>
            <a:ext cx="640080" cy="640080"/>
          </a:xfrm>
          <a:prstGeom prst="ellipse">
            <a:avLst/>
          </a:prstGeom>
          <a:solidFill>
            <a:srgbClr val="F08A24"/>
          </a:solidFill>
          <a:ln w="12700">
            <a:solidFill>
              <a:srgbClr val="F08A24"/>
            </a:solidFill>
            <a:prstDash val="solid"/>
          </a:ln>
        </p:spPr>
      </p:sp>
      <p:sp>
        <p:nvSpPr>
          <p:cNvPr id="10" name="Text 8"/>
          <p:cNvSpPr txBox="1"/>
          <p:nvPr/>
        </p:nvSpPr>
        <p:spPr>
          <a:xfrm>
            <a:off x="548640" y="3977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1" name="Text 9"/>
          <p:cNvSpPr txBox="1"/>
          <p:nvPr/>
        </p:nvSpPr>
        <p:spPr>
          <a:xfrm>
            <a:off x="1463040" y="3886200"/>
            <a:ext cx="10177272" cy="822960"/>
          </a:xfrm>
          <a:prstGeom prst="rect">
            <a:avLst/>
          </a:prstGeom>
          <a:noFill/>
          <a:ln/>
        </p:spPr>
        <p:txBody>
          <a:bodyPr wrap="square" lIns="0" tIns="0" rIns="0" bIns="0" rtlCol="0" anchor="ctr"/>
          <a:lstStyle/>
          <a:p>
            <a:pPr indent="0" marL="0">
              <a:buNone/>
            </a:pPr>
            <a:r>
              <a:rPr lang="en-US" sz="2700" dirty="0">
                <a:solidFill>
                  <a:srgbClr val="FFFFFF"/>
                </a:solidFill>
                <a:latin typeface="Calibri" pitchFamily="34" charset="0"/>
                <a:ea typeface="Calibri" pitchFamily="34" charset="-122"/>
                <a:cs typeface="Calibri" pitchFamily="34" charset="-120"/>
              </a:rPr>
              <a:t>It is about one point better than older models, not a big jump.</a:t>
            </a:r>
            <a:endParaRPr lang="en-US" sz="2700" dirty="0"/>
          </a:p>
        </p:txBody>
      </p:sp>
      <p:sp>
        <p:nvSpPr>
          <p:cNvPr id="12" name="Text 10"/>
          <p:cNvSpPr txBox="1"/>
          <p:nvPr/>
        </p:nvSpPr>
        <p:spPr>
          <a:xfrm>
            <a:off x="548640" y="5257800"/>
            <a:ext cx="11091672" cy="640080"/>
          </a:xfrm>
          <a:prstGeom prst="rect">
            <a:avLst/>
          </a:prstGeom>
          <a:noFill/>
          <a:ln/>
        </p:spPr>
        <p:txBody>
          <a:bodyPr wrap="square" lIns="0" tIns="0" rIns="0" bIns="0" rtlCol="0" anchor="t"/>
          <a:lstStyle/>
          <a:p>
            <a:pPr indent="0" marL="0">
              <a:buNone/>
            </a:pPr>
            <a:r>
              <a:rPr lang="en-US" sz="2600" b="1" dirty="0">
                <a:solidFill>
                  <a:srgbClr val="F08A24"/>
                </a:solidFill>
                <a:latin typeface="Calibri" pitchFamily="34" charset="0"/>
                <a:ea typeface="Calibri" pitchFamily="34" charset="-122"/>
                <a:cs typeface="Calibri" pitchFamily="34" charset="-120"/>
              </a:rPr>
              <a:t>For us: </a:t>
            </a:r>
            <a:pPr indent="0" marL="0">
              <a:buNone/>
            </a:pPr>
            <a:r>
              <a:rPr lang="en-US" sz="2600" dirty="0">
                <a:solidFill>
                  <a:srgbClr val="C9D3E0"/>
                </a:solidFill>
                <a:latin typeface="Calibri" pitchFamily="34" charset="0"/>
                <a:ea typeface="Calibri" pitchFamily="34" charset="-122"/>
                <a:cs typeface="Calibri" pitchFamily="34" charset="-120"/>
              </a:rPr>
              <a:t>a solid detector to build on.</a:t>
            </a:r>
            <a:endParaRPr lang="en-US" sz="2600" dirty="0"/>
          </a:p>
        </p:txBody>
      </p:sp>
      <p:sp>
        <p:nvSpPr>
          <p:cNvPr id="14" name="Text 11"/>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8FA0B5"/>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2194560"/>
            <a:ext cx="5486400" cy="457200"/>
          </a:xfrm>
          <a:prstGeom prst="rect">
            <a:avLst/>
          </a:prstGeom>
          <a:noFill/>
          <a:ln/>
        </p:spPr>
        <p:txBody>
          <a:bodyPr wrap="square" lIns="0" tIns="0" rIns="0" bIns="0" rtlCol="0" anchor="t"/>
          <a:lstStyle/>
          <a:p>
            <a:pPr indent="0" marL="0">
              <a:buNone/>
            </a:pPr>
            <a:r>
              <a:rPr lang="en-US" sz="2000" b="1" spc="400" kern="0" dirty="0">
                <a:solidFill>
                  <a:srgbClr val="F08A24"/>
                </a:solidFill>
                <a:latin typeface="Calibri" pitchFamily="34" charset="0"/>
                <a:ea typeface="Calibri" pitchFamily="34" charset="-122"/>
                <a:cs typeface="Calibri" pitchFamily="34" charset="-120"/>
              </a:rPr>
              <a:t>BACKUP</a:t>
            </a:r>
            <a:endParaRPr lang="en-US" sz="2000" dirty="0"/>
          </a:p>
        </p:txBody>
      </p:sp>
      <p:sp>
        <p:nvSpPr>
          <p:cNvPr id="3" name="Text 1"/>
          <p:cNvSpPr txBox="1"/>
          <p:nvPr/>
        </p:nvSpPr>
        <p:spPr>
          <a:xfrm>
            <a:off x="548640" y="2697480"/>
            <a:ext cx="10972800" cy="1097280"/>
          </a:xfrm>
          <a:prstGeom prst="rect">
            <a:avLst/>
          </a:prstGeom>
          <a:noFill/>
          <a:ln/>
        </p:spPr>
        <p:txBody>
          <a:bodyPr wrap="square" lIns="0" tIns="0" rIns="0" bIns="0" rtlCol="0" anchor="t"/>
          <a:lstStyle/>
          <a:p>
            <a:pPr indent="0" marL="0">
              <a:buNone/>
            </a:pPr>
            <a:r>
              <a:rPr lang="en-US" sz="6000" b="1" dirty="0">
                <a:solidFill>
                  <a:srgbClr val="FFFFFF"/>
                </a:solidFill>
                <a:latin typeface="Calibri" pitchFamily="34" charset="0"/>
                <a:ea typeface="Calibri" pitchFamily="34" charset="-122"/>
                <a:cs typeface="Calibri" pitchFamily="34" charset="-120"/>
              </a:rPr>
              <a:t>Details, if asked</a:t>
            </a:r>
            <a:endParaRPr lang="en-US" sz="6000" dirty="0"/>
          </a:p>
        </p:txBody>
      </p:sp>
      <p:sp>
        <p:nvSpPr>
          <p:cNvPr id="4" name="Text 2"/>
          <p:cNvSpPr txBox="1"/>
          <p:nvPr/>
        </p:nvSpPr>
        <p:spPr>
          <a:xfrm>
            <a:off x="548640" y="3886200"/>
            <a:ext cx="10972800" cy="822960"/>
          </a:xfrm>
          <a:prstGeom prst="rect">
            <a:avLst/>
          </a:prstGeom>
          <a:noFill/>
          <a:ln/>
        </p:spPr>
        <p:txBody>
          <a:bodyPr wrap="square" lIns="0" tIns="0" rIns="0" bIns="0" rtlCol="0" anchor="t"/>
          <a:lstStyle/>
          <a:p>
            <a:pPr indent="0" marL="0">
              <a:buNone/>
            </a:pPr>
            <a:r>
              <a:rPr lang="en-US" sz="2200" dirty="0">
                <a:solidFill>
                  <a:srgbClr val="C9D3E0"/>
                </a:solidFill>
                <a:latin typeface="Calibri" pitchFamily="34" charset="0"/>
                <a:ea typeface="Calibri" pitchFamily="34" charset="-122"/>
                <a:cs typeface="Calibri" pitchFamily="34" charset="-120"/>
              </a:rPr>
              <a:t>Each step of the model, the training recipe, their code, and what we checked in their tables.</a:t>
            </a:r>
            <a:endParaRPr lang="en-US" sz="2200" dirty="0"/>
          </a:p>
        </p:txBody>
      </p:sp>
      <p:sp>
        <p:nvSpPr>
          <p:cNvPr id="6" name="Text 3"/>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8FA0B5"/>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MODEL</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The model at a glance</a:t>
            </a:r>
            <a:endParaRPr lang="en-US" sz="3400" dirty="0"/>
          </a:p>
        </p:txBody>
      </p:sp>
      <p:sp>
        <p:nvSpPr>
          <p:cNvPr id="4" name="Shape 2"/>
          <p:cNvSpPr/>
          <p:nvPr/>
        </p:nvSpPr>
        <p:spPr>
          <a:xfrm>
            <a:off x="548640" y="1828800"/>
            <a:ext cx="1481328" cy="1463040"/>
          </a:xfrm>
          <a:prstGeom prst="roundRect">
            <a:avLst>
              <a:gd name="adj" fmla="val 7500"/>
            </a:avLst>
          </a:prstGeom>
          <a:solidFill>
            <a:srgbClr val="EEF2F6"/>
          </a:solidFill>
          <a:ln w="12700">
            <a:solidFill>
              <a:srgbClr val="EEF2F6"/>
            </a:solidFill>
            <a:prstDash val="solid"/>
          </a:ln>
        </p:spPr>
      </p:sp>
      <p:sp>
        <p:nvSpPr>
          <p:cNvPr id="5" name="Text 3"/>
          <p:cNvSpPr txBox="1"/>
          <p:nvPr/>
        </p:nvSpPr>
        <p:spPr>
          <a:xfrm>
            <a:off x="548640" y="1828800"/>
            <a:ext cx="1481328" cy="1463040"/>
          </a:xfrm>
          <a:prstGeom prst="rect">
            <a:avLst/>
          </a:prstGeom>
          <a:noFill/>
          <a:ln/>
        </p:spPr>
        <p:txBody>
          <a:bodyPr wrap="square" lIns="0" tIns="0" rIns="0" bIns="0" rtlCol="0" anchor="ctr"/>
          <a:lstStyle/>
          <a:p>
            <a:pPr algn="ctr" indent="0" marL="0">
              <a:buNone/>
            </a:pPr>
            <a:r>
              <a:rPr lang="en-US" sz="2100" b="1" dirty="0">
                <a:solidFill>
                  <a:srgbClr val="1E293B"/>
                </a:solidFill>
                <a:latin typeface="Calibri" pitchFamily="34" charset="0"/>
                <a:ea typeface="Calibri" pitchFamily="34" charset="-122"/>
                <a:cs typeface="Calibri" pitchFamily="34" charset="-120"/>
              </a:rPr>
              <a:t>frame</a:t>
            </a:r>
            <a:endParaRPr lang="en-US" sz="2100" dirty="0"/>
          </a:p>
        </p:txBody>
      </p:sp>
      <p:sp>
        <p:nvSpPr>
          <p:cNvPr id="6" name="Text 4"/>
          <p:cNvSpPr txBox="1"/>
          <p:nvPr/>
        </p:nvSpPr>
        <p:spPr>
          <a:xfrm>
            <a:off x="548640"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2 × 128</a:t>
            </a:r>
            <a:endParaRPr lang="en-US" sz="2000" dirty="0"/>
          </a:p>
        </p:txBody>
      </p:sp>
      <p:sp>
        <p:nvSpPr>
          <p:cNvPr id="7" name="Shape 5"/>
          <p:cNvSpPr/>
          <p:nvPr/>
        </p:nvSpPr>
        <p:spPr>
          <a:xfrm>
            <a:off x="2057400" y="2377440"/>
            <a:ext cx="347472" cy="384048"/>
          </a:xfrm>
          <a:prstGeom prst="rightArrow">
            <a:avLst/>
          </a:prstGeom>
          <a:solidFill>
            <a:srgbClr val="F08A24"/>
          </a:solidFill>
          <a:ln w="12700">
            <a:solidFill>
              <a:srgbClr val="F08A24"/>
            </a:solidFill>
            <a:prstDash val="solid"/>
          </a:ln>
        </p:spPr>
      </p:sp>
      <p:sp>
        <p:nvSpPr>
          <p:cNvPr id="8" name="Shape 6"/>
          <p:cNvSpPr/>
          <p:nvPr/>
        </p:nvSpPr>
        <p:spPr>
          <a:xfrm>
            <a:off x="2432304" y="1828800"/>
            <a:ext cx="1481328" cy="1463040"/>
          </a:xfrm>
          <a:prstGeom prst="roundRect">
            <a:avLst>
              <a:gd name="adj" fmla="val 7500"/>
            </a:avLst>
          </a:prstGeom>
          <a:solidFill>
            <a:srgbClr val="0F1B2D"/>
          </a:solidFill>
          <a:ln w="12700">
            <a:solidFill>
              <a:srgbClr val="0F1B2D"/>
            </a:solidFill>
            <a:prstDash val="solid"/>
          </a:ln>
        </p:spPr>
      </p:sp>
      <p:sp>
        <p:nvSpPr>
          <p:cNvPr id="9" name="Text 7"/>
          <p:cNvSpPr txBox="1"/>
          <p:nvPr/>
        </p:nvSpPr>
        <p:spPr>
          <a:xfrm>
            <a:off x="2432304" y="1828800"/>
            <a:ext cx="1481328" cy="146304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CNN</a:t>
            </a:r>
            <a:endParaRPr lang="en-US" sz="2100" dirty="0"/>
          </a:p>
        </p:txBody>
      </p:sp>
      <p:sp>
        <p:nvSpPr>
          <p:cNvPr id="10" name="Text 8"/>
          <p:cNvSpPr txBox="1"/>
          <p:nvPr/>
        </p:nvSpPr>
        <p:spPr>
          <a:xfrm>
            <a:off x="2432304"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64 × 128</a:t>
            </a:r>
            <a:endParaRPr lang="en-US" sz="2000" dirty="0"/>
          </a:p>
        </p:txBody>
      </p:sp>
      <p:sp>
        <p:nvSpPr>
          <p:cNvPr id="11" name="Shape 9"/>
          <p:cNvSpPr/>
          <p:nvPr/>
        </p:nvSpPr>
        <p:spPr>
          <a:xfrm>
            <a:off x="3941064" y="2377440"/>
            <a:ext cx="347472" cy="384048"/>
          </a:xfrm>
          <a:prstGeom prst="rightArrow">
            <a:avLst/>
          </a:prstGeom>
          <a:solidFill>
            <a:srgbClr val="F08A24"/>
          </a:solidFill>
          <a:ln w="12700">
            <a:solidFill>
              <a:srgbClr val="F08A24"/>
            </a:solidFill>
            <a:prstDash val="solid"/>
          </a:ln>
        </p:spPr>
      </p:sp>
      <p:sp>
        <p:nvSpPr>
          <p:cNvPr id="12" name="Shape 10"/>
          <p:cNvSpPr/>
          <p:nvPr/>
        </p:nvSpPr>
        <p:spPr>
          <a:xfrm>
            <a:off x="4315968" y="1828800"/>
            <a:ext cx="1481328" cy="1463040"/>
          </a:xfrm>
          <a:prstGeom prst="roundRect">
            <a:avLst>
              <a:gd name="adj" fmla="val 7500"/>
            </a:avLst>
          </a:prstGeom>
          <a:solidFill>
            <a:srgbClr val="F08A24"/>
          </a:solidFill>
          <a:ln w="12700">
            <a:solidFill>
              <a:srgbClr val="F08A24"/>
            </a:solidFill>
            <a:prstDash val="solid"/>
          </a:ln>
        </p:spPr>
      </p:sp>
      <p:sp>
        <p:nvSpPr>
          <p:cNvPr id="13" name="Text 11"/>
          <p:cNvSpPr txBox="1"/>
          <p:nvPr/>
        </p:nvSpPr>
        <p:spPr>
          <a:xfrm>
            <a:off x="4315968" y="1828800"/>
            <a:ext cx="1481328" cy="146304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BiLSTM</a:t>
            </a:r>
            <a:endParaRPr lang="en-US" sz="2100" dirty="0"/>
          </a:p>
        </p:txBody>
      </p:sp>
      <p:sp>
        <p:nvSpPr>
          <p:cNvPr id="14" name="Text 12"/>
          <p:cNvSpPr txBox="1"/>
          <p:nvPr/>
        </p:nvSpPr>
        <p:spPr>
          <a:xfrm>
            <a:off x="4315968"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64 × 256</a:t>
            </a:r>
            <a:endParaRPr lang="en-US" sz="2000" dirty="0"/>
          </a:p>
        </p:txBody>
      </p:sp>
      <p:sp>
        <p:nvSpPr>
          <p:cNvPr id="15" name="Shape 13"/>
          <p:cNvSpPr/>
          <p:nvPr/>
        </p:nvSpPr>
        <p:spPr>
          <a:xfrm>
            <a:off x="5824728" y="2377440"/>
            <a:ext cx="347472" cy="384048"/>
          </a:xfrm>
          <a:prstGeom prst="rightArrow">
            <a:avLst/>
          </a:prstGeom>
          <a:solidFill>
            <a:srgbClr val="F08A24"/>
          </a:solidFill>
          <a:ln w="12700">
            <a:solidFill>
              <a:srgbClr val="F08A24"/>
            </a:solidFill>
            <a:prstDash val="solid"/>
          </a:ln>
        </p:spPr>
      </p:sp>
      <p:sp>
        <p:nvSpPr>
          <p:cNvPr id="16" name="Shape 14"/>
          <p:cNvSpPr/>
          <p:nvPr/>
        </p:nvSpPr>
        <p:spPr>
          <a:xfrm>
            <a:off x="6199632" y="1828800"/>
            <a:ext cx="1481328" cy="1463040"/>
          </a:xfrm>
          <a:prstGeom prst="roundRect">
            <a:avLst>
              <a:gd name="adj" fmla="val 7500"/>
            </a:avLst>
          </a:prstGeom>
          <a:solidFill>
            <a:srgbClr val="0F1B2D"/>
          </a:solidFill>
          <a:ln w="12700">
            <a:solidFill>
              <a:srgbClr val="0F1B2D"/>
            </a:solidFill>
            <a:prstDash val="solid"/>
          </a:ln>
        </p:spPr>
      </p:sp>
      <p:sp>
        <p:nvSpPr>
          <p:cNvPr id="17" name="Text 15"/>
          <p:cNvSpPr txBox="1"/>
          <p:nvPr/>
        </p:nvSpPr>
        <p:spPr>
          <a:xfrm>
            <a:off x="6199632" y="1828800"/>
            <a:ext cx="1481328" cy="146304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Attention</a:t>
            </a:r>
            <a:endParaRPr lang="en-US" sz="2100" dirty="0"/>
          </a:p>
        </p:txBody>
      </p:sp>
      <p:sp>
        <p:nvSpPr>
          <p:cNvPr id="18" name="Text 16"/>
          <p:cNvSpPr txBox="1"/>
          <p:nvPr/>
        </p:nvSpPr>
        <p:spPr>
          <a:xfrm>
            <a:off x="6199632"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256</a:t>
            </a:r>
            <a:endParaRPr lang="en-US" sz="2000" dirty="0"/>
          </a:p>
        </p:txBody>
      </p:sp>
      <p:sp>
        <p:nvSpPr>
          <p:cNvPr id="19" name="Shape 17"/>
          <p:cNvSpPr/>
          <p:nvPr/>
        </p:nvSpPr>
        <p:spPr>
          <a:xfrm>
            <a:off x="7708392" y="2377440"/>
            <a:ext cx="347472" cy="384048"/>
          </a:xfrm>
          <a:prstGeom prst="rightArrow">
            <a:avLst/>
          </a:prstGeom>
          <a:solidFill>
            <a:srgbClr val="F08A24"/>
          </a:solidFill>
          <a:ln w="12700">
            <a:solidFill>
              <a:srgbClr val="F08A24"/>
            </a:solidFill>
            <a:prstDash val="solid"/>
          </a:ln>
        </p:spPr>
      </p:sp>
      <p:sp>
        <p:nvSpPr>
          <p:cNvPr id="20" name="Shape 18"/>
          <p:cNvSpPr/>
          <p:nvPr/>
        </p:nvSpPr>
        <p:spPr>
          <a:xfrm>
            <a:off x="8083296" y="1828800"/>
            <a:ext cx="1481328" cy="1463040"/>
          </a:xfrm>
          <a:prstGeom prst="roundRect">
            <a:avLst>
              <a:gd name="adj" fmla="val 7500"/>
            </a:avLst>
          </a:prstGeom>
          <a:solidFill>
            <a:srgbClr val="0F1B2D"/>
          </a:solidFill>
          <a:ln w="12700">
            <a:solidFill>
              <a:srgbClr val="0F1B2D"/>
            </a:solidFill>
            <a:prstDash val="solid"/>
          </a:ln>
        </p:spPr>
      </p:sp>
      <p:sp>
        <p:nvSpPr>
          <p:cNvPr id="21" name="Text 19"/>
          <p:cNvSpPr txBox="1"/>
          <p:nvPr/>
        </p:nvSpPr>
        <p:spPr>
          <a:xfrm>
            <a:off x="8083296" y="1828800"/>
            <a:ext cx="1481328" cy="146304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Dense</a:t>
            </a:r>
            <a:endParaRPr lang="en-US" sz="2100" dirty="0"/>
          </a:p>
        </p:txBody>
      </p:sp>
      <p:sp>
        <p:nvSpPr>
          <p:cNvPr id="22" name="Text 20"/>
          <p:cNvSpPr txBox="1"/>
          <p:nvPr/>
        </p:nvSpPr>
        <p:spPr>
          <a:xfrm>
            <a:off x="8083296"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128 → 64</a:t>
            </a:r>
            <a:endParaRPr lang="en-US" sz="2000" dirty="0"/>
          </a:p>
        </p:txBody>
      </p:sp>
      <p:sp>
        <p:nvSpPr>
          <p:cNvPr id="23" name="Shape 21"/>
          <p:cNvSpPr/>
          <p:nvPr/>
        </p:nvSpPr>
        <p:spPr>
          <a:xfrm>
            <a:off x="9592056" y="2377440"/>
            <a:ext cx="347472" cy="384048"/>
          </a:xfrm>
          <a:prstGeom prst="rightArrow">
            <a:avLst/>
          </a:prstGeom>
          <a:solidFill>
            <a:srgbClr val="F08A24"/>
          </a:solidFill>
          <a:ln w="12700">
            <a:solidFill>
              <a:srgbClr val="F08A24"/>
            </a:solidFill>
            <a:prstDash val="solid"/>
          </a:ln>
        </p:spPr>
      </p:sp>
      <p:sp>
        <p:nvSpPr>
          <p:cNvPr id="24" name="Shape 22"/>
          <p:cNvSpPr/>
          <p:nvPr/>
        </p:nvSpPr>
        <p:spPr>
          <a:xfrm>
            <a:off x="9966960" y="1828800"/>
            <a:ext cx="1481328" cy="1463040"/>
          </a:xfrm>
          <a:prstGeom prst="roundRect">
            <a:avLst>
              <a:gd name="adj" fmla="val 7500"/>
            </a:avLst>
          </a:prstGeom>
          <a:solidFill>
            <a:srgbClr val="EEF2F6"/>
          </a:solidFill>
          <a:ln w="12700">
            <a:solidFill>
              <a:srgbClr val="EEF2F6"/>
            </a:solidFill>
            <a:prstDash val="solid"/>
          </a:ln>
        </p:spPr>
      </p:sp>
      <p:sp>
        <p:nvSpPr>
          <p:cNvPr id="25" name="Text 23"/>
          <p:cNvSpPr txBox="1"/>
          <p:nvPr/>
        </p:nvSpPr>
        <p:spPr>
          <a:xfrm>
            <a:off x="9966960" y="1828800"/>
            <a:ext cx="1481328" cy="1463040"/>
          </a:xfrm>
          <a:prstGeom prst="rect">
            <a:avLst/>
          </a:prstGeom>
          <a:noFill/>
          <a:ln/>
        </p:spPr>
        <p:txBody>
          <a:bodyPr wrap="square" lIns="0" tIns="0" rIns="0" bIns="0" rtlCol="0" anchor="ctr"/>
          <a:lstStyle/>
          <a:p>
            <a:pPr algn="ctr" indent="0" marL="0">
              <a:buNone/>
            </a:pPr>
            <a:r>
              <a:rPr lang="en-US" sz="2100" b="1" dirty="0">
                <a:solidFill>
                  <a:srgbClr val="1E293B"/>
                </a:solidFill>
                <a:latin typeface="Calibri" pitchFamily="34" charset="0"/>
                <a:ea typeface="Calibri" pitchFamily="34" charset="-122"/>
                <a:cs typeface="Calibri" pitchFamily="34" charset="-120"/>
              </a:rPr>
              <a:t>output</a:t>
            </a:r>
            <a:endParaRPr lang="en-US" sz="2100" dirty="0"/>
          </a:p>
        </p:txBody>
      </p:sp>
      <p:sp>
        <p:nvSpPr>
          <p:cNvPr id="26" name="Text 24"/>
          <p:cNvSpPr txBox="1"/>
          <p:nvPr/>
        </p:nvSpPr>
        <p:spPr>
          <a:xfrm>
            <a:off x="9966960"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11</a:t>
            </a:r>
            <a:endParaRPr lang="en-US" sz="2000" dirty="0"/>
          </a:p>
        </p:txBody>
      </p:sp>
      <p:sp>
        <p:nvSpPr>
          <p:cNvPr id="27" name="Text 25"/>
          <p:cNvSpPr txBox="1"/>
          <p:nvPr/>
        </p:nvSpPr>
        <p:spPr>
          <a:xfrm>
            <a:off x="548640" y="3977640"/>
            <a:ext cx="5486400" cy="365760"/>
          </a:xfrm>
          <a:prstGeom prst="rect">
            <a:avLst/>
          </a:prstGeom>
          <a:noFill/>
          <a:ln/>
        </p:spPr>
        <p:txBody>
          <a:bodyPr wrap="square" lIns="0" tIns="0" rIns="0" bIns="0" rtlCol="0" anchor="t"/>
          <a:lstStyle/>
          <a:p>
            <a:pPr indent="0" marL="0">
              <a:buNone/>
            </a:pPr>
            <a:r>
              <a:rPr lang="en-US" sz="1600" i="1" dirty="0">
                <a:solidFill>
                  <a:srgbClr val="5B6B7F"/>
                </a:solidFill>
                <a:latin typeface="Calibri" pitchFamily="34" charset="0"/>
                <a:ea typeface="Calibri" pitchFamily="34" charset="-122"/>
                <a:cs typeface="Calibri" pitchFamily="34" charset="-120"/>
              </a:rPr>
              <a:t>size of what comes out</a:t>
            </a:r>
            <a:endParaRPr lang="en-US" sz="1600" dirty="0"/>
          </a:p>
        </p:txBody>
      </p:sp>
      <p:sp>
        <p:nvSpPr>
          <p:cNvPr id="28" name="Text 26"/>
          <p:cNvSpPr txBox="1"/>
          <p:nvPr/>
        </p:nvSpPr>
        <p:spPr>
          <a:xfrm>
            <a:off x="548640" y="493776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One frame in, eleven probabilities out. The largest is the answer.</a:t>
            </a:r>
            <a:endParaRPr lang="en-US" sz="2400" dirty="0"/>
          </a:p>
        </p:txBody>
      </p:sp>
      <p:sp>
        <p:nvSpPr>
          <p:cNvPr id="29" name="Text 27"/>
          <p:cNvSpPr txBox="1"/>
          <p:nvPr/>
        </p:nvSpPr>
        <p:spPr>
          <a:xfrm>
            <a:off x="548640" y="5715000"/>
            <a:ext cx="731520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Redrawn from their Fig. 2; sizes from their code.</a:t>
            </a:r>
            <a:endParaRPr lang="en-US" sz="1200" dirty="0"/>
          </a:p>
        </p:txBody>
      </p:sp>
      <p:sp>
        <p:nvSpPr>
          <p:cNvPr id="31" name="Text 2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CNN</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Block 1: short learned filters</a:t>
            </a:r>
            <a:endParaRPr lang="en-US" sz="3400" dirty="0"/>
          </a:p>
        </p:txBody>
      </p:sp>
      <p:sp>
        <p:nvSpPr>
          <p:cNvPr id="4" name="Shape 2"/>
          <p:cNvSpPr/>
          <p:nvPr/>
        </p:nvSpPr>
        <p:spPr>
          <a:xfrm>
            <a:off x="548640" y="1737360"/>
            <a:ext cx="210312" cy="411480"/>
          </a:xfrm>
          <a:prstGeom prst="rect">
            <a:avLst/>
          </a:prstGeom>
          <a:solidFill>
            <a:srgbClr val="EEF2F6"/>
          </a:solidFill>
          <a:ln w="12700">
            <a:solidFill>
              <a:srgbClr val="EEF2F6"/>
            </a:solidFill>
            <a:prstDash val="solid"/>
          </a:ln>
        </p:spPr>
      </p:sp>
      <p:sp>
        <p:nvSpPr>
          <p:cNvPr id="5" name="Shape 3"/>
          <p:cNvSpPr/>
          <p:nvPr/>
        </p:nvSpPr>
        <p:spPr>
          <a:xfrm>
            <a:off x="795528" y="1737360"/>
            <a:ext cx="210312" cy="411480"/>
          </a:xfrm>
          <a:prstGeom prst="rect">
            <a:avLst/>
          </a:prstGeom>
          <a:solidFill>
            <a:srgbClr val="EEF2F6"/>
          </a:solidFill>
          <a:ln w="12700">
            <a:solidFill>
              <a:srgbClr val="EEF2F6"/>
            </a:solidFill>
            <a:prstDash val="solid"/>
          </a:ln>
        </p:spPr>
      </p:sp>
      <p:sp>
        <p:nvSpPr>
          <p:cNvPr id="6" name="Shape 4"/>
          <p:cNvSpPr/>
          <p:nvPr/>
        </p:nvSpPr>
        <p:spPr>
          <a:xfrm>
            <a:off x="1042416" y="1737360"/>
            <a:ext cx="210312" cy="411480"/>
          </a:xfrm>
          <a:prstGeom prst="rect">
            <a:avLst/>
          </a:prstGeom>
          <a:solidFill>
            <a:srgbClr val="EEF2F6"/>
          </a:solidFill>
          <a:ln w="12700">
            <a:solidFill>
              <a:srgbClr val="EEF2F6"/>
            </a:solidFill>
            <a:prstDash val="solid"/>
          </a:ln>
        </p:spPr>
      </p:sp>
      <p:sp>
        <p:nvSpPr>
          <p:cNvPr id="7" name="Shape 5"/>
          <p:cNvSpPr/>
          <p:nvPr/>
        </p:nvSpPr>
        <p:spPr>
          <a:xfrm>
            <a:off x="1289304" y="1737360"/>
            <a:ext cx="210312" cy="411480"/>
          </a:xfrm>
          <a:prstGeom prst="rect">
            <a:avLst/>
          </a:prstGeom>
          <a:solidFill>
            <a:srgbClr val="EEF2F6"/>
          </a:solidFill>
          <a:ln w="12700">
            <a:solidFill>
              <a:srgbClr val="EEF2F6"/>
            </a:solidFill>
            <a:prstDash val="solid"/>
          </a:ln>
        </p:spPr>
      </p:sp>
      <p:sp>
        <p:nvSpPr>
          <p:cNvPr id="8" name="Shape 6"/>
          <p:cNvSpPr/>
          <p:nvPr/>
        </p:nvSpPr>
        <p:spPr>
          <a:xfrm>
            <a:off x="1536192" y="1737360"/>
            <a:ext cx="210312" cy="411480"/>
          </a:xfrm>
          <a:prstGeom prst="rect">
            <a:avLst/>
          </a:prstGeom>
          <a:solidFill>
            <a:srgbClr val="EEF2F6"/>
          </a:solidFill>
          <a:ln w="12700">
            <a:solidFill>
              <a:srgbClr val="EEF2F6"/>
            </a:solidFill>
            <a:prstDash val="solid"/>
          </a:ln>
        </p:spPr>
      </p:sp>
      <p:sp>
        <p:nvSpPr>
          <p:cNvPr id="9" name="Shape 7"/>
          <p:cNvSpPr/>
          <p:nvPr/>
        </p:nvSpPr>
        <p:spPr>
          <a:xfrm>
            <a:off x="1783080" y="1737360"/>
            <a:ext cx="210312" cy="411480"/>
          </a:xfrm>
          <a:prstGeom prst="rect">
            <a:avLst/>
          </a:prstGeom>
          <a:solidFill>
            <a:srgbClr val="EEF2F6"/>
          </a:solidFill>
          <a:ln w="12700">
            <a:solidFill>
              <a:srgbClr val="EEF2F6"/>
            </a:solidFill>
            <a:prstDash val="solid"/>
          </a:ln>
        </p:spPr>
      </p:sp>
      <p:sp>
        <p:nvSpPr>
          <p:cNvPr id="10" name="Shape 8"/>
          <p:cNvSpPr/>
          <p:nvPr/>
        </p:nvSpPr>
        <p:spPr>
          <a:xfrm>
            <a:off x="2029968" y="1737360"/>
            <a:ext cx="210312" cy="411480"/>
          </a:xfrm>
          <a:prstGeom prst="rect">
            <a:avLst/>
          </a:prstGeom>
          <a:solidFill>
            <a:srgbClr val="F08A24"/>
          </a:solidFill>
          <a:ln w="12700">
            <a:solidFill>
              <a:srgbClr val="F08A24"/>
            </a:solidFill>
            <a:prstDash val="solid"/>
          </a:ln>
        </p:spPr>
      </p:sp>
      <p:sp>
        <p:nvSpPr>
          <p:cNvPr id="11" name="Shape 9"/>
          <p:cNvSpPr/>
          <p:nvPr/>
        </p:nvSpPr>
        <p:spPr>
          <a:xfrm>
            <a:off x="2276856" y="1737360"/>
            <a:ext cx="210312" cy="411480"/>
          </a:xfrm>
          <a:prstGeom prst="rect">
            <a:avLst/>
          </a:prstGeom>
          <a:solidFill>
            <a:srgbClr val="F08A24"/>
          </a:solidFill>
          <a:ln w="12700">
            <a:solidFill>
              <a:srgbClr val="F08A24"/>
            </a:solidFill>
            <a:prstDash val="solid"/>
          </a:ln>
        </p:spPr>
      </p:sp>
      <p:sp>
        <p:nvSpPr>
          <p:cNvPr id="12" name="Shape 10"/>
          <p:cNvSpPr/>
          <p:nvPr/>
        </p:nvSpPr>
        <p:spPr>
          <a:xfrm>
            <a:off x="2523744" y="1737360"/>
            <a:ext cx="210312" cy="411480"/>
          </a:xfrm>
          <a:prstGeom prst="rect">
            <a:avLst/>
          </a:prstGeom>
          <a:solidFill>
            <a:srgbClr val="F08A24"/>
          </a:solidFill>
          <a:ln w="12700">
            <a:solidFill>
              <a:srgbClr val="F08A24"/>
            </a:solidFill>
            <a:prstDash val="solid"/>
          </a:ln>
        </p:spPr>
      </p:sp>
      <p:sp>
        <p:nvSpPr>
          <p:cNvPr id="13" name="Shape 11"/>
          <p:cNvSpPr/>
          <p:nvPr/>
        </p:nvSpPr>
        <p:spPr>
          <a:xfrm>
            <a:off x="2770632" y="1737360"/>
            <a:ext cx="210312" cy="411480"/>
          </a:xfrm>
          <a:prstGeom prst="rect">
            <a:avLst/>
          </a:prstGeom>
          <a:solidFill>
            <a:srgbClr val="EEF2F6"/>
          </a:solidFill>
          <a:ln w="12700">
            <a:solidFill>
              <a:srgbClr val="EEF2F6"/>
            </a:solidFill>
            <a:prstDash val="solid"/>
          </a:ln>
        </p:spPr>
      </p:sp>
      <p:sp>
        <p:nvSpPr>
          <p:cNvPr id="14" name="Shape 12"/>
          <p:cNvSpPr/>
          <p:nvPr/>
        </p:nvSpPr>
        <p:spPr>
          <a:xfrm>
            <a:off x="3017520" y="1737360"/>
            <a:ext cx="210312" cy="411480"/>
          </a:xfrm>
          <a:prstGeom prst="rect">
            <a:avLst/>
          </a:prstGeom>
          <a:solidFill>
            <a:srgbClr val="EEF2F6"/>
          </a:solidFill>
          <a:ln w="12700">
            <a:solidFill>
              <a:srgbClr val="EEF2F6"/>
            </a:solidFill>
            <a:prstDash val="solid"/>
          </a:ln>
        </p:spPr>
      </p:sp>
      <p:sp>
        <p:nvSpPr>
          <p:cNvPr id="15" name="Shape 13"/>
          <p:cNvSpPr/>
          <p:nvPr/>
        </p:nvSpPr>
        <p:spPr>
          <a:xfrm>
            <a:off x="3264408" y="1737360"/>
            <a:ext cx="210312" cy="411480"/>
          </a:xfrm>
          <a:prstGeom prst="rect">
            <a:avLst/>
          </a:prstGeom>
          <a:solidFill>
            <a:srgbClr val="EEF2F6"/>
          </a:solidFill>
          <a:ln w="12700">
            <a:solidFill>
              <a:srgbClr val="EEF2F6"/>
            </a:solidFill>
            <a:prstDash val="solid"/>
          </a:ln>
        </p:spPr>
      </p:sp>
      <p:sp>
        <p:nvSpPr>
          <p:cNvPr id="16" name="Shape 14"/>
          <p:cNvSpPr/>
          <p:nvPr/>
        </p:nvSpPr>
        <p:spPr>
          <a:xfrm>
            <a:off x="3511296" y="1737360"/>
            <a:ext cx="210312" cy="411480"/>
          </a:xfrm>
          <a:prstGeom prst="rect">
            <a:avLst/>
          </a:prstGeom>
          <a:solidFill>
            <a:srgbClr val="EEF2F6"/>
          </a:solidFill>
          <a:ln w="12700">
            <a:solidFill>
              <a:srgbClr val="EEF2F6"/>
            </a:solidFill>
            <a:prstDash val="solid"/>
          </a:ln>
        </p:spPr>
      </p:sp>
      <p:sp>
        <p:nvSpPr>
          <p:cNvPr id="17" name="Shape 15"/>
          <p:cNvSpPr/>
          <p:nvPr/>
        </p:nvSpPr>
        <p:spPr>
          <a:xfrm>
            <a:off x="3758184" y="1737360"/>
            <a:ext cx="210312" cy="411480"/>
          </a:xfrm>
          <a:prstGeom prst="rect">
            <a:avLst/>
          </a:prstGeom>
          <a:solidFill>
            <a:srgbClr val="EEF2F6"/>
          </a:solidFill>
          <a:ln w="12700">
            <a:solidFill>
              <a:srgbClr val="EEF2F6"/>
            </a:solidFill>
            <a:prstDash val="solid"/>
          </a:ln>
        </p:spPr>
      </p:sp>
      <p:sp>
        <p:nvSpPr>
          <p:cNvPr id="18" name="Shape 16"/>
          <p:cNvSpPr/>
          <p:nvPr/>
        </p:nvSpPr>
        <p:spPr>
          <a:xfrm>
            <a:off x="4005072" y="1737360"/>
            <a:ext cx="210312" cy="411480"/>
          </a:xfrm>
          <a:prstGeom prst="rect">
            <a:avLst/>
          </a:prstGeom>
          <a:solidFill>
            <a:srgbClr val="EEF2F6"/>
          </a:solidFill>
          <a:ln w="12700">
            <a:solidFill>
              <a:srgbClr val="EEF2F6"/>
            </a:solidFill>
            <a:prstDash val="solid"/>
          </a:ln>
        </p:spPr>
      </p:sp>
      <p:sp>
        <p:nvSpPr>
          <p:cNvPr id="19" name="Shape 17"/>
          <p:cNvSpPr/>
          <p:nvPr/>
        </p:nvSpPr>
        <p:spPr>
          <a:xfrm>
            <a:off x="4251960" y="1737360"/>
            <a:ext cx="210312" cy="411480"/>
          </a:xfrm>
          <a:prstGeom prst="rect">
            <a:avLst/>
          </a:prstGeom>
          <a:solidFill>
            <a:srgbClr val="EEF2F6"/>
          </a:solidFill>
          <a:ln w="12700">
            <a:solidFill>
              <a:srgbClr val="EEF2F6"/>
            </a:solidFill>
            <a:prstDash val="solid"/>
          </a:ln>
        </p:spPr>
      </p:sp>
      <p:sp>
        <p:nvSpPr>
          <p:cNvPr id="20" name="Shape 18"/>
          <p:cNvSpPr/>
          <p:nvPr/>
        </p:nvSpPr>
        <p:spPr>
          <a:xfrm>
            <a:off x="4498848" y="1737360"/>
            <a:ext cx="210312" cy="411480"/>
          </a:xfrm>
          <a:prstGeom prst="rect">
            <a:avLst/>
          </a:prstGeom>
          <a:solidFill>
            <a:srgbClr val="EEF2F6"/>
          </a:solidFill>
          <a:ln w="12700">
            <a:solidFill>
              <a:srgbClr val="EEF2F6"/>
            </a:solidFill>
            <a:prstDash val="solid"/>
          </a:ln>
        </p:spPr>
      </p:sp>
      <p:sp>
        <p:nvSpPr>
          <p:cNvPr id="21" name="Shape 19"/>
          <p:cNvSpPr/>
          <p:nvPr/>
        </p:nvSpPr>
        <p:spPr>
          <a:xfrm>
            <a:off x="4745736" y="1737360"/>
            <a:ext cx="210312" cy="411480"/>
          </a:xfrm>
          <a:prstGeom prst="rect">
            <a:avLst/>
          </a:prstGeom>
          <a:solidFill>
            <a:srgbClr val="EEF2F6"/>
          </a:solidFill>
          <a:ln w="12700">
            <a:solidFill>
              <a:srgbClr val="EEF2F6"/>
            </a:solidFill>
            <a:prstDash val="solid"/>
          </a:ln>
        </p:spPr>
      </p:sp>
      <p:sp>
        <p:nvSpPr>
          <p:cNvPr id="22" name="Shape 20"/>
          <p:cNvSpPr/>
          <p:nvPr/>
        </p:nvSpPr>
        <p:spPr>
          <a:xfrm>
            <a:off x="4992624" y="1737360"/>
            <a:ext cx="210312" cy="411480"/>
          </a:xfrm>
          <a:prstGeom prst="rect">
            <a:avLst/>
          </a:prstGeom>
          <a:solidFill>
            <a:srgbClr val="EEF2F6"/>
          </a:solidFill>
          <a:ln w="12700">
            <a:solidFill>
              <a:srgbClr val="EEF2F6"/>
            </a:solidFill>
            <a:prstDash val="solid"/>
          </a:ln>
        </p:spPr>
      </p:sp>
      <p:sp>
        <p:nvSpPr>
          <p:cNvPr id="23" name="Shape 21"/>
          <p:cNvSpPr/>
          <p:nvPr/>
        </p:nvSpPr>
        <p:spPr>
          <a:xfrm>
            <a:off x="5239512" y="1737360"/>
            <a:ext cx="210312" cy="411480"/>
          </a:xfrm>
          <a:prstGeom prst="rect">
            <a:avLst/>
          </a:prstGeom>
          <a:solidFill>
            <a:srgbClr val="EEF2F6"/>
          </a:solidFill>
          <a:ln w="12700">
            <a:solidFill>
              <a:srgbClr val="EEF2F6"/>
            </a:solidFill>
            <a:prstDash val="solid"/>
          </a:ln>
        </p:spPr>
      </p:sp>
      <p:sp>
        <p:nvSpPr>
          <p:cNvPr id="24" name="Shape 22"/>
          <p:cNvSpPr/>
          <p:nvPr/>
        </p:nvSpPr>
        <p:spPr>
          <a:xfrm>
            <a:off x="5486400" y="1737360"/>
            <a:ext cx="210312" cy="411480"/>
          </a:xfrm>
          <a:prstGeom prst="rect">
            <a:avLst/>
          </a:prstGeom>
          <a:solidFill>
            <a:srgbClr val="EEF2F6"/>
          </a:solidFill>
          <a:ln w="12700">
            <a:solidFill>
              <a:srgbClr val="EEF2F6"/>
            </a:solidFill>
            <a:prstDash val="solid"/>
          </a:ln>
        </p:spPr>
      </p:sp>
      <p:sp>
        <p:nvSpPr>
          <p:cNvPr id="25" name="Shape 23"/>
          <p:cNvSpPr/>
          <p:nvPr/>
        </p:nvSpPr>
        <p:spPr>
          <a:xfrm>
            <a:off x="5733288" y="1737360"/>
            <a:ext cx="210312" cy="411480"/>
          </a:xfrm>
          <a:prstGeom prst="rect">
            <a:avLst/>
          </a:prstGeom>
          <a:solidFill>
            <a:srgbClr val="EEF2F6"/>
          </a:solidFill>
          <a:ln w="12700">
            <a:solidFill>
              <a:srgbClr val="EEF2F6"/>
            </a:solidFill>
            <a:prstDash val="solid"/>
          </a:ln>
        </p:spPr>
      </p:sp>
      <p:sp>
        <p:nvSpPr>
          <p:cNvPr id="26" name="Text 24"/>
          <p:cNvSpPr txBox="1"/>
          <p:nvPr/>
        </p:nvSpPr>
        <p:spPr>
          <a:xfrm>
            <a:off x="548640" y="2194560"/>
            <a:ext cx="2743200" cy="32004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samples →</a:t>
            </a:r>
            <a:endParaRPr lang="en-US" sz="1500" dirty="0"/>
          </a:p>
        </p:txBody>
      </p:sp>
      <p:sp>
        <p:nvSpPr>
          <p:cNvPr id="27" name="Shape 25"/>
          <p:cNvSpPr/>
          <p:nvPr/>
        </p:nvSpPr>
        <p:spPr>
          <a:xfrm>
            <a:off x="2231136" y="2240280"/>
            <a:ext cx="457200" cy="457200"/>
          </a:xfrm>
          <a:prstGeom prst="downArrow">
            <a:avLst/>
          </a:prstGeom>
          <a:solidFill>
            <a:srgbClr val="F08A24"/>
          </a:solidFill>
          <a:ln w="12700">
            <a:solidFill>
              <a:srgbClr val="F08A24"/>
            </a:solidFill>
            <a:prstDash val="solid"/>
          </a:ln>
        </p:spPr>
      </p:sp>
      <p:sp>
        <p:nvSpPr>
          <p:cNvPr id="28" name="Shape 26"/>
          <p:cNvSpPr/>
          <p:nvPr/>
        </p:nvSpPr>
        <p:spPr>
          <a:xfrm>
            <a:off x="548640" y="2788920"/>
            <a:ext cx="210312" cy="411480"/>
          </a:xfrm>
          <a:prstGeom prst="rect">
            <a:avLst/>
          </a:prstGeom>
          <a:solidFill>
            <a:srgbClr val="DDE3EA"/>
          </a:solidFill>
          <a:ln w="12700">
            <a:solidFill>
              <a:srgbClr val="DDE3EA"/>
            </a:solidFill>
            <a:prstDash val="solid"/>
          </a:ln>
        </p:spPr>
      </p:sp>
      <p:sp>
        <p:nvSpPr>
          <p:cNvPr id="29" name="Shape 27"/>
          <p:cNvSpPr/>
          <p:nvPr/>
        </p:nvSpPr>
        <p:spPr>
          <a:xfrm>
            <a:off x="795528" y="2788920"/>
            <a:ext cx="210312" cy="411480"/>
          </a:xfrm>
          <a:prstGeom prst="rect">
            <a:avLst/>
          </a:prstGeom>
          <a:solidFill>
            <a:srgbClr val="DDE3EA"/>
          </a:solidFill>
          <a:ln w="12700">
            <a:solidFill>
              <a:srgbClr val="DDE3EA"/>
            </a:solidFill>
            <a:prstDash val="solid"/>
          </a:ln>
        </p:spPr>
      </p:sp>
      <p:sp>
        <p:nvSpPr>
          <p:cNvPr id="30" name="Shape 28"/>
          <p:cNvSpPr/>
          <p:nvPr/>
        </p:nvSpPr>
        <p:spPr>
          <a:xfrm>
            <a:off x="1042416" y="2788920"/>
            <a:ext cx="210312" cy="411480"/>
          </a:xfrm>
          <a:prstGeom prst="rect">
            <a:avLst/>
          </a:prstGeom>
          <a:solidFill>
            <a:srgbClr val="DDE3EA"/>
          </a:solidFill>
          <a:ln w="12700">
            <a:solidFill>
              <a:srgbClr val="DDE3EA"/>
            </a:solidFill>
            <a:prstDash val="solid"/>
          </a:ln>
        </p:spPr>
      </p:sp>
      <p:sp>
        <p:nvSpPr>
          <p:cNvPr id="31" name="Shape 29"/>
          <p:cNvSpPr/>
          <p:nvPr/>
        </p:nvSpPr>
        <p:spPr>
          <a:xfrm>
            <a:off x="1289304" y="2788920"/>
            <a:ext cx="210312" cy="411480"/>
          </a:xfrm>
          <a:prstGeom prst="rect">
            <a:avLst/>
          </a:prstGeom>
          <a:solidFill>
            <a:srgbClr val="DDE3EA"/>
          </a:solidFill>
          <a:ln w="12700">
            <a:solidFill>
              <a:srgbClr val="DDE3EA"/>
            </a:solidFill>
            <a:prstDash val="solid"/>
          </a:ln>
        </p:spPr>
      </p:sp>
      <p:sp>
        <p:nvSpPr>
          <p:cNvPr id="32" name="Shape 30"/>
          <p:cNvSpPr/>
          <p:nvPr/>
        </p:nvSpPr>
        <p:spPr>
          <a:xfrm>
            <a:off x="1536192" y="2788920"/>
            <a:ext cx="210312" cy="411480"/>
          </a:xfrm>
          <a:prstGeom prst="rect">
            <a:avLst/>
          </a:prstGeom>
          <a:solidFill>
            <a:srgbClr val="DDE3EA"/>
          </a:solidFill>
          <a:ln w="12700">
            <a:solidFill>
              <a:srgbClr val="DDE3EA"/>
            </a:solidFill>
            <a:prstDash val="solid"/>
          </a:ln>
        </p:spPr>
      </p:sp>
      <p:sp>
        <p:nvSpPr>
          <p:cNvPr id="33" name="Shape 31"/>
          <p:cNvSpPr/>
          <p:nvPr/>
        </p:nvSpPr>
        <p:spPr>
          <a:xfrm>
            <a:off x="1783080" y="2788920"/>
            <a:ext cx="210312" cy="411480"/>
          </a:xfrm>
          <a:prstGeom prst="rect">
            <a:avLst/>
          </a:prstGeom>
          <a:solidFill>
            <a:srgbClr val="DDE3EA"/>
          </a:solidFill>
          <a:ln w="12700">
            <a:solidFill>
              <a:srgbClr val="DDE3EA"/>
            </a:solidFill>
            <a:prstDash val="solid"/>
          </a:ln>
        </p:spPr>
      </p:sp>
      <p:sp>
        <p:nvSpPr>
          <p:cNvPr id="34" name="Shape 32"/>
          <p:cNvSpPr/>
          <p:nvPr/>
        </p:nvSpPr>
        <p:spPr>
          <a:xfrm>
            <a:off x="2029968" y="2788920"/>
            <a:ext cx="210312" cy="411480"/>
          </a:xfrm>
          <a:prstGeom prst="rect">
            <a:avLst/>
          </a:prstGeom>
          <a:solidFill>
            <a:srgbClr val="DDE3EA"/>
          </a:solidFill>
          <a:ln w="12700">
            <a:solidFill>
              <a:srgbClr val="DDE3EA"/>
            </a:solidFill>
            <a:prstDash val="solid"/>
          </a:ln>
        </p:spPr>
      </p:sp>
      <p:sp>
        <p:nvSpPr>
          <p:cNvPr id="35" name="Shape 33"/>
          <p:cNvSpPr/>
          <p:nvPr/>
        </p:nvSpPr>
        <p:spPr>
          <a:xfrm>
            <a:off x="2276856" y="2788920"/>
            <a:ext cx="210312" cy="411480"/>
          </a:xfrm>
          <a:prstGeom prst="rect">
            <a:avLst/>
          </a:prstGeom>
          <a:solidFill>
            <a:srgbClr val="0F1B2D"/>
          </a:solidFill>
          <a:ln w="12700">
            <a:solidFill>
              <a:srgbClr val="0F1B2D"/>
            </a:solidFill>
            <a:prstDash val="solid"/>
          </a:ln>
        </p:spPr>
      </p:sp>
      <p:sp>
        <p:nvSpPr>
          <p:cNvPr id="36" name="Shape 34"/>
          <p:cNvSpPr/>
          <p:nvPr/>
        </p:nvSpPr>
        <p:spPr>
          <a:xfrm>
            <a:off x="2523744" y="2788920"/>
            <a:ext cx="210312" cy="411480"/>
          </a:xfrm>
          <a:prstGeom prst="rect">
            <a:avLst/>
          </a:prstGeom>
          <a:solidFill>
            <a:srgbClr val="DDE3EA"/>
          </a:solidFill>
          <a:ln w="12700">
            <a:solidFill>
              <a:srgbClr val="DDE3EA"/>
            </a:solidFill>
            <a:prstDash val="solid"/>
          </a:ln>
        </p:spPr>
      </p:sp>
      <p:sp>
        <p:nvSpPr>
          <p:cNvPr id="37" name="Shape 35"/>
          <p:cNvSpPr/>
          <p:nvPr/>
        </p:nvSpPr>
        <p:spPr>
          <a:xfrm>
            <a:off x="2770632" y="2788920"/>
            <a:ext cx="210312" cy="411480"/>
          </a:xfrm>
          <a:prstGeom prst="rect">
            <a:avLst/>
          </a:prstGeom>
          <a:solidFill>
            <a:srgbClr val="DDE3EA"/>
          </a:solidFill>
          <a:ln w="12700">
            <a:solidFill>
              <a:srgbClr val="DDE3EA"/>
            </a:solidFill>
            <a:prstDash val="solid"/>
          </a:ln>
        </p:spPr>
      </p:sp>
      <p:sp>
        <p:nvSpPr>
          <p:cNvPr id="38" name="Shape 36"/>
          <p:cNvSpPr/>
          <p:nvPr/>
        </p:nvSpPr>
        <p:spPr>
          <a:xfrm>
            <a:off x="3017520" y="2788920"/>
            <a:ext cx="210312" cy="411480"/>
          </a:xfrm>
          <a:prstGeom prst="rect">
            <a:avLst/>
          </a:prstGeom>
          <a:solidFill>
            <a:srgbClr val="DDE3EA"/>
          </a:solidFill>
          <a:ln w="12700">
            <a:solidFill>
              <a:srgbClr val="DDE3EA"/>
            </a:solidFill>
            <a:prstDash val="solid"/>
          </a:ln>
        </p:spPr>
      </p:sp>
      <p:sp>
        <p:nvSpPr>
          <p:cNvPr id="39" name="Shape 37"/>
          <p:cNvSpPr/>
          <p:nvPr/>
        </p:nvSpPr>
        <p:spPr>
          <a:xfrm>
            <a:off x="3264408" y="2788920"/>
            <a:ext cx="210312" cy="411480"/>
          </a:xfrm>
          <a:prstGeom prst="rect">
            <a:avLst/>
          </a:prstGeom>
          <a:solidFill>
            <a:srgbClr val="DDE3EA"/>
          </a:solidFill>
          <a:ln w="12700">
            <a:solidFill>
              <a:srgbClr val="DDE3EA"/>
            </a:solidFill>
            <a:prstDash val="solid"/>
          </a:ln>
        </p:spPr>
      </p:sp>
      <p:sp>
        <p:nvSpPr>
          <p:cNvPr id="40" name="Shape 38"/>
          <p:cNvSpPr/>
          <p:nvPr/>
        </p:nvSpPr>
        <p:spPr>
          <a:xfrm>
            <a:off x="3511296" y="2788920"/>
            <a:ext cx="210312" cy="411480"/>
          </a:xfrm>
          <a:prstGeom prst="rect">
            <a:avLst/>
          </a:prstGeom>
          <a:solidFill>
            <a:srgbClr val="DDE3EA"/>
          </a:solidFill>
          <a:ln w="12700">
            <a:solidFill>
              <a:srgbClr val="DDE3EA"/>
            </a:solidFill>
            <a:prstDash val="solid"/>
          </a:ln>
        </p:spPr>
      </p:sp>
      <p:sp>
        <p:nvSpPr>
          <p:cNvPr id="41" name="Shape 39"/>
          <p:cNvSpPr/>
          <p:nvPr/>
        </p:nvSpPr>
        <p:spPr>
          <a:xfrm>
            <a:off x="3758184" y="2788920"/>
            <a:ext cx="210312" cy="411480"/>
          </a:xfrm>
          <a:prstGeom prst="rect">
            <a:avLst/>
          </a:prstGeom>
          <a:solidFill>
            <a:srgbClr val="DDE3EA"/>
          </a:solidFill>
          <a:ln w="12700">
            <a:solidFill>
              <a:srgbClr val="DDE3EA"/>
            </a:solidFill>
            <a:prstDash val="solid"/>
          </a:ln>
        </p:spPr>
      </p:sp>
      <p:sp>
        <p:nvSpPr>
          <p:cNvPr id="42" name="Shape 40"/>
          <p:cNvSpPr/>
          <p:nvPr/>
        </p:nvSpPr>
        <p:spPr>
          <a:xfrm>
            <a:off x="4005072" y="2788920"/>
            <a:ext cx="210312" cy="411480"/>
          </a:xfrm>
          <a:prstGeom prst="rect">
            <a:avLst/>
          </a:prstGeom>
          <a:solidFill>
            <a:srgbClr val="DDE3EA"/>
          </a:solidFill>
          <a:ln w="12700">
            <a:solidFill>
              <a:srgbClr val="DDE3EA"/>
            </a:solidFill>
            <a:prstDash val="solid"/>
          </a:ln>
        </p:spPr>
      </p:sp>
      <p:sp>
        <p:nvSpPr>
          <p:cNvPr id="43" name="Shape 41"/>
          <p:cNvSpPr/>
          <p:nvPr/>
        </p:nvSpPr>
        <p:spPr>
          <a:xfrm>
            <a:off x="4251960" y="2788920"/>
            <a:ext cx="210312" cy="411480"/>
          </a:xfrm>
          <a:prstGeom prst="rect">
            <a:avLst/>
          </a:prstGeom>
          <a:solidFill>
            <a:srgbClr val="DDE3EA"/>
          </a:solidFill>
          <a:ln w="12700">
            <a:solidFill>
              <a:srgbClr val="DDE3EA"/>
            </a:solidFill>
            <a:prstDash val="solid"/>
          </a:ln>
        </p:spPr>
      </p:sp>
      <p:sp>
        <p:nvSpPr>
          <p:cNvPr id="44" name="Shape 42"/>
          <p:cNvSpPr/>
          <p:nvPr/>
        </p:nvSpPr>
        <p:spPr>
          <a:xfrm>
            <a:off x="4498848" y="2788920"/>
            <a:ext cx="210312" cy="411480"/>
          </a:xfrm>
          <a:prstGeom prst="rect">
            <a:avLst/>
          </a:prstGeom>
          <a:solidFill>
            <a:srgbClr val="DDE3EA"/>
          </a:solidFill>
          <a:ln w="12700">
            <a:solidFill>
              <a:srgbClr val="DDE3EA"/>
            </a:solidFill>
            <a:prstDash val="solid"/>
          </a:ln>
        </p:spPr>
      </p:sp>
      <p:sp>
        <p:nvSpPr>
          <p:cNvPr id="45" name="Shape 43"/>
          <p:cNvSpPr/>
          <p:nvPr/>
        </p:nvSpPr>
        <p:spPr>
          <a:xfrm>
            <a:off x="4745736" y="2788920"/>
            <a:ext cx="210312" cy="411480"/>
          </a:xfrm>
          <a:prstGeom prst="rect">
            <a:avLst/>
          </a:prstGeom>
          <a:solidFill>
            <a:srgbClr val="DDE3EA"/>
          </a:solidFill>
          <a:ln w="12700">
            <a:solidFill>
              <a:srgbClr val="DDE3EA"/>
            </a:solidFill>
            <a:prstDash val="solid"/>
          </a:ln>
        </p:spPr>
      </p:sp>
      <p:sp>
        <p:nvSpPr>
          <p:cNvPr id="46" name="Shape 44"/>
          <p:cNvSpPr/>
          <p:nvPr/>
        </p:nvSpPr>
        <p:spPr>
          <a:xfrm>
            <a:off x="4992624" y="2788920"/>
            <a:ext cx="210312" cy="411480"/>
          </a:xfrm>
          <a:prstGeom prst="rect">
            <a:avLst/>
          </a:prstGeom>
          <a:solidFill>
            <a:srgbClr val="DDE3EA"/>
          </a:solidFill>
          <a:ln w="12700">
            <a:solidFill>
              <a:srgbClr val="DDE3EA"/>
            </a:solidFill>
            <a:prstDash val="solid"/>
          </a:ln>
        </p:spPr>
      </p:sp>
      <p:sp>
        <p:nvSpPr>
          <p:cNvPr id="47" name="Shape 45"/>
          <p:cNvSpPr/>
          <p:nvPr/>
        </p:nvSpPr>
        <p:spPr>
          <a:xfrm>
            <a:off x="5239512" y="2788920"/>
            <a:ext cx="210312" cy="411480"/>
          </a:xfrm>
          <a:prstGeom prst="rect">
            <a:avLst/>
          </a:prstGeom>
          <a:solidFill>
            <a:srgbClr val="DDE3EA"/>
          </a:solidFill>
          <a:ln w="12700">
            <a:solidFill>
              <a:srgbClr val="DDE3EA"/>
            </a:solidFill>
            <a:prstDash val="solid"/>
          </a:ln>
        </p:spPr>
      </p:sp>
      <p:sp>
        <p:nvSpPr>
          <p:cNvPr id="48" name="Shape 46"/>
          <p:cNvSpPr/>
          <p:nvPr/>
        </p:nvSpPr>
        <p:spPr>
          <a:xfrm>
            <a:off x="5486400" y="2788920"/>
            <a:ext cx="210312" cy="411480"/>
          </a:xfrm>
          <a:prstGeom prst="rect">
            <a:avLst/>
          </a:prstGeom>
          <a:solidFill>
            <a:srgbClr val="DDE3EA"/>
          </a:solidFill>
          <a:ln w="12700">
            <a:solidFill>
              <a:srgbClr val="DDE3EA"/>
            </a:solidFill>
            <a:prstDash val="solid"/>
          </a:ln>
        </p:spPr>
      </p:sp>
      <p:sp>
        <p:nvSpPr>
          <p:cNvPr id="49" name="Shape 47"/>
          <p:cNvSpPr/>
          <p:nvPr/>
        </p:nvSpPr>
        <p:spPr>
          <a:xfrm>
            <a:off x="5733288" y="2788920"/>
            <a:ext cx="210312" cy="411480"/>
          </a:xfrm>
          <a:prstGeom prst="rect">
            <a:avLst/>
          </a:prstGeom>
          <a:solidFill>
            <a:srgbClr val="DDE3EA"/>
          </a:solidFill>
          <a:ln w="12700">
            <a:solidFill>
              <a:srgbClr val="DDE3EA"/>
            </a:solidFill>
            <a:prstDash val="solid"/>
          </a:ln>
        </p:spPr>
      </p:sp>
      <p:sp>
        <p:nvSpPr>
          <p:cNvPr id="50" name="Text 48"/>
          <p:cNvSpPr txBox="1"/>
          <p:nvPr/>
        </p:nvSpPr>
        <p:spPr>
          <a:xfrm>
            <a:off x="548640" y="3246120"/>
            <a:ext cx="5486400" cy="32004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one output per sample, per filter</a:t>
            </a:r>
            <a:endParaRPr lang="en-US" sz="1500" dirty="0"/>
          </a:p>
        </p:txBody>
      </p:sp>
      <p:sp>
        <p:nvSpPr>
          <p:cNvPr id="51" name="Text 49"/>
          <p:cNvSpPr txBox="1"/>
          <p:nvPr/>
        </p:nvSpPr>
        <p:spPr>
          <a:xfrm>
            <a:off x="548640" y="3566160"/>
            <a:ext cx="274320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illustration</a:t>
            </a:r>
            <a:endParaRPr lang="en-US" sz="1200" dirty="0"/>
          </a:p>
        </p:txBody>
      </p:sp>
      <p:sp>
        <p:nvSpPr>
          <p:cNvPr id="52" name="Shape 50"/>
          <p:cNvSpPr/>
          <p:nvPr/>
        </p:nvSpPr>
        <p:spPr>
          <a:xfrm>
            <a:off x="6400800" y="1554480"/>
            <a:ext cx="502920" cy="502920"/>
          </a:xfrm>
          <a:prstGeom prst="ellipse">
            <a:avLst/>
          </a:prstGeom>
          <a:solidFill>
            <a:srgbClr val="0F1B2D"/>
          </a:solidFill>
          <a:ln w="12700">
            <a:solidFill>
              <a:srgbClr val="0F1B2D"/>
            </a:solidFill>
            <a:prstDash val="solid"/>
          </a:ln>
        </p:spPr>
      </p:sp>
      <p:sp>
        <p:nvSpPr>
          <p:cNvPr id="53" name="Text 51"/>
          <p:cNvSpPr txBox="1"/>
          <p:nvPr/>
        </p:nvSpPr>
        <p:spPr>
          <a:xfrm>
            <a:off x="6400800" y="155448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54" name="Text 52"/>
          <p:cNvSpPr txBox="1"/>
          <p:nvPr/>
        </p:nvSpPr>
        <p:spPr>
          <a:xfrm>
            <a:off x="7086600" y="1463040"/>
            <a:ext cx="4572000" cy="411480"/>
          </a:xfrm>
          <a:prstGeom prst="rect">
            <a:avLst/>
          </a:prstGeom>
          <a:noFill/>
          <a:ln/>
        </p:spPr>
        <p:txBody>
          <a:bodyPr wrap="square" lIns="0" tIns="0" rIns="0" bIns="0" rtlCol="0" anchor="t"/>
          <a:lstStyle/>
          <a:p>
            <a:pPr indent="0" marL="0">
              <a:buNone/>
            </a:pPr>
            <a:r>
              <a:rPr lang="en-US" sz="2100" b="1" dirty="0">
                <a:solidFill>
                  <a:srgbClr val="1E293B"/>
                </a:solidFill>
                <a:latin typeface="Calibri" pitchFamily="34" charset="0"/>
                <a:ea typeface="Calibri" pitchFamily="34" charset="-122"/>
                <a:cs typeface="Calibri" pitchFamily="34" charset="-120"/>
              </a:rPr>
              <a:t>64 filters, 3 taps</a:t>
            </a:r>
            <a:endParaRPr lang="en-US" sz="2100" dirty="0"/>
          </a:p>
        </p:txBody>
      </p:sp>
      <p:sp>
        <p:nvSpPr>
          <p:cNvPr id="55" name="Text 53"/>
          <p:cNvSpPr txBox="1"/>
          <p:nvPr/>
        </p:nvSpPr>
        <p:spPr>
          <a:xfrm>
            <a:off x="7086600" y="1874520"/>
            <a:ext cx="4572000" cy="41148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2 × 128  →  128 × 64</a:t>
            </a:r>
            <a:endParaRPr lang="en-US" sz="1900" dirty="0"/>
          </a:p>
        </p:txBody>
      </p:sp>
      <p:sp>
        <p:nvSpPr>
          <p:cNvPr id="56" name="Shape 54"/>
          <p:cNvSpPr/>
          <p:nvPr/>
        </p:nvSpPr>
        <p:spPr>
          <a:xfrm>
            <a:off x="6400800" y="2514600"/>
            <a:ext cx="502920" cy="502920"/>
          </a:xfrm>
          <a:prstGeom prst="ellipse">
            <a:avLst/>
          </a:prstGeom>
          <a:solidFill>
            <a:srgbClr val="0F1B2D"/>
          </a:solidFill>
          <a:ln w="12700">
            <a:solidFill>
              <a:srgbClr val="0F1B2D"/>
            </a:solidFill>
            <a:prstDash val="solid"/>
          </a:ln>
        </p:spPr>
      </p:sp>
      <p:sp>
        <p:nvSpPr>
          <p:cNvPr id="57" name="Text 55"/>
          <p:cNvSpPr txBox="1"/>
          <p:nvPr/>
        </p:nvSpPr>
        <p:spPr>
          <a:xfrm>
            <a:off x="6400800" y="251460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58" name="Text 56"/>
          <p:cNvSpPr txBox="1"/>
          <p:nvPr/>
        </p:nvSpPr>
        <p:spPr>
          <a:xfrm>
            <a:off x="7086600" y="2423160"/>
            <a:ext cx="4572000" cy="411480"/>
          </a:xfrm>
          <a:prstGeom prst="rect">
            <a:avLst/>
          </a:prstGeom>
          <a:noFill/>
          <a:ln/>
        </p:spPr>
        <p:txBody>
          <a:bodyPr wrap="square" lIns="0" tIns="0" rIns="0" bIns="0" rtlCol="0" anchor="t"/>
          <a:lstStyle/>
          <a:p>
            <a:pPr indent="0" marL="0">
              <a:buNone/>
            </a:pPr>
            <a:r>
              <a:rPr lang="en-US" sz="2100" b="1" dirty="0">
                <a:solidFill>
                  <a:srgbClr val="1E293B"/>
                </a:solidFill>
                <a:latin typeface="Calibri" pitchFamily="34" charset="0"/>
                <a:ea typeface="Calibri" pitchFamily="34" charset="-122"/>
                <a:cs typeface="Calibri" pitchFamily="34" charset="-120"/>
              </a:rPr>
              <a:t>128 filters, 3 taps</a:t>
            </a:r>
            <a:endParaRPr lang="en-US" sz="2100" dirty="0"/>
          </a:p>
        </p:txBody>
      </p:sp>
      <p:sp>
        <p:nvSpPr>
          <p:cNvPr id="59" name="Text 57"/>
          <p:cNvSpPr txBox="1"/>
          <p:nvPr/>
        </p:nvSpPr>
        <p:spPr>
          <a:xfrm>
            <a:off x="7086600" y="2834640"/>
            <a:ext cx="4572000" cy="41148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  128 × 128</a:t>
            </a:r>
            <a:endParaRPr lang="en-US" sz="1900" dirty="0"/>
          </a:p>
        </p:txBody>
      </p:sp>
      <p:sp>
        <p:nvSpPr>
          <p:cNvPr id="60" name="Shape 58"/>
          <p:cNvSpPr/>
          <p:nvPr/>
        </p:nvSpPr>
        <p:spPr>
          <a:xfrm>
            <a:off x="6400800" y="3474720"/>
            <a:ext cx="502920" cy="502920"/>
          </a:xfrm>
          <a:prstGeom prst="ellipse">
            <a:avLst/>
          </a:prstGeom>
          <a:solidFill>
            <a:srgbClr val="F08A24"/>
          </a:solidFill>
          <a:ln w="12700">
            <a:solidFill>
              <a:srgbClr val="F08A24"/>
            </a:solidFill>
            <a:prstDash val="solid"/>
          </a:ln>
        </p:spPr>
      </p:sp>
      <p:sp>
        <p:nvSpPr>
          <p:cNvPr id="61" name="Text 59"/>
          <p:cNvSpPr txBox="1"/>
          <p:nvPr/>
        </p:nvSpPr>
        <p:spPr>
          <a:xfrm>
            <a:off x="6400800" y="347472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62" name="Text 60"/>
          <p:cNvSpPr txBox="1"/>
          <p:nvPr/>
        </p:nvSpPr>
        <p:spPr>
          <a:xfrm>
            <a:off x="7086600" y="3383280"/>
            <a:ext cx="4572000" cy="411480"/>
          </a:xfrm>
          <a:prstGeom prst="rect">
            <a:avLst/>
          </a:prstGeom>
          <a:noFill/>
          <a:ln/>
        </p:spPr>
        <p:txBody>
          <a:bodyPr wrap="square" lIns="0" tIns="0" rIns="0" bIns="0" rtlCol="0" anchor="t"/>
          <a:lstStyle/>
          <a:p>
            <a:pPr indent="0" marL="0">
              <a:buNone/>
            </a:pPr>
            <a:r>
              <a:rPr lang="en-US" sz="2100" b="1" dirty="0">
                <a:solidFill>
                  <a:srgbClr val="1E293B"/>
                </a:solidFill>
                <a:latin typeface="Calibri" pitchFamily="34" charset="0"/>
                <a:ea typeface="Calibri" pitchFamily="34" charset="-122"/>
                <a:cs typeface="Calibri" pitchFamily="34" charset="-120"/>
              </a:rPr>
              <a:t>pool: larger of each pair</a:t>
            </a:r>
            <a:endParaRPr lang="en-US" sz="2100" dirty="0"/>
          </a:p>
        </p:txBody>
      </p:sp>
      <p:sp>
        <p:nvSpPr>
          <p:cNvPr id="63" name="Text 61"/>
          <p:cNvSpPr txBox="1"/>
          <p:nvPr/>
        </p:nvSpPr>
        <p:spPr>
          <a:xfrm>
            <a:off x="7086600" y="3794760"/>
            <a:ext cx="4572000" cy="41148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  64 × 128</a:t>
            </a:r>
            <a:endParaRPr lang="en-US" sz="1900" dirty="0"/>
          </a:p>
        </p:txBody>
      </p:sp>
      <p:sp>
        <p:nvSpPr>
          <p:cNvPr id="64" name="Shape 62"/>
          <p:cNvSpPr/>
          <p:nvPr/>
        </p:nvSpPr>
        <p:spPr>
          <a:xfrm>
            <a:off x="548640" y="4526280"/>
            <a:ext cx="11091672" cy="868680"/>
          </a:xfrm>
          <a:prstGeom prst="roundRect">
            <a:avLst>
              <a:gd name="adj" fmla="val 12632"/>
            </a:avLst>
          </a:prstGeom>
          <a:solidFill>
            <a:srgbClr val="EEF2F6"/>
          </a:solidFill>
          <a:ln w="12700">
            <a:solidFill>
              <a:srgbClr val="EEF2F6"/>
            </a:solidFill>
            <a:prstDash val="solid"/>
          </a:ln>
        </p:spPr>
      </p:sp>
      <p:sp>
        <p:nvSpPr>
          <p:cNvPr id="65" name="Text 63"/>
          <p:cNvSpPr txBox="1"/>
          <p:nvPr/>
        </p:nvSpPr>
        <p:spPr>
          <a:xfrm>
            <a:off x="822960" y="4526280"/>
            <a:ext cx="10543032" cy="868680"/>
          </a:xfrm>
          <a:prstGeom prst="rect">
            <a:avLst/>
          </a:prstGeom>
          <a:noFill/>
          <a:ln/>
        </p:spPr>
        <p:txBody>
          <a:bodyPr wrap="square" lIns="0" tIns="0" rIns="0" bIns="0" rtlCol="0" anchor="ctr"/>
          <a:lstStyle/>
          <a:p>
            <a:pPr indent="0" marL="0">
              <a:buNone/>
            </a:pPr>
            <a:r>
              <a:rPr lang="en-US" sz="2200" dirty="0">
                <a:solidFill>
                  <a:srgbClr val="1E293B"/>
                </a:solidFill>
                <a:latin typeface="Calibri" pitchFamily="34" charset="0"/>
                <a:ea typeface="Calibri" pitchFamily="34" charset="-122"/>
                <a:cs typeface="Calibri" pitchFamily="34" charset="-120"/>
              </a:rPr>
              <a:t>Like an FIR filter whose taps are learned instead of designed.</a:t>
            </a:r>
            <a:endParaRPr lang="en-US" sz="2200" dirty="0"/>
          </a:p>
        </p:txBody>
      </p:sp>
      <p:sp>
        <p:nvSpPr>
          <p:cNvPr id="66" name="Text 64"/>
          <p:cNvSpPr txBox="1"/>
          <p:nvPr/>
        </p:nvSpPr>
        <p:spPr>
          <a:xfrm>
            <a:off x="548640" y="562356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Each of the 64 steps sums up about 6 samples: less than one symbol.</a:t>
            </a:r>
            <a:endParaRPr lang="en-US" sz="2400" dirty="0"/>
          </a:p>
        </p:txBody>
      </p:sp>
      <p:sp>
        <p:nvSpPr>
          <p:cNvPr id="68" name="Text 65"/>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BiLSTM</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Block 2: reading the steps in order</a:t>
            </a:r>
            <a:endParaRPr lang="en-US" sz="3400" dirty="0"/>
          </a:p>
        </p:txBody>
      </p:sp>
      <p:sp>
        <p:nvSpPr>
          <p:cNvPr id="4" name="Shape 2"/>
          <p:cNvSpPr/>
          <p:nvPr/>
        </p:nvSpPr>
        <p:spPr>
          <a:xfrm>
            <a:off x="548640" y="2331720"/>
            <a:ext cx="1143000" cy="822960"/>
          </a:xfrm>
          <a:prstGeom prst="roundRect">
            <a:avLst>
              <a:gd name="adj" fmla="val 11111"/>
            </a:avLst>
          </a:prstGeom>
          <a:solidFill>
            <a:srgbClr val="EEF2F6"/>
          </a:solidFill>
          <a:ln w="12700">
            <a:solidFill>
              <a:srgbClr val="EEF2F6"/>
            </a:solidFill>
            <a:prstDash val="solid"/>
          </a:ln>
        </p:spPr>
      </p:sp>
      <p:sp>
        <p:nvSpPr>
          <p:cNvPr id="5" name="Text 3"/>
          <p:cNvSpPr txBox="1"/>
          <p:nvPr/>
        </p:nvSpPr>
        <p:spPr>
          <a:xfrm>
            <a:off x="54864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1</a:t>
            </a:r>
            <a:endParaRPr lang="en-US" sz="1700" dirty="0"/>
          </a:p>
        </p:txBody>
      </p:sp>
      <p:sp>
        <p:nvSpPr>
          <p:cNvPr id="6" name="Shape 4"/>
          <p:cNvSpPr/>
          <p:nvPr/>
        </p:nvSpPr>
        <p:spPr>
          <a:xfrm>
            <a:off x="1709928" y="1874520"/>
            <a:ext cx="374904" cy="384048"/>
          </a:xfrm>
          <a:prstGeom prst="rightArrow">
            <a:avLst/>
          </a:prstGeom>
          <a:solidFill>
            <a:srgbClr val="0F1B2D"/>
          </a:solidFill>
          <a:ln w="12700">
            <a:solidFill>
              <a:srgbClr val="0F1B2D"/>
            </a:solidFill>
            <a:prstDash val="solid"/>
          </a:ln>
        </p:spPr>
      </p:sp>
      <p:sp>
        <p:nvSpPr>
          <p:cNvPr id="7" name="Shape 5"/>
          <p:cNvSpPr/>
          <p:nvPr/>
        </p:nvSpPr>
        <p:spPr>
          <a:xfrm>
            <a:off x="1709928" y="3246120"/>
            <a:ext cx="374904" cy="384048"/>
          </a:xfrm>
          <a:prstGeom prst="leftArrow">
            <a:avLst/>
          </a:prstGeom>
          <a:solidFill>
            <a:srgbClr val="F08A24"/>
          </a:solidFill>
          <a:ln w="12700">
            <a:solidFill>
              <a:srgbClr val="F08A24"/>
            </a:solidFill>
            <a:prstDash val="solid"/>
          </a:ln>
        </p:spPr>
      </p:sp>
      <p:sp>
        <p:nvSpPr>
          <p:cNvPr id="8" name="Shape 6"/>
          <p:cNvSpPr/>
          <p:nvPr/>
        </p:nvSpPr>
        <p:spPr>
          <a:xfrm>
            <a:off x="2103120" y="2331720"/>
            <a:ext cx="1143000" cy="822960"/>
          </a:xfrm>
          <a:prstGeom prst="roundRect">
            <a:avLst>
              <a:gd name="adj" fmla="val 11111"/>
            </a:avLst>
          </a:prstGeom>
          <a:solidFill>
            <a:srgbClr val="EEF2F6"/>
          </a:solidFill>
          <a:ln w="12700">
            <a:solidFill>
              <a:srgbClr val="EEF2F6"/>
            </a:solidFill>
            <a:prstDash val="solid"/>
          </a:ln>
        </p:spPr>
      </p:sp>
      <p:sp>
        <p:nvSpPr>
          <p:cNvPr id="9" name="Text 7"/>
          <p:cNvSpPr txBox="1"/>
          <p:nvPr/>
        </p:nvSpPr>
        <p:spPr>
          <a:xfrm>
            <a:off x="210312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2</a:t>
            </a:r>
            <a:endParaRPr lang="en-US" sz="1700" dirty="0"/>
          </a:p>
        </p:txBody>
      </p:sp>
      <p:sp>
        <p:nvSpPr>
          <p:cNvPr id="10" name="Shape 8"/>
          <p:cNvSpPr/>
          <p:nvPr/>
        </p:nvSpPr>
        <p:spPr>
          <a:xfrm>
            <a:off x="3264408" y="1874520"/>
            <a:ext cx="374904" cy="384048"/>
          </a:xfrm>
          <a:prstGeom prst="rightArrow">
            <a:avLst/>
          </a:prstGeom>
          <a:solidFill>
            <a:srgbClr val="0F1B2D"/>
          </a:solidFill>
          <a:ln w="12700">
            <a:solidFill>
              <a:srgbClr val="0F1B2D"/>
            </a:solidFill>
            <a:prstDash val="solid"/>
          </a:ln>
        </p:spPr>
      </p:sp>
      <p:sp>
        <p:nvSpPr>
          <p:cNvPr id="11" name="Shape 9"/>
          <p:cNvSpPr/>
          <p:nvPr/>
        </p:nvSpPr>
        <p:spPr>
          <a:xfrm>
            <a:off x="3264408" y="3246120"/>
            <a:ext cx="374904" cy="384048"/>
          </a:xfrm>
          <a:prstGeom prst="leftArrow">
            <a:avLst/>
          </a:prstGeom>
          <a:solidFill>
            <a:srgbClr val="F08A24"/>
          </a:solidFill>
          <a:ln w="12700">
            <a:solidFill>
              <a:srgbClr val="F08A24"/>
            </a:solidFill>
            <a:prstDash val="solid"/>
          </a:ln>
        </p:spPr>
      </p:sp>
      <p:sp>
        <p:nvSpPr>
          <p:cNvPr id="12" name="Shape 10"/>
          <p:cNvSpPr/>
          <p:nvPr/>
        </p:nvSpPr>
        <p:spPr>
          <a:xfrm>
            <a:off x="3657600" y="2331720"/>
            <a:ext cx="1143000" cy="822960"/>
          </a:xfrm>
          <a:prstGeom prst="roundRect">
            <a:avLst>
              <a:gd name="adj" fmla="val 11111"/>
            </a:avLst>
          </a:prstGeom>
          <a:solidFill>
            <a:srgbClr val="EEF2F6"/>
          </a:solidFill>
          <a:ln w="12700">
            <a:solidFill>
              <a:srgbClr val="EEF2F6"/>
            </a:solidFill>
            <a:prstDash val="solid"/>
          </a:ln>
        </p:spPr>
      </p:sp>
      <p:sp>
        <p:nvSpPr>
          <p:cNvPr id="13" name="Text 11"/>
          <p:cNvSpPr txBox="1"/>
          <p:nvPr/>
        </p:nvSpPr>
        <p:spPr>
          <a:xfrm>
            <a:off x="365760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3</a:t>
            </a:r>
            <a:endParaRPr lang="en-US" sz="1700" dirty="0"/>
          </a:p>
        </p:txBody>
      </p:sp>
      <p:sp>
        <p:nvSpPr>
          <p:cNvPr id="14" name="Shape 12"/>
          <p:cNvSpPr/>
          <p:nvPr/>
        </p:nvSpPr>
        <p:spPr>
          <a:xfrm>
            <a:off x="4818888" y="1874520"/>
            <a:ext cx="374904" cy="384048"/>
          </a:xfrm>
          <a:prstGeom prst="rightArrow">
            <a:avLst/>
          </a:prstGeom>
          <a:solidFill>
            <a:srgbClr val="0F1B2D"/>
          </a:solidFill>
          <a:ln w="12700">
            <a:solidFill>
              <a:srgbClr val="0F1B2D"/>
            </a:solidFill>
            <a:prstDash val="solid"/>
          </a:ln>
        </p:spPr>
      </p:sp>
      <p:sp>
        <p:nvSpPr>
          <p:cNvPr id="15" name="Shape 13"/>
          <p:cNvSpPr/>
          <p:nvPr/>
        </p:nvSpPr>
        <p:spPr>
          <a:xfrm>
            <a:off x="4818888" y="3246120"/>
            <a:ext cx="374904" cy="384048"/>
          </a:xfrm>
          <a:prstGeom prst="leftArrow">
            <a:avLst/>
          </a:prstGeom>
          <a:solidFill>
            <a:srgbClr val="F08A24"/>
          </a:solidFill>
          <a:ln w="12700">
            <a:solidFill>
              <a:srgbClr val="F08A24"/>
            </a:solidFill>
            <a:prstDash val="solid"/>
          </a:ln>
        </p:spPr>
      </p:sp>
      <p:sp>
        <p:nvSpPr>
          <p:cNvPr id="16" name="Shape 14"/>
          <p:cNvSpPr/>
          <p:nvPr/>
        </p:nvSpPr>
        <p:spPr>
          <a:xfrm>
            <a:off x="5212080" y="2331720"/>
            <a:ext cx="1143000" cy="822960"/>
          </a:xfrm>
          <a:prstGeom prst="roundRect">
            <a:avLst>
              <a:gd name="adj" fmla="val 11111"/>
            </a:avLst>
          </a:prstGeom>
          <a:solidFill>
            <a:srgbClr val="EEF2F6"/>
          </a:solidFill>
          <a:ln w="12700">
            <a:solidFill>
              <a:srgbClr val="EEF2F6"/>
            </a:solidFill>
            <a:prstDash val="solid"/>
          </a:ln>
        </p:spPr>
      </p:sp>
      <p:sp>
        <p:nvSpPr>
          <p:cNvPr id="17" name="Text 15"/>
          <p:cNvSpPr txBox="1"/>
          <p:nvPr/>
        </p:nvSpPr>
        <p:spPr>
          <a:xfrm>
            <a:off x="521208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a:t>
            </a:r>
            <a:endParaRPr lang="en-US" sz="1700" dirty="0"/>
          </a:p>
        </p:txBody>
      </p:sp>
      <p:sp>
        <p:nvSpPr>
          <p:cNvPr id="18" name="Shape 16"/>
          <p:cNvSpPr/>
          <p:nvPr/>
        </p:nvSpPr>
        <p:spPr>
          <a:xfrm>
            <a:off x="6373368" y="1874520"/>
            <a:ext cx="374904" cy="384048"/>
          </a:xfrm>
          <a:prstGeom prst="rightArrow">
            <a:avLst/>
          </a:prstGeom>
          <a:solidFill>
            <a:srgbClr val="0F1B2D"/>
          </a:solidFill>
          <a:ln w="12700">
            <a:solidFill>
              <a:srgbClr val="0F1B2D"/>
            </a:solidFill>
            <a:prstDash val="solid"/>
          </a:ln>
        </p:spPr>
      </p:sp>
      <p:sp>
        <p:nvSpPr>
          <p:cNvPr id="19" name="Shape 17"/>
          <p:cNvSpPr/>
          <p:nvPr/>
        </p:nvSpPr>
        <p:spPr>
          <a:xfrm>
            <a:off x="6373368" y="3246120"/>
            <a:ext cx="374904" cy="384048"/>
          </a:xfrm>
          <a:prstGeom prst="leftArrow">
            <a:avLst/>
          </a:prstGeom>
          <a:solidFill>
            <a:srgbClr val="F08A24"/>
          </a:solidFill>
          <a:ln w="12700">
            <a:solidFill>
              <a:srgbClr val="F08A24"/>
            </a:solidFill>
            <a:prstDash val="solid"/>
          </a:ln>
        </p:spPr>
      </p:sp>
      <p:sp>
        <p:nvSpPr>
          <p:cNvPr id="20" name="Shape 18"/>
          <p:cNvSpPr/>
          <p:nvPr/>
        </p:nvSpPr>
        <p:spPr>
          <a:xfrm>
            <a:off x="6766560" y="2331720"/>
            <a:ext cx="1143000" cy="822960"/>
          </a:xfrm>
          <a:prstGeom prst="roundRect">
            <a:avLst>
              <a:gd name="adj" fmla="val 11111"/>
            </a:avLst>
          </a:prstGeom>
          <a:solidFill>
            <a:srgbClr val="EEF2F6"/>
          </a:solidFill>
          <a:ln w="12700">
            <a:solidFill>
              <a:srgbClr val="EEF2F6"/>
            </a:solidFill>
            <a:prstDash val="solid"/>
          </a:ln>
        </p:spPr>
      </p:sp>
      <p:sp>
        <p:nvSpPr>
          <p:cNvPr id="21" name="Text 19"/>
          <p:cNvSpPr txBox="1"/>
          <p:nvPr/>
        </p:nvSpPr>
        <p:spPr>
          <a:xfrm>
            <a:off x="676656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63</a:t>
            </a:r>
            <a:endParaRPr lang="en-US" sz="1700" dirty="0"/>
          </a:p>
        </p:txBody>
      </p:sp>
      <p:sp>
        <p:nvSpPr>
          <p:cNvPr id="22" name="Shape 20"/>
          <p:cNvSpPr/>
          <p:nvPr/>
        </p:nvSpPr>
        <p:spPr>
          <a:xfrm>
            <a:off x="7927848" y="1874520"/>
            <a:ext cx="374904" cy="384048"/>
          </a:xfrm>
          <a:prstGeom prst="rightArrow">
            <a:avLst/>
          </a:prstGeom>
          <a:solidFill>
            <a:srgbClr val="0F1B2D"/>
          </a:solidFill>
          <a:ln w="12700">
            <a:solidFill>
              <a:srgbClr val="0F1B2D"/>
            </a:solidFill>
            <a:prstDash val="solid"/>
          </a:ln>
        </p:spPr>
      </p:sp>
      <p:sp>
        <p:nvSpPr>
          <p:cNvPr id="23" name="Shape 21"/>
          <p:cNvSpPr/>
          <p:nvPr/>
        </p:nvSpPr>
        <p:spPr>
          <a:xfrm>
            <a:off x="7927848" y="3246120"/>
            <a:ext cx="374904" cy="384048"/>
          </a:xfrm>
          <a:prstGeom prst="leftArrow">
            <a:avLst/>
          </a:prstGeom>
          <a:solidFill>
            <a:srgbClr val="F08A24"/>
          </a:solidFill>
          <a:ln w="12700">
            <a:solidFill>
              <a:srgbClr val="F08A24"/>
            </a:solidFill>
            <a:prstDash val="solid"/>
          </a:ln>
        </p:spPr>
      </p:sp>
      <p:sp>
        <p:nvSpPr>
          <p:cNvPr id="24" name="Shape 22"/>
          <p:cNvSpPr/>
          <p:nvPr/>
        </p:nvSpPr>
        <p:spPr>
          <a:xfrm>
            <a:off x="8321040" y="2331720"/>
            <a:ext cx="1143000" cy="822960"/>
          </a:xfrm>
          <a:prstGeom prst="roundRect">
            <a:avLst>
              <a:gd name="adj" fmla="val 11111"/>
            </a:avLst>
          </a:prstGeom>
          <a:solidFill>
            <a:srgbClr val="EEF2F6"/>
          </a:solidFill>
          <a:ln w="12700">
            <a:solidFill>
              <a:srgbClr val="EEF2F6"/>
            </a:solidFill>
            <a:prstDash val="solid"/>
          </a:ln>
        </p:spPr>
      </p:sp>
      <p:sp>
        <p:nvSpPr>
          <p:cNvPr id="25" name="Text 23"/>
          <p:cNvSpPr txBox="1"/>
          <p:nvPr/>
        </p:nvSpPr>
        <p:spPr>
          <a:xfrm>
            <a:off x="832104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64</a:t>
            </a:r>
            <a:endParaRPr lang="en-US" sz="1700" dirty="0"/>
          </a:p>
        </p:txBody>
      </p:sp>
      <p:sp>
        <p:nvSpPr>
          <p:cNvPr id="26" name="Text 24"/>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forwards, with a memory</a:t>
            </a:r>
            <a:endParaRPr lang="en-US" sz="1700" dirty="0"/>
          </a:p>
        </p:txBody>
      </p:sp>
      <p:sp>
        <p:nvSpPr>
          <p:cNvPr id="27" name="Text 25"/>
          <p:cNvSpPr txBox="1"/>
          <p:nvPr/>
        </p:nvSpPr>
        <p:spPr>
          <a:xfrm>
            <a:off x="548640" y="3657600"/>
            <a:ext cx="5486400" cy="365760"/>
          </a:xfrm>
          <a:prstGeom prst="rect">
            <a:avLst/>
          </a:prstGeom>
          <a:noFill/>
          <a:ln/>
        </p:spPr>
        <p:txBody>
          <a:bodyPr wrap="square" lIns="0" tIns="0" rIns="0" bIns="0" rtlCol="0" anchor="t"/>
          <a:lstStyle/>
          <a:p>
            <a:pPr indent="0" marL="0">
              <a:buNone/>
            </a:pPr>
            <a:r>
              <a:rPr lang="en-US" sz="1700" b="1" dirty="0">
                <a:solidFill>
                  <a:srgbClr val="F08A24"/>
                </a:solidFill>
                <a:latin typeface="Calibri" pitchFamily="34" charset="0"/>
                <a:ea typeface="Calibri" pitchFamily="34" charset="-122"/>
                <a:cs typeface="Calibri" pitchFamily="34" charset="-120"/>
              </a:rPr>
              <a:t>backwards, a second LSTM</a:t>
            </a:r>
            <a:endParaRPr lang="en-US" sz="1700" dirty="0"/>
          </a:p>
        </p:txBody>
      </p:sp>
      <p:sp>
        <p:nvSpPr>
          <p:cNvPr id="28" name="Shape 26"/>
          <p:cNvSpPr/>
          <p:nvPr/>
        </p:nvSpPr>
        <p:spPr>
          <a:xfrm>
            <a:off x="548640" y="4160520"/>
            <a:ext cx="6583680" cy="1280160"/>
          </a:xfrm>
          <a:prstGeom prst="roundRect">
            <a:avLst>
              <a:gd name="adj" fmla="val 8571"/>
            </a:avLst>
          </a:prstGeom>
          <a:solidFill>
            <a:srgbClr val="EEF2F6"/>
          </a:solidFill>
          <a:ln w="12700">
            <a:solidFill>
              <a:srgbClr val="EEF2F6"/>
            </a:solidFill>
            <a:prstDash val="solid"/>
          </a:ln>
        </p:spPr>
      </p:sp>
      <p:sp>
        <p:nvSpPr>
          <p:cNvPr id="29" name="Text 27"/>
          <p:cNvSpPr txBox="1"/>
          <p:nvPr/>
        </p:nvSpPr>
        <p:spPr>
          <a:xfrm>
            <a:off x="822960" y="4160520"/>
            <a:ext cx="6126480" cy="128016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2 layers, 128 numbers each way</a:t>
            </a:r>
            <a:endParaRPr lang="en-US" sz="2200" dirty="0"/>
          </a:p>
          <a:p>
            <a:pPr indent="0" marL="0">
              <a:buNone/>
            </a:pPr>
            <a:r>
              <a:rPr lang="en-US" sz="2200" b="1" dirty="0">
                <a:solidFill>
                  <a:srgbClr val="5B6B7F"/>
                </a:solidFill>
                <a:latin typeface="Calibri" pitchFamily="34" charset="0"/>
                <a:ea typeface="Calibri" pitchFamily="34" charset="-122"/>
                <a:cs typeface="Calibri" pitchFamily="34" charset="-120"/>
              </a:rPr>
              <a:t>→  64 × 256</a:t>
            </a:r>
            <a:endParaRPr lang="en-US" sz="2200" dirty="0"/>
          </a:p>
        </p:txBody>
      </p:sp>
      <p:sp>
        <p:nvSpPr>
          <p:cNvPr id="30" name="Shape 28"/>
          <p:cNvSpPr/>
          <p:nvPr/>
        </p:nvSpPr>
        <p:spPr>
          <a:xfrm>
            <a:off x="7406640" y="4160520"/>
            <a:ext cx="4233672" cy="1280160"/>
          </a:xfrm>
          <a:prstGeom prst="roundRect">
            <a:avLst>
              <a:gd name="adj" fmla="val 8571"/>
            </a:avLst>
          </a:prstGeom>
          <a:solidFill>
            <a:srgbClr val="0F1B2D"/>
          </a:solidFill>
          <a:ln w="12700">
            <a:solidFill>
              <a:srgbClr val="0F1B2D"/>
            </a:solidFill>
            <a:prstDash val="solid"/>
          </a:ln>
        </p:spPr>
      </p:sp>
      <p:sp>
        <p:nvSpPr>
          <p:cNvPr id="31" name="Text 29"/>
          <p:cNvSpPr txBox="1"/>
          <p:nvPr/>
        </p:nvSpPr>
        <p:spPr>
          <a:xfrm>
            <a:off x="7635240" y="4160520"/>
            <a:ext cx="1828800" cy="1280160"/>
          </a:xfrm>
          <a:prstGeom prst="rect">
            <a:avLst/>
          </a:prstGeom>
          <a:noFill/>
          <a:ln/>
        </p:spPr>
        <p:txBody>
          <a:bodyPr wrap="square" lIns="0" tIns="0" rIns="0" bIns="0" rtlCol="0" anchor="ctr"/>
          <a:lstStyle/>
          <a:p>
            <a:pPr indent="0" marL="0">
              <a:buNone/>
            </a:pPr>
            <a:r>
              <a:rPr lang="en-US" sz="4800" b="1" dirty="0">
                <a:solidFill>
                  <a:srgbClr val="F08A24"/>
                </a:solidFill>
                <a:latin typeface="Calibri" pitchFamily="34" charset="0"/>
                <a:ea typeface="Calibri" pitchFamily="34" charset="-122"/>
                <a:cs typeface="Calibri" pitchFamily="34" charset="-120"/>
              </a:rPr>
              <a:t>83%</a:t>
            </a:r>
            <a:endParaRPr lang="en-US" sz="4800" dirty="0"/>
          </a:p>
        </p:txBody>
      </p:sp>
      <p:sp>
        <p:nvSpPr>
          <p:cNvPr id="32" name="Text 30"/>
          <p:cNvSpPr txBox="1"/>
          <p:nvPr/>
        </p:nvSpPr>
        <p:spPr>
          <a:xfrm>
            <a:off x="9418320" y="4160520"/>
            <a:ext cx="2103120" cy="12801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of the model's numbers are here</a:t>
            </a:r>
            <a:endParaRPr lang="en-US" sz="1800" dirty="0"/>
          </a:p>
        </p:txBody>
      </p:sp>
      <p:sp>
        <p:nvSpPr>
          <p:cNvPr id="33" name="Text 31"/>
          <p:cNvSpPr txBox="1"/>
          <p:nvPr/>
        </p:nvSpPr>
        <p:spPr>
          <a:xfrm>
            <a:off x="548640" y="56692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After this block, every step knows the whole frame.</a:t>
            </a:r>
            <a:endParaRPr lang="en-US" sz="2400" dirty="0"/>
          </a:p>
        </p:txBody>
      </p:sp>
      <p:sp>
        <p:nvSpPr>
          <p:cNvPr id="35" name="Text 3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ATTENTION</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Block 3: a learned weighted average</a:t>
            </a:r>
            <a:endParaRPr lang="en-US" sz="3400" dirty="0"/>
          </a:p>
        </p:txBody>
      </p:sp>
      <p:sp>
        <p:nvSpPr>
          <p:cNvPr id="4" name="Shape 2"/>
          <p:cNvSpPr/>
          <p:nvPr/>
        </p:nvSpPr>
        <p:spPr>
          <a:xfrm>
            <a:off x="685800" y="3337560"/>
            <a:ext cx="237744" cy="228600"/>
          </a:xfrm>
          <a:prstGeom prst="rect">
            <a:avLst/>
          </a:prstGeom>
          <a:solidFill>
            <a:srgbClr val="8FA0B5"/>
          </a:solidFill>
          <a:ln w="12700">
            <a:solidFill>
              <a:srgbClr val="8FA0B5"/>
            </a:solidFill>
            <a:prstDash val="solid"/>
          </a:ln>
        </p:spPr>
      </p:sp>
      <p:sp>
        <p:nvSpPr>
          <p:cNvPr id="5" name="Shape 3"/>
          <p:cNvSpPr/>
          <p:nvPr/>
        </p:nvSpPr>
        <p:spPr>
          <a:xfrm>
            <a:off x="1014984" y="3200400"/>
            <a:ext cx="237744" cy="365760"/>
          </a:xfrm>
          <a:prstGeom prst="rect">
            <a:avLst/>
          </a:prstGeom>
          <a:solidFill>
            <a:srgbClr val="8FA0B5"/>
          </a:solidFill>
          <a:ln w="12700">
            <a:solidFill>
              <a:srgbClr val="8FA0B5"/>
            </a:solidFill>
            <a:prstDash val="solid"/>
          </a:ln>
        </p:spPr>
      </p:sp>
      <p:sp>
        <p:nvSpPr>
          <p:cNvPr id="6" name="Shape 4"/>
          <p:cNvSpPr/>
          <p:nvPr/>
        </p:nvSpPr>
        <p:spPr>
          <a:xfrm>
            <a:off x="1344168" y="3291840"/>
            <a:ext cx="237744" cy="274320"/>
          </a:xfrm>
          <a:prstGeom prst="rect">
            <a:avLst/>
          </a:prstGeom>
          <a:solidFill>
            <a:srgbClr val="8FA0B5"/>
          </a:solidFill>
          <a:ln w="12700">
            <a:solidFill>
              <a:srgbClr val="8FA0B5"/>
            </a:solidFill>
            <a:prstDash val="solid"/>
          </a:ln>
        </p:spPr>
      </p:sp>
      <p:sp>
        <p:nvSpPr>
          <p:cNvPr id="7" name="Shape 5"/>
          <p:cNvSpPr/>
          <p:nvPr/>
        </p:nvSpPr>
        <p:spPr>
          <a:xfrm>
            <a:off x="1673352" y="2743200"/>
            <a:ext cx="237744" cy="822960"/>
          </a:xfrm>
          <a:prstGeom prst="rect">
            <a:avLst/>
          </a:prstGeom>
          <a:solidFill>
            <a:srgbClr val="8FA0B5"/>
          </a:solidFill>
          <a:ln w="12700">
            <a:solidFill>
              <a:srgbClr val="8FA0B5"/>
            </a:solidFill>
            <a:prstDash val="solid"/>
          </a:ln>
        </p:spPr>
      </p:sp>
      <p:sp>
        <p:nvSpPr>
          <p:cNvPr id="8" name="Shape 6"/>
          <p:cNvSpPr/>
          <p:nvPr/>
        </p:nvSpPr>
        <p:spPr>
          <a:xfrm>
            <a:off x="2002536" y="2103120"/>
            <a:ext cx="237744" cy="1463040"/>
          </a:xfrm>
          <a:prstGeom prst="rect">
            <a:avLst/>
          </a:prstGeom>
          <a:solidFill>
            <a:srgbClr val="F08A24"/>
          </a:solidFill>
          <a:ln w="12700">
            <a:solidFill>
              <a:srgbClr val="F08A24"/>
            </a:solidFill>
            <a:prstDash val="solid"/>
          </a:ln>
        </p:spPr>
      </p:sp>
      <p:sp>
        <p:nvSpPr>
          <p:cNvPr id="9" name="Shape 7"/>
          <p:cNvSpPr/>
          <p:nvPr/>
        </p:nvSpPr>
        <p:spPr>
          <a:xfrm>
            <a:off x="2331720" y="2468880"/>
            <a:ext cx="237744" cy="1097280"/>
          </a:xfrm>
          <a:prstGeom prst="rect">
            <a:avLst/>
          </a:prstGeom>
          <a:solidFill>
            <a:srgbClr val="F08A24"/>
          </a:solidFill>
          <a:ln w="12700">
            <a:solidFill>
              <a:srgbClr val="F08A24"/>
            </a:solidFill>
            <a:prstDash val="solid"/>
          </a:ln>
        </p:spPr>
      </p:sp>
      <p:sp>
        <p:nvSpPr>
          <p:cNvPr id="10" name="Shape 8"/>
          <p:cNvSpPr/>
          <p:nvPr/>
        </p:nvSpPr>
        <p:spPr>
          <a:xfrm>
            <a:off x="2660904" y="3108960"/>
            <a:ext cx="237744" cy="457200"/>
          </a:xfrm>
          <a:prstGeom prst="rect">
            <a:avLst/>
          </a:prstGeom>
          <a:solidFill>
            <a:srgbClr val="8FA0B5"/>
          </a:solidFill>
          <a:ln w="12700">
            <a:solidFill>
              <a:srgbClr val="8FA0B5"/>
            </a:solidFill>
            <a:prstDash val="solid"/>
          </a:ln>
        </p:spPr>
      </p:sp>
      <p:sp>
        <p:nvSpPr>
          <p:cNvPr id="11" name="Shape 9"/>
          <p:cNvSpPr/>
          <p:nvPr/>
        </p:nvSpPr>
        <p:spPr>
          <a:xfrm>
            <a:off x="2990088" y="3246120"/>
            <a:ext cx="237744" cy="320040"/>
          </a:xfrm>
          <a:prstGeom prst="rect">
            <a:avLst/>
          </a:prstGeom>
          <a:solidFill>
            <a:srgbClr val="8FA0B5"/>
          </a:solidFill>
          <a:ln w="12700">
            <a:solidFill>
              <a:srgbClr val="8FA0B5"/>
            </a:solidFill>
            <a:prstDash val="solid"/>
          </a:ln>
        </p:spPr>
      </p:sp>
      <p:sp>
        <p:nvSpPr>
          <p:cNvPr id="12" name="Shape 10"/>
          <p:cNvSpPr/>
          <p:nvPr/>
        </p:nvSpPr>
        <p:spPr>
          <a:xfrm>
            <a:off x="3319272" y="3017520"/>
            <a:ext cx="237744" cy="548640"/>
          </a:xfrm>
          <a:prstGeom prst="rect">
            <a:avLst/>
          </a:prstGeom>
          <a:solidFill>
            <a:srgbClr val="8FA0B5"/>
          </a:solidFill>
          <a:ln w="12700">
            <a:solidFill>
              <a:srgbClr val="8FA0B5"/>
            </a:solidFill>
            <a:prstDash val="solid"/>
          </a:ln>
        </p:spPr>
      </p:sp>
      <p:sp>
        <p:nvSpPr>
          <p:cNvPr id="13" name="Shape 11"/>
          <p:cNvSpPr/>
          <p:nvPr/>
        </p:nvSpPr>
        <p:spPr>
          <a:xfrm>
            <a:off x="3648456" y="2286000"/>
            <a:ext cx="237744" cy="1280160"/>
          </a:xfrm>
          <a:prstGeom prst="rect">
            <a:avLst/>
          </a:prstGeom>
          <a:solidFill>
            <a:srgbClr val="F08A24"/>
          </a:solidFill>
          <a:ln w="12700">
            <a:solidFill>
              <a:srgbClr val="F08A24"/>
            </a:solidFill>
            <a:prstDash val="solid"/>
          </a:ln>
        </p:spPr>
      </p:sp>
      <p:sp>
        <p:nvSpPr>
          <p:cNvPr id="14" name="Shape 12"/>
          <p:cNvSpPr/>
          <p:nvPr/>
        </p:nvSpPr>
        <p:spPr>
          <a:xfrm>
            <a:off x="3977640" y="1920240"/>
            <a:ext cx="237744" cy="1645920"/>
          </a:xfrm>
          <a:prstGeom prst="rect">
            <a:avLst/>
          </a:prstGeom>
          <a:solidFill>
            <a:srgbClr val="F08A24"/>
          </a:solidFill>
          <a:ln w="12700">
            <a:solidFill>
              <a:srgbClr val="F08A24"/>
            </a:solidFill>
            <a:prstDash val="solid"/>
          </a:ln>
        </p:spPr>
      </p:sp>
      <p:sp>
        <p:nvSpPr>
          <p:cNvPr id="15" name="Shape 13"/>
          <p:cNvSpPr/>
          <p:nvPr/>
        </p:nvSpPr>
        <p:spPr>
          <a:xfrm>
            <a:off x="4306824" y="2743200"/>
            <a:ext cx="237744" cy="822960"/>
          </a:xfrm>
          <a:prstGeom prst="rect">
            <a:avLst/>
          </a:prstGeom>
          <a:solidFill>
            <a:srgbClr val="8FA0B5"/>
          </a:solidFill>
          <a:ln w="12700">
            <a:solidFill>
              <a:srgbClr val="8FA0B5"/>
            </a:solidFill>
            <a:prstDash val="solid"/>
          </a:ln>
        </p:spPr>
      </p:sp>
      <p:sp>
        <p:nvSpPr>
          <p:cNvPr id="16" name="Shape 14"/>
          <p:cNvSpPr/>
          <p:nvPr/>
        </p:nvSpPr>
        <p:spPr>
          <a:xfrm>
            <a:off x="4636008" y="3200400"/>
            <a:ext cx="237744" cy="365760"/>
          </a:xfrm>
          <a:prstGeom prst="rect">
            <a:avLst/>
          </a:prstGeom>
          <a:solidFill>
            <a:srgbClr val="8FA0B5"/>
          </a:solidFill>
          <a:ln w="12700">
            <a:solidFill>
              <a:srgbClr val="8FA0B5"/>
            </a:solidFill>
            <a:prstDash val="solid"/>
          </a:ln>
        </p:spPr>
      </p:sp>
      <p:sp>
        <p:nvSpPr>
          <p:cNvPr id="17" name="Shape 15"/>
          <p:cNvSpPr/>
          <p:nvPr/>
        </p:nvSpPr>
        <p:spPr>
          <a:xfrm>
            <a:off x="4965192" y="3291840"/>
            <a:ext cx="237744" cy="274320"/>
          </a:xfrm>
          <a:prstGeom prst="rect">
            <a:avLst/>
          </a:prstGeom>
          <a:solidFill>
            <a:srgbClr val="8FA0B5"/>
          </a:solidFill>
          <a:ln w="12700">
            <a:solidFill>
              <a:srgbClr val="8FA0B5"/>
            </a:solidFill>
            <a:prstDash val="solid"/>
          </a:ln>
        </p:spPr>
      </p:sp>
      <p:sp>
        <p:nvSpPr>
          <p:cNvPr id="18" name="Shape 16"/>
          <p:cNvSpPr/>
          <p:nvPr/>
        </p:nvSpPr>
        <p:spPr>
          <a:xfrm>
            <a:off x="5294376" y="3108960"/>
            <a:ext cx="237744" cy="457200"/>
          </a:xfrm>
          <a:prstGeom prst="rect">
            <a:avLst/>
          </a:prstGeom>
          <a:solidFill>
            <a:srgbClr val="8FA0B5"/>
          </a:solidFill>
          <a:ln w="12700">
            <a:solidFill>
              <a:srgbClr val="8FA0B5"/>
            </a:solidFill>
            <a:prstDash val="solid"/>
          </a:ln>
        </p:spPr>
      </p:sp>
      <p:sp>
        <p:nvSpPr>
          <p:cNvPr id="19" name="Shape 17"/>
          <p:cNvSpPr/>
          <p:nvPr/>
        </p:nvSpPr>
        <p:spPr>
          <a:xfrm>
            <a:off x="5623560" y="2926080"/>
            <a:ext cx="237744" cy="640080"/>
          </a:xfrm>
          <a:prstGeom prst="rect">
            <a:avLst/>
          </a:prstGeom>
          <a:solidFill>
            <a:srgbClr val="8FA0B5"/>
          </a:solidFill>
          <a:ln w="12700">
            <a:solidFill>
              <a:srgbClr val="8FA0B5"/>
            </a:solidFill>
            <a:prstDash val="solid"/>
          </a:ln>
        </p:spPr>
      </p:sp>
      <p:sp>
        <p:nvSpPr>
          <p:cNvPr id="20" name="Text 18"/>
          <p:cNvSpPr txBox="1"/>
          <p:nvPr/>
        </p:nvSpPr>
        <p:spPr>
          <a:xfrm>
            <a:off x="548640" y="3703320"/>
            <a:ext cx="5669280" cy="36576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a weight for each of the 64 steps; they add up to 1</a:t>
            </a:r>
            <a:endParaRPr lang="en-US" sz="1500" dirty="0"/>
          </a:p>
        </p:txBody>
      </p:sp>
      <p:sp>
        <p:nvSpPr>
          <p:cNvPr id="21" name="Text 19"/>
          <p:cNvSpPr txBox="1"/>
          <p:nvPr/>
        </p:nvSpPr>
        <p:spPr>
          <a:xfrm>
            <a:off x="548640" y="4023360"/>
            <a:ext cx="274320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illustration</a:t>
            </a:r>
            <a:endParaRPr lang="en-US" sz="1200" dirty="0"/>
          </a:p>
        </p:txBody>
      </p:sp>
      <p:sp>
        <p:nvSpPr>
          <p:cNvPr id="22" name="Text 20"/>
          <p:cNvSpPr txBox="1"/>
          <p:nvPr/>
        </p:nvSpPr>
        <p:spPr>
          <a:xfrm>
            <a:off x="6172200" y="1508760"/>
            <a:ext cx="5486400" cy="594360"/>
          </a:xfrm>
          <a:prstGeom prst="rect">
            <a:avLst/>
          </a:prstGeom>
          <a:noFill/>
          <a:ln/>
        </p:spPr>
        <p:txBody>
          <a:bodyPr wrap="square" lIns="0" tIns="0" rIns="0" bIns="0" rtlCol="0" anchor="ctr"/>
          <a:lstStyle/>
          <a:p>
            <a:pPr indent="0" marL="0">
              <a:buNone/>
            </a:pPr>
            <a:r>
              <a:rPr lang="en-US" sz="2400" b="1" dirty="0">
                <a:solidFill>
                  <a:srgbClr val="F08A24"/>
                </a:solidFill>
                <a:latin typeface="Cambria" pitchFamily="34" charset="0"/>
                <a:ea typeface="Cambria" pitchFamily="34" charset="-122"/>
                <a:cs typeface="Cambria" pitchFamily="34" charset="-120"/>
              </a:rPr>
              <a:t>score</a:t>
            </a:r>
            <a:pPr indent="0" marL="0">
              <a:buNone/>
            </a:pPr>
            <a:r>
              <a:rPr lang="en-US" sz="2400" dirty="0">
                <a:solidFill>
                  <a:srgbClr val="1E293B"/>
                </a:solidFill>
                <a:latin typeface="Cambria" pitchFamily="34" charset="0"/>
                <a:ea typeface="Cambria" pitchFamily="34" charset="-122"/>
                <a:cs typeface="Cambria" pitchFamily="34" charset="-120"/>
              </a:rPr>
              <a:t> = v · tanh(W₁q + W₂k)</a:t>
            </a:r>
            <a:endParaRPr lang="en-US" sz="2400" dirty="0"/>
          </a:p>
        </p:txBody>
      </p:sp>
      <p:sp>
        <p:nvSpPr>
          <p:cNvPr id="23" name="Text 21"/>
          <p:cNvSpPr txBox="1"/>
          <p:nvPr/>
        </p:nvSpPr>
        <p:spPr>
          <a:xfrm>
            <a:off x="6172200" y="2194560"/>
            <a:ext cx="5486400" cy="594360"/>
          </a:xfrm>
          <a:prstGeom prst="rect">
            <a:avLst/>
          </a:prstGeom>
          <a:noFill/>
          <a:ln/>
        </p:spPr>
        <p:txBody>
          <a:bodyPr wrap="square" lIns="0" tIns="0" rIns="0" bIns="0" rtlCol="0" anchor="ctr"/>
          <a:lstStyle/>
          <a:p>
            <a:pPr indent="0" marL="0">
              <a:buNone/>
            </a:pPr>
            <a:r>
              <a:rPr lang="en-US" sz="2400" b="1" dirty="0">
                <a:solidFill>
                  <a:srgbClr val="F08A24"/>
                </a:solidFill>
                <a:latin typeface="Cambria" pitchFamily="34" charset="0"/>
                <a:ea typeface="Cambria" pitchFamily="34" charset="-122"/>
                <a:cs typeface="Cambria" pitchFamily="34" charset="-120"/>
              </a:rPr>
              <a:t>weights</a:t>
            </a:r>
            <a:pPr indent="0" marL="0">
              <a:buNone/>
            </a:pPr>
            <a:r>
              <a:rPr lang="en-US" sz="2400" dirty="0">
                <a:solidFill>
                  <a:srgbClr val="1E293B"/>
                </a:solidFill>
                <a:latin typeface="Cambria" pitchFamily="34" charset="0"/>
                <a:ea typeface="Cambria" pitchFamily="34" charset="-122"/>
                <a:cs typeface="Cambria" pitchFamily="34" charset="-120"/>
              </a:rPr>
              <a:t> = softmax(score)</a:t>
            </a:r>
            <a:endParaRPr lang="en-US" sz="2400" dirty="0"/>
          </a:p>
        </p:txBody>
      </p:sp>
      <p:sp>
        <p:nvSpPr>
          <p:cNvPr id="24" name="Text 22"/>
          <p:cNvSpPr txBox="1"/>
          <p:nvPr/>
        </p:nvSpPr>
        <p:spPr>
          <a:xfrm>
            <a:off x="6172200" y="2880360"/>
            <a:ext cx="5486400" cy="594360"/>
          </a:xfrm>
          <a:prstGeom prst="rect">
            <a:avLst/>
          </a:prstGeom>
          <a:noFill/>
          <a:ln/>
        </p:spPr>
        <p:txBody>
          <a:bodyPr wrap="square" lIns="0" tIns="0" rIns="0" bIns="0" rtlCol="0" anchor="ctr"/>
          <a:lstStyle/>
          <a:p>
            <a:pPr indent="0" marL="0">
              <a:buNone/>
            </a:pPr>
            <a:r>
              <a:rPr lang="en-US" sz="2400" b="1" dirty="0">
                <a:solidFill>
                  <a:srgbClr val="F08A24"/>
                </a:solidFill>
                <a:latin typeface="Cambria" pitchFamily="34" charset="0"/>
                <a:ea typeface="Cambria" pitchFamily="34" charset="-122"/>
                <a:cs typeface="Cambria" pitchFamily="34" charset="-120"/>
              </a:rPr>
              <a:t>output</a:t>
            </a:r>
            <a:pPr indent="0" marL="0">
              <a:buNone/>
            </a:pPr>
            <a:r>
              <a:rPr lang="en-US" sz="2400" dirty="0">
                <a:solidFill>
                  <a:srgbClr val="1E293B"/>
                </a:solidFill>
                <a:latin typeface="Cambria" pitchFamily="34" charset="0"/>
                <a:ea typeface="Cambria" pitchFamily="34" charset="-122"/>
                <a:cs typeface="Cambria" pitchFamily="34" charset="-120"/>
              </a:rPr>
              <a:t> = Σ weightₜ · stepₜ</a:t>
            </a:r>
            <a:endParaRPr lang="en-US" sz="2400" dirty="0"/>
          </a:p>
        </p:txBody>
      </p:sp>
      <p:sp>
        <p:nvSpPr>
          <p:cNvPr id="25" name="Text 23"/>
          <p:cNvSpPr txBox="1"/>
          <p:nvPr/>
        </p:nvSpPr>
        <p:spPr>
          <a:xfrm>
            <a:off x="6172200" y="3657600"/>
            <a:ext cx="5486400" cy="411480"/>
          </a:xfrm>
          <a:prstGeom prst="rect">
            <a:avLst/>
          </a:prstGeom>
          <a:noFill/>
          <a:ln/>
        </p:spPr>
        <p:txBody>
          <a:bodyPr wrap="square" lIns="0" tIns="0" rIns="0" bIns="0" rtlCol="0" anchor="t"/>
          <a:lstStyle/>
          <a:p>
            <a:pPr indent="0" marL="0">
              <a:buNone/>
            </a:pPr>
            <a:r>
              <a:rPr lang="en-US" sz="1900" b="1" dirty="0">
                <a:solidFill>
                  <a:srgbClr val="1E293B"/>
                </a:solidFill>
                <a:latin typeface="Calibri" pitchFamily="34" charset="0"/>
                <a:ea typeface="Calibri" pitchFamily="34" charset="-122"/>
                <a:cs typeface="Calibri" pitchFamily="34" charset="-120"/>
              </a:rPr>
              <a:t>“Improved” (from their code):</a:t>
            </a:r>
            <a:endParaRPr lang="en-US" sz="1900" dirty="0"/>
          </a:p>
        </p:txBody>
      </p:sp>
      <p:sp>
        <p:nvSpPr>
          <p:cNvPr id="26" name="Text 24"/>
          <p:cNvSpPr txBox="1"/>
          <p:nvPr/>
        </p:nvSpPr>
        <p:spPr>
          <a:xfrm>
            <a:off x="6172200" y="4069080"/>
            <a:ext cx="5486400" cy="822960"/>
          </a:xfrm>
          <a:prstGeom prst="rect">
            <a:avLst/>
          </a:prstGeom>
          <a:noFill/>
          <a:ln/>
        </p:spPr>
        <p:txBody>
          <a:bodyPr wrap="square" lIns="0" tIns="0" rIns="0" bIns="0" rtlCol="0" anchor="t"/>
          <a:lstStyle/>
          <a:p>
            <a:pPr indent="0" marL="0">
              <a:buNone/>
            </a:pPr>
            <a:r>
              <a:rPr lang="en-US" sz="1800" dirty="0">
                <a:solidFill>
                  <a:srgbClr val="5B6B7F"/>
                </a:solidFill>
                <a:latin typeface="Calibri" pitchFamily="34" charset="0"/>
                <a:ea typeface="Calibri" pitchFamily="34" charset="-122"/>
                <a:cs typeface="Calibri" pitchFamily="34" charset="-120"/>
              </a:rPr>
              <a:t>a learned scale on the scores · dropout 0.1 on the weights · normalization of the output</a:t>
            </a:r>
            <a:endParaRPr lang="en-US" sz="1800" dirty="0"/>
          </a:p>
        </p:txBody>
      </p:sp>
      <p:sp>
        <p:nvSpPr>
          <p:cNvPr id="27" name="Text 25"/>
          <p:cNvSpPr txBox="1"/>
          <p:nvPr/>
        </p:nvSpPr>
        <p:spPr>
          <a:xfrm>
            <a:off x="548640" y="52578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64 steps in, one vector of 256 out: the frame's summary.</a:t>
            </a:r>
            <a:endParaRPr lang="en-US" sz="2400" dirty="0"/>
          </a:p>
        </p:txBody>
      </p:sp>
      <p:sp>
        <p:nvSpPr>
          <p:cNvPr id="29" name="Text 26"/>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DENSE</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Block 4: the decision</a:t>
            </a:r>
            <a:endParaRPr lang="en-US" sz="3400" dirty="0"/>
          </a:p>
        </p:txBody>
      </p:sp>
      <p:sp>
        <p:nvSpPr>
          <p:cNvPr id="4" name="Text 2"/>
          <p:cNvSpPr txBox="1"/>
          <p:nvPr/>
        </p:nvSpPr>
        <p:spPr>
          <a:xfrm>
            <a:off x="548640" y="1417320"/>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8PSK</a:t>
            </a:r>
            <a:endParaRPr lang="en-US" sz="1500" dirty="0"/>
          </a:p>
        </p:txBody>
      </p:sp>
      <p:sp>
        <p:nvSpPr>
          <p:cNvPr id="5" name="Shape 3"/>
          <p:cNvSpPr/>
          <p:nvPr/>
        </p:nvSpPr>
        <p:spPr>
          <a:xfrm>
            <a:off x="1783080" y="1472184"/>
            <a:ext cx="146304" cy="201168"/>
          </a:xfrm>
          <a:prstGeom prst="rect">
            <a:avLst/>
          </a:prstGeom>
          <a:solidFill>
            <a:srgbClr val="8FA0B5"/>
          </a:solidFill>
          <a:ln w="12700">
            <a:solidFill>
              <a:srgbClr val="8FA0B5"/>
            </a:solidFill>
            <a:prstDash val="solid"/>
          </a:ln>
        </p:spPr>
      </p:sp>
      <p:sp>
        <p:nvSpPr>
          <p:cNvPr id="6" name="Text 4"/>
          <p:cNvSpPr txBox="1"/>
          <p:nvPr/>
        </p:nvSpPr>
        <p:spPr>
          <a:xfrm>
            <a:off x="548640" y="1755648"/>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AM-DSB</a:t>
            </a:r>
            <a:endParaRPr lang="en-US" sz="1500" dirty="0"/>
          </a:p>
        </p:txBody>
      </p:sp>
      <p:sp>
        <p:nvSpPr>
          <p:cNvPr id="7" name="Shape 5"/>
          <p:cNvSpPr/>
          <p:nvPr/>
        </p:nvSpPr>
        <p:spPr>
          <a:xfrm>
            <a:off x="1783080" y="1810512"/>
            <a:ext cx="73152" cy="201168"/>
          </a:xfrm>
          <a:prstGeom prst="rect">
            <a:avLst/>
          </a:prstGeom>
          <a:solidFill>
            <a:srgbClr val="8FA0B5"/>
          </a:solidFill>
          <a:ln w="12700">
            <a:solidFill>
              <a:srgbClr val="8FA0B5"/>
            </a:solidFill>
            <a:prstDash val="solid"/>
          </a:ln>
        </p:spPr>
      </p:sp>
      <p:sp>
        <p:nvSpPr>
          <p:cNvPr id="8" name="Text 6"/>
          <p:cNvSpPr txBox="1"/>
          <p:nvPr/>
        </p:nvSpPr>
        <p:spPr>
          <a:xfrm>
            <a:off x="548640" y="2093976"/>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AM-SSB</a:t>
            </a:r>
            <a:endParaRPr lang="en-US" sz="1500" dirty="0"/>
          </a:p>
        </p:txBody>
      </p:sp>
      <p:sp>
        <p:nvSpPr>
          <p:cNvPr id="9" name="Shape 7"/>
          <p:cNvSpPr/>
          <p:nvPr/>
        </p:nvSpPr>
        <p:spPr>
          <a:xfrm>
            <a:off x="1783080" y="2148840"/>
            <a:ext cx="109728" cy="201168"/>
          </a:xfrm>
          <a:prstGeom prst="rect">
            <a:avLst/>
          </a:prstGeom>
          <a:solidFill>
            <a:srgbClr val="8FA0B5"/>
          </a:solidFill>
          <a:ln w="12700">
            <a:solidFill>
              <a:srgbClr val="8FA0B5"/>
            </a:solidFill>
            <a:prstDash val="solid"/>
          </a:ln>
        </p:spPr>
      </p:sp>
      <p:sp>
        <p:nvSpPr>
          <p:cNvPr id="10" name="Text 8"/>
          <p:cNvSpPr txBox="1"/>
          <p:nvPr/>
        </p:nvSpPr>
        <p:spPr>
          <a:xfrm>
            <a:off x="548640" y="2432304"/>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BPSK</a:t>
            </a:r>
            <a:endParaRPr lang="en-US" sz="1500" dirty="0"/>
          </a:p>
        </p:txBody>
      </p:sp>
      <p:sp>
        <p:nvSpPr>
          <p:cNvPr id="11" name="Shape 9"/>
          <p:cNvSpPr/>
          <p:nvPr/>
        </p:nvSpPr>
        <p:spPr>
          <a:xfrm>
            <a:off x="1783080" y="2487168"/>
            <a:ext cx="182880" cy="201168"/>
          </a:xfrm>
          <a:prstGeom prst="rect">
            <a:avLst/>
          </a:prstGeom>
          <a:solidFill>
            <a:srgbClr val="8FA0B5"/>
          </a:solidFill>
          <a:ln w="12700">
            <a:solidFill>
              <a:srgbClr val="8FA0B5"/>
            </a:solidFill>
            <a:prstDash val="solid"/>
          </a:ln>
        </p:spPr>
      </p:sp>
      <p:sp>
        <p:nvSpPr>
          <p:cNvPr id="12" name="Text 10"/>
          <p:cNvSpPr txBox="1"/>
          <p:nvPr/>
        </p:nvSpPr>
        <p:spPr>
          <a:xfrm>
            <a:off x="548640" y="2770632"/>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CPFSK</a:t>
            </a:r>
            <a:endParaRPr lang="en-US" sz="1500" dirty="0"/>
          </a:p>
        </p:txBody>
      </p:sp>
      <p:sp>
        <p:nvSpPr>
          <p:cNvPr id="13" name="Shape 11"/>
          <p:cNvSpPr/>
          <p:nvPr/>
        </p:nvSpPr>
        <p:spPr>
          <a:xfrm>
            <a:off x="1783080" y="2825496"/>
            <a:ext cx="73152" cy="201168"/>
          </a:xfrm>
          <a:prstGeom prst="rect">
            <a:avLst/>
          </a:prstGeom>
          <a:solidFill>
            <a:srgbClr val="8FA0B5"/>
          </a:solidFill>
          <a:ln w="12700">
            <a:solidFill>
              <a:srgbClr val="8FA0B5"/>
            </a:solidFill>
            <a:prstDash val="solid"/>
          </a:ln>
        </p:spPr>
      </p:sp>
      <p:sp>
        <p:nvSpPr>
          <p:cNvPr id="14" name="Text 12"/>
          <p:cNvSpPr txBox="1"/>
          <p:nvPr/>
        </p:nvSpPr>
        <p:spPr>
          <a:xfrm>
            <a:off x="548640" y="3108960"/>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GFSK</a:t>
            </a:r>
            <a:endParaRPr lang="en-US" sz="1500" dirty="0"/>
          </a:p>
        </p:txBody>
      </p:sp>
      <p:sp>
        <p:nvSpPr>
          <p:cNvPr id="15" name="Shape 13"/>
          <p:cNvSpPr/>
          <p:nvPr/>
        </p:nvSpPr>
        <p:spPr>
          <a:xfrm>
            <a:off x="1783080" y="3163824"/>
            <a:ext cx="73152" cy="201168"/>
          </a:xfrm>
          <a:prstGeom prst="rect">
            <a:avLst/>
          </a:prstGeom>
          <a:solidFill>
            <a:srgbClr val="8FA0B5"/>
          </a:solidFill>
          <a:ln w="12700">
            <a:solidFill>
              <a:srgbClr val="8FA0B5"/>
            </a:solidFill>
            <a:prstDash val="solid"/>
          </a:ln>
        </p:spPr>
      </p:sp>
      <p:sp>
        <p:nvSpPr>
          <p:cNvPr id="16" name="Text 14"/>
          <p:cNvSpPr txBox="1"/>
          <p:nvPr/>
        </p:nvSpPr>
        <p:spPr>
          <a:xfrm>
            <a:off x="548640" y="3447288"/>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PAM4</a:t>
            </a:r>
            <a:endParaRPr lang="en-US" sz="1500" dirty="0"/>
          </a:p>
        </p:txBody>
      </p:sp>
      <p:sp>
        <p:nvSpPr>
          <p:cNvPr id="17" name="Shape 15"/>
          <p:cNvSpPr/>
          <p:nvPr/>
        </p:nvSpPr>
        <p:spPr>
          <a:xfrm>
            <a:off x="1783080" y="3502152"/>
            <a:ext cx="109728" cy="201168"/>
          </a:xfrm>
          <a:prstGeom prst="rect">
            <a:avLst/>
          </a:prstGeom>
          <a:solidFill>
            <a:srgbClr val="8FA0B5"/>
          </a:solidFill>
          <a:ln w="12700">
            <a:solidFill>
              <a:srgbClr val="8FA0B5"/>
            </a:solidFill>
            <a:prstDash val="solid"/>
          </a:ln>
        </p:spPr>
      </p:sp>
      <p:sp>
        <p:nvSpPr>
          <p:cNvPr id="18" name="Text 16"/>
          <p:cNvSpPr txBox="1"/>
          <p:nvPr/>
        </p:nvSpPr>
        <p:spPr>
          <a:xfrm>
            <a:off x="548640" y="3785616"/>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QAM16</a:t>
            </a:r>
            <a:endParaRPr lang="en-US" sz="1500" dirty="0"/>
          </a:p>
        </p:txBody>
      </p:sp>
      <p:sp>
        <p:nvSpPr>
          <p:cNvPr id="19" name="Shape 17"/>
          <p:cNvSpPr/>
          <p:nvPr/>
        </p:nvSpPr>
        <p:spPr>
          <a:xfrm>
            <a:off x="1783080" y="3840480"/>
            <a:ext cx="329184" cy="201168"/>
          </a:xfrm>
          <a:prstGeom prst="rect">
            <a:avLst/>
          </a:prstGeom>
          <a:solidFill>
            <a:srgbClr val="8FA0B5"/>
          </a:solidFill>
          <a:ln w="12700">
            <a:solidFill>
              <a:srgbClr val="8FA0B5"/>
            </a:solidFill>
            <a:prstDash val="solid"/>
          </a:ln>
        </p:spPr>
      </p:sp>
      <p:sp>
        <p:nvSpPr>
          <p:cNvPr id="20" name="Text 18"/>
          <p:cNvSpPr txBox="1"/>
          <p:nvPr/>
        </p:nvSpPr>
        <p:spPr>
          <a:xfrm>
            <a:off x="548640" y="4123944"/>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QAM64</a:t>
            </a:r>
            <a:endParaRPr lang="en-US" sz="1500" dirty="0"/>
          </a:p>
        </p:txBody>
      </p:sp>
      <p:sp>
        <p:nvSpPr>
          <p:cNvPr id="21" name="Shape 19"/>
          <p:cNvSpPr/>
          <p:nvPr/>
        </p:nvSpPr>
        <p:spPr>
          <a:xfrm>
            <a:off x="1783080" y="4178808"/>
            <a:ext cx="146304" cy="201168"/>
          </a:xfrm>
          <a:prstGeom prst="rect">
            <a:avLst/>
          </a:prstGeom>
          <a:solidFill>
            <a:srgbClr val="8FA0B5"/>
          </a:solidFill>
          <a:ln w="12700">
            <a:solidFill>
              <a:srgbClr val="8FA0B5"/>
            </a:solidFill>
            <a:prstDash val="solid"/>
          </a:ln>
        </p:spPr>
      </p:sp>
      <p:sp>
        <p:nvSpPr>
          <p:cNvPr id="22" name="Text 20"/>
          <p:cNvSpPr txBox="1"/>
          <p:nvPr/>
        </p:nvSpPr>
        <p:spPr>
          <a:xfrm>
            <a:off x="548640" y="4462272"/>
            <a:ext cx="1188720" cy="301752"/>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QPSK</a:t>
            </a:r>
            <a:endParaRPr lang="en-US" sz="1500" dirty="0"/>
          </a:p>
        </p:txBody>
      </p:sp>
      <p:sp>
        <p:nvSpPr>
          <p:cNvPr id="23" name="Shape 21"/>
          <p:cNvSpPr/>
          <p:nvPr/>
        </p:nvSpPr>
        <p:spPr>
          <a:xfrm>
            <a:off x="1783080" y="4517136"/>
            <a:ext cx="2670048" cy="201168"/>
          </a:xfrm>
          <a:prstGeom prst="rect">
            <a:avLst/>
          </a:prstGeom>
          <a:solidFill>
            <a:srgbClr val="F08A24"/>
          </a:solidFill>
          <a:ln w="12700">
            <a:solidFill>
              <a:srgbClr val="F08A24"/>
            </a:solidFill>
            <a:prstDash val="solid"/>
          </a:ln>
        </p:spPr>
      </p:sp>
      <p:sp>
        <p:nvSpPr>
          <p:cNvPr id="24" name="Text 22"/>
          <p:cNvSpPr txBox="1"/>
          <p:nvPr/>
        </p:nvSpPr>
        <p:spPr>
          <a:xfrm>
            <a:off x="548640" y="4800600"/>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WBFM</a:t>
            </a:r>
            <a:endParaRPr lang="en-US" sz="1500" dirty="0"/>
          </a:p>
        </p:txBody>
      </p:sp>
      <p:sp>
        <p:nvSpPr>
          <p:cNvPr id="25" name="Shape 23"/>
          <p:cNvSpPr/>
          <p:nvPr/>
        </p:nvSpPr>
        <p:spPr>
          <a:xfrm>
            <a:off x="1783080" y="4855464"/>
            <a:ext cx="146304" cy="201168"/>
          </a:xfrm>
          <a:prstGeom prst="rect">
            <a:avLst/>
          </a:prstGeom>
          <a:solidFill>
            <a:srgbClr val="8FA0B5"/>
          </a:solidFill>
          <a:ln w="12700">
            <a:solidFill>
              <a:srgbClr val="8FA0B5"/>
            </a:solidFill>
            <a:prstDash val="solid"/>
          </a:ln>
        </p:spPr>
      </p:sp>
      <p:sp>
        <p:nvSpPr>
          <p:cNvPr id="26" name="Text 24"/>
          <p:cNvSpPr txBox="1"/>
          <p:nvPr/>
        </p:nvSpPr>
        <p:spPr>
          <a:xfrm>
            <a:off x="548640" y="5166360"/>
            <a:ext cx="5760720" cy="36576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256 → 128 → 64 → 11 probabilities; the largest wins (illustration)</a:t>
            </a:r>
            <a:endParaRPr lang="en-US" sz="1500" dirty="0"/>
          </a:p>
        </p:txBody>
      </p:sp>
      <p:graphicFrame>
        <p:nvGraphicFramePr>
          <p:cNvPr id="27" name="Chart 0" descr=""/>
          <p:cNvGraphicFramePr/>
          <p:nvPr/>
        </p:nvGraphicFramePr>
        <p:xfrm>
          <a:off x="6309360" y="1280160"/>
          <a:ext cx="3108960" cy="3291840"/>
        </p:xfrm>
        <a:graphic xmlns:a="http://schemas.openxmlformats.org/drawingml/2006/main">
          <a:graphicData uri="http://schemas.openxmlformats.org/drawingml/2006/chart">
            <c:chart xmlns:c="http://schemas.openxmlformats.org/drawingml/2006/chart" r:id="rId1"/>
          </a:graphicData>
        </a:graphic>
      </p:graphicFrame>
      <p:sp>
        <p:nvSpPr>
          <p:cNvPr id="28" name="Shape 25"/>
          <p:cNvSpPr/>
          <p:nvPr/>
        </p:nvSpPr>
        <p:spPr>
          <a:xfrm>
            <a:off x="9555480" y="1847088"/>
            <a:ext cx="274320" cy="274320"/>
          </a:xfrm>
          <a:prstGeom prst="rect">
            <a:avLst/>
          </a:prstGeom>
          <a:solidFill>
            <a:srgbClr val="F08A24"/>
          </a:solidFill>
          <a:ln w="12700">
            <a:solidFill>
              <a:srgbClr val="F08A24"/>
            </a:solidFill>
            <a:prstDash val="solid"/>
          </a:ln>
        </p:spPr>
      </p:sp>
      <p:sp>
        <p:nvSpPr>
          <p:cNvPr id="29" name="Text 26"/>
          <p:cNvSpPr txBox="1"/>
          <p:nvPr/>
        </p:nvSpPr>
        <p:spPr>
          <a:xfrm>
            <a:off x="9966960" y="1737360"/>
            <a:ext cx="1828800" cy="502920"/>
          </a:xfrm>
          <a:prstGeom prst="rect">
            <a:avLst/>
          </a:prstGeom>
          <a:noFill/>
          <a:ln/>
        </p:spPr>
        <p:txBody>
          <a:bodyPr wrap="square" lIns="0" tIns="0" rIns="0" bIns="0"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BiLSTM  83%</a:t>
            </a:r>
            <a:endParaRPr lang="en-US" sz="1900" dirty="0"/>
          </a:p>
        </p:txBody>
      </p:sp>
      <p:sp>
        <p:nvSpPr>
          <p:cNvPr id="30" name="Shape 27"/>
          <p:cNvSpPr/>
          <p:nvPr/>
        </p:nvSpPr>
        <p:spPr>
          <a:xfrm>
            <a:off x="9555480" y="2414016"/>
            <a:ext cx="274320" cy="274320"/>
          </a:xfrm>
          <a:prstGeom prst="rect">
            <a:avLst/>
          </a:prstGeom>
          <a:solidFill>
            <a:srgbClr val="0F1B2D"/>
          </a:solidFill>
          <a:ln w="12700">
            <a:solidFill>
              <a:srgbClr val="0F1B2D"/>
            </a:solidFill>
            <a:prstDash val="solid"/>
          </a:ln>
        </p:spPr>
      </p:sp>
      <p:sp>
        <p:nvSpPr>
          <p:cNvPr id="31" name="Text 28"/>
          <p:cNvSpPr txBox="1"/>
          <p:nvPr/>
        </p:nvSpPr>
        <p:spPr>
          <a:xfrm>
            <a:off x="9966960" y="2304288"/>
            <a:ext cx="1828800" cy="502920"/>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Attention  8%</a:t>
            </a:r>
            <a:endParaRPr lang="en-US" sz="1900" dirty="0"/>
          </a:p>
        </p:txBody>
      </p:sp>
      <p:sp>
        <p:nvSpPr>
          <p:cNvPr id="32" name="Shape 29"/>
          <p:cNvSpPr/>
          <p:nvPr/>
        </p:nvSpPr>
        <p:spPr>
          <a:xfrm>
            <a:off x="9555480" y="2980944"/>
            <a:ext cx="274320" cy="274320"/>
          </a:xfrm>
          <a:prstGeom prst="rect">
            <a:avLst/>
          </a:prstGeom>
          <a:solidFill>
            <a:srgbClr val="8FA0B5"/>
          </a:solidFill>
          <a:ln w="12700">
            <a:solidFill>
              <a:srgbClr val="8FA0B5"/>
            </a:solidFill>
            <a:prstDash val="solid"/>
          </a:ln>
        </p:spPr>
      </p:sp>
      <p:sp>
        <p:nvSpPr>
          <p:cNvPr id="33" name="Text 30"/>
          <p:cNvSpPr txBox="1"/>
          <p:nvPr/>
        </p:nvSpPr>
        <p:spPr>
          <a:xfrm>
            <a:off x="9966960" y="2871216"/>
            <a:ext cx="1828800" cy="502920"/>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Dense  5%</a:t>
            </a:r>
            <a:endParaRPr lang="en-US" sz="1900" dirty="0"/>
          </a:p>
        </p:txBody>
      </p:sp>
      <p:sp>
        <p:nvSpPr>
          <p:cNvPr id="34" name="Shape 31"/>
          <p:cNvSpPr/>
          <p:nvPr/>
        </p:nvSpPr>
        <p:spPr>
          <a:xfrm>
            <a:off x="9555480" y="3547872"/>
            <a:ext cx="274320" cy="274320"/>
          </a:xfrm>
          <a:prstGeom prst="rect">
            <a:avLst/>
          </a:prstGeom>
          <a:solidFill>
            <a:srgbClr val="B7C3D0"/>
          </a:solidFill>
          <a:ln w="12700">
            <a:solidFill>
              <a:srgbClr val="B7C3D0"/>
            </a:solidFill>
            <a:prstDash val="solid"/>
          </a:ln>
        </p:spPr>
      </p:sp>
      <p:sp>
        <p:nvSpPr>
          <p:cNvPr id="35" name="Text 32"/>
          <p:cNvSpPr txBox="1"/>
          <p:nvPr/>
        </p:nvSpPr>
        <p:spPr>
          <a:xfrm>
            <a:off x="9966960" y="3438144"/>
            <a:ext cx="1828800" cy="502920"/>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CNN  3%</a:t>
            </a:r>
            <a:endParaRPr lang="en-US" sz="1900" dirty="0"/>
          </a:p>
        </p:txBody>
      </p:sp>
      <p:sp>
        <p:nvSpPr>
          <p:cNvPr id="36" name="Text 33"/>
          <p:cNvSpPr txBox="1"/>
          <p:nvPr/>
        </p:nvSpPr>
        <p:spPr>
          <a:xfrm>
            <a:off x="6309360" y="4663440"/>
            <a:ext cx="5486400" cy="457200"/>
          </a:xfrm>
          <a:prstGeom prst="rect">
            <a:avLst/>
          </a:prstGeom>
          <a:noFill/>
          <a:ln/>
        </p:spPr>
        <p:txBody>
          <a:bodyPr wrap="square" lIns="0" tIns="0" rIns="0" bIns="0" rtlCol="0" anchor="t"/>
          <a:lstStyle/>
          <a:p>
            <a:pPr indent="0" marL="0">
              <a:buNone/>
            </a:pPr>
            <a:r>
              <a:rPr lang="en-US" sz="2000" b="1" dirty="0">
                <a:solidFill>
                  <a:srgbClr val="1E293B"/>
                </a:solidFill>
                <a:latin typeface="Calibri" pitchFamily="34" charset="0"/>
                <a:ea typeface="Calibri" pitchFamily="34" charset="-122"/>
                <a:cs typeface="Calibri" pitchFamily="34" charset="-120"/>
              </a:rPr>
              <a:t>794,188 numbers in total</a:t>
            </a:r>
            <a:endParaRPr lang="en-US" sz="2000" dirty="0"/>
          </a:p>
        </p:txBody>
      </p:sp>
      <p:sp>
        <p:nvSpPr>
          <p:cNvPr id="37" name="Text 34"/>
          <p:cNvSpPr txBox="1"/>
          <p:nvPr/>
        </p:nvSpPr>
        <p:spPr>
          <a:xfrm>
            <a:off x="548640" y="562356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Most of the model is the LSTM.</a:t>
            </a:r>
            <a:endParaRPr lang="en-US" sz="2400" dirty="0"/>
          </a:p>
        </p:txBody>
      </p:sp>
      <p:sp>
        <p:nvSpPr>
          <p:cNvPr id="39" name="Text 35"/>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TABLE 2 AND THEIR CODE</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How it is trained</a:t>
            </a:r>
            <a:endParaRPr lang="en-US" sz="3400" dirty="0"/>
          </a:p>
        </p:txBody>
      </p:sp>
      <p:sp>
        <p:nvSpPr>
          <p:cNvPr id="4" name="Shape 2"/>
          <p:cNvSpPr/>
          <p:nvPr/>
        </p:nvSpPr>
        <p:spPr>
          <a:xfrm>
            <a:off x="548640" y="1463040"/>
            <a:ext cx="3520440" cy="3566160"/>
          </a:xfrm>
          <a:prstGeom prst="roundRect">
            <a:avLst>
              <a:gd name="adj" fmla="val 3117"/>
            </a:avLst>
          </a:prstGeom>
          <a:solidFill>
            <a:srgbClr val="EEF2F6"/>
          </a:solidFill>
          <a:ln w="12700">
            <a:solidFill>
              <a:srgbClr val="EEF2F6"/>
            </a:solidFill>
            <a:prstDash val="solid"/>
          </a:ln>
        </p:spPr>
      </p:sp>
      <p:sp>
        <p:nvSpPr>
          <p:cNvPr id="5" name="Text 3"/>
          <p:cNvSpPr txBox="1"/>
          <p:nvPr/>
        </p:nvSpPr>
        <p:spPr>
          <a:xfrm>
            <a:off x="822960" y="1600200"/>
            <a:ext cx="3017520" cy="411480"/>
          </a:xfrm>
          <a:prstGeom prst="rect">
            <a:avLst/>
          </a:prstGeom>
          <a:noFill/>
          <a:ln/>
        </p:spPr>
        <p:txBody>
          <a:bodyPr wrap="square" lIns="0" tIns="0" rIns="0" bIns="0" rtlCol="0" anchor="t"/>
          <a:lstStyle/>
          <a:p>
            <a:pPr indent="0" marL="0">
              <a:buNone/>
            </a:pPr>
            <a:r>
              <a:rPr lang="en-US" sz="1600" b="1" spc="200" kern="0" dirty="0">
                <a:solidFill>
                  <a:srgbClr val="F08A24"/>
                </a:solidFill>
                <a:latin typeface="Calibri" pitchFamily="34" charset="0"/>
                <a:ea typeface="Calibri" pitchFamily="34" charset="-122"/>
                <a:cs typeface="Calibri" pitchFamily="34" charset="-120"/>
              </a:rPr>
              <a:t>DATA</a:t>
            </a:r>
            <a:endParaRPr lang="en-US" sz="1600" dirty="0"/>
          </a:p>
        </p:txBody>
      </p:sp>
      <p:sp>
        <p:nvSpPr>
          <p:cNvPr id="6" name="Text 4"/>
          <p:cNvSpPr txBox="1"/>
          <p:nvPr/>
        </p:nvSpPr>
        <p:spPr>
          <a:xfrm>
            <a:off x="822960" y="2148840"/>
            <a:ext cx="3063240" cy="2743200"/>
          </a:xfrm>
          <a:prstGeom prst="rect">
            <a:avLst/>
          </a:prstGeom>
          <a:noFill/>
          <a:ln/>
        </p:spPr>
        <p:txBody>
          <a:bodyPr wrap="square" lIns="0" tIns="0" rIns="0" bIns="0" rtlCol="0" anchor="t"/>
          <a:lstStyle/>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70% learn: 154,000 frames</a:t>
            </a:r>
            <a:endParaRPr lang="en-US" sz="2000" dirty="0"/>
          </a:p>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15% watch: 33,000</a:t>
            </a:r>
            <a:endParaRPr lang="en-US" sz="2000" dirty="0"/>
          </a:p>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15% test: 33,000</a:t>
            </a:r>
            <a:endParaRPr lang="en-US" sz="2000" dirty="0"/>
          </a:p>
        </p:txBody>
      </p:sp>
      <p:sp>
        <p:nvSpPr>
          <p:cNvPr id="7" name="Shape 5"/>
          <p:cNvSpPr/>
          <p:nvPr/>
        </p:nvSpPr>
        <p:spPr>
          <a:xfrm>
            <a:off x="4343400" y="1463040"/>
            <a:ext cx="3520440" cy="3566160"/>
          </a:xfrm>
          <a:prstGeom prst="roundRect">
            <a:avLst>
              <a:gd name="adj" fmla="val 3117"/>
            </a:avLst>
          </a:prstGeom>
          <a:solidFill>
            <a:srgbClr val="EEF2F6"/>
          </a:solidFill>
          <a:ln w="12700">
            <a:solidFill>
              <a:srgbClr val="EEF2F6"/>
            </a:solidFill>
            <a:prstDash val="solid"/>
          </a:ln>
        </p:spPr>
      </p:sp>
      <p:sp>
        <p:nvSpPr>
          <p:cNvPr id="8" name="Text 6"/>
          <p:cNvSpPr txBox="1"/>
          <p:nvPr/>
        </p:nvSpPr>
        <p:spPr>
          <a:xfrm>
            <a:off x="4617720" y="1600200"/>
            <a:ext cx="3017520" cy="411480"/>
          </a:xfrm>
          <a:prstGeom prst="rect">
            <a:avLst/>
          </a:prstGeom>
          <a:noFill/>
          <a:ln/>
        </p:spPr>
        <p:txBody>
          <a:bodyPr wrap="square" lIns="0" tIns="0" rIns="0" bIns="0" rtlCol="0" anchor="t"/>
          <a:lstStyle/>
          <a:p>
            <a:pPr indent="0" marL="0">
              <a:buNone/>
            </a:pPr>
            <a:r>
              <a:rPr lang="en-US" sz="1600" b="1" spc="200" kern="0" dirty="0">
                <a:solidFill>
                  <a:srgbClr val="F08A24"/>
                </a:solidFill>
                <a:latin typeface="Calibri" pitchFamily="34" charset="0"/>
                <a:ea typeface="Calibri" pitchFamily="34" charset="-122"/>
                <a:cs typeface="Calibri" pitchFamily="34" charset="-120"/>
              </a:rPr>
              <a:t>LOOP</a:t>
            </a:r>
            <a:endParaRPr lang="en-US" sz="1600" dirty="0"/>
          </a:p>
        </p:txBody>
      </p:sp>
      <p:sp>
        <p:nvSpPr>
          <p:cNvPr id="9" name="Text 7"/>
          <p:cNvSpPr txBox="1"/>
          <p:nvPr/>
        </p:nvSpPr>
        <p:spPr>
          <a:xfrm>
            <a:off x="4617720" y="2148840"/>
            <a:ext cx="3063240" cy="2743200"/>
          </a:xfrm>
          <a:prstGeom prst="rect">
            <a:avLst/>
          </a:prstGeom>
          <a:noFill/>
          <a:ln/>
        </p:spPr>
        <p:txBody>
          <a:bodyPr wrap="square" lIns="0" tIns="0" rIns="0" bIns="0" rtlCol="0" anchor="t"/>
          <a:lstStyle/>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batches of 32 frames</a:t>
            </a:r>
            <a:endParaRPr lang="en-US" sz="2000" dirty="0"/>
          </a:p>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4,813 steps per epoch</a:t>
            </a:r>
            <a:endParaRPr lang="en-US" sz="2000" dirty="0"/>
          </a:p>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loss: cross-entropy</a:t>
            </a:r>
            <a:endParaRPr lang="en-US" sz="2000" dirty="0"/>
          </a:p>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Adam, learning rate 0.001</a:t>
            </a:r>
            <a:endParaRPr lang="en-US" sz="2000" dirty="0"/>
          </a:p>
        </p:txBody>
      </p:sp>
      <p:sp>
        <p:nvSpPr>
          <p:cNvPr id="10" name="Shape 8"/>
          <p:cNvSpPr/>
          <p:nvPr/>
        </p:nvSpPr>
        <p:spPr>
          <a:xfrm>
            <a:off x="8138160" y="1463040"/>
            <a:ext cx="3502152" cy="3566160"/>
          </a:xfrm>
          <a:prstGeom prst="roundRect">
            <a:avLst>
              <a:gd name="adj" fmla="val 3133"/>
            </a:avLst>
          </a:prstGeom>
          <a:solidFill>
            <a:srgbClr val="0F1B2D"/>
          </a:solidFill>
          <a:ln w="12700">
            <a:solidFill>
              <a:srgbClr val="0F1B2D"/>
            </a:solidFill>
            <a:prstDash val="solid"/>
          </a:ln>
        </p:spPr>
      </p:sp>
      <p:sp>
        <p:nvSpPr>
          <p:cNvPr id="11" name="Text 9"/>
          <p:cNvSpPr txBox="1"/>
          <p:nvPr/>
        </p:nvSpPr>
        <p:spPr>
          <a:xfrm>
            <a:off x="8412480" y="1600200"/>
            <a:ext cx="2743200" cy="411480"/>
          </a:xfrm>
          <a:prstGeom prst="rect">
            <a:avLst/>
          </a:prstGeom>
          <a:noFill/>
          <a:ln/>
        </p:spPr>
        <p:txBody>
          <a:bodyPr wrap="square" lIns="0" tIns="0" rIns="0" bIns="0" rtlCol="0" anchor="t"/>
          <a:lstStyle/>
          <a:p>
            <a:pPr indent="0" marL="0">
              <a:buNone/>
            </a:pPr>
            <a:r>
              <a:rPr lang="en-US" sz="1600" b="1" spc="200" kern="0" dirty="0">
                <a:solidFill>
                  <a:srgbClr val="F08A24"/>
                </a:solidFill>
                <a:latin typeface="Calibri" pitchFamily="34" charset="0"/>
                <a:ea typeface="Calibri" pitchFamily="34" charset="-122"/>
                <a:cs typeface="Calibri" pitchFamily="34" charset="-120"/>
              </a:rPr>
              <a:t>STOPPING</a:t>
            </a:r>
            <a:endParaRPr lang="en-US" sz="1600" dirty="0"/>
          </a:p>
        </p:txBody>
      </p:sp>
      <p:sp>
        <p:nvSpPr>
          <p:cNvPr id="12" name="Text 10"/>
          <p:cNvSpPr txBox="1"/>
          <p:nvPr/>
        </p:nvSpPr>
        <p:spPr>
          <a:xfrm>
            <a:off x="8412480" y="2103120"/>
            <a:ext cx="3291840" cy="1463040"/>
          </a:xfrm>
          <a:prstGeom prst="rect">
            <a:avLst/>
          </a:prstGeom>
          <a:noFill/>
          <a:ln/>
        </p:spPr>
        <p:txBody>
          <a:bodyPr wrap="square" lIns="0" tIns="0" rIns="0" bIns="0" rtlCol="0" anchor="t"/>
          <a:lstStyle/>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loss flat 5 epochs: rate × 0.2</a:t>
            </a:r>
            <a:endParaRPr lang="en-US" sz="1800" dirty="0"/>
          </a:p>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loss flat 6 epochs: stop</a:t>
            </a:r>
            <a:endParaRPr lang="en-US" sz="1800" dirty="0"/>
          </a:p>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at most 100 epochs</a:t>
            </a:r>
            <a:endParaRPr lang="en-US" sz="1800" dirty="0"/>
          </a:p>
        </p:txBody>
      </p:sp>
      <p:sp>
        <p:nvSpPr>
          <p:cNvPr id="13" name="Text 11"/>
          <p:cNvSpPr txBox="1"/>
          <p:nvPr/>
        </p:nvSpPr>
        <p:spPr>
          <a:xfrm>
            <a:off x="8412480" y="3520440"/>
            <a:ext cx="1463040" cy="914400"/>
          </a:xfrm>
          <a:prstGeom prst="rect">
            <a:avLst/>
          </a:prstGeom>
          <a:noFill/>
          <a:ln/>
        </p:spPr>
        <p:txBody>
          <a:bodyPr wrap="square" lIns="0" tIns="0" rIns="0" bIns="0" rtlCol="0" anchor="ctr"/>
          <a:lstStyle/>
          <a:p>
            <a:pPr indent="0" marL="0">
              <a:buNone/>
            </a:pPr>
            <a:r>
              <a:rPr lang="en-US" sz="5400" b="1" dirty="0">
                <a:solidFill>
                  <a:srgbClr val="F08A24"/>
                </a:solidFill>
                <a:latin typeface="Calibri" pitchFamily="34" charset="0"/>
                <a:ea typeface="Calibri" pitchFamily="34" charset="-122"/>
                <a:cs typeface="Calibri" pitchFamily="34" charset="-120"/>
              </a:rPr>
              <a:t>58</a:t>
            </a:r>
            <a:endParaRPr lang="en-US" sz="5400" dirty="0"/>
          </a:p>
        </p:txBody>
      </p:sp>
      <p:sp>
        <p:nvSpPr>
          <p:cNvPr id="14" name="Text 12"/>
          <p:cNvSpPr txBox="1"/>
          <p:nvPr/>
        </p:nvSpPr>
        <p:spPr>
          <a:xfrm>
            <a:off x="9875520" y="3520440"/>
            <a:ext cx="1828800" cy="914400"/>
          </a:xfrm>
          <a:prstGeom prst="rect">
            <a:avLst/>
          </a:prstGeom>
          <a:noFill/>
          <a:ln/>
        </p:spPr>
        <p:txBody>
          <a:bodyPr wrap="square" lIns="0" tIns="0" rIns="0" bIns="0" rtlCol="0" anchor="ctr"/>
          <a:lstStyle/>
          <a:p>
            <a:pPr indent="0" marL="0">
              <a:buNone/>
            </a:pPr>
            <a:r>
              <a:rPr lang="en-US" sz="1800" dirty="0">
                <a:solidFill>
                  <a:srgbClr val="C9D3E0"/>
                </a:solidFill>
                <a:latin typeface="Calibri" pitchFamily="34" charset="0"/>
                <a:ea typeface="Calibri" pitchFamily="34" charset="-122"/>
                <a:cs typeface="Calibri" pitchFamily="34" charset="-120"/>
              </a:rPr>
              <a:t>where it stopped</a:t>
            </a:r>
            <a:endParaRPr lang="en-US" sz="1800" dirty="0"/>
          </a:p>
        </p:txBody>
      </p:sp>
      <p:sp>
        <p:nvSpPr>
          <p:cNvPr id="15" name="Text 13"/>
          <p:cNvSpPr txBox="1"/>
          <p:nvPr/>
        </p:nvSpPr>
        <p:spPr>
          <a:xfrm>
            <a:off x="548640" y="534924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Trained once: one split, one run.</a:t>
            </a:r>
            <a:endParaRPr lang="en-US" sz="2400" dirty="0"/>
          </a:p>
        </p:txBody>
      </p:sp>
      <p:sp>
        <p:nvSpPr>
          <p:cNvPr id="17" name="Text 14"/>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PART 2  ·  THEIR CODE</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What their code tells us</a:t>
            </a:r>
            <a:endParaRPr lang="en-US" sz="3400" dirty="0"/>
          </a:p>
        </p:txBody>
      </p:sp>
      <p:sp>
        <p:nvSpPr>
          <p:cNvPr id="4" name="Shape 2"/>
          <p:cNvSpPr/>
          <p:nvPr/>
        </p:nvSpPr>
        <p:spPr>
          <a:xfrm>
            <a:off x="548640" y="1600200"/>
            <a:ext cx="640080" cy="640080"/>
          </a:xfrm>
          <a:prstGeom prst="ellipse">
            <a:avLst/>
          </a:prstGeom>
          <a:solidFill>
            <a:srgbClr val="0F1B2D"/>
          </a:solidFill>
          <a:ln w="12700">
            <a:solidFill>
              <a:srgbClr val="0F1B2D"/>
            </a:solidFill>
            <a:prstDash val="solid"/>
          </a:ln>
        </p:spPr>
      </p:sp>
      <p:sp>
        <p:nvSpPr>
          <p:cNvPr id="5" name="Text 3"/>
          <p:cNvSpPr txBox="1"/>
          <p:nvPr/>
        </p:nvSpPr>
        <p:spPr>
          <a:xfrm>
            <a:off x="548640" y="1600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1463040" y="1463040"/>
            <a:ext cx="10177272"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 model is the one in the paper</a:t>
            </a:r>
            <a:endParaRPr lang="en-US" sz="2600" dirty="0"/>
          </a:p>
        </p:txBody>
      </p:sp>
      <p:sp>
        <p:nvSpPr>
          <p:cNvPr id="7" name="Text 5"/>
          <p:cNvSpPr txBox="1"/>
          <p:nvPr/>
        </p:nvSpPr>
        <p:spPr>
          <a:xfrm>
            <a:off x="1463040" y="2011680"/>
            <a:ext cx="10177272" cy="50292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same layers, 794,188 numbers (paper: 0.79 M)</a:t>
            </a:r>
            <a:endParaRPr lang="en-US" sz="2000" dirty="0"/>
          </a:p>
        </p:txBody>
      </p:sp>
      <p:sp>
        <p:nvSpPr>
          <p:cNvPr id="8" name="Shape 6"/>
          <p:cNvSpPr/>
          <p:nvPr/>
        </p:nvSpPr>
        <p:spPr>
          <a:xfrm>
            <a:off x="548640" y="2880360"/>
            <a:ext cx="640080" cy="640080"/>
          </a:xfrm>
          <a:prstGeom prst="ellipse">
            <a:avLst/>
          </a:prstGeom>
          <a:solidFill>
            <a:srgbClr val="F08A24"/>
          </a:solidFill>
          <a:ln w="12700">
            <a:solidFill>
              <a:srgbClr val="F08A24"/>
            </a:solidFill>
            <a:prstDash val="solid"/>
          </a:ln>
        </p:spPr>
      </p:sp>
      <p:sp>
        <p:nvSpPr>
          <p:cNvPr id="9" name="Text 7"/>
          <p:cNvSpPr txBox="1"/>
          <p:nvPr/>
        </p:nvSpPr>
        <p:spPr>
          <a:xfrm>
            <a:off x="548640" y="2880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1463040" y="2743200"/>
            <a:ext cx="10177272"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“58 epochs” was not a choice</a:t>
            </a:r>
            <a:endParaRPr lang="en-US" sz="2600" dirty="0"/>
          </a:p>
        </p:txBody>
      </p:sp>
      <p:sp>
        <p:nvSpPr>
          <p:cNvPr id="11" name="Text 9"/>
          <p:cNvSpPr txBox="1"/>
          <p:nvPr/>
        </p:nvSpPr>
        <p:spPr>
          <a:xfrm>
            <a:off x="1463040" y="3291840"/>
            <a:ext cx="10177272" cy="50292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training stops by itself when it stops improving; for them, at 58</a:t>
            </a:r>
            <a:endParaRPr lang="en-US" sz="2000" dirty="0"/>
          </a:p>
        </p:txBody>
      </p:sp>
      <p:sp>
        <p:nvSpPr>
          <p:cNvPr id="12" name="Shape 10"/>
          <p:cNvSpPr/>
          <p:nvPr/>
        </p:nvSpPr>
        <p:spPr>
          <a:xfrm>
            <a:off x="548640" y="4160520"/>
            <a:ext cx="640080" cy="640080"/>
          </a:xfrm>
          <a:prstGeom prst="ellipse">
            <a:avLst/>
          </a:prstGeom>
          <a:solidFill>
            <a:srgbClr val="0F1B2D"/>
          </a:solidFill>
          <a:ln w="12700">
            <a:solidFill>
              <a:srgbClr val="0F1B2D"/>
            </a:solidFill>
            <a:prstDash val="solid"/>
          </a:ln>
        </p:spPr>
      </p:sp>
      <p:sp>
        <p:nvSpPr>
          <p:cNvPr id="13" name="Text 11"/>
          <p:cNvSpPr txBox="1"/>
          <p:nvPr/>
        </p:nvSpPr>
        <p:spPr>
          <a:xfrm>
            <a:off x="548640" y="41605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Text 12"/>
          <p:cNvSpPr txBox="1"/>
          <p:nvPr/>
        </p:nvSpPr>
        <p:spPr>
          <a:xfrm>
            <a:off x="1463040" y="4023360"/>
            <a:ext cx="10177272"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They trained it once</a:t>
            </a:r>
            <a:endParaRPr lang="en-US" sz="2600" dirty="0"/>
          </a:p>
        </p:txBody>
      </p:sp>
      <p:sp>
        <p:nvSpPr>
          <p:cNvPr id="15" name="Text 13"/>
          <p:cNvSpPr txBox="1"/>
          <p:nvPr/>
        </p:nvSpPr>
        <p:spPr>
          <a:xfrm>
            <a:off x="1463040" y="4572000"/>
            <a:ext cx="10177272" cy="50292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one split of the data, one run, one number</a:t>
            </a:r>
            <a:endParaRPr lang="en-US" sz="2000" dirty="0"/>
          </a:p>
        </p:txBody>
      </p:sp>
      <p:sp>
        <p:nvSpPr>
          <p:cNvPr id="16" name="Text 14"/>
          <p:cNvSpPr txBox="1"/>
          <p:nvPr/>
        </p:nvSpPr>
        <p:spPr>
          <a:xfrm>
            <a:off x="548640" y="54406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One run gives one number: how much would it move?</a:t>
            </a:r>
            <a:endParaRPr lang="en-US" sz="2400" dirty="0"/>
          </a:p>
        </p:txBody>
      </p:sp>
      <p:sp>
        <p:nvSpPr>
          <p:cNvPr id="18" name="Text 15"/>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OUR CHECK</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What “58 epochs” means</a:t>
            </a:r>
            <a:endParaRPr lang="en-US" sz="3400" dirty="0"/>
          </a:p>
        </p:txBody>
      </p:sp>
      <p:sp>
        <p:nvSpPr>
          <p:cNvPr id="4" name="Text 2"/>
          <p:cNvSpPr txBox="1"/>
          <p:nvPr/>
        </p:nvSpPr>
        <p:spPr>
          <a:xfrm>
            <a:off x="548640" y="1371600"/>
            <a:ext cx="5120640" cy="914400"/>
          </a:xfrm>
          <a:prstGeom prst="rect">
            <a:avLst/>
          </a:prstGeom>
          <a:noFill/>
          <a:ln/>
        </p:spPr>
        <p:txBody>
          <a:bodyPr wrap="square" lIns="0" tIns="0" rIns="0" bIns="0" rtlCol="0" anchor="b"/>
          <a:lstStyle/>
          <a:p>
            <a:pPr algn="l" indent="0" marL="0">
              <a:buNone/>
            </a:pPr>
            <a:r>
              <a:rPr lang="en-US" sz="4800" b="1" dirty="0">
                <a:solidFill>
                  <a:srgbClr val="1E293B"/>
                </a:solidFill>
                <a:latin typeface="Calibri" pitchFamily="34" charset="0"/>
                <a:ea typeface="Calibri" pitchFamily="34" charset="-122"/>
                <a:cs typeface="Calibri" pitchFamily="34" charset="-120"/>
              </a:rPr>
              <a:t>61.75%</a:t>
            </a:r>
            <a:endParaRPr lang="en-US" sz="4800" dirty="0"/>
          </a:p>
        </p:txBody>
      </p:sp>
      <p:sp>
        <p:nvSpPr>
          <p:cNvPr id="5" name="Text 3"/>
          <p:cNvSpPr txBox="1"/>
          <p:nvPr/>
        </p:nvSpPr>
        <p:spPr>
          <a:xfrm>
            <a:off x="548640" y="2331720"/>
            <a:ext cx="51206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our rebuild at a fixed 58 epochs (3 runs)</a:t>
            </a:r>
            <a:endParaRPr lang="en-US" sz="1900" dirty="0"/>
          </a:p>
        </p:txBody>
      </p:sp>
      <p:sp>
        <p:nvSpPr>
          <p:cNvPr id="6" name="Text 4"/>
          <p:cNvSpPr txBox="1"/>
          <p:nvPr/>
        </p:nvSpPr>
        <p:spPr>
          <a:xfrm>
            <a:off x="548640" y="3108960"/>
            <a:ext cx="5120640" cy="914400"/>
          </a:xfrm>
          <a:prstGeom prst="rect">
            <a:avLst/>
          </a:prstGeom>
          <a:noFill/>
          <a:ln/>
        </p:spPr>
        <p:txBody>
          <a:bodyPr wrap="square" lIns="0" tIns="0" rIns="0" bIns="0" rtlCol="0" anchor="b"/>
          <a:lstStyle/>
          <a:p>
            <a:pPr algn="l" indent="0" marL="0">
              <a:buNone/>
            </a:pPr>
            <a:r>
              <a:rPr lang="en-US" sz="4800" b="1" dirty="0">
                <a:solidFill>
                  <a:srgbClr val="F08A24"/>
                </a:solidFill>
                <a:latin typeface="Calibri" pitchFamily="34" charset="0"/>
                <a:ea typeface="Calibri" pitchFamily="34" charset="-122"/>
                <a:cs typeface="Calibri" pitchFamily="34" charset="-120"/>
              </a:rPr>
              <a:t>63.21%</a:t>
            </a:r>
            <a:endParaRPr lang="en-US" sz="4800" dirty="0"/>
          </a:p>
        </p:txBody>
      </p:sp>
      <p:sp>
        <p:nvSpPr>
          <p:cNvPr id="7" name="Text 5"/>
          <p:cNvSpPr txBox="1"/>
          <p:nvPr/>
        </p:nvSpPr>
        <p:spPr>
          <a:xfrm>
            <a:off x="548640" y="4069080"/>
            <a:ext cx="51206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the same, left to run: best at epoch 107</a:t>
            </a:r>
            <a:endParaRPr lang="en-US" sz="1900" dirty="0"/>
          </a:p>
        </p:txBody>
      </p:sp>
      <p:pic>
        <p:nvPicPr>
          <p:cNvPr id="8" name="Image 0" descr="paper/fig7_accuracy_epochs.jpg">    </p:cNvPr>
          <p:cNvPicPr>
            <a:picLocks noChangeAspect="1"/>
          </p:cNvPicPr>
          <p:nvPr/>
        </p:nvPicPr>
        <p:blipFill>
          <a:blip r:embed="rId1"/>
          <a:stretch>
            <a:fillRect/>
          </a:stretch>
        </p:blipFill>
        <p:spPr>
          <a:xfrm>
            <a:off x="5989320" y="1371600"/>
            <a:ext cx="5623560" cy="3559967"/>
          </a:xfrm>
          <a:prstGeom prst="rect">
            <a:avLst/>
          </a:prstGeom>
        </p:spPr>
      </p:pic>
      <p:sp>
        <p:nvSpPr>
          <p:cNvPr id="9" name="Text 6"/>
          <p:cNvSpPr txBox="1"/>
          <p:nvPr/>
        </p:nvSpPr>
        <p:spPr>
          <a:xfrm>
            <a:off x="5989320" y="4983480"/>
            <a:ext cx="5623560" cy="365760"/>
          </a:xfrm>
          <a:prstGeom prst="rect">
            <a:avLst/>
          </a:prstGeom>
          <a:noFill/>
          <a:ln/>
        </p:spPr>
        <p:txBody>
          <a:bodyPr wrap="square" lIns="0" tIns="0" rIns="0" bIns="0" rtlCol="0" anchor="t"/>
          <a:lstStyle/>
          <a:p>
            <a:pPr indent="0" marL="0">
              <a:buNone/>
            </a:pPr>
            <a:r>
              <a:rPr lang="en-US" sz="1800" b="1" dirty="0">
                <a:solidFill>
                  <a:srgbClr val="1E293B"/>
                </a:solidFill>
                <a:latin typeface="Calibri" pitchFamily="34" charset="0"/>
                <a:ea typeface="Calibri" pitchFamily="34" charset="-122"/>
                <a:cs typeface="Calibri" pitchFamily="34" charset="-120"/>
              </a:rPr>
              <a:t>Their Fig. 7: accuracy still rising at 58</a:t>
            </a:r>
            <a:endParaRPr lang="en-US" sz="1800" dirty="0"/>
          </a:p>
        </p:txBody>
      </p:sp>
      <p:sp>
        <p:nvSpPr>
          <p:cNvPr id="10" name="Text 7"/>
          <p:cNvSpPr txBox="1"/>
          <p:nvPr/>
        </p:nvSpPr>
        <p:spPr>
          <a:xfrm>
            <a:off x="5989320" y="5349240"/>
            <a:ext cx="562356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Figure from El-Haryqy et al. 2025 (CC BY-NC 4.0)</a:t>
            </a:r>
            <a:endParaRPr lang="en-US" sz="1200" dirty="0"/>
          </a:p>
        </p:txBody>
      </p:sp>
      <p:sp>
        <p:nvSpPr>
          <p:cNvPr id="11" name="Text 8"/>
          <p:cNvSpPr txBox="1"/>
          <p:nvPr/>
        </p:nvSpPr>
        <p:spPr>
          <a:xfrm>
            <a:off x="548640" y="576072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Their rule stopped on the loss; the accuracy was still climbing.</a:t>
            </a:r>
            <a:endParaRPr lang="en-US" sz="2400" dirty="0"/>
          </a:p>
        </p:txBody>
      </p:sp>
      <p:sp>
        <p:nvSpPr>
          <p:cNvPr id="13" name="Text 9"/>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OUR CHECK</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We rebuilt it; their code agrees</a:t>
            </a:r>
            <a:endParaRPr lang="en-US" sz="3400" dirty="0"/>
          </a:p>
        </p:txBody>
      </p:sp>
      <p:sp>
        <p:nvSpPr>
          <p:cNvPr id="4" name="Shape 2"/>
          <p:cNvSpPr/>
          <p:nvPr/>
        </p:nvSpPr>
        <p:spPr>
          <a:xfrm>
            <a:off x="548640" y="1417320"/>
            <a:ext cx="3520440" cy="960120"/>
          </a:xfrm>
          <a:prstGeom prst="roundRect">
            <a:avLst>
              <a:gd name="adj" fmla="val 11429"/>
            </a:avLst>
          </a:prstGeom>
          <a:solidFill>
            <a:srgbClr val="EEF2F6"/>
          </a:solidFill>
          <a:ln w="12700">
            <a:solidFill>
              <a:srgbClr val="EEF2F6"/>
            </a:solidFill>
            <a:prstDash val="solid"/>
          </a:ln>
        </p:spPr>
      </p:sp>
      <p:sp>
        <p:nvSpPr>
          <p:cNvPr id="5" name="Text 3"/>
          <p:cNvSpPr txBox="1"/>
          <p:nvPr/>
        </p:nvSpPr>
        <p:spPr>
          <a:xfrm>
            <a:off x="777240" y="1463040"/>
            <a:ext cx="3108960" cy="457200"/>
          </a:xfrm>
          <a:prstGeom prst="rect">
            <a:avLst/>
          </a:prstGeom>
          <a:noFill/>
          <a:ln/>
        </p:spPr>
        <p:txBody>
          <a:bodyPr wrap="square" lIns="0" tIns="0" rIns="0" bIns="0" rtlCol="0" anchor="t"/>
          <a:lstStyle/>
          <a:p>
            <a:pPr indent="0" marL="0">
              <a:buNone/>
            </a:pPr>
            <a:r>
              <a:rPr lang="en-US" sz="2000" b="1" dirty="0">
                <a:solidFill>
                  <a:srgbClr val="F08A24"/>
                </a:solidFill>
                <a:latin typeface="Calibri" pitchFamily="34" charset="0"/>
                <a:ea typeface="Calibri" pitchFamily="34" charset="-122"/>
                <a:cs typeface="Calibri" pitchFamily="34" charset="-120"/>
              </a:rPr>
              <a:t>Apr 2025</a:t>
            </a:r>
            <a:endParaRPr lang="en-US" sz="2000" dirty="0"/>
          </a:p>
        </p:txBody>
      </p:sp>
      <p:sp>
        <p:nvSpPr>
          <p:cNvPr id="6" name="Text 4"/>
          <p:cNvSpPr txBox="1"/>
          <p:nvPr/>
        </p:nvSpPr>
        <p:spPr>
          <a:xfrm>
            <a:off x="777240" y="1874520"/>
            <a:ext cx="3200400" cy="457200"/>
          </a:xfrm>
          <a:prstGeom prst="rect">
            <a:avLst/>
          </a:prstGeom>
          <a:noFill/>
          <a:ln/>
        </p:spPr>
        <p:txBody>
          <a:bodyPr wrap="square" lIns="0" tIns="0" rIns="0" bIns="0" rtlCol="0" anchor="t"/>
          <a:lstStyle/>
          <a:p>
            <a:pPr indent="0" marL="0">
              <a:buNone/>
            </a:pPr>
            <a:r>
              <a:rPr lang="en-US" sz="1700" dirty="0">
                <a:solidFill>
                  <a:srgbClr val="5B6B7F"/>
                </a:solidFill>
                <a:latin typeface="Calibri" pitchFamily="34" charset="0"/>
                <a:ea typeface="Calibri" pitchFamily="34" charset="-122"/>
                <a:cs typeface="Calibri" pitchFamily="34" charset="-120"/>
              </a:rPr>
              <a:t>paper, no code</a:t>
            </a:r>
            <a:endParaRPr lang="en-US" sz="1700" dirty="0"/>
          </a:p>
        </p:txBody>
      </p:sp>
      <p:sp>
        <p:nvSpPr>
          <p:cNvPr id="7" name="Shape 5"/>
          <p:cNvSpPr/>
          <p:nvPr/>
        </p:nvSpPr>
        <p:spPr>
          <a:xfrm>
            <a:off x="4343400" y="1417320"/>
            <a:ext cx="3520440" cy="960120"/>
          </a:xfrm>
          <a:prstGeom prst="roundRect">
            <a:avLst>
              <a:gd name="adj" fmla="val 11429"/>
            </a:avLst>
          </a:prstGeom>
          <a:solidFill>
            <a:srgbClr val="EEF2F6"/>
          </a:solidFill>
          <a:ln w="12700">
            <a:solidFill>
              <a:srgbClr val="EEF2F6"/>
            </a:solidFill>
            <a:prstDash val="solid"/>
          </a:ln>
        </p:spPr>
      </p:sp>
      <p:sp>
        <p:nvSpPr>
          <p:cNvPr id="8" name="Text 6"/>
          <p:cNvSpPr txBox="1"/>
          <p:nvPr/>
        </p:nvSpPr>
        <p:spPr>
          <a:xfrm>
            <a:off x="4572000" y="1463040"/>
            <a:ext cx="3108960" cy="457200"/>
          </a:xfrm>
          <a:prstGeom prst="rect">
            <a:avLst/>
          </a:prstGeom>
          <a:noFill/>
          <a:ln/>
        </p:spPr>
        <p:txBody>
          <a:bodyPr wrap="square" lIns="0" tIns="0" rIns="0" bIns="0" rtlCol="0" anchor="t"/>
          <a:lstStyle/>
          <a:p>
            <a:pPr indent="0" marL="0">
              <a:buNone/>
            </a:pPr>
            <a:r>
              <a:rPr lang="en-US" sz="2000" b="1" dirty="0">
                <a:solidFill>
                  <a:srgbClr val="F08A24"/>
                </a:solidFill>
                <a:latin typeface="Calibri" pitchFamily="34" charset="0"/>
                <a:ea typeface="Calibri" pitchFamily="34" charset="-122"/>
                <a:cs typeface="Calibri" pitchFamily="34" charset="-120"/>
              </a:rPr>
              <a:t>Aug 2026</a:t>
            </a:r>
            <a:endParaRPr lang="en-US" sz="2000" dirty="0"/>
          </a:p>
        </p:txBody>
      </p:sp>
      <p:sp>
        <p:nvSpPr>
          <p:cNvPr id="9" name="Text 7"/>
          <p:cNvSpPr txBox="1"/>
          <p:nvPr/>
        </p:nvSpPr>
        <p:spPr>
          <a:xfrm>
            <a:off x="4572000" y="1874520"/>
            <a:ext cx="3200400" cy="457200"/>
          </a:xfrm>
          <a:prstGeom prst="rect">
            <a:avLst/>
          </a:prstGeom>
          <a:noFill/>
          <a:ln/>
        </p:spPr>
        <p:txBody>
          <a:bodyPr wrap="square" lIns="0" tIns="0" rIns="0" bIns="0" rtlCol="0" anchor="t"/>
          <a:lstStyle/>
          <a:p>
            <a:pPr indent="0" marL="0">
              <a:buNone/>
            </a:pPr>
            <a:r>
              <a:rPr lang="en-US" sz="1700" dirty="0">
                <a:solidFill>
                  <a:srgbClr val="5B6B7F"/>
                </a:solidFill>
                <a:latin typeface="Calibri" pitchFamily="34" charset="0"/>
                <a:ea typeface="Calibri" pitchFamily="34" charset="-122"/>
                <a:cs typeface="Calibri" pitchFamily="34" charset="-120"/>
              </a:rPr>
              <a:t>their code on GitHub, no weights</a:t>
            </a:r>
            <a:endParaRPr lang="en-US" sz="1700" dirty="0"/>
          </a:p>
        </p:txBody>
      </p:sp>
      <p:sp>
        <p:nvSpPr>
          <p:cNvPr id="10" name="Shape 8"/>
          <p:cNvSpPr/>
          <p:nvPr/>
        </p:nvSpPr>
        <p:spPr>
          <a:xfrm>
            <a:off x="8138160" y="1417320"/>
            <a:ext cx="3520440" cy="960120"/>
          </a:xfrm>
          <a:prstGeom prst="roundRect">
            <a:avLst>
              <a:gd name="adj" fmla="val 11429"/>
            </a:avLst>
          </a:prstGeom>
          <a:solidFill>
            <a:srgbClr val="0F1B2D"/>
          </a:solidFill>
          <a:ln w="12700">
            <a:solidFill>
              <a:srgbClr val="0F1B2D"/>
            </a:solidFill>
            <a:prstDash val="solid"/>
          </a:ln>
        </p:spPr>
      </p:sp>
      <p:sp>
        <p:nvSpPr>
          <p:cNvPr id="11" name="Text 9"/>
          <p:cNvSpPr txBox="1"/>
          <p:nvPr/>
        </p:nvSpPr>
        <p:spPr>
          <a:xfrm>
            <a:off x="8366760" y="1463040"/>
            <a:ext cx="3108960" cy="457200"/>
          </a:xfrm>
          <a:prstGeom prst="rect">
            <a:avLst/>
          </a:prstGeom>
          <a:noFill/>
          <a:ln/>
        </p:spPr>
        <p:txBody>
          <a:bodyPr wrap="square" lIns="0" tIns="0" rIns="0" bIns="0" rtlCol="0" anchor="t"/>
          <a:lstStyle/>
          <a:p>
            <a:pPr indent="0" marL="0">
              <a:buNone/>
            </a:pPr>
            <a:r>
              <a:rPr lang="en-US" sz="2000" b="1" dirty="0">
                <a:solidFill>
                  <a:srgbClr val="F08A24"/>
                </a:solidFill>
                <a:latin typeface="Calibri" pitchFamily="34" charset="0"/>
                <a:ea typeface="Calibri" pitchFamily="34" charset="-122"/>
                <a:cs typeface="Calibri" pitchFamily="34" charset="-120"/>
              </a:rPr>
              <a:t>Sep 2026</a:t>
            </a:r>
            <a:endParaRPr lang="en-US" sz="2000" dirty="0"/>
          </a:p>
        </p:txBody>
      </p:sp>
      <p:sp>
        <p:nvSpPr>
          <p:cNvPr id="12" name="Text 10"/>
          <p:cNvSpPr txBox="1"/>
          <p:nvPr/>
        </p:nvSpPr>
        <p:spPr>
          <a:xfrm>
            <a:off x="8366760" y="1874520"/>
            <a:ext cx="3200400" cy="45720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our rebuild from the paper alone</a:t>
            </a:r>
            <a:endParaRPr lang="en-US" sz="1700" dirty="0"/>
          </a:p>
        </p:txBody>
      </p:sp>
      <p:sp>
        <p:nvSpPr>
          <p:cNvPr id="13" name="Shape 11"/>
          <p:cNvSpPr/>
          <p:nvPr/>
        </p:nvSpPr>
        <p:spPr>
          <a:xfrm>
            <a:off x="548640" y="2651760"/>
            <a:ext cx="3520440" cy="2514600"/>
          </a:xfrm>
          <a:prstGeom prst="roundRect">
            <a:avLst>
              <a:gd name="adj" fmla="val 4364"/>
            </a:avLst>
          </a:prstGeom>
          <a:solidFill>
            <a:srgbClr val="EEF2F6"/>
          </a:solidFill>
          <a:ln w="12700">
            <a:solidFill>
              <a:srgbClr val="EEF2F6"/>
            </a:solidFill>
            <a:prstDash val="solid"/>
          </a:ln>
        </p:spPr>
      </p:sp>
      <p:sp>
        <p:nvSpPr>
          <p:cNvPr id="14" name="Text 12"/>
          <p:cNvSpPr txBox="1"/>
          <p:nvPr/>
        </p:nvSpPr>
        <p:spPr>
          <a:xfrm>
            <a:off x="822960" y="2743200"/>
            <a:ext cx="3108960" cy="914400"/>
          </a:xfrm>
          <a:prstGeom prst="rect">
            <a:avLst/>
          </a:prstGeom>
          <a:noFill/>
          <a:ln/>
        </p:spPr>
        <p:txBody>
          <a:bodyPr wrap="square" lIns="0" tIns="0" rIns="0" bIns="0" rtlCol="0" anchor="b"/>
          <a:lstStyle/>
          <a:p>
            <a:pPr algn="l" indent="0" marL="0">
              <a:buNone/>
            </a:pPr>
            <a:r>
              <a:rPr lang="en-US" sz="4800" b="1" dirty="0">
                <a:solidFill>
                  <a:srgbClr val="F08A24"/>
                </a:solidFill>
                <a:latin typeface="Calibri" pitchFamily="34" charset="0"/>
                <a:ea typeface="Calibri" pitchFamily="34" charset="-122"/>
                <a:cs typeface="Calibri" pitchFamily="34" charset="-120"/>
              </a:rPr>
              <a:t>63.21%</a:t>
            </a:r>
            <a:endParaRPr lang="en-US" sz="4800" dirty="0"/>
          </a:p>
        </p:txBody>
      </p:sp>
      <p:sp>
        <p:nvSpPr>
          <p:cNvPr id="15" name="Text 13"/>
          <p:cNvSpPr txBox="1"/>
          <p:nvPr/>
        </p:nvSpPr>
        <p:spPr>
          <a:xfrm>
            <a:off x="822960" y="3703320"/>
            <a:ext cx="310896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our rebuild, trained to the end (paper: 63.24%)</a:t>
            </a:r>
            <a:endParaRPr lang="en-US" sz="1900" dirty="0"/>
          </a:p>
        </p:txBody>
      </p:sp>
      <p:sp>
        <p:nvSpPr>
          <p:cNvPr id="16" name="Shape 14"/>
          <p:cNvSpPr/>
          <p:nvPr/>
        </p:nvSpPr>
        <p:spPr>
          <a:xfrm>
            <a:off x="4343400" y="2651760"/>
            <a:ext cx="3520440" cy="2514600"/>
          </a:xfrm>
          <a:prstGeom prst="roundRect">
            <a:avLst>
              <a:gd name="adj" fmla="val 4364"/>
            </a:avLst>
          </a:prstGeom>
          <a:solidFill>
            <a:srgbClr val="EEF2F6"/>
          </a:solidFill>
          <a:ln w="12700">
            <a:solidFill>
              <a:srgbClr val="EEF2F6"/>
            </a:solidFill>
            <a:prstDash val="solid"/>
          </a:ln>
        </p:spPr>
      </p:sp>
      <p:sp>
        <p:nvSpPr>
          <p:cNvPr id="17" name="Text 15"/>
          <p:cNvSpPr txBox="1"/>
          <p:nvPr/>
        </p:nvSpPr>
        <p:spPr>
          <a:xfrm>
            <a:off x="4617720" y="2788920"/>
            <a:ext cx="3108960" cy="365760"/>
          </a:xfrm>
          <a:prstGeom prst="rect">
            <a:avLst/>
          </a:prstGeom>
          <a:noFill/>
          <a:ln/>
        </p:spPr>
        <p:txBody>
          <a:bodyPr wrap="square" lIns="0" tIns="0" rIns="0" bIns="0" rtlCol="0" anchor="t"/>
          <a:lstStyle/>
          <a:p>
            <a:pPr indent="0" marL="0">
              <a:buNone/>
            </a:pPr>
            <a:r>
              <a:rPr lang="en-US" sz="1500" b="1" spc="100" kern="0" dirty="0">
                <a:solidFill>
                  <a:srgbClr val="F08A24"/>
                </a:solidFill>
                <a:latin typeface="Calibri" pitchFamily="34" charset="0"/>
                <a:ea typeface="Calibri" pitchFamily="34" charset="-122"/>
                <a:cs typeface="Calibri" pitchFamily="34" charset="-120"/>
              </a:rPr>
              <a:t>MATCHED THEIR CODE</a:t>
            </a:r>
            <a:endParaRPr lang="en-US" sz="1500" dirty="0"/>
          </a:p>
        </p:txBody>
      </p:sp>
      <p:sp>
        <p:nvSpPr>
          <p:cNvPr id="18" name="Text 16"/>
          <p:cNvSpPr txBox="1"/>
          <p:nvPr/>
        </p:nvSpPr>
        <p:spPr>
          <a:xfrm>
            <a:off x="4617720" y="3200400"/>
            <a:ext cx="3108960" cy="1828800"/>
          </a:xfrm>
          <a:prstGeom prst="rect">
            <a:avLst/>
          </a:prstGeom>
          <a:noFill/>
          <a:ln/>
        </p:spPr>
        <p:txBody>
          <a:bodyPr wrap="square" lIns="0" tIns="0" rIns="0" bIns="0" rtlCol="0" anchor="t"/>
          <a:lstStyle/>
          <a:p>
            <a:pPr indent="0" marL="0">
              <a:buNone/>
            </a:pPr>
            <a:r>
              <a:rPr lang="en-US" sz="1700" dirty="0">
                <a:solidFill>
                  <a:srgbClr val="1E293B"/>
                </a:solidFill>
                <a:latin typeface="Calibri" pitchFamily="34" charset="0"/>
                <a:ea typeface="Calibri" pitchFamily="34" charset="-122"/>
                <a:cs typeface="Calibri" pitchFamily="34" charset="-120"/>
              </a:rPr>
              <a:t>one pooling step</a:t>
            </a:r>
            <a:endParaRPr lang="en-US" sz="1700" dirty="0"/>
          </a:p>
          <a:p>
            <a:pPr indent="0" marL="0">
              <a:buNone/>
            </a:pPr>
            <a:r>
              <a:rPr lang="en-US" sz="1700" dirty="0">
                <a:solidFill>
                  <a:srgbClr val="1E293B"/>
                </a:solidFill>
                <a:latin typeface="Calibri" pitchFamily="34" charset="0"/>
                <a:ea typeface="Calibri" pitchFamily="34" charset="-122"/>
                <a:cs typeface="Calibri" pitchFamily="34" charset="-120"/>
              </a:rPr>
              <a:t>normalization after each LSTM</a:t>
            </a:r>
            <a:endParaRPr lang="en-US" sz="1700" dirty="0"/>
          </a:p>
          <a:p>
            <a:pPr indent="0" marL="0">
              <a:buNone/>
            </a:pPr>
            <a:r>
              <a:rPr lang="en-US" sz="1700" dirty="0">
                <a:solidFill>
                  <a:srgbClr val="1E293B"/>
                </a:solidFill>
                <a:latin typeface="Calibri" pitchFamily="34" charset="0"/>
                <a:ea typeface="Calibri" pitchFamily="34" charset="-122"/>
                <a:cs typeface="Calibri" pitchFamily="34" charset="-120"/>
              </a:rPr>
              <a:t>dropout on attention weights</a:t>
            </a:r>
            <a:endParaRPr lang="en-US" sz="1700" dirty="0"/>
          </a:p>
          <a:p>
            <a:pPr indent="0" marL="0">
              <a:buNone/>
            </a:pPr>
            <a:r>
              <a:rPr lang="en-US" sz="1700" dirty="0">
                <a:solidFill>
                  <a:srgbClr val="1E293B"/>
                </a:solidFill>
                <a:latin typeface="Calibri" pitchFamily="34" charset="0"/>
                <a:ea typeface="Calibri" pitchFamily="34" charset="-122"/>
                <a:cs typeface="Calibri" pitchFamily="34" charset="-120"/>
              </a:rPr>
              <a:t>size: 794,827 vs 794,188</a:t>
            </a:r>
            <a:endParaRPr lang="en-US" sz="1700" dirty="0"/>
          </a:p>
        </p:txBody>
      </p:sp>
      <p:sp>
        <p:nvSpPr>
          <p:cNvPr id="19" name="Shape 17"/>
          <p:cNvSpPr/>
          <p:nvPr/>
        </p:nvSpPr>
        <p:spPr>
          <a:xfrm>
            <a:off x="8138160" y="2651760"/>
            <a:ext cx="3502152" cy="2514600"/>
          </a:xfrm>
          <a:prstGeom prst="roundRect">
            <a:avLst>
              <a:gd name="adj" fmla="val 4364"/>
            </a:avLst>
          </a:prstGeom>
          <a:solidFill>
            <a:srgbClr val="EEF2F6"/>
          </a:solidFill>
          <a:ln w="12700">
            <a:solidFill>
              <a:srgbClr val="EEF2F6"/>
            </a:solidFill>
            <a:prstDash val="solid"/>
          </a:ln>
        </p:spPr>
      </p:sp>
      <p:sp>
        <p:nvSpPr>
          <p:cNvPr id="20" name="Text 18"/>
          <p:cNvSpPr txBox="1"/>
          <p:nvPr/>
        </p:nvSpPr>
        <p:spPr>
          <a:xfrm>
            <a:off x="8412480" y="2788920"/>
            <a:ext cx="3108960" cy="365760"/>
          </a:xfrm>
          <a:prstGeom prst="rect">
            <a:avLst/>
          </a:prstGeom>
          <a:noFill/>
          <a:ln/>
        </p:spPr>
        <p:txBody>
          <a:bodyPr wrap="square" lIns="0" tIns="0" rIns="0" bIns="0" rtlCol="0" anchor="t"/>
          <a:lstStyle/>
          <a:p>
            <a:pPr indent="0" marL="0">
              <a:buNone/>
            </a:pPr>
            <a:r>
              <a:rPr lang="en-US" sz="1500" b="1" spc="100" kern="0" dirty="0">
                <a:solidFill>
                  <a:srgbClr val="F08A24"/>
                </a:solidFill>
                <a:latin typeface="Calibri" pitchFamily="34" charset="0"/>
                <a:ea typeface="Calibri" pitchFamily="34" charset="-122"/>
                <a:cs typeface="Calibri" pitchFamily="34" charset="-120"/>
              </a:rPr>
              <a:t>MISSED</a:t>
            </a:r>
            <a:endParaRPr lang="en-US" sz="1500" dirty="0"/>
          </a:p>
        </p:txBody>
      </p:sp>
      <p:sp>
        <p:nvSpPr>
          <p:cNvPr id="21" name="Text 19"/>
          <p:cNvSpPr txBox="1"/>
          <p:nvPr/>
        </p:nvSpPr>
        <p:spPr>
          <a:xfrm>
            <a:off x="8412480" y="3200400"/>
            <a:ext cx="3108960" cy="1828800"/>
          </a:xfrm>
          <a:prstGeom prst="rect">
            <a:avLst/>
          </a:prstGeom>
          <a:noFill/>
          <a:ln/>
        </p:spPr>
        <p:txBody>
          <a:bodyPr wrap="square" lIns="0" tIns="0" rIns="0" bIns="0" rtlCol="0" anchor="t"/>
          <a:lstStyle/>
          <a:p>
            <a:pPr indent="0" marL="0">
              <a:buNone/>
            </a:pPr>
            <a:r>
              <a:rPr lang="en-US" sz="1700" dirty="0">
                <a:solidFill>
                  <a:srgbClr val="1E293B"/>
                </a:solidFill>
                <a:latin typeface="Calibri" pitchFamily="34" charset="0"/>
                <a:ea typeface="Calibri" pitchFamily="34" charset="-122"/>
                <a:cs typeface="Calibri" pitchFamily="34" charset="-120"/>
              </a:rPr>
              <a:t>exact attention form and its learned scale</a:t>
            </a:r>
            <a:endParaRPr lang="en-US" sz="1700" dirty="0"/>
          </a:p>
          <a:p>
            <a:pPr indent="0" marL="0">
              <a:buNone/>
            </a:pPr>
            <a:r>
              <a:rPr lang="en-US" sz="1700" dirty="0">
                <a:solidFill>
                  <a:srgbClr val="1E293B"/>
                </a:solidFill>
                <a:latin typeface="Calibri" pitchFamily="34" charset="0"/>
                <a:ea typeface="Calibri" pitchFamily="34" charset="-122"/>
                <a:cs typeface="Calibri" pitchFamily="34" charset="-120"/>
              </a:rPr>
              <a:t>input normalization</a:t>
            </a:r>
            <a:endParaRPr lang="en-US" sz="1700" dirty="0"/>
          </a:p>
          <a:p>
            <a:pPr indent="0" marL="0">
              <a:buNone/>
            </a:pPr>
            <a:r>
              <a:rPr lang="en-US" sz="1700" dirty="0">
                <a:solidFill>
                  <a:srgbClr val="1E293B"/>
                </a:solidFill>
                <a:latin typeface="Calibri" pitchFamily="34" charset="0"/>
                <a:ea typeface="Calibri" pitchFamily="34" charset="-122"/>
                <a:cs typeface="Calibri" pitchFamily="34" charset="-120"/>
              </a:rPr>
              <a:t>gradient clipping</a:t>
            </a:r>
            <a:endParaRPr lang="en-US" sz="1700" dirty="0"/>
          </a:p>
        </p:txBody>
      </p:sp>
      <p:sp>
        <p:nvSpPr>
          <p:cNvPr id="22" name="Text 20"/>
          <p:cNvSpPr txBox="1"/>
          <p:nvPr/>
        </p:nvSpPr>
        <p:spPr>
          <a:xfrm>
            <a:off x="548640" y="54406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Their 63.24% is reproducible from the paper alone.</a:t>
            </a:r>
            <a:endParaRPr lang="en-US" sz="2400" dirty="0"/>
          </a:p>
        </p:txBody>
      </p:sp>
      <p:sp>
        <p:nvSpPr>
          <p:cNvPr id="24" name="Text 21"/>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OUR CHECK</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Three claims their own tables don't support</a:t>
            </a:r>
            <a:endParaRPr lang="en-US" sz="3400" dirty="0"/>
          </a:p>
        </p:txBody>
      </p:sp>
      <p:sp>
        <p:nvSpPr>
          <p:cNvPr id="4" name="Shape 2"/>
          <p:cNvSpPr/>
          <p:nvPr/>
        </p:nvSpPr>
        <p:spPr>
          <a:xfrm>
            <a:off x="548640" y="1463040"/>
            <a:ext cx="11091672" cy="1097280"/>
          </a:xfrm>
          <a:prstGeom prst="roundRect">
            <a:avLst>
              <a:gd name="adj" fmla="val 10000"/>
            </a:avLst>
          </a:prstGeom>
          <a:solidFill>
            <a:srgbClr val="EEF2F6"/>
          </a:solidFill>
          <a:ln w="12700">
            <a:solidFill>
              <a:srgbClr val="EEF2F6"/>
            </a:solidFill>
            <a:prstDash val="solid"/>
          </a:ln>
        </p:spPr>
      </p:sp>
      <p:sp>
        <p:nvSpPr>
          <p:cNvPr id="5" name="Shape 3"/>
          <p:cNvSpPr/>
          <p:nvPr/>
        </p:nvSpPr>
        <p:spPr>
          <a:xfrm>
            <a:off x="777240" y="1737360"/>
            <a:ext cx="548640" cy="548640"/>
          </a:xfrm>
          <a:prstGeom prst="ellipse">
            <a:avLst/>
          </a:prstGeom>
          <a:solidFill>
            <a:srgbClr val="F08A24"/>
          </a:solidFill>
          <a:ln w="12700">
            <a:solidFill>
              <a:srgbClr val="F08A24"/>
            </a:solidFill>
            <a:prstDash val="solid"/>
          </a:ln>
        </p:spPr>
      </p:sp>
      <p:sp>
        <p:nvSpPr>
          <p:cNvPr id="6" name="Text 4"/>
          <p:cNvSpPr txBox="1"/>
          <p:nvPr/>
        </p:nvSpPr>
        <p:spPr>
          <a:xfrm>
            <a:off x="77724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1554480" y="1463040"/>
            <a:ext cx="4572000" cy="1097280"/>
          </a:xfrm>
          <a:prstGeom prst="rect">
            <a:avLst/>
          </a:prstGeom>
          <a:noFill/>
          <a:ln/>
        </p:spPr>
        <p:txBody>
          <a:bodyPr wrap="square" lIns="0" tIns="0" rIns="0" bIns="0" rtlCol="0" anchor="ctr"/>
          <a:lstStyle/>
          <a:p>
            <a:pPr indent="0" marL="0">
              <a:buNone/>
            </a:pPr>
            <a:r>
              <a:rPr lang="en-US" sz="2100" i="1" dirty="0">
                <a:solidFill>
                  <a:srgbClr val="5B6B7F"/>
                </a:solidFill>
                <a:latin typeface="Calibri" pitchFamily="34" charset="0"/>
                <a:ea typeface="Calibri" pitchFamily="34" charset="-122"/>
                <a:cs typeface="Calibri" pitchFamily="34" charset="-120"/>
              </a:rPr>
              <a:t>“Best at low SNR”</a:t>
            </a:r>
            <a:endParaRPr lang="en-US" sz="2100" dirty="0"/>
          </a:p>
        </p:txBody>
      </p:sp>
      <p:sp>
        <p:nvSpPr>
          <p:cNvPr id="8" name="Text 6"/>
          <p:cNvSpPr txBox="1"/>
          <p:nvPr/>
        </p:nvSpPr>
        <p:spPr>
          <a:xfrm>
            <a:off x="6217920" y="1463040"/>
            <a:ext cx="5239512" cy="109728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Table 5: beaten at −10, −8 and −6 dB</a:t>
            </a:r>
            <a:endParaRPr lang="en-US" sz="2200" dirty="0"/>
          </a:p>
        </p:txBody>
      </p:sp>
      <p:sp>
        <p:nvSpPr>
          <p:cNvPr id="9" name="Shape 7"/>
          <p:cNvSpPr/>
          <p:nvPr/>
        </p:nvSpPr>
        <p:spPr>
          <a:xfrm>
            <a:off x="548640" y="2743200"/>
            <a:ext cx="11091672" cy="1097280"/>
          </a:xfrm>
          <a:prstGeom prst="roundRect">
            <a:avLst>
              <a:gd name="adj" fmla="val 10000"/>
            </a:avLst>
          </a:prstGeom>
          <a:solidFill>
            <a:srgbClr val="EEF2F6"/>
          </a:solidFill>
          <a:ln w="12700">
            <a:solidFill>
              <a:srgbClr val="EEF2F6"/>
            </a:solidFill>
            <a:prstDash val="solid"/>
          </a:ln>
        </p:spPr>
      </p:sp>
      <p:sp>
        <p:nvSpPr>
          <p:cNvPr id="10" name="Shape 8"/>
          <p:cNvSpPr/>
          <p:nvPr/>
        </p:nvSpPr>
        <p:spPr>
          <a:xfrm>
            <a:off x="777240" y="3017520"/>
            <a:ext cx="548640" cy="548640"/>
          </a:xfrm>
          <a:prstGeom prst="ellipse">
            <a:avLst/>
          </a:prstGeom>
          <a:solidFill>
            <a:srgbClr val="F08A24"/>
          </a:solidFill>
          <a:ln w="12700">
            <a:solidFill>
              <a:srgbClr val="F08A24"/>
            </a:solidFill>
            <a:prstDash val="solid"/>
          </a:ln>
        </p:spPr>
      </p:sp>
      <p:sp>
        <p:nvSpPr>
          <p:cNvPr id="11" name="Text 9"/>
          <p:cNvSpPr txBox="1"/>
          <p:nvPr/>
        </p:nvSpPr>
        <p:spPr>
          <a:xfrm>
            <a:off x="777240" y="30175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txBox="1"/>
          <p:nvPr/>
        </p:nvSpPr>
        <p:spPr>
          <a:xfrm>
            <a:off x="1554480" y="2743200"/>
            <a:ext cx="4572000" cy="1097280"/>
          </a:xfrm>
          <a:prstGeom prst="rect">
            <a:avLst/>
          </a:prstGeom>
          <a:noFill/>
          <a:ln/>
        </p:spPr>
        <p:txBody>
          <a:bodyPr wrap="square" lIns="0" tIns="0" rIns="0" bIns="0" rtlCol="0" anchor="ctr"/>
          <a:lstStyle/>
          <a:p>
            <a:pPr indent="0" marL="0">
              <a:buNone/>
            </a:pPr>
            <a:r>
              <a:rPr lang="en-US" sz="2100" i="1" dirty="0">
                <a:solidFill>
                  <a:srgbClr val="5B6B7F"/>
                </a:solidFill>
                <a:latin typeface="Calibri" pitchFamily="34" charset="0"/>
                <a:ea typeface="Calibri" pitchFamily="34" charset="-122"/>
                <a:cs typeface="Calibri" pitchFamily="34" charset="-120"/>
              </a:rPr>
              <a:t>“Full model has the highest precision”</a:t>
            </a:r>
            <a:endParaRPr lang="en-US" sz="2100" dirty="0"/>
          </a:p>
        </p:txBody>
      </p:sp>
      <p:sp>
        <p:nvSpPr>
          <p:cNvPr id="13" name="Text 11"/>
          <p:cNvSpPr txBox="1"/>
          <p:nvPr/>
        </p:nvSpPr>
        <p:spPr>
          <a:xfrm>
            <a:off x="6217920" y="2743200"/>
            <a:ext cx="5239512" cy="109728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Table 6: LSTM alone is higher, 0.768 vs 0.754</a:t>
            </a:r>
            <a:endParaRPr lang="en-US" sz="2200" dirty="0"/>
          </a:p>
        </p:txBody>
      </p:sp>
      <p:sp>
        <p:nvSpPr>
          <p:cNvPr id="14" name="Shape 12"/>
          <p:cNvSpPr/>
          <p:nvPr/>
        </p:nvSpPr>
        <p:spPr>
          <a:xfrm>
            <a:off x="548640" y="4023360"/>
            <a:ext cx="11091672" cy="1097280"/>
          </a:xfrm>
          <a:prstGeom prst="roundRect">
            <a:avLst>
              <a:gd name="adj" fmla="val 10000"/>
            </a:avLst>
          </a:prstGeom>
          <a:solidFill>
            <a:srgbClr val="EEF2F6"/>
          </a:solidFill>
          <a:ln w="12700">
            <a:solidFill>
              <a:srgbClr val="EEF2F6"/>
            </a:solidFill>
            <a:prstDash val="solid"/>
          </a:ln>
        </p:spPr>
      </p:sp>
      <p:sp>
        <p:nvSpPr>
          <p:cNvPr id="15" name="Shape 13"/>
          <p:cNvSpPr/>
          <p:nvPr/>
        </p:nvSpPr>
        <p:spPr>
          <a:xfrm>
            <a:off x="777240" y="4297680"/>
            <a:ext cx="548640" cy="548640"/>
          </a:xfrm>
          <a:prstGeom prst="ellipse">
            <a:avLst/>
          </a:prstGeom>
          <a:solidFill>
            <a:srgbClr val="F08A24"/>
          </a:solidFill>
          <a:ln w="12700">
            <a:solidFill>
              <a:srgbClr val="F08A24"/>
            </a:solidFill>
            <a:prstDash val="solid"/>
          </a:ln>
        </p:spPr>
      </p:sp>
      <p:sp>
        <p:nvSpPr>
          <p:cNvPr id="16" name="Text 14"/>
          <p:cNvSpPr txBox="1"/>
          <p:nvPr/>
        </p:nvSpPr>
        <p:spPr>
          <a:xfrm>
            <a:off x="777240" y="42976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txBox="1"/>
          <p:nvPr/>
        </p:nvSpPr>
        <p:spPr>
          <a:xfrm>
            <a:off x="1554480" y="4023360"/>
            <a:ext cx="4572000" cy="1097280"/>
          </a:xfrm>
          <a:prstGeom prst="rect">
            <a:avLst/>
          </a:prstGeom>
          <a:noFill/>
          <a:ln/>
        </p:spPr>
        <p:txBody>
          <a:bodyPr wrap="square" lIns="0" tIns="0" rIns="0" bIns="0" rtlCol="0" anchor="ctr"/>
          <a:lstStyle/>
          <a:p>
            <a:pPr indent="0" marL="0">
              <a:buNone/>
            </a:pPr>
            <a:r>
              <a:rPr lang="en-US" sz="2100" i="1" dirty="0">
                <a:solidFill>
                  <a:srgbClr val="5B6B7F"/>
                </a:solidFill>
                <a:latin typeface="Calibri" pitchFamily="34" charset="0"/>
                <a:ea typeface="Calibri" pitchFamily="34" charset="-122"/>
                <a:cs typeface="Calibri" pitchFamily="34" charset="-120"/>
              </a:rPr>
              <a:t>“MCLDNN: 406 million parameters”</a:t>
            </a:r>
            <a:endParaRPr lang="en-US" sz="2100" dirty="0"/>
          </a:p>
        </p:txBody>
      </p:sp>
      <p:sp>
        <p:nvSpPr>
          <p:cNvPr id="18" name="Text 16"/>
          <p:cNvSpPr txBox="1"/>
          <p:nvPr/>
        </p:nvSpPr>
        <p:spPr>
          <a:xfrm>
            <a:off x="6217920" y="4023360"/>
            <a:ext cx="5239512" cy="109728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It has 406,199: 0.41 million</a:t>
            </a:r>
            <a:endParaRPr lang="en-US" sz="2200" dirty="0"/>
          </a:p>
        </p:txBody>
      </p:sp>
      <p:sp>
        <p:nvSpPr>
          <p:cNvPr id="19" name="Text 17"/>
          <p:cNvSpPr txBox="1"/>
          <p:nvPr/>
        </p:nvSpPr>
        <p:spPr>
          <a:xfrm>
            <a:off x="548640" y="54406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ICRNNA is about twice MCLDNN's size, not smaller.</a:t>
            </a:r>
            <a:endParaRPr lang="en-US" sz="2400" dirty="0"/>
          </a:p>
        </p:txBody>
      </p:sp>
      <p:sp>
        <p:nvSpPr>
          <p:cNvPr id="21" name="Text 1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OUR CHECK</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What the paper doesn't tell us</a:t>
            </a:r>
            <a:endParaRPr lang="en-US" sz="3400" dirty="0"/>
          </a:p>
        </p:txBody>
      </p:sp>
      <p:sp>
        <p:nvSpPr>
          <p:cNvPr id="4" name="Shape 2"/>
          <p:cNvSpPr/>
          <p:nvPr/>
        </p:nvSpPr>
        <p:spPr>
          <a:xfrm>
            <a:off x="548640" y="1554480"/>
            <a:ext cx="548640" cy="548640"/>
          </a:xfrm>
          <a:prstGeom prst="ellipse">
            <a:avLst/>
          </a:prstGeom>
          <a:solidFill>
            <a:srgbClr val="0F1B2D"/>
          </a:solidFill>
          <a:ln w="12700">
            <a:solidFill>
              <a:srgbClr val="0F1B2D"/>
            </a:solidFill>
            <a:prstDash val="solid"/>
          </a:ln>
        </p:spPr>
      </p:sp>
      <p:sp>
        <p:nvSpPr>
          <p:cNvPr id="5" name="Text 3"/>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1325880" y="1508760"/>
            <a:ext cx="2194560" cy="640080"/>
          </a:xfrm>
          <a:prstGeom prst="rect">
            <a:avLst/>
          </a:prstGeom>
          <a:noFill/>
          <a:ln/>
        </p:spPr>
        <p:txBody>
          <a:bodyPr wrap="square" lIns="0" tIns="0" rIns="0" bIns="0" rtlCol="0" anchor="ctr"/>
          <a:lstStyle/>
          <a:p>
            <a:pPr indent="0" marL="0">
              <a:buNone/>
            </a:pPr>
            <a:r>
              <a:rPr lang="en-US" sz="2400" b="1" dirty="0">
                <a:solidFill>
                  <a:srgbClr val="1E293B"/>
                </a:solidFill>
                <a:latin typeface="Calibri" pitchFamily="34" charset="0"/>
                <a:ea typeface="Calibri" pitchFamily="34" charset="-122"/>
                <a:cs typeface="Calibri" pitchFamily="34" charset="-120"/>
              </a:rPr>
              <a:t>One run</a:t>
            </a:r>
            <a:endParaRPr lang="en-US" sz="2400" dirty="0"/>
          </a:p>
        </p:txBody>
      </p:sp>
      <p:sp>
        <p:nvSpPr>
          <p:cNvPr id="7" name="Text 5"/>
          <p:cNvSpPr txBox="1"/>
          <p:nvPr/>
        </p:nvSpPr>
        <p:spPr>
          <a:xfrm>
            <a:off x="3520440" y="1508760"/>
            <a:ext cx="4206240" cy="68580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no spread; our seeds vary by up to a point</a:t>
            </a:r>
            <a:endParaRPr lang="en-US" sz="2000" dirty="0"/>
          </a:p>
        </p:txBody>
      </p:sp>
      <p:sp>
        <p:nvSpPr>
          <p:cNvPr id="8" name="Shape 6"/>
          <p:cNvSpPr/>
          <p:nvPr/>
        </p:nvSpPr>
        <p:spPr>
          <a:xfrm>
            <a:off x="548640" y="2743200"/>
            <a:ext cx="548640" cy="548640"/>
          </a:xfrm>
          <a:prstGeom prst="ellipse">
            <a:avLst/>
          </a:prstGeom>
          <a:solidFill>
            <a:srgbClr val="0F1B2D"/>
          </a:solidFill>
          <a:ln w="12700">
            <a:solidFill>
              <a:srgbClr val="0F1B2D"/>
            </a:solidFill>
            <a:prstDash val="solid"/>
          </a:ln>
        </p:spPr>
      </p:sp>
      <p:sp>
        <p:nvSpPr>
          <p:cNvPr id="9" name="Text 7"/>
          <p:cNvSpPr txBox="1"/>
          <p:nvPr/>
        </p:nvSpPr>
        <p:spPr>
          <a:xfrm>
            <a:off x="548640" y="2743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1325880" y="2697480"/>
            <a:ext cx="2194560" cy="640080"/>
          </a:xfrm>
          <a:prstGeom prst="rect">
            <a:avLst/>
          </a:prstGeom>
          <a:noFill/>
          <a:ln/>
        </p:spPr>
        <p:txBody>
          <a:bodyPr wrap="square" lIns="0" tIns="0" rIns="0" bIns="0" rtlCol="0" anchor="ctr"/>
          <a:lstStyle/>
          <a:p>
            <a:pPr indent="0" marL="0">
              <a:buNone/>
            </a:pPr>
            <a:r>
              <a:rPr lang="en-US" sz="2400" b="1" dirty="0">
                <a:solidFill>
                  <a:srgbClr val="1E293B"/>
                </a:solidFill>
                <a:latin typeface="Calibri" pitchFamily="34" charset="0"/>
                <a:ea typeface="Calibri" pitchFamily="34" charset="-122"/>
                <a:cs typeface="Calibri" pitchFamily="34" charset="-120"/>
              </a:rPr>
              <a:t>Baselines</a:t>
            </a:r>
            <a:endParaRPr lang="en-US" sz="2400" dirty="0"/>
          </a:p>
        </p:txBody>
      </p:sp>
      <p:sp>
        <p:nvSpPr>
          <p:cNvPr id="11" name="Text 9"/>
          <p:cNvSpPr txBox="1"/>
          <p:nvPr/>
        </p:nvSpPr>
        <p:spPr>
          <a:xfrm>
            <a:off x="3520440" y="2697480"/>
            <a:ext cx="4206240" cy="68580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retrained on the same split, or copied from their papers?</a:t>
            </a:r>
            <a:endParaRPr lang="en-US" sz="2000" dirty="0"/>
          </a:p>
        </p:txBody>
      </p:sp>
      <p:sp>
        <p:nvSpPr>
          <p:cNvPr id="12" name="Shape 10"/>
          <p:cNvSpPr/>
          <p:nvPr/>
        </p:nvSpPr>
        <p:spPr>
          <a:xfrm>
            <a:off x="548640" y="3931920"/>
            <a:ext cx="548640" cy="548640"/>
          </a:xfrm>
          <a:prstGeom prst="ellipse">
            <a:avLst/>
          </a:prstGeom>
          <a:solidFill>
            <a:srgbClr val="0F1B2D"/>
          </a:solidFill>
          <a:ln w="12700">
            <a:solidFill>
              <a:srgbClr val="0F1B2D"/>
            </a:solidFill>
            <a:prstDash val="solid"/>
          </a:ln>
        </p:spPr>
      </p:sp>
      <p:sp>
        <p:nvSpPr>
          <p:cNvPr id="13" name="Text 11"/>
          <p:cNvSpPr txBox="1"/>
          <p:nvPr/>
        </p:nvSpPr>
        <p:spPr>
          <a:xfrm>
            <a:off x="548640" y="39319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Text 12"/>
          <p:cNvSpPr txBox="1"/>
          <p:nvPr/>
        </p:nvSpPr>
        <p:spPr>
          <a:xfrm>
            <a:off x="1325880" y="3886200"/>
            <a:ext cx="2194560" cy="640080"/>
          </a:xfrm>
          <a:prstGeom prst="rect">
            <a:avLst/>
          </a:prstGeom>
          <a:noFill/>
          <a:ln/>
        </p:spPr>
        <p:txBody>
          <a:bodyPr wrap="square" lIns="0" tIns="0" rIns="0" bIns="0" rtlCol="0" anchor="ctr"/>
          <a:lstStyle/>
          <a:p>
            <a:pPr indent="0" marL="0">
              <a:buNone/>
            </a:pPr>
            <a:r>
              <a:rPr lang="en-US" sz="2400" b="1" dirty="0">
                <a:solidFill>
                  <a:srgbClr val="1E293B"/>
                </a:solidFill>
                <a:latin typeface="Calibri" pitchFamily="34" charset="0"/>
                <a:ea typeface="Calibri" pitchFamily="34" charset="-122"/>
                <a:cs typeface="Calibri" pitchFamily="34" charset="-120"/>
              </a:rPr>
              <a:t>SNR label</a:t>
            </a:r>
            <a:endParaRPr lang="en-US" sz="2400" dirty="0"/>
          </a:p>
        </p:txBody>
      </p:sp>
      <p:sp>
        <p:nvSpPr>
          <p:cNvPr id="15" name="Text 13"/>
          <p:cNvSpPr txBox="1"/>
          <p:nvPr/>
        </p:nvSpPr>
        <p:spPr>
          <a:xfrm>
            <a:off x="3520440" y="3886200"/>
            <a:ext cx="4206240" cy="68580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taken as the true SNR</a:t>
            </a:r>
            <a:endParaRPr lang="en-US" sz="2000" dirty="0"/>
          </a:p>
        </p:txBody>
      </p:sp>
      <p:sp>
        <p:nvSpPr>
          <p:cNvPr id="16" name="Shape 14"/>
          <p:cNvSpPr/>
          <p:nvPr/>
        </p:nvSpPr>
        <p:spPr>
          <a:xfrm>
            <a:off x="7955280" y="1463040"/>
            <a:ext cx="3685032" cy="3520440"/>
          </a:xfrm>
          <a:prstGeom prst="roundRect">
            <a:avLst>
              <a:gd name="adj" fmla="val 3117"/>
            </a:avLst>
          </a:prstGeom>
          <a:solidFill>
            <a:srgbClr val="EEF2F6"/>
          </a:solidFill>
          <a:ln w="12700">
            <a:solidFill>
              <a:srgbClr val="EEF2F6"/>
            </a:solidFill>
            <a:prstDash val="solid"/>
          </a:ln>
        </p:spPr>
      </p:sp>
      <p:sp>
        <p:nvSpPr>
          <p:cNvPr id="17" name="Text 15"/>
          <p:cNvSpPr txBox="1"/>
          <p:nvPr/>
        </p:nvSpPr>
        <p:spPr>
          <a:xfrm>
            <a:off x="8183880" y="1645920"/>
            <a:ext cx="3291840" cy="1005840"/>
          </a:xfrm>
          <a:prstGeom prst="rect">
            <a:avLst/>
          </a:prstGeom>
          <a:noFill/>
          <a:ln/>
        </p:spPr>
        <p:txBody>
          <a:bodyPr wrap="square" lIns="0" tIns="0" rIns="0" bIns="0" rtlCol="0" anchor="b"/>
          <a:lstStyle/>
          <a:p>
            <a:pPr indent="0" marL="0">
              <a:buNone/>
            </a:pPr>
            <a:r>
              <a:rPr lang="en-US" sz="6000" b="1" dirty="0">
                <a:solidFill>
                  <a:srgbClr val="F08A24"/>
                </a:solidFill>
                <a:latin typeface="Calibri" pitchFamily="34" charset="0"/>
                <a:ea typeface="Calibri" pitchFamily="34" charset="-122"/>
                <a:cs typeface="Calibri" pitchFamily="34" charset="-120"/>
              </a:rPr>
              <a:t>+9 dB</a:t>
            </a:r>
            <a:endParaRPr lang="en-US" sz="6000" dirty="0"/>
          </a:p>
        </p:txBody>
      </p:sp>
      <p:sp>
        <p:nvSpPr>
          <p:cNvPr id="18" name="Text 16"/>
          <p:cNvSpPr txBox="1"/>
          <p:nvPr/>
        </p:nvSpPr>
        <p:spPr>
          <a:xfrm>
            <a:off x="8183880" y="2697480"/>
            <a:ext cx="3200400" cy="146304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more signal in QAM16 than in QPSK, both labelled 0 dB (measured in the file)</a:t>
            </a:r>
            <a:endParaRPr lang="en-US" sz="1900" dirty="0"/>
          </a:p>
        </p:txBody>
      </p:sp>
      <p:sp>
        <p:nvSpPr>
          <p:cNvPr id="19" name="Text 17"/>
          <p:cNvSpPr txBox="1"/>
          <p:nvPr/>
        </p:nvSpPr>
        <p:spPr>
          <a:xfrm>
            <a:off x="548640" y="54406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A half-point lead from one run may not be real.</a:t>
            </a:r>
            <a:endParaRPr lang="en-US" sz="2400" dirty="0"/>
          </a:p>
        </p:txBody>
      </p:sp>
      <p:sp>
        <p:nvSpPr>
          <p:cNvPr id="21" name="Text 1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ICRNNA: the paper, step by step</dc:title>
  <dc:subject>PptxGenJS Presentation</dc:subject>
  <dc:creator>Yusuf Bilal Cetinkaya</dc:creator>
  <cp:lastModifiedBy>Yusuf Bilal Cetinkaya</cp:lastModifiedBy>
  <cp:revision>1</cp:revision>
  <dcterms:created xsi:type="dcterms:W3CDTF">2026-10-13T06:49:46Z</dcterms:created>
  <dcterms:modified xsi:type="dcterms:W3CDTF">2026-10-13T06:49:46Z</dcterms:modified>
</cp:coreProperties>
</file>