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F08A24"/>
              </a:solidFill>
              <a:effectLst/>
            </c:spPr>
          </c:dPt>
          <c:dPt>
            <c:idx val="2"/>
            <c:invertIfNegative val="0"/>
            <c:bubble3D val="0"/>
            <c:spPr>
              <a:solidFill>
                <a:srgbClr val="0F1B2D"/>
              </a:solidFill>
              <a:effectLst/>
            </c:spPr>
          </c:dPt>
          <c:dPt>
            <c:idx val="3"/>
            <c:invertIfNegative val="0"/>
            <c:bubble3D val="0"/>
            <c:spPr>
              <a:solidFill>
                <a:srgbClr val="0F1B2D"/>
              </a:solidFill>
              <a:effectLst/>
            </c:spPr>
          </c:dPt>
          <c:cat>
            <c:multiLvlStrRef>
              <c:f>Sheet1!$A$2:$A$5</c:f>
              <c:multiLvlStrCache>
                <c:ptCount val="4"/>
                <c:lvl>
                  <c:pt idx="0">
                    <c:v>CNN only</c:v>
                  </c:pt>
                  <c:pt idx="1">
                    <c:v>BiLSTM only</c:v>
                  </c:pt>
                  <c:pt idx="2">
                    <c:v>No attention</c:v>
                  </c:pt>
                  <c:pt idx="3">
                    <c:v>Full ICRNNA</c:v>
                  </c:pt>
                </c:lvl>
              </c:multiLvlStrCache>
            </c:multiLvlStrRef>
          </c:cat>
          <c:val>
            <c:numRef>
              <c:f>Sheet1!$B$2:$B$5</c:f>
              <c:numCache>
                <c:formatCode>General</c:formatCode>
                <c:ptCount val="4"/>
                <c:pt idx="0">
                  <c:v>59.9</c:v>
                </c:pt>
                <c:pt idx="1">
                  <c:v>63.1</c:v>
                </c:pt>
                <c:pt idx="2">
                  <c:v>62.8</c:v>
                </c:pt>
                <c:pt idx="3">
                  <c:v>63.2</c:v>
                </c:pt>
              </c:numCache>
            </c:numRef>
          </c:val>
        </c:ser>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their Table 5</c:v>
                </c:pt>
              </c:strCache>
            </c:strRef>
          </c:tx>
          <c:spPr>
            <a:solidFill>
              <a:srgbClr val="0F1B2D"/>
            </a:solidFill>
            <a:ln w="5080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0F1B2D"/>
              </a:solidFill>
              <a:ln w="9525" cap="flat">
                <a:solidFill>
                  <a:srgbClr val="0F1B2D"/>
                </a:solidFill>
                <a:prstDash val="solid"/>
                <a:round/>
              </a:ln>
              <a:effectLst/>
            </c:spPr>
          </c:marker>
          <c:cat>
            <c:multiLvlStrRef>
              <c:f>Sheet1!$A$2:$A$9</c:f>
              <c:multiLvlStrCache>
                <c:ptCount val="8"/>
                <c:lvl>
                  <c:pt idx="0">
                    <c:v>−10 dB</c:v>
                  </c:pt>
                  <c:pt idx="1">
                    <c:v>−8 dB</c:v>
                  </c:pt>
                  <c:pt idx="2">
                    <c:v>−6 dB</c:v>
                  </c:pt>
                  <c:pt idx="3">
                    <c:v>−4 dB</c:v>
                  </c:pt>
                  <c:pt idx="4">
                    <c:v>−2 dB</c:v>
                  </c:pt>
                  <c:pt idx="5">
                    <c:v>0 dB</c:v>
                  </c:pt>
                  <c:pt idx="6">
                    <c:v>2 dB</c:v>
                  </c:pt>
                  <c:pt idx="7">
                    <c:v>4 dB</c:v>
                  </c:pt>
                </c:lvl>
              </c:multiLvlStrCache>
            </c:multiLvlStrRef>
          </c:cat>
          <c:val>
            <c:numRef>
              <c:f>Sheet1!$B$2:$B$9</c:f>
              <c:numCache>
                <c:formatCode>General</c:formatCode>
                <c:ptCount val="8"/>
                <c:pt idx="0">
                  <c:v>25.32</c:v>
                </c:pt>
                <c:pt idx="1">
                  <c:v>37.45</c:v>
                </c:pt>
                <c:pt idx="2">
                  <c:v>55.26</c:v>
                </c:pt>
                <c:pt idx="3">
                  <c:v>71.13</c:v>
                </c:pt>
                <c:pt idx="4">
                  <c:v>85.11</c:v>
                </c:pt>
                <c:pt idx="5">
                  <c:v>92.21</c:v>
                </c:pt>
                <c:pt idx="6">
                  <c:v>93.4</c:v>
                </c:pt>
                <c:pt idx="7">
                  <c:v>93.02</c:v>
                </c:pt>
              </c:numCache>
            </c:numRef>
          </c:val>
          <c:smooth val="0"/>
        </c:ser>
        <c:ser>
          <c:idx val="1"/>
          <c:order val="1"/>
          <c:tx>
            <c:strRef>
              <c:f>Sheet1!$C$1</c:f>
              <c:strCache>
                <c:ptCount val="1"/>
                <c:pt idx="0">
                  <c:v>our rebuild</c:v>
                </c:pt>
              </c:strCache>
            </c:strRef>
          </c:tx>
          <c:spPr>
            <a:solidFill>
              <a:srgbClr val="F08A24"/>
            </a:solidFill>
            <a:ln w="5080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F08A24"/>
              </a:solidFill>
              <a:ln w="9525" cap="flat">
                <a:solidFill>
                  <a:srgbClr val="F08A24"/>
                </a:solidFill>
                <a:prstDash val="solid"/>
                <a:round/>
              </a:ln>
              <a:effectLst/>
            </c:spPr>
          </c:marker>
          <c:cat>
            <c:multiLvlStrRef>
              <c:f>Sheet1!$A$2:$A$9</c:f>
              <c:multiLvlStrCache>
                <c:ptCount val="8"/>
                <c:lvl>
                  <c:pt idx="0">
                    <c:v>−10 dB</c:v>
                  </c:pt>
                  <c:pt idx="1">
                    <c:v>−8 dB</c:v>
                  </c:pt>
                  <c:pt idx="2">
                    <c:v>−6 dB</c:v>
                  </c:pt>
                  <c:pt idx="3">
                    <c:v>−4 dB</c:v>
                  </c:pt>
                  <c:pt idx="4">
                    <c:v>−2 dB</c:v>
                  </c:pt>
                  <c:pt idx="5">
                    <c:v>0 dB</c:v>
                  </c:pt>
                  <c:pt idx="6">
                    <c:v>2 dB</c:v>
                  </c:pt>
                  <c:pt idx="7">
                    <c:v>4 dB</c:v>
                  </c:pt>
                </c:lvl>
              </c:multiLvlStrCache>
            </c:multiLvlStrRef>
          </c:cat>
          <c:val>
            <c:numRef>
              <c:f>Sheet1!$C$2:$C$9</c:f>
              <c:numCache>
                <c:formatCode>General</c:formatCode>
                <c:ptCount val="8"/>
                <c:pt idx="0">
                  <c:v>24.42</c:v>
                </c:pt>
                <c:pt idx="1">
                  <c:v>40.06</c:v>
                </c:pt>
                <c:pt idx="2">
                  <c:v>60.55</c:v>
                </c:pt>
                <c:pt idx="3">
                  <c:v>74.48</c:v>
                </c:pt>
                <c:pt idx="4">
                  <c:v>86.55</c:v>
                </c:pt>
                <c:pt idx="5">
                  <c:v>91.33</c:v>
                </c:pt>
                <c:pt idx="6">
                  <c:v>91.7</c:v>
                </c:pt>
                <c:pt idx="7">
                  <c:v>92.48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8EE"/>
              </a:solidFill>
              <a:prstDash val="solid"/>
              <a:round/>
            </a:ln>
          </c:spPr>
        </c:majorGridlines>
        <c:title>
          <c:tx>
            <c:rich>
              <a:bodyPr/>
              <a:lstStyle/>
              <a:p>
                <a:pPr>
                  <a:defRPr sz="1600" b="0" i="0" u="none" strike="noStrike">
                    <a:solidFill>
                      <a:srgbClr val="5B6B7F"/>
                    </a:solidFill>
                    <a:latin typeface="Arial"/>
                  </a:defRPr>
                </a:pPr>
                <a:r>
                  <a:rPr sz="1600" b="0" i="0" u="none" strike="noStrike">
                    <a:solidFill>
                      <a:srgbClr val="5B6B7F"/>
                    </a:solidFill>
                    <a:latin typeface="Arial"/>
                  </a:rPr>
                  <a:t>accuracy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5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8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I'll walk through one paper: the one our detector comes from. ICRNNA, by El-Haryqy and colleagues, in Results in Engineering, 2025. First, what the paper says. Then, what we found when we rebuilt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makes three claims. One: the best accuracy on RML2016.10a, 63.24 percent. Two: it is small and fast, with 0.79 million parameters and 48 million operations. Three: it is especially good at low SNR.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has four parts. A CNN, two convolution layers, looks at short pieces of the signal. Two bidirectional LSTM layers read those pieces in order, forwards and backwards. An attention layer weighs the pieces. And two dense layers make the decision among the eleven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Attention is one formula. Each time step gets a score. A softmax turns the scores into weights that add up to one. The output is the weighted sum. What the paper calls improved is three additions: scaling the scores, dropout, and layer normalization.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they trained it. RML2016.10a: eleven types, 220,000 frames of 128 samples. Split 70, 15, 15. Batch 32, learning rate 0.001, cut by five when the validation loss stalls, and 58 epochs. Please remember that number, 58. They also test the larger 2016.10b; I stay with 10a, because that is the one we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their main table, on 2016.10a. ICRNNA is first, at 63.24. The runner-up, CNN-BiLSTM-DNN, is half a point behind. The well-known models, MCLDNN and PET-CGDNN,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SNR. Below minus 10 dB it is close to 9 percent, which is chance with eleven classes. It climbs steeply between minus 10 and 0 dB. From 0 dB up it stays around 93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fail? This is their matrix at 0 dB. Two problems are left. WBFM is called AM-DSB more often than WBFM: 58 percent of the time. And QAM16 and QAM64 are mixed up, about 6 percent each way. Those are the same two problems we see in our own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part matters? They removed parts one at a time. CNN alone: 59.9. BiLSTM alone: 63.1. Everything but the attention: 62.8. The full model: 63.2. So the BiLSTM does almost all the work, and attention adds less than half a point. That matches our version, where 84 percent of the parameters are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does it hold up? I rebuilt the model from the paper and checked the numbers against their own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the model from the paper's text alone. The size matches: 794,827 parameters, their 0.79 million. With their recipe and their 58 epochs, I got 61.75 percent over three runs, and two of the three were still improving at the last epoch. Their own training curve, on the right, is also still rising at epoch 58. So I let it train longer. It peaked at epoch 107, at 63.21 percent. Their 63.24 is real. It just needs more than 58 epochs.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SNR, my rebuild and their table agree. Mine is a few points higher at minus 6 and minus 4 dB, theirs a point or two higher at 0 and 2 dB. Same model, same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 numbers. One: best at low SNR. In their own Table 5, CNN-BiLSTM-DNN is higher at minus 10 and minus 8 dB, and MCLDNN at minus 6. Two: the full model has the highest precision. In Table 6, the BiLSTM-only model is higher. Three: MCLDNN is listed with 406 million parameters. It has 406 thousand. We counted it, and three other papers agree.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three seeds we see up to a point of variation, so a half-point lead may not be real. It doesn't say whether the other models were retrained on the same split or copied from their papers. And it treats the SNR label as a true SNR. In this data it isn't: at label 0 dB, QAM16 frames have about 9 dB more signal than QPSK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ran the comparison myself, with one protocol for every model: same data, same split, three seeds. Our numbers for MCLDNN and PET-CGDNN match their Table 3 within half a point. ICRNNA is first, but LSTM2, MCLDNN and PET-CGDNN are all within about one point. Above 10 dB all four stop near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The model and its 63.24 percent are reproducible, if you train it long enough. Its lead over other models is about one point, and the BiLSTM does most of the work. And a few claims don't match the paper's own tables. For us, that makes ICRNNA a solid backbone, but not a clearly better one.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REVIEW</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0972800" cy="457200"/>
          </a:xfrm>
          <a:prstGeom prst="rect">
            <a:avLst/>
          </a:prstGeom>
          <a:noFill/>
          <a:ln/>
        </p:spPr>
        <p:txBody>
          <a:bodyPr wrap="square" lIns="0" tIns="0" rIns="0" bIns="0" rtlCol="0" anchor="t"/>
          <a:lstStyle/>
          <a:p>
            <a:pPr indent="0" marL="0">
              <a:buNone/>
            </a:pPr>
            <a:r>
              <a:rPr lang="en-US" sz="1800" dirty="0">
                <a:solidFill>
                  <a:srgbClr val="9AA8BA"/>
                </a:solidFill>
                <a:latin typeface="Calibri" pitchFamily="34" charset="0"/>
                <a:ea typeface="Calibri" pitchFamily="34" charset="-122"/>
                <a:cs typeface="Calibri" pitchFamily="34" charset="-120"/>
              </a:rPr>
              <a:t>El-Haryqy, Kharbouche, Ouamna, Madini, Zouine  ·  Results in Engineering 26 (2025) 104783</a:t>
            </a:r>
            <a:endParaRPr lang="en-US" sz="18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CNN</a:t>
            </a:r>
            <a:endParaRPr lang="en-US" sz="2000" dirty="0"/>
          </a:p>
        </p:txBody>
      </p:sp>
      <p:sp>
        <p:nvSpPr>
          <p:cNvPr id="8" name="Shape 6"/>
          <p:cNvSpPr/>
          <p:nvPr/>
        </p:nvSpPr>
        <p:spPr>
          <a:xfrm>
            <a:off x="2514600" y="4526280"/>
            <a:ext cx="365760" cy="411480"/>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BiLSTM</a:t>
            </a:r>
            <a:endParaRPr lang="en-US" sz="2000" dirty="0"/>
          </a:p>
        </p:txBody>
      </p:sp>
      <p:sp>
        <p:nvSpPr>
          <p:cNvPr id="11" name="Shape 9"/>
          <p:cNvSpPr/>
          <p:nvPr/>
        </p:nvSpPr>
        <p:spPr>
          <a:xfrm>
            <a:off x="4892040" y="4526280"/>
            <a:ext cx="365760" cy="411480"/>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Attention</a:t>
            </a:r>
            <a:endParaRPr lang="en-US" sz="2000" dirty="0"/>
          </a:p>
        </p:txBody>
      </p:sp>
      <p:sp>
        <p:nvSpPr>
          <p:cNvPr id="14" name="Shape 12"/>
          <p:cNvSpPr/>
          <p:nvPr/>
        </p:nvSpPr>
        <p:spPr>
          <a:xfrm>
            <a:off x="7269480" y="4526280"/>
            <a:ext cx="365760" cy="411480"/>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Dense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claims</a:t>
            </a:r>
            <a:endParaRPr lang="en-US" sz="3400" dirty="0"/>
          </a:p>
        </p:txBody>
      </p:sp>
      <p:sp>
        <p:nvSpPr>
          <p:cNvPr id="4" name="Shape 2"/>
          <p:cNvSpPr/>
          <p:nvPr/>
        </p:nvSpPr>
        <p:spPr>
          <a:xfrm>
            <a:off x="548640" y="1600200"/>
            <a:ext cx="3429000" cy="2514600"/>
          </a:xfrm>
          <a:prstGeom prst="roundRect">
            <a:avLst>
              <a:gd name="adj" fmla="val 4364"/>
            </a:avLst>
          </a:prstGeom>
          <a:solidFill>
            <a:srgbClr val="EEF2F6"/>
          </a:solidFill>
          <a:ln w="12700">
            <a:solidFill>
              <a:srgbClr val="EEF2F6"/>
            </a:solidFill>
            <a:prstDash val="solid"/>
          </a:ln>
        </p:spPr>
      </p:sp>
      <p:sp>
        <p:nvSpPr>
          <p:cNvPr id="5" name="Text 3"/>
          <p:cNvSpPr txBox="1"/>
          <p:nvPr/>
        </p:nvSpPr>
        <p:spPr>
          <a:xfrm>
            <a:off x="868680" y="1783080"/>
            <a:ext cx="2834640" cy="96012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63.24%</a:t>
            </a:r>
            <a:endParaRPr lang="en-US" sz="6000" dirty="0"/>
          </a:p>
        </p:txBody>
      </p:sp>
      <p:sp>
        <p:nvSpPr>
          <p:cNvPr id="6" name="Text 4"/>
          <p:cNvSpPr txBox="1"/>
          <p:nvPr/>
        </p:nvSpPr>
        <p:spPr>
          <a:xfrm>
            <a:off x="868680" y="2788920"/>
            <a:ext cx="283464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highest accuracy on RML2016.10a</a:t>
            </a:r>
            <a:endParaRPr lang="en-US" sz="2000" dirty="0"/>
          </a:p>
        </p:txBody>
      </p:sp>
      <p:sp>
        <p:nvSpPr>
          <p:cNvPr id="7" name="Shape 5"/>
          <p:cNvSpPr/>
          <p:nvPr/>
        </p:nvSpPr>
        <p:spPr>
          <a:xfrm>
            <a:off x="4343400" y="1600200"/>
            <a:ext cx="3429000" cy="2514600"/>
          </a:xfrm>
          <a:prstGeom prst="roundRect">
            <a:avLst>
              <a:gd name="adj" fmla="val 4364"/>
            </a:avLst>
          </a:prstGeom>
          <a:solidFill>
            <a:srgbClr val="EEF2F6"/>
          </a:solidFill>
          <a:ln w="12700">
            <a:solidFill>
              <a:srgbClr val="EEF2F6"/>
            </a:solidFill>
            <a:prstDash val="solid"/>
          </a:ln>
        </p:spPr>
      </p:sp>
      <p:sp>
        <p:nvSpPr>
          <p:cNvPr id="8" name="Text 6"/>
          <p:cNvSpPr txBox="1"/>
          <p:nvPr/>
        </p:nvSpPr>
        <p:spPr>
          <a:xfrm>
            <a:off x="4663440" y="1783080"/>
            <a:ext cx="2834640" cy="96012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0.79 M</a:t>
            </a:r>
            <a:endParaRPr lang="en-US" sz="6000" dirty="0"/>
          </a:p>
        </p:txBody>
      </p:sp>
      <p:sp>
        <p:nvSpPr>
          <p:cNvPr id="9" name="Text 7"/>
          <p:cNvSpPr txBox="1"/>
          <p:nvPr/>
        </p:nvSpPr>
        <p:spPr>
          <a:xfrm>
            <a:off x="4663440" y="2788920"/>
            <a:ext cx="283464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parameters</a:t>
            </a:r>
            <a:endParaRPr lang="en-US" sz="2000" dirty="0"/>
          </a:p>
        </p:txBody>
      </p:sp>
      <p:sp>
        <p:nvSpPr>
          <p:cNvPr id="10" name="Shape 8"/>
          <p:cNvSpPr/>
          <p:nvPr/>
        </p:nvSpPr>
        <p:spPr>
          <a:xfrm>
            <a:off x="8138160" y="1600200"/>
            <a:ext cx="3429000" cy="2514600"/>
          </a:xfrm>
          <a:prstGeom prst="roundRect">
            <a:avLst>
              <a:gd name="adj" fmla="val 4364"/>
            </a:avLst>
          </a:prstGeom>
          <a:solidFill>
            <a:srgbClr val="EEF2F6"/>
          </a:solidFill>
          <a:ln w="12700">
            <a:solidFill>
              <a:srgbClr val="EEF2F6"/>
            </a:solidFill>
            <a:prstDash val="solid"/>
          </a:ln>
        </p:spPr>
      </p:sp>
      <p:sp>
        <p:nvSpPr>
          <p:cNvPr id="11" name="Text 9"/>
          <p:cNvSpPr txBox="1"/>
          <p:nvPr/>
        </p:nvSpPr>
        <p:spPr>
          <a:xfrm>
            <a:off x="8458200" y="1783080"/>
            <a:ext cx="2834640" cy="96012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48.42</a:t>
            </a:r>
            <a:endParaRPr lang="en-US" sz="6000" dirty="0"/>
          </a:p>
        </p:txBody>
      </p:sp>
      <p:sp>
        <p:nvSpPr>
          <p:cNvPr id="12" name="Text 10"/>
          <p:cNvSpPr txBox="1"/>
          <p:nvPr/>
        </p:nvSpPr>
        <p:spPr>
          <a:xfrm>
            <a:off x="8458200" y="2788920"/>
            <a:ext cx="283464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MFLOPs</a:t>
            </a:r>
            <a:endParaRPr lang="en-US" sz="2000" dirty="0"/>
          </a:p>
        </p:txBody>
      </p:sp>
      <p:sp>
        <p:nvSpPr>
          <p:cNvPr id="13" name="Text 11"/>
          <p:cNvSpPr txBox="1"/>
          <p:nvPr/>
        </p:nvSpPr>
        <p:spPr>
          <a:xfrm>
            <a:off x="548640" y="4572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And: especially good at low SNR.</a:t>
            </a:r>
            <a:endParaRPr lang="en-US" sz="2400" dirty="0"/>
          </a:p>
        </p:txBody>
      </p:sp>
      <p:sp>
        <p:nvSpPr>
          <p:cNvPr id="15" name="Text 1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four parts</a:t>
            </a:r>
            <a:endParaRPr lang="en-US" sz="3400" dirty="0"/>
          </a:p>
        </p:txBody>
      </p:sp>
      <p:sp>
        <p:nvSpPr>
          <p:cNvPr id="4" name="Shape 2"/>
          <p:cNvSpPr/>
          <p:nvPr/>
        </p:nvSpPr>
        <p:spPr>
          <a:xfrm>
            <a:off x="548640" y="1828800"/>
            <a:ext cx="1874520" cy="2377440"/>
          </a:xfrm>
          <a:prstGeom prst="roundRect">
            <a:avLst>
              <a:gd name="adj" fmla="val 5854"/>
            </a:avLst>
          </a:prstGeom>
          <a:solidFill>
            <a:srgbClr val="EEF2F6"/>
          </a:solidFill>
          <a:ln w="12700">
            <a:solidFill>
              <a:srgbClr val="EEF2F6"/>
            </a:solidFill>
            <a:prstDash val="solid"/>
          </a:ln>
        </p:spPr>
      </p:sp>
      <p:sp>
        <p:nvSpPr>
          <p:cNvPr id="5" name="Text 3"/>
          <p:cNvSpPr txBox="1"/>
          <p:nvPr/>
        </p:nvSpPr>
        <p:spPr>
          <a:xfrm>
            <a:off x="548640" y="2011680"/>
            <a:ext cx="1874520" cy="548640"/>
          </a:xfrm>
          <a:prstGeom prst="rect">
            <a:avLst/>
          </a:prstGeom>
          <a:noFill/>
          <a:ln/>
        </p:spPr>
        <p:txBody>
          <a:bodyPr wrap="square" lIns="0" tIns="0" rIns="0" bIns="0" rtlCol="0" anchor="t"/>
          <a:lstStyle/>
          <a:p>
            <a:pPr algn="ctr" indent="0" marL="0">
              <a:buNone/>
            </a:pPr>
            <a:r>
              <a:rPr lang="en-US" sz="2600" b="1" dirty="0">
                <a:solidFill>
                  <a:srgbClr val="1E293B"/>
                </a:solidFill>
                <a:latin typeface="Calibri" pitchFamily="34" charset="0"/>
                <a:ea typeface="Calibri" pitchFamily="34" charset="-122"/>
                <a:cs typeface="Calibri" pitchFamily="34" charset="-120"/>
              </a:rPr>
              <a:t>Input</a:t>
            </a:r>
            <a:endParaRPr lang="en-US" sz="2600" dirty="0"/>
          </a:p>
        </p:txBody>
      </p:sp>
      <p:sp>
        <p:nvSpPr>
          <p:cNvPr id="6" name="Text 4"/>
          <p:cNvSpPr txBox="1"/>
          <p:nvPr/>
        </p:nvSpPr>
        <p:spPr>
          <a:xfrm>
            <a:off x="640080" y="2743200"/>
            <a:ext cx="1691640" cy="1280160"/>
          </a:xfrm>
          <a:prstGeom prst="rect">
            <a:avLst/>
          </a:prstGeom>
          <a:noFill/>
          <a:ln/>
        </p:spPr>
        <p:txBody>
          <a:bodyPr wrap="square" lIns="0" tIns="0" rIns="0" bIns="0" rtlCol="0" anchor="t"/>
          <a:lstStyle/>
          <a:p>
            <a:pPr algn="ctr" indent="0" marL="0">
              <a:buNone/>
            </a:pPr>
            <a:r>
              <a:rPr lang="en-US" sz="1800" dirty="0">
                <a:solidFill>
                  <a:srgbClr val="1E293B"/>
                </a:solidFill>
                <a:latin typeface="Calibri" pitchFamily="34" charset="0"/>
                <a:ea typeface="Calibri" pitchFamily="34" charset="-122"/>
                <a:cs typeface="Calibri" pitchFamily="34" charset="-120"/>
              </a:rPr>
              <a:t>I and Q</a:t>
            </a:r>
            <a:endParaRPr lang="en-US" sz="1800" dirty="0"/>
          </a:p>
          <a:p>
            <a:pPr algn="ctr" indent="0" marL="0">
              <a:buNone/>
            </a:pPr>
            <a:r>
              <a:rPr lang="en-US" sz="1800" dirty="0">
                <a:solidFill>
                  <a:srgbClr val="1E293B"/>
                </a:solidFill>
                <a:latin typeface="Calibri" pitchFamily="34" charset="0"/>
                <a:ea typeface="Calibri" pitchFamily="34" charset="-122"/>
                <a:cs typeface="Calibri" pitchFamily="34" charset="-120"/>
              </a:rPr>
              <a:t>2 × 128</a:t>
            </a:r>
            <a:endParaRPr lang="en-US" sz="1800" dirty="0"/>
          </a:p>
        </p:txBody>
      </p:sp>
      <p:sp>
        <p:nvSpPr>
          <p:cNvPr id="7" name="Shape 5"/>
          <p:cNvSpPr/>
          <p:nvPr/>
        </p:nvSpPr>
        <p:spPr>
          <a:xfrm>
            <a:off x="2423160" y="2788920"/>
            <a:ext cx="393192" cy="411480"/>
          </a:xfrm>
          <a:prstGeom prst="rightArrow">
            <a:avLst/>
          </a:prstGeom>
          <a:solidFill>
            <a:srgbClr val="F08A24"/>
          </a:solidFill>
          <a:ln w="12700">
            <a:solidFill>
              <a:srgbClr val="F08A24"/>
            </a:solidFill>
            <a:prstDash val="solid"/>
          </a:ln>
        </p:spPr>
      </p:sp>
      <p:sp>
        <p:nvSpPr>
          <p:cNvPr id="8" name="Shape 6"/>
          <p:cNvSpPr/>
          <p:nvPr/>
        </p:nvSpPr>
        <p:spPr>
          <a:xfrm>
            <a:off x="2816352" y="1828800"/>
            <a:ext cx="1874520" cy="2377440"/>
          </a:xfrm>
          <a:prstGeom prst="roundRect">
            <a:avLst>
              <a:gd name="adj" fmla="val 5854"/>
            </a:avLst>
          </a:prstGeom>
          <a:solidFill>
            <a:srgbClr val="0F1B2D"/>
          </a:solidFill>
          <a:ln w="12700">
            <a:solidFill>
              <a:srgbClr val="0F1B2D"/>
            </a:solidFill>
            <a:prstDash val="solid"/>
          </a:ln>
        </p:spPr>
      </p:sp>
      <p:sp>
        <p:nvSpPr>
          <p:cNvPr id="9" name="Text 7"/>
          <p:cNvSpPr txBox="1"/>
          <p:nvPr/>
        </p:nvSpPr>
        <p:spPr>
          <a:xfrm>
            <a:off x="2816352" y="2011680"/>
            <a:ext cx="1874520" cy="548640"/>
          </a:xfrm>
          <a:prstGeom prst="rect">
            <a:avLst/>
          </a:prstGeom>
          <a:noFill/>
          <a:ln/>
        </p:spPr>
        <p:txBody>
          <a:bodyPr wrap="square" lIns="0" tIns="0" rIns="0" bIns="0" rtlCol="0" anchor="t"/>
          <a:lstStyle/>
          <a:p>
            <a:pPr algn="ctr" indent="0" marL="0">
              <a:buNone/>
            </a:pPr>
            <a:r>
              <a:rPr lang="en-US" sz="2600" b="1" dirty="0">
                <a:solidFill>
                  <a:srgbClr val="FFFFFF"/>
                </a:solidFill>
                <a:latin typeface="Calibri" pitchFamily="34" charset="0"/>
                <a:ea typeface="Calibri" pitchFamily="34" charset="-122"/>
                <a:cs typeface="Calibri" pitchFamily="34" charset="-120"/>
              </a:rPr>
              <a:t>CNN</a:t>
            </a:r>
            <a:endParaRPr lang="en-US" sz="2600" dirty="0"/>
          </a:p>
        </p:txBody>
      </p:sp>
      <p:sp>
        <p:nvSpPr>
          <p:cNvPr id="10" name="Text 8"/>
          <p:cNvSpPr txBox="1"/>
          <p:nvPr/>
        </p:nvSpPr>
        <p:spPr>
          <a:xfrm>
            <a:off x="2907792" y="2743200"/>
            <a:ext cx="1691640" cy="128016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2 conv layers</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64, 128 filters</a:t>
            </a:r>
            <a:endParaRPr lang="en-US" sz="1800" dirty="0"/>
          </a:p>
        </p:txBody>
      </p:sp>
      <p:sp>
        <p:nvSpPr>
          <p:cNvPr id="11" name="Shape 9"/>
          <p:cNvSpPr/>
          <p:nvPr/>
        </p:nvSpPr>
        <p:spPr>
          <a:xfrm>
            <a:off x="4690872" y="2788920"/>
            <a:ext cx="393192" cy="411480"/>
          </a:xfrm>
          <a:prstGeom prst="rightArrow">
            <a:avLst/>
          </a:prstGeom>
          <a:solidFill>
            <a:srgbClr val="F08A24"/>
          </a:solidFill>
          <a:ln w="12700">
            <a:solidFill>
              <a:srgbClr val="F08A24"/>
            </a:solidFill>
            <a:prstDash val="solid"/>
          </a:ln>
        </p:spPr>
      </p:sp>
      <p:sp>
        <p:nvSpPr>
          <p:cNvPr id="12" name="Shape 10"/>
          <p:cNvSpPr/>
          <p:nvPr/>
        </p:nvSpPr>
        <p:spPr>
          <a:xfrm>
            <a:off x="5084064" y="1828800"/>
            <a:ext cx="1874520" cy="2377440"/>
          </a:xfrm>
          <a:prstGeom prst="roundRect">
            <a:avLst>
              <a:gd name="adj" fmla="val 5854"/>
            </a:avLst>
          </a:prstGeom>
          <a:solidFill>
            <a:srgbClr val="F08A24"/>
          </a:solidFill>
          <a:ln w="12700">
            <a:solidFill>
              <a:srgbClr val="F08A24"/>
            </a:solidFill>
            <a:prstDash val="solid"/>
          </a:ln>
        </p:spPr>
      </p:sp>
      <p:sp>
        <p:nvSpPr>
          <p:cNvPr id="13" name="Text 11"/>
          <p:cNvSpPr txBox="1"/>
          <p:nvPr/>
        </p:nvSpPr>
        <p:spPr>
          <a:xfrm>
            <a:off x="5084064" y="2011680"/>
            <a:ext cx="1874520" cy="548640"/>
          </a:xfrm>
          <a:prstGeom prst="rect">
            <a:avLst/>
          </a:prstGeom>
          <a:noFill/>
          <a:ln/>
        </p:spPr>
        <p:txBody>
          <a:bodyPr wrap="square" lIns="0" tIns="0" rIns="0" bIns="0" rtlCol="0" anchor="t"/>
          <a:lstStyle/>
          <a:p>
            <a:pPr algn="ctr" indent="0" marL="0">
              <a:buNone/>
            </a:pPr>
            <a:r>
              <a:rPr lang="en-US" sz="2600" b="1" dirty="0">
                <a:solidFill>
                  <a:srgbClr val="FFFFFF"/>
                </a:solidFill>
                <a:latin typeface="Calibri" pitchFamily="34" charset="0"/>
                <a:ea typeface="Calibri" pitchFamily="34" charset="-122"/>
                <a:cs typeface="Calibri" pitchFamily="34" charset="-120"/>
              </a:rPr>
              <a:t>BiLSTM</a:t>
            </a:r>
            <a:endParaRPr lang="en-US" sz="2600" dirty="0"/>
          </a:p>
        </p:txBody>
      </p:sp>
      <p:sp>
        <p:nvSpPr>
          <p:cNvPr id="14" name="Text 12"/>
          <p:cNvSpPr txBox="1"/>
          <p:nvPr/>
        </p:nvSpPr>
        <p:spPr>
          <a:xfrm>
            <a:off x="5175504" y="2743200"/>
            <a:ext cx="1691640" cy="128016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2 layers</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128 each way</a:t>
            </a:r>
            <a:endParaRPr lang="en-US" sz="1800" dirty="0"/>
          </a:p>
        </p:txBody>
      </p:sp>
      <p:sp>
        <p:nvSpPr>
          <p:cNvPr id="15" name="Shape 13"/>
          <p:cNvSpPr/>
          <p:nvPr/>
        </p:nvSpPr>
        <p:spPr>
          <a:xfrm>
            <a:off x="6958584" y="2788920"/>
            <a:ext cx="393192" cy="411480"/>
          </a:xfrm>
          <a:prstGeom prst="rightArrow">
            <a:avLst/>
          </a:prstGeom>
          <a:solidFill>
            <a:srgbClr val="F08A24"/>
          </a:solidFill>
          <a:ln w="12700">
            <a:solidFill>
              <a:srgbClr val="F08A24"/>
            </a:solidFill>
            <a:prstDash val="solid"/>
          </a:ln>
        </p:spPr>
      </p:sp>
      <p:sp>
        <p:nvSpPr>
          <p:cNvPr id="16" name="Shape 14"/>
          <p:cNvSpPr/>
          <p:nvPr/>
        </p:nvSpPr>
        <p:spPr>
          <a:xfrm>
            <a:off x="7351776" y="1828800"/>
            <a:ext cx="1874520" cy="2377440"/>
          </a:xfrm>
          <a:prstGeom prst="roundRect">
            <a:avLst>
              <a:gd name="adj" fmla="val 5854"/>
            </a:avLst>
          </a:prstGeom>
          <a:solidFill>
            <a:srgbClr val="0F1B2D"/>
          </a:solidFill>
          <a:ln w="12700">
            <a:solidFill>
              <a:srgbClr val="0F1B2D"/>
            </a:solidFill>
            <a:prstDash val="solid"/>
          </a:ln>
        </p:spPr>
      </p:sp>
      <p:sp>
        <p:nvSpPr>
          <p:cNvPr id="17" name="Text 15"/>
          <p:cNvSpPr txBox="1"/>
          <p:nvPr/>
        </p:nvSpPr>
        <p:spPr>
          <a:xfrm>
            <a:off x="7351776" y="2011680"/>
            <a:ext cx="1874520" cy="548640"/>
          </a:xfrm>
          <a:prstGeom prst="rect">
            <a:avLst/>
          </a:prstGeom>
          <a:noFill/>
          <a:ln/>
        </p:spPr>
        <p:txBody>
          <a:bodyPr wrap="square" lIns="0" tIns="0" rIns="0" bIns="0" rtlCol="0" anchor="t"/>
          <a:lstStyle/>
          <a:p>
            <a:pPr algn="ctr" indent="0" marL="0">
              <a:buNone/>
            </a:pPr>
            <a:r>
              <a:rPr lang="en-US" sz="2600" b="1" dirty="0">
                <a:solidFill>
                  <a:srgbClr val="FFFFFF"/>
                </a:solidFill>
                <a:latin typeface="Calibri" pitchFamily="34" charset="0"/>
                <a:ea typeface="Calibri" pitchFamily="34" charset="-122"/>
                <a:cs typeface="Calibri" pitchFamily="34" charset="-120"/>
              </a:rPr>
              <a:t>Attention</a:t>
            </a:r>
            <a:endParaRPr lang="en-US" sz="2600" dirty="0"/>
          </a:p>
        </p:txBody>
      </p:sp>
      <p:sp>
        <p:nvSpPr>
          <p:cNvPr id="18" name="Text 16"/>
          <p:cNvSpPr txBox="1"/>
          <p:nvPr/>
        </p:nvSpPr>
        <p:spPr>
          <a:xfrm>
            <a:off x="7443216" y="2743200"/>
            <a:ext cx="1691640" cy="128016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weighs the</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 time steps</a:t>
            </a:r>
            <a:endParaRPr lang="en-US" sz="1800" dirty="0"/>
          </a:p>
        </p:txBody>
      </p:sp>
      <p:sp>
        <p:nvSpPr>
          <p:cNvPr id="19" name="Shape 17"/>
          <p:cNvSpPr/>
          <p:nvPr/>
        </p:nvSpPr>
        <p:spPr>
          <a:xfrm>
            <a:off x="9226296" y="2788920"/>
            <a:ext cx="393192" cy="411480"/>
          </a:xfrm>
          <a:prstGeom prst="rightArrow">
            <a:avLst/>
          </a:prstGeom>
          <a:solidFill>
            <a:srgbClr val="F08A24"/>
          </a:solidFill>
          <a:ln w="12700">
            <a:solidFill>
              <a:srgbClr val="F08A24"/>
            </a:solidFill>
            <a:prstDash val="solid"/>
          </a:ln>
        </p:spPr>
      </p:sp>
      <p:sp>
        <p:nvSpPr>
          <p:cNvPr id="20" name="Shape 18"/>
          <p:cNvSpPr/>
          <p:nvPr/>
        </p:nvSpPr>
        <p:spPr>
          <a:xfrm>
            <a:off x="9619488" y="1828800"/>
            <a:ext cx="1874520" cy="2377440"/>
          </a:xfrm>
          <a:prstGeom prst="roundRect">
            <a:avLst>
              <a:gd name="adj" fmla="val 5854"/>
            </a:avLst>
          </a:prstGeom>
          <a:solidFill>
            <a:srgbClr val="0F1B2D"/>
          </a:solidFill>
          <a:ln w="12700">
            <a:solidFill>
              <a:srgbClr val="0F1B2D"/>
            </a:solidFill>
            <a:prstDash val="solid"/>
          </a:ln>
        </p:spPr>
      </p:sp>
      <p:sp>
        <p:nvSpPr>
          <p:cNvPr id="21" name="Text 19"/>
          <p:cNvSpPr txBox="1"/>
          <p:nvPr/>
        </p:nvSpPr>
        <p:spPr>
          <a:xfrm>
            <a:off x="9619488" y="2011680"/>
            <a:ext cx="1874520" cy="548640"/>
          </a:xfrm>
          <a:prstGeom prst="rect">
            <a:avLst/>
          </a:prstGeom>
          <a:noFill/>
          <a:ln/>
        </p:spPr>
        <p:txBody>
          <a:bodyPr wrap="square" lIns="0" tIns="0" rIns="0" bIns="0" rtlCol="0" anchor="t"/>
          <a:lstStyle/>
          <a:p>
            <a:pPr algn="ctr" indent="0" marL="0">
              <a:buNone/>
            </a:pPr>
            <a:r>
              <a:rPr lang="en-US" sz="2600" b="1" dirty="0">
                <a:solidFill>
                  <a:srgbClr val="FFFFFF"/>
                </a:solidFill>
                <a:latin typeface="Calibri" pitchFamily="34" charset="0"/>
                <a:ea typeface="Calibri" pitchFamily="34" charset="-122"/>
                <a:cs typeface="Calibri" pitchFamily="34" charset="-120"/>
              </a:rPr>
              <a:t>Dense</a:t>
            </a:r>
            <a:endParaRPr lang="en-US" sz="2600" dirty="0"/>
          </a:p>
        </p:txBody>
      </p:sp>
      <p:sp>
        <p:nvSpPr>
          <p:cNvPr id="22" name="Text 20"/>
          <p:cNvSpPr txBox="1"/>
          <p:nvPr/>
        </p:nvSpPr>
        <p:spPr>
          <a:xfrm>
            <a:off x="9710928" y="2743200"/>
            <a:ext cx="1691640" cy="128016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128, 64</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 11 classes</a:t>
            </a:r>
            <a:endParaRPr lang="en-US" sz="1800" dirty="0"/>
          </a:p>
        </p:txBody>
      </p:sp>
      <p:sp>
        <p:nvSpPr>
          <p:cNvPr id="23" name="Text 21"/>
          <p:cNvSpPr txBox="1"/>
          <p:nvPr/>
        </p:nvSpPr>
        <p:spPr>
          <a:xfrm>
            <a:off x="548640" y="4434840"/>
            <a:ext cx="100584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Each block also has batch normalization and dropout.</a:t>
            </a:r>
            <a:endParaRPr lang="en-US" sz="1200" dirty="0"/>
          </a:p>
        </p:txBody>
      </p:sp>
      <p:sp>
        <p:nvSpPr>
          <p:cNvPr id="24" name="Text 22"/>
          <p:cNvSpPr txBox="1"/>
          <p:nvPr/>
        </p:nvSpPr>
        <p:spPr>
          <a:xfrm>
            <a:off x="548640" y="51206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CNN for short pieces, BiLSTM for order, attention to focus.</a:t>
            </a:r>
            <a:endParaRPr lang="en-US" sz="2400" dirty="0"/>
          </a:p>
        </p:txBody>
      </p:sp>
      <p:sp>
        <p:nvSpPr>
          <p:cNvPr id="26" name="Text 2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Attention in one formula</a:t>
            </a:r>
            <a:endParaRPr lang="en-US" sz="3400" dirty="0"/>
          </a:p>
        </p:txBody>
      </p:sp>
      <p:sp>
        <p:nvSpPr>
          <p:cNvPr id="4" name="Shape 2"/>
          <p:cNvSpPr/>
          <p:nvPr/>
        </p:nvSpPr>
        <p:spPr>
          <a:xfrm>
            <a:off x="548640" y="1554480"/>
            <a:ext cx="6766560" cy="3291840"/>
          </a:xfrm>
          <a:prstGeom prst="roundRect">
            <a:avLst>
              <a:gd name="adj" fmla="val 3333"/>
            </a:avLst>
          </a:prstGeom>
          <a:solidFill>
            <a:srgbClr val="EEF2F6"/>
          </a:solidFill>
          <a:ln w="12700">
            <a:solidFill>
              <a:srgbClr val="EEF2F6"/>
            </a:solidFill>
            <a:prstDash val="solid"/>
          </a:ln>
        </p:spPr>
      </p:sp>
      <p:sp>
        <p:nvSpPr>
          <p:cNvPr id="5" name="Text 3"/>
          <p:cNvSpPr txBox="1"/>
          <p:nvPr/>
        </p:nvSpPr>
        <p:spPr>
          <a:xfrm>
            <a:off x="914400" y="1783080"/>
            <a:ext cx="6217920" cy="822960"/>
          </a:xfrm>
          <a:prstGeom prst="rect">
            <a:avLst/>
          </a:prstGeom>
          <a:noFill/>
          <a:ln/>
        </p:spPr>
        <p:txBody>
          <a:bodyPr wrap="square" lIns="0" tIns="0" rIns="0" bIns="0" rtlCol="0" anchor="ctr"/>
          <a:lstStyle/>
          <a:p>
            <a:pPr indent="0" marL="0">
              <a:buNone/>
            </a:pPr>
            <a:r>
              <a:rPr lang="en-US" sz="3000" b="1" dirty="0">
                <a:solidFill>
                  <a:srgbClr val="F08A24"/>
                </a:solidFill>
                <a:latin typeface="Cambria" pitchFamily="34" charset="0"/>
                <a:ea typeface="Cambria" pitchFamily="34" charset="-122"/>
                <a:cs typeface="Cambria" pitchFamily="34" charset="-120"/>
              </a:rPr>
              <a:t>score</a:t>
            </a:r>
            <a:pPr indent="0" marL="0">
              <a:buNone/>
            </a:pPr>
            <a:r>
              <a:rPr lang="en-US" sz="3000" dirty="0">
                <a:solidFill>
                  <a:srgbClr val="1E293B"/>
                </a:solidFill>
                <a:latin typeface="Cambria" pitchFamily="34" charset="0"/>
                <a:ea typeface="Cambria" pitchFamily="34" charset="-122"/>
                <a:cs typeface="Cambria" pitchFamily="34" charset="-120"/>
              </a:rPr>
              <a:t> = v · tanh(W₁q + W₂kₜ)</a:t>
            </a:r>
            <a:endParaRPr lang="en-US" sz="3000" dirty="0"/>
          </a:p>
        </p:txBody>
      </p:sp>
      <p:sp>
        <p:nvSpPr>
          <p:cNvPr id="6" name="Text 4"/>
          <p:cNvSpPr txBox="1"/>
          <p:nvPr/>
        </p:nvSpPr>
        <p:spPr>
          <a:xfrm>
            <a:off x="914400" y="2743200"/>
            <a:ext cx="6217920" cy="822960"/>
          </a:xfrm>
          <a:prstGeom prst="rect">
            <a:avLst/>
          </a:prstGeom>
          <a:noFill/>
          <a:ln/>
        </p:spPr>
        <p:txBody>
          <a:bodyPr wrap="square" lIns="0" tIns="0" rIns="0" bIns="0" rtlCol="0" anchor="ctr"/>
          <a:lstStyle/>
          <a:p>
            <a:pPr indent="0" marL="0">
              <a:buNone/>
            </a:pPr>
            <a:r>
              <a:rPr lang="en-US" sz="3000" b="1" dirty="0">
                <a:solidFill>
                  <a:srgbClr val="F08A24"/>
                </a:solidFill>
                <a:latin typeface="Cambria" pitchFamily="34" charset="0"/>
                <a:ea typeface="Cambria" pitchFamily="34" charset="-122"/>
                <a:cs typeface="Cambria" pitchFamily="34" charset="-120"/>
              </a:rPr>
              <a:t>α</a:t>
            </a:r>
            <a:pPr indent="0" marL="0">
              <a:buNone/>
            </a:pPr>
            <a:r>
              <a:rPr lang="en-US" sz="3000" dirty="0">
                <a:solidFill>
                  <a:srgbClr val="1E293B"/>
                </a:solidFill>
                <a:latin typeface="Cambria" pitchFamily="34" charset="0"/>
                <a:ea typeface="Cambria" pitchFamily="34" charset="-122"/>
                <a:cs typeface="Cambria" pitchFamily="34" charset="-120"/>
              </a:rPr>
              <a:t> = softmax(score)</a:t>
            </a:r>
            <a:endParaRPr lang="en-US" sz="3000" dirty="0"/>
          </a:p>
        </p:txBody>
      </p:sp>
      <p:sp>
        <p:nvSpPr>
          <p:cNvPr id="7" name="Text 5"/>
          <p:cNvSpPr txBox="1"/>
          <p:nvPr/>
        </p:nvSpPr>
        <p:spPr>
          <a:xfrm>
            <a:off x="914400" y="3703320"/>
            <a:ext cx="6217920" cy="822960"/>
          </a:xfrm>
          <a:prstGeom prst="rect">
            <a:avLst/>
          </a:prstGeom>
          <a:noFill/>
          <a:ln/>
        </p:spPr>
        <p:txBody>
          <a:bodyPr wrap="square" lIns="0" tIns="0" rIns="0" bIns="0" rtlCol="0" anchor="ctr"/>
          <a:lstStyle/>
          <a:p>
            <a:pPr indent="0" marL="0">
              <a:buNone/>
            </a:pPr>
            <a:r>
              <a:rPr lang="en-US" sz="3000" b="1" dirty="0">
                <a:solidFill>
                  <a:srgbClr val="F08A24"/>
                </a:solidFill>
                <a:latin typeface="Cambria" pitchFamily="34" charset="0"/>
                <a:ea typeface="Cambria" pitchFamily="34" charset="-122"/>
                <a:cs typeface="Cambria" pitchFamily="34" charset="-120"/>
              </a:rPr>
              <a:t>c</a:t>
            </a:r>
            <a:pPr indent="0" marL="0">
              <a:buNone/>
            </a:pPr>
            <a:r>
              <a:rPr lang="en-US" sz="3000" dirty="0">
                <a:solidFill>
                  <a:srgbClr val="1E293B"/>
                </a:solidFill>
                <a:latin typeface="Cambria" pitchFamily="34" charset="0"/>
                <a:ea typeface="Cambria" pitchFamily="34" charset="-122"/>
                <a:cs typeface="Cambria" pitchFamily="34" charset="-120"/>
              </a:rPr>
              <a:t> = Σ αₜ vₜ</a:t>
            </a:r>
            <a:endParaRPr lang="en-US" sz="3000" dirty="0"/>
          </a:p>
        </p:txBody>
      </p:sp>
      <p:sp>
        <p:nvSpPr>
          <p:cNvPr id="8" name="Text 6"/>
          <p:cNvSpPr txBox="1"/>
          <p:nvPr/>
        </p:nvSpPr>
        <p:spPr>
          <a:xfrm>
            <a:off x="7680960" y="1600200"/>
            <a:ext cx="402336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Their “improved” version adds:</a:t>
            </a:r>
            <a:endParaRPr lang="en-US" sz="2000" dirty="0"/>
          </a:p>
        </p:txBody>
      </p:sp>
      <p:sp>
        <p:nvSpPr>
          <p:cNvPr id="9" name="Shape 7"/>
          <p:cNvSpPr/>
          <p:nvPr/>
        </p:nvSpPr>
        <p:spPr>
          <a:xfrm>
            <a:off x="7680960" y="2240280"/>
            <a:ext cx="502920" cy="502920"/>
          </a:xfrm>
          <a:prstGeom prst="ellipse">
            <a:avLst/>
          </a:prstGeom>
          <a:solidFill>
            <a:srgbClr val="F08A24"/>
          </a:solidFill>
          <a:ln w="12700">
            <a:solidFill>
              <a:srgbClr val="F08A24"/>
            </a:solidFill>
            <a:prstDash val="solid"/>
          </a:ln>
        </p:spPr>
      </p:sp>
      <p:sp>
        <p:nvSpPr>
          <p:cNvPr id="10" name="Text 8"/>
          <p:cNvSpPr txBox="1"/>
          <p:nvPr/>
        </p:nvSpPr>
        <p:spPr>
          <a:xfrm>
            <a:off x="7680960" y="22402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8366760" y="2240280"/>
            <a:ext cx="3291840" cy="50292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scaling of the scores</a:t>
            </a:r>
            <a:endParaRPr lang="en-US" sz="2200" dirty="0"/>
          </a:p>
        </p:txBody>
      </p:sp>
      <p:sp>
        <p:nvSpPr>
          <p:cNvPr id="12" name="Shape 10"/>
          <p:cNvSpPr/>
          <p:nvPr/>
        </p:nvSpPr>
        <p:spPr>
          <a:xfrm>
            <a:off x="7680960" y="3108960"/>
            <a:ext cx="502920" cy="502920"/>
          </a:xfrm>
          <a:prstGeom prst="ellipse">
            <a:avLst/>
          </a:prstGeom>
          <a:solidFill>
            <a:srgbClr val="F08A24"/>
          </a:solidFill>
          <a:ln w="12700">
            <a:solidFill>
              <a:srgbClr val="F08A24"/>
            </a:solidFill>
            <a:prstDash val="solid"/>
          </a:ln>
        </p:spPr>
      </p:sp>
      <p:sp>
        <p:nvSpPr>
          <p:cNvPr id="13" name="Text 11"/>
          <p:cNvSpPr txBox="1"/>
          <p:nvPr/>
        </p:nvSpPr>
        <p:spPr>
          <a:xfrm>
            <a:off x="7680960" y="310896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4" name="Text 12"/>
          <p:cNvSpPr txBox="1"/>
          <p:nvPr/>
        </p:nvSpPr>
        <p:spPr>
          <a:xfrm>
            <a:off x="8366760" y="3108960"/>
            <a:ext cx="3291840" cy="50292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dropout 0.1</a:t>
            </a:r>
            <a:endParaRPr lang="en-US" sz="2200" dirty="0"/>
          </a:p>
        </p:txBody>
      </p:sp>
      <p:sp>
        <p:nvSpPr>
          <p:cNvPr id="15" name="Shape 13"/>
          <p:cNvSpPr/>
          <p:nvPr/>
        </p:nvSpPr>
        <p:spPr>
          <a:xfrm>
            <a:off x="7680960" y="3977640"/>
            <a:ext cx="502920" cy="502920"/>
          </a:xfrm>
          <a:prstGeom prst="ellipse">
            <a:avLst/>
          </a:prstGeom>
          <a:solidFill>
            <a:srgbClr val="F08A24"/>
          </a:solidFill>
          <a:ln w="12700">
            <a:solidFill>
              <a:srgbClr val="F08A24"/>
            </a:solidFill>
            <a:prstDash val="solid"/>
          </a:ln>
        </p:spPr>
      </p:sp>
      <p:sp>
        <p:nvSpPr>
          <p:cNvPr id="16" name="Text 14"/>
          <p:cNvSpPr txBox="1"/>
          <p:nvPr/>
        </p:nvSpPr>
        <p:spPr>
          <a:xfrm>
            <a:off x="7680960" y="397764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7" name="Text 15"/>
          <p:cNvSpPr txBox="1"/>
          <p:nvPr/>
        </p:nvSpPr>
        <p:spPr>
          <a:xfrm>
            <a:off x="8366760" y="3977640"/>
            <a:ext cx="3291840" cy="50292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layer normalization</a:t>
            </a:r>
            <a:endParaRPr lang="en-US" sz="2200" dirty="0"/>
          </a:p>
        </p:txBody>
      </p:sp>
      <p:sp>
        <p:nvSpPr>
          <p:cNvPr id="18" name="Text 16"/>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learned weighted average over the time steps.</a:t>
            </a:r>
            <a:endParaRPr lang="en-US" sz="2400" dirty="0"/>
          </a:p>
        </p:txBody>
      </p:sp>
      <p:sp>
        <p:nvSpPr>
          <p:cNvPr id="20" name="Text 1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they trained it</a:t>
            </a:r>
            <a:endParaRPr lang="en-US" sz="3400" dirty="0"/>
          </a:p>
        </p:txBody>
      </p:sp>
      <p:sp>
        <p:nvSpPr>
          <p:cNvPr id="4" name="Shape 2"/>
          <p:cNvSpPr/>
          <p:nvPr/>
        </p:nvSpPr>
        <p:spPr>
          <a:xfrm>
            <a:off x="548640" y="155448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9164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240280"/>
            <a:ext cx="3017520" cy="2743200"/>
          </a:xfrm>
          <a:prstGeom prst="rect">
            <a:avLst/>
          </a:prstGeom>
          <a:noFill/>
          <a:ln/>
        </p:spPr>
        <p:txBody>
          <a:bodyPr wrap="square" lIns="0" tIns="0" rIns="0" bIns="0" rtlCol="0" anchor="t"/>
          <a:lstStyle/>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RML2016.10a</a:t>
            </a:r>
            <a:endParaRPr lang="en-US" sz="2100" dirty="0"/>
          </a:p>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11 types, 220,000 frames</a:t>
            </a:r>
            <a:endParaRPr lang="en-US" sz="2100" dirty="0"/>
          </a:p>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128 samples per frame</a:t>
            </a:r>
            <a:endParaRPr lang="en-US" sz="2100" dirty="0"/>
          </a:p>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split 70 / 15 / 15</a:t>
            </a:r>
            <a:endParaRPr lang="en-US" sz="2100" dirty="0"/>
          </a:p>
        </p:txBody>
      </p:sp>
      <p:sp>
        <p:nvSpPr>
          <p:cNvPr id="7" name="Shape 5"/>
          <p:cNvSpPr/>
          <p:nvPr/>
        </p:nvSpPr>
        <p:spPr>
          <a:xfrm>
            <a:off x="4343400" y="155448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9164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RECIPE</a:t>
            </a:r>
            <a:endParaRPr lang="en-US" sz="1600" dirty="0"/>
          </a:p>
        </p:txBody>
      </p:sp>
      <p:sp>
        <p:nvSpPr>
          <p:cNvPr id="9" name="Text 7"/>
          <p:cNvSpPr txBox="1"/>
          <p:nvPr/>
        </p:nvSpPr>
        <p:spPr>
          <a:xfrm>
            <a:off x="4617720" y="2240280"/>
            <a:ext cx="3017520" cy="2743200"/>
          </a:xfrm>
          <a:prstGeom prst="rect">
            <a:avLst/>
          </a:prstGeom>
          <a:noFill/>
          <a:ln/>
        </p:spPr>
        <p:txBody>
          <a:bodyPr wrap="square" lIns="0" tIns="0" rIns="0" bIns="0" rtlCol="0" anchor="t"/>
          <a:lstStyle/>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batch 32</a:t>
            </a:r>
            <a:endParaRPr lang="en-US" sz="2100" dirty="0"/>
          </a:p>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learning rate 0.001</a:t>
            </a:r>
            <a:endParaRPr lang="en-US" sz="2100" dirty="0"/>
          </a:p>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 0.2 after 5 flat epochs</a:t>
            </a:r>
            <a:endParaRPr lang="en-US" sz="2100" dirty="0"/>
          </a:p>
          <a:p>
            <a:pPr indent="0" marL="0">
              <a:spcAft>
                <a:spcPts val="1000"/>
              </a:spcAft>
              <a:buNone/>
            </a:pPr>
            <a:r>
              <a:rPr lang="en-US" sz="2100" dirty="0">
                <a:solidFill>
                  <a:srgbClr val="1E293B"/>
                </a:solidFill>
                <a:latin typeface="Calibri" pitchFamily="34" charset="0"/>
                <a:ea typeface="Calibri" pitchFamily="34" charset="-122"/>
                <a:cs typeface="Calibri" pitchFamily="34" charset="-120"/>
              </a:rPr>
              <a:t>dropout 0.3, L2 0.0001</a:t>
            </a:r>
            <a:endParaRPr lang="en-US" sz="2100" dirty="0"/>
          </a:p>
        </p:txBody>
      </p:sp>
      <p:sp>
        <p:nvSpPr>
          <p:cNvPr id="10" name="Shape 8"/>
          <p:cNvSpPr/>
          <p:nvPr/>
        </p:nvSpPr>
        <p:spPr>
          <a:xfrm>
            <a:off x="8138160" y="155448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9164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EPOCHS</a:t>
            </a:r>
            <a:endParaRPr lang="en-US" sz="1600" dirty="0"/>
          </a:p>
        </p:txBody>
      </p:sp>
      <p:sp>
        <p:nvSpPr>
          <p:cNvPr id="12" name="Text 10"/>
          <p:cNvSpPr txBox="1"/>
          <p:nvPr/>
        </p:nvSpPr>
        <p:spPr>
          <a:xfrm>
            <a:off x="8412480" y="2103120"/>
            <a:ext cx="3200400" cy="1737360"/>
          </a:xfrm>
          <a:prstGeom prst="rect">
            <a:avLst/>
          </a:prstGeom>
          <a:noFill/>
          <a:ln/>
        </p:spPr>
        <p:txBody>
          <a:bodyPr wrap="square" lIns="0" tIns="0" rIns="0" bIns="0" rtlCol="0" anchor="ctr"/>
          <a:lstStyle/>
          <a:p>
            <a:pPr indent="0" marL="0">
              <a:buNone/>
            </a:pPr>
            <a:r>
              <a:rPr lang="en-US" sz="11000" b="1" dirty="0">
                <a:solidFill>
                  <a:srgbClr val="FFFFFF"/>
                </a:solidFill>
                <a:latin typeface="Calibri" pitchFamily="34" charset="0"/>
                <a:ea typeface="Calibri" pitchFamily="34" charset="-122"/>
                <a:cs typeface="Calibri" pitchFamily="34" charset="-120"/>
              </a:rPr>
              <a:t>58</a:t>
            </a:r>
            <a:endParaRPr lang="en-US" sz="11000" dirty="0"/>
          </a:p>
        </p:txBody>
      </p:sp>
      <p:sp>
        <p:nvSpPr>
          <p:cNvPr id="13" name="Text 11"/>
          <p:cNvSpPr txBox="1"/>
          <p:nvPr/>
        </p:nvSpPr>
        <p:spPr>
          <a:xfrm>
            <a:off x="8412480" y="4023360"/>
            <a:ext cx="3200400" cy="54864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remember this number</a:t>
            </a:r>
            <a:endParaRPr lang="en-US" sz="2000" dirty="0"/>
          </a:p>
        </p:txBody>
      </p:sp>
      <p:sp>
        <p:nvSpPr>
          <p:cNvPr id="14" name="Text 12"/>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They also test RML2016.10b; we stay with 10a.</a:t>
            </a:r>
            <a:endParaRPr lang="en-US" sz="2400" dirty="0"/>
          </a:p>
        </p:txBody>
      </p:sp>
      <p:sp>
        <p:nvSpPr>
          <p:cNvPr id="16"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6012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60320"/>
            <a:ext cx="420624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at −20 dB: chance</a:t>
            </a:r>
            <a:endParaRPr lang="en-US" sz="2000" dirty="0"/>
          </a:p>
          <a:p>
            <a:pPr algn="l" indent="0" marL="0">
              <a:buNone/>
            </a:pPr>
            <a:r>
              <a:rPr lang="en-US" sz="2000" dirty="0">
                <a:solidFill>
                  <a:srgbClr val="5B6B7F"/>
                </a:solidFill>
                <a:latin typeface="Calibri" pitchFamily="34" charset="0"/>
                <a:ea typeface="Calibri" pitchFamily="34" charset="-122"/>
                <a:cs typeface="Calibri" pitchFamily="34" charset="-120"/>
              </a:rPr>
              <a:t>(1 in 11)</a:t>
            </a:r>
            <a:endParaRPr lang="en-US" sz="2000" dirty="0"/>
          </a:p>
        </p:txBody>
      </p:sp>
      <p:sp>
        <p:nvSpPr>
          <p:cNvPr id="8" name="Text 5"/>
          <p:cNvSpPr txBox="1"/>
          <p:nvPr/>
        </p:nvSpPr>
        <p:spPr>
          <a:xfrm>
            <a:off x="7406640" y="3429000"/>
            <a:ext cx="4206240" cy="96012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434840"/>
            <a:ext cx="420624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from 0 dB up</a:t>
            </a:r>
            <a:endParaRPr lang="en-US" sz="20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6675120" y="1463040"/>
            <a:ext cx="4937760" cy="96012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57.9%</a:t>
            </a:r>
            <a:endParaRPr lang="en-US" sz="6000" dirty="0"/>
          </a:p>
        </p:txBody>
      </p:sp>
      <p:sp>
        <p:nvSpPr>
          <p:cNvPr id="7" name="Text 4"/>
          <p:cNvSpPr txBox="1"/>
          <p:nvPr/>
        </p:nvSpPr>
        <p:spPr>
          <a:xfrm>
            <a:off x="6675120" y="2468880"/>
            <a:ext cx="493776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of WBFM called AM-DSB</a:t>
            </a:r>
            <a:endParaRPr lang="en-US" sz="2000" dirty="0"/>
          </a:p>
        </p:txBody>
      </p:sp>
      <p:sp>
        <p:nvSpPr>
          <p:cNvPr id="8" name="Text 5"/>
          <p:cNvSpPr txBox="1"/>
          <p:nvPr/>
        </p:nvSpPr>
        <p:spPr>
          <a:xfrm>
            <a:off x="6675120" y="3291840"/>
            <a:ext cx="4937760" cy="96012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~6%</a:t>
            </a:r>
            <a:endParaRPr lang="en-US" sz="6000" dirty="0"/>
          </a:p>
        </p:txBody>
      </p:sp>
      <p:sp>
        <p:nvSpPr>
          <p:cNvPr id="9" name="Text 6"/>
          <p:cNvSpPr txBox="1"/>
          <p:nvPr/>
        </p:nvSpPr>
        <p:spPr>
          <a:xfrm>
            <a:off x="6675120" y="4297680"/>
            <a:ext cx="493776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QAM16 ↔ QAM64, each way</a:t>
            </a:r>
            <a:endParaRPr lang="en-US" sz="2000" dirty="0"/>
          </a:p>
        </p:txBody>
      </p:sp>
      <p:sp>
        <p:nvSpPr>
          <p:cNvPr id="10" name="Text 7"/>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same two problems we see in our runs.</a:t>
            </a:r>
            <a:endParaRPr lang="en-US" sz="2400" dirty="0"/>
          </a:p>
        </p:txBody>
      </p:sp>
      <p:sp>
        <p:nvSpPr>
          <p:cNvPr id="12"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Which part matters?</a:t>
            </a:r>
            <a:endParaRPr lang="en-US" sz="3400" dirty="0"/>
          </a:p>
        </p:txBody>
      </p:sp>
      <p:graphicFrame>
        <p:nvGraphicFramePr>
          <p:cNvPr id="4" name="Chart 0" descr=""/>
          <p:cNvGraphicFramePr/>
          <p:nvPr/>
        </p:nvGraphicFramePr>
        <p:xfrm>
          <a:off x="548640" y="132588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554480"/>
            <a:ext cx="3291840" cy="960120"/>
          </a:xfrm>
          <a:prstGeom prst="rect">
            <a:avLst/>
          </a:prstGeom>
          <a:noFill/>
          <a:ln/>
        </p:spPr>
        <p:txBody>
          <a:bodyPr wrap="square" lIns="0" tIns="0" rIns="0" bIns="0" rtlCol="0" anchor="b"/>
          <a:lstStyle/>
          <a:p>
            <a:pPr algn="l" indent="0" marL="0">
              <a:buNone/>
            </a:pPr>
            <a:r>
              <a:rPr lang="en-US" sz="5400" b="1" dirty="0">
                <a:solidFill>
                  <a:srgbClr val="1E293B"/>
                </a:solidFill>
                <a:latin typeface="Calibri" pitchFamily="34" charset="0"/>
                <a:ea typeface="Calibri" pitchFamily="34" charset="-122"/>
                <a:cs typeface="Calibri" pitchFamily="34" charset="-120"/>
              </a:rPr>
              <a:t>+0.4</a:t>
            </a:r>
            <a:endParaRPr lang="en-US" sz="5400" dirty="0"/>
          </a:p>
        </p:txBody>
      </p:sp>
      <p:sp>
        <p:nvSpPr>
          <p:cNvPr id="6" name="Text 3"/>
          <p:cNvSpPr txBox="1"/>
          <p:nvPr/>
        </p:nvSpPr>
        <p:spPr>
          <a:xfrm>
            <a:off x="8321040" y="2560320"/>
            <a:ext cx="329184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points from attention</a:t>
            </a:r>
            <a:endParaRPr lang="en-US" sz="2000" dirty="0"/>
          </a:p>
        </p:txBody>
      </p:sp>
      <p:sp>
        <p:nvSpPr>
          <p:cNvPr id="7" name="Text 4"/>
          <p:cNvSpPr txBox="1"/>
          <p:nvPr/>
        </p:nvSpPr>
        <p:spPr>
          <a:xfrm>
            <a:off x="8321040" y="3429000"/>
            <a:ext cx="3291840" cy="960120"/>
          </a:xfrm>
          <a:prstGeom prst="rect">
            <a:avLst/>
          </a:prstGeom>
          <a:noFill/>
          <a:ln/>
        </p:spPr>
        <p:txBody>
          <a:bodyPr wrap="square" lIns="0" tIns="0" rIns="0" bIns="0" rtlCol="0" anchor="b"/>
          <a:lstStyle/>
          <a:p>
            <a:pPr algn="l" indent="0" marL="0">
              <a:buNone/>
            </a:pPr>
            <a:r>
              <a:rPr lang="en-US" sz="5400" b="1" dirty="0">
                <a:solidFill>
                  <a:srgbClr val="F08A24"/>
                </a:solidFill>
                <a:latin typeface="Calibri" pitchFamily="34" charset="0"/>
                <a:ea typeface="Calibri" pitchFamily="34" charset="-122"/>
                <a:cs typeface="Calibri" pitchFamily="34" charset="-120"/>
              </a:rPr>
              <a:t>0.1</a:t>
            </a:r>
            <a:endParaRPr lang="en-US" sz="5400" dirty="0"/>
          </a:p>
        </p:txBody>
      </p:sp>
      <p:sp>
        <p:nvSpPr>
          <p:cNvPr id="8" name="Text 5"/>
          <p:cNvSpPr txBox="1"/>
          <p:nvPr/>
        </p:nvSpPr>
        <p:spPr>
          <a:xfrm>
            <a:off x="8321040" y="4434840"/>
            <a:ext cx="3291840" cy="731520"/>
          </a:xfrm>
          <a:prstGeom prst="rect">
            <a:avLst/>
          </a:prstGeom>
          <a:noFill/>
          <a:ln/>
        </p:spPr>
        <p:txBody>
          <a:bodyPr wrap="square" lIns="0" tIns="0" rIns="0" bIns="0" rtlCol="0" anchor="t"/>
          <a:lstStyle/>
          <a:p>
            <a:pPr algn="l" indent="0" marL="0">
              <a:buNone/>
            </a:pPr>
            <a:r>
              <a:rPr lang="en-US" sz="2000" dirty="0">
                <a:solidFill>
                  <a:srgbClr val="5B6B7F"/>
                </a:solidFill>
                <a:latin typeface="Calibri" pitchFamily="34" charset="0"/>
                <a:ea typeface="Calibri" pitchFamily="34" charset="-122"/>
                <a:cs typeface="Calibri" pitchFamily="34" charset="-120"/>
              </a:rPr>
              <a:t>points between BiLSTM alone and the full model</a:t>
            </a:r>
            <a:endParaRPr lang="en-US" sz="2000" dirty="0"/>
          </a:p>
        </p:txBody>
      </p:sp>
      <p:sp>
        <p:nvSpPr>
          <p:cNvPr id="9" name="Text 6"/>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BiLSTM does almost all the work.</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PART 2</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Does it hold up?</a:t>
            </a:r>
            <a:endParaRPr lang="en-US" sz="6000" dirty="0"/>
          </a:p>
        </p:txBody>
      </p:sp>
      <p:sp>
        <p:nvSpPr>
          <p:cNvPr id="4" name="Text 2"/>
          <p:cNvSpPr txBox="1"/>
          <p:nvPr/>
        </p:nvSpPr>
        <p:spPr>
          <a:xfrm>
            <a:off x="548640" y="3886200"/>
            <a:ext cx="10972800" cy="54864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We rebuilt the model from the paper and checked it against their own tables.</a:t>
            </a:r>
            <a:endParaRPr lang="en-US" sz="24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from the paper</a:t>
            </a:r>
            <a:endParaRPr lang="en-US" sz="3400" dirty="0"/>
          </a:p>
        </p:txBody>
      </p:sp>
      <p:sp>
        <p:nvSpPr>
          <p:cNvPr id="4" name="Text 2"/>
          <p:cNvSpPr txBox="1"/>
          <p:nvPr/>
        </p:nvSpPr>
        <p:spPr>
          <a:xfrm>
            <a:off x="548640" y="1371600"/>
            <a:ext cx="3931920" cy="822960"/>
          </a:xfrm>
          <a:prstGeom prst="rect">
            <a:avLst/>
          </a:prstGeom>
          <a:noFill/>
          <a:ln/>
        </p:spPr>
        <p:txBody>
          <a:bodyPr wrap="square" lIns="0" tIns="0" rIns="0" bIns="0" rtlCol="0" anchor="b"/>
          <a:lstStyle/>
          <a:p>
            <a:pPr indent="0" marL="0">
              <a:buNone/>
            </a:pPr>
            <a:r>
              <a:rPr lang="en-US" sz="4400" b="1" dirty="0">
                <a:solidFill>
                  <a:srgbClr val="1E293B"/>
                </a:solidFill>
                <a:latin typeface="Calibri" pitchFamily="34" charset="0"/>
                <a:ea typeface="Calibri" pitchFamily="34" charset="-122"/>
                <a:cs typeface="Calibri" pitchFamily="34" charset="-120"/>
              </a:rPr>
              <a:t>794,827</a:t>
            </a:r>
            <a:endParaRPr lang="en-US" sz="4400" dirty="0"/>
          </a:p>
        </p:txBody>
      </p:sp>
      <p:sp>
        <p:nvSpPr>
          <p:cNvPr id="5" name="Text 3"/>
          <p:cNvSpPr txBox="1"/>
          <p:nvPr/>
        </p:nvSpPr>
        <p:spPr>
          <a:xfrm>
            <a:off x="548640" y="2194560"/>
            <a:ext cx="5120640"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parameters (paper: 0.79 M)</a:t>
            </a:r>
            <a:endParaRPr lang="en-US" sz="1900" dirty="0"/>
          </a:p>
        </p:txBody>
      </p:sp>
      <p:sp>
        <p:nvSpPr>
          <p:cNvPr id="6" name="Text 4"/>
          <p:cNvSpPr txBox="1"/>
          <p:nvPr/>
        </p:nvSpPr>
        <p:spPr>
          <a:xfrm>
            <a:off x="548640" y="2743200"/>
            <a:ext cx="3931920" cy="822960"/>
          </a:xfrm>
          <a:prstGeom prst="rect">
            <a:avLst/>
          </a:prstGeom>
          <a:noFill/>
          <a:ln/>
        </p:spPr>
        <p:txBody>
          <a:bodyPr wrap="square" lIns="0" tIns="0" rIns="0" bIns="0" rtlCol="0" anchor="b"/>
          <a:lstStyle/>
          <a:p>
            <a:pPr indent="0" marL="0">
              <a:buNone/>
            </a:pPr>
            <a:r>
              <a:rPr lang="en-US" sz="4400" b="1" dirty="0">
                <a:solidFill>
                  <a:srgbClr val="1E293B"/>
                </a:solidFill>
                <a:latin typeface="Calibri" pitchFamily="34" charset="0"/>
                <a:ea typeface="Calibri" pitchFamily="34" charset="-122"/>
                <a:cs typeface="Calibri" pitchFamily="34" charset="-120"/>
              </a:rPr>
              <a:t>61.75%</a:t>
            </a:r>
            <a:endParaRPr lang="en-US" sz="4400" dirty="0"/>
          </a:p>
        </p:txBody>
      </p:sp>
      <p:sp>
        <p:nvSpPr>
          <p:cNvPr id="7" name="Text 5"/>
          <p:cNvSpPr txBox="1"/>
          <p:nvPr/>
        </p:nvSpPr>
        <p:spPr>
          <a:xfrm>
            <a:off x="548640" y="3566160"/>
            <a:ext cx="5120640"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at their 58 epochs, 3 runs</a:t>
            </a:r>
            <a:endParaRPr lang="en-US" sz="1900" dirty="0"/>
          </a:p>
        </p:txBody>
      </p:sp>
      <p:sp>
        <p:nvSpPr>
          <p:cNvPr id="8" name="Text 6"/>
          <p:cNvSpPr txBox="1"/>
          <p:nvPr/>
        </p:nvSpPr>
        <p:spPr>
          <a:xfrm>
            <a:off x="548640" y="4114800"/>
            <a:ext cx="3931920" cy="822960"/>
          </a:xfrm>
          <a:prstGeom prst="rect">
            <a:avLst/>
          </a:prstGeom>
          <a:noFill/>
          <a:ln/>
        </p:spPr>
        <p:txBody>
          <a:bodyPr wrap="square" lIns="0" tIns="0" rIns="0" bIns="0" rtlCol="0" anchor="b"/>
          <a:lstStyle/>
          <a:p>
            <a:pPr indent="0" marL="0">
              <a:buNone/>
            </a:pPr>
            <a:r>
              <a:rPr lang="en-US" sz="4400" b="1" dirty="0">
                <a:solidFill>
                  <a:srgbClr val="F08A24"/>
                </a:solidFill>
                <a:latin typeface="Calibri" pitchFamily="34" charset="0"/>
                <a:ea typeface="Calibri" pitchFamily="34" charset="-122"/>
                <a:cs typeface="Calibri" pitchFamily="34" charset="-120"/>
              </a:rPr>
              <a:t>63.21%</a:t>
            </a:r>
            <a:endParaRPr lang="en-US" sz="4400" dirty="0"/>
          </a:p>
        </p:txBody>
      </p:sp>
      <p:sp>
        <p:nvSpPr>
          <p:cNvPr id="9" name="Text 7"/>
          <p:cNvSpPr txBox="1"/>
          <p:nvPr/>
        </p:nvSpPr>
        <p:spPr>
          <a:xfrm>
            <a:off x="548640" y="4937760"/>
            <a:ext cx="5120640" cy="45720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trained to epoch 107 (paper: 63.24%)</a:t>
            </a:r>
            <a:endParaRPr lang="en-US" sz="1900" dirty="0"/>
          </a:p>
        </p:txBody>
      </p:sp>
      <p:pic>
        <p:nvPicPr>
          <p:cNvPr id="10"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11" name="Text 8"/>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still rising at epoch 58</a:t>
            </a:r>
            <a:endParaRPr lang="en-US" sz="1800" dirty="0"/>
          </a:p>
        </p:txBody>
      </p:sp>
      <p:sp>
        <p:nvSpPr>
          <p:cNvPr id="12" name="Text 9"/>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3" name="Text 10"/>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real. It needs more than 58 epochs.</a:t>
            </a:r>
            <a:endParaRPr lang="en-US" sz="2400" dirty="0"/>
          </a:p>
        </p:txBody>
      </p:sp>
      <p:sp>
        <p:nvSpPr>
          <p:cNvPr id="15"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Per SNR: our rebuild against their table</a:t>
            </a:r>
            <a:endParaRPr lang="en-US" sz="3400" dirty="0"/>
          </a:p>
        </p:txBody>
      </p:sp>
      <p:graphicFrame>
        <p:nvGraphicFramePr>
          <p:cNvPr id="4" name="Chart 0" descr=""/>
          <p:cNvGraphicFramePr/>
          <p:nvPr/>
        </p:nvGraphicFramePr>
        <p:xfrm>
          <a:off x="548640" y="1325880"/>
          <a:ext cx="11091672"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Same model, same curve: within five points at every SNR.</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BiLSTM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reported;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73152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One protocol for every model</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3 seeds for every model.</a:t>
            </a:r>
            <a:endParaRPr lang="en-US" sz="2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377440"/>
                <a:gridCol w="2103120"/>
                <a:gridCol w="267919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their Table 3</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(Esmer's version)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61.42%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60.58%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the top four are within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The model and its 63.24% are reproducible, if trained long enough.</a:t>
            </a:r>
            <a:endParaRPr lang="en-US" sz="28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Its lead is about one point; the BiLSTM does most of the work.</a:t>
            </a:r>
            <a:endParaRPr lang="en-US" sz="28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800" dirty="0">
                <a:solidFill>
                  <a:srgbClr val="FFFFFF"/>
                </a:solidFill>
                <a:latin typeface="Calibri" pitchFamily="34" charset="0"/>
                <a:ea typeface="Calibri" pitchFamily="34" charset="-122"/>
                <a:cs typeface="Calibri" pitchFamily="34" charset="-120"/>
              </a:rPr>
              <a:t>Some claims don't match the paper's own tables.</a:t>
            </a:r>
            <a:endParaRPr lang="en-US" sz="28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backbone, not a clearly better one.</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and what we found</dc:title>
  <dc:subject>PptxGenJS Presentation</dc:subject>
  <dc:creator>Yusuf Bilal Cetinkaya</dc:creator>
  <cp:lastModifiedBy>Yusuf Bilal Cetinkaya</cp:lastModifiedBy>
  <cp:revision>1</cp:revision>
  <dcterms:created xsi:type="dcterms:W3CDTF">2026-10-12T19:47:18Z</dcterms:created>
  <dcterms:modified xsi:type="dcterms:W3CDTF">2026-10-12T19:47:18Z</dcterms:modified>
</cp:coreProperties>
</file>