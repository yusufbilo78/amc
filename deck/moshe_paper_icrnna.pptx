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CNN only</c:v>
                  </c:pt>
                  <c:pt idx="1">
                    <c:v>BiLSTM only</c:v>
                  </c:pt>
                  <c:pt idx="2">
                    <c:v>No attention</c:v>
                  </c:pt>
                  <c:pt idx="3">
                    <c:v>Full ICRNNA</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detector comes from: ICRNNA, by El-Haryqy and colleagues, Results in Engineering, 2025. First I'll go through what the paper does, step by step: the data, the model block by block, how it is trained, and what it reports. Then what we checked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paper? Because our detector is built on it. The paper makes three claims. The best accuracy on RML2016.10a, 63.24 percent. A small model: 0.79 million numbers to learn. And it says it is especially good at low SNR.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twenty SNR labels, 220,000 frames. Each frame is 128 complex samples, written as two rows: I and Q. So the input to the model is a 2 by 128 array. That is all the model 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on 2016.10a. ICRNNA is first, at 63.24 percent. The runner-up, CNN-BiLSTM-DNN, is half a point behind. MCLDNN and PET-CGDNN, the well-known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SNR. Below minus 10 dB it is about 9 percent, which is chance with eleven classes. It climbs between minus 10 and 0 dB, and from 0 dB up it stays around 93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fail? Their matrix at 0 dB. Two problems are left. WBFM is called AM-DSB 58 percent of the time. And QAM16 and QAM64 are mixed up, about 6 percent each way. These are the same two problems we see in our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block matters? They removed blocks one at a time. CNN alone: 59.9. BiLSTM alone: 63.1. Everything but the attention: 62.8. The full model: 63.2. So the LSTM does almost all the work, and attention adds less than half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their code. The paper came out without code. In August this year the authors put their code on GitHub. That lets us see exactly what they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they published. Two scripts, one for each dataset, written in TensorFlow. No trained weights. A run of the script does five things, once: load the file, normalize the frames, shuffle and split them, train, and then test and draw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model in their own code; I left out the normalization and dropout lines to make it fit. Two convolutions and a pooling step: the CNN. Two bidirectional LSTMs: the second one's output is kept and passed to the attention. Then the attention. Then two dense layers and the output layer with eleven softmax outputs. These nine lines are the whole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attention, line by line. Each step gets a score from a small network. The score is multiplied by a learned scale. A softmax over the 64 steps turns scores into weights. Ten percent of the weights are dropped during training. Each step is multiplied by its weight and they are added up: one vector of 256. Finally that vector is normalized. One detail: the query and the value are the same LSTM output, before and after normalization, so each step is scored on its own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training. Two calls split the data: 70 percent to learn from, then the rest in half, 15 to watch and 15 to test, always with seed 2016. Adam with learning rate 0.001, and the step size is capped, which the paper does not mention. When the validation loss is flat for 5 epochs the learning rate is cut by five; flat for 6, training stops and goes back to the best weights. At most 100 epochs. So the 58 in the paper is simply where this rule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the paper and the code side by side. The epochs: 58 in the paper, a stopping rule in the code. The optimizer: not named in the paper, Adam with clipping in the code. The input scaling, the pooling, the attention scale: all left open in the paper, all settled by the code. And both agree on two things: one run, and no published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code, I found two problems. First, the split. The list of classes is built from a Python set, and its order changes every time Python starts. The data are joined in that order and then shuffled with a fixed seed, so each run of their script gets a different train and test split; I checked this on a test file. Second, the normalization statistics are computed on all the frames, test frames included, before the split. Neither changes the model, but both make a single run harder to repeat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what we checked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trained five models ourselves under one protocol: same data, same split, three seeds. Our MCLDNN and PET-CGDNN numbers match their table within half a point. ICRNNA is first, but the top four are within about one point, and above 10 dB they all stop near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ICRNNA is a CNN, then a bidirectional LSTM, then attention, then a small classifier, and the LSTM does most of the work. Its 63.24 percent is reproducible: we got 63.21 from the paper alone. Its lead over other models is about one point. For us, it is a solid backbone, not a clearly better 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CNN</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BiLSTM</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Attention</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Dense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Why this paper, and what it claims</a:t>
            </a:r>
            <a:endParaRPr lang="en-US" sz="3400" dirty="0"/>
          </a:p>
        </p:txBody>
      </p:sp>
      <p:sp>
        <p:nvSpPr>
          <p:cNvPr id="4" name="Shape 2"/>
          <p:cNvSpPr/>
          <p:nvPr/>
        </p:nvSpPr>
        <p:spPr>
          <a:xfrm>
            <a:off x="548640" y="1463040"/>
            <a:ext cx="3246120" cy="822960"/>
          </a:xfrm>
          <a:prstGeom prst="roundRect">
            <a:avLst>
              <a:gd name="adj" fmla="val 13333"/>
            </a:avLst>
          </a:prstGeom>
          <a:solidFill>
            <a:srgbClr val="EEF2F6"/>
          </a:solidFill>
          <a:ln w="12700">
            <a:solidFill>
              <a:srgbClr val="EEF2F6"/>
            </a:solidFill>
            <a:prstDash val="solid"/>
          </a:ln>
        </p:spPr>
      </p:sp>
      <p:sp>
        <p:nvSpPr>
          <p:cNvPr id="5" name="Text 3"/>
          <p:cNvSpPr txBox="1"/>
          <p:nvPr/>
        </p:nvSpPr>
        <p:spPr>
          <a:xfrm>
            <a:off x="548640" y="1463040"/>
            <a:ext cx="3246120" cy="822960"/>
          </a:xfrm>
          <a:prstGeom prst="rect">
            <a:avLst/>
          </a:prstGeom>
          <a:noFill/>
          <a:ln/>
        </p:spPr>
        <p:txBody>
          <a:bodyPr wrap="square" lIns="0" tIns="0" rIns="0" bIns="0" rtlCol="0" anchor="ctr"/>
          <a:lstStyle/>
          <a:p>
            <a:pPr algn="ctr" indent="0" marL="0">
              <a:buNone/>
            </a:pPr>
            <a:r>
              <a:rPr lang="en-US" sz="2200" b="1" dirty="0">
                <a:solidFill>
                  <a:srgbClr val="1E293B"/>
                </a:solidFill>
                <a:latin typeface="Calibri" pitchFamily="34" charset="0"/>
                <a:ea typeface="Calibri" pitchFamily="34" charset="-122"/>
                <a:cs typeface="Calibri" pitchFamily="34" charset="-120"/>
              </a:rPr>
              <a:t>This paper (2025)</a:t>
            </a:r>
            <a:endParaRPr lang="en-US" sz="2200" dirty="0"/>
          </a:p>
        </p:txBody>
      </p:sp>
      <p:sp>
        <p:nvSpPr>
          <p:cNvPr id="6" name="Shape 4"/>
          <p:cNvSpPr/>
          <p:nvPr/>
        </p:nvSpPr>
        <p:spPr>
          <a:xfrm>
            <a:off x="3840480" y="1691640"/>
            <a:ext cx="457200" cy="384048"/>
          </a:xfrm>
          <a:prstGeom prst="rightArrow">
            <a:avLst/>
          </a:prstGeom>
          <a:solidFill>
            <a:srgbClr val="F08A24"/>
          </a:solidFill>
          <a:ln w="12700">
            <a:solidFill>
              <a:srgbClr val="F08A24"/>
            </a:solidFill>
            <a:prstDash val="solid"/>
          </a:ln>
        </p:spPr>
      </p:sp>
      <p:sp>
        <p:nvSpPr>
          <p:cNvPr id="7" name="Shape 5"/>
          <p:cNvSpPr/>
          <p:nvPr/>
        </p:nvSpPr>
        <p:spPr>
          <a:xfrm>
            <a:off x="4343400" y="1463040"/>
            <a:ext cx="3246120" cy="822960"/>
          </a:xfrm>
          <a:prstGeom prst="roundRect">
            <a:avLst>
              <a:gd name="adj" fmla="val 13333"/>
            </a:avLst>
          </a:prstGeom>
          <a:solidFill>
            <a:srgbClr val="0F1B2D"/>
          </a:solidFill>
          <a:ln w="12700">
            <a:solidFill>
              <a:srgbClr val="0F1B2D"/>
            </a:solidFill>
            <a:prstDash val="solid"/>
          </a:ln>
        </p:spPr>
      </p:sp>
      <p:sp>
        <p:nvSpPr>
          <p:cNvPr id="8" name="Text 6"/>
          <p:cNvSpPr txBox="1"/>
          <p:nvPr/>
        </p:nvSpPr>
        <p:spPr>
          <a:xfrm>
            <a:off x="4343400" y="1463040"/>
            <a:ext cx="324612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Our detector</a:t>
            </a:r>
            <a:endParaRPr lang="en-US" sz="2200" dirty="0"/>
          </a:p>
        </p:txBody>
      </p:sp>
      <p:sp>
        <p:nvSpPr>
          <p:cNvPr id="9" name="Shape 7"/>
          <p:cNvSpPr/>
          <p:nvPr/>
        </p:nvSpPr>
        <p:spPr>
          <a:xfrm>
            <a:off x="548640" y="2606040"/>
            <a:ext cx="3520440" cy="2240280"/>
          </a:xfrm>
          <a:prstGeom prst="roundRect">
            <a:avLst>
              <a:gd name="adj" fmla="val 4898"/>
            </a:avLst>
          </a:prstGeom>
          <a:solidFill>
            <a:srgbClr val="EEF2F6"/>
          </a:solidFill>
          <a:ln w="12700">
            <a:solidFill>
              <a:srgbClr val="EEF2F6"/>
            </a:solidFill>
            <a:prstDash val="solid"/>
          </a:ln>
        </p:spPr>
      </p:sp>
      <p:sp>
        <p:nvSpPr>
          <p:cNvPr id="10" name="Text 8"/>
          <p:cNvSpPr txBox="1"/>
          <p:nvPr/>
        </p:nvSpPr>
        <p:spPr>
          <a:xfrm>
            <a:off x="822960" y="2743200"/>
            <a:ext cx="3017520" cy="914400"/>
          </a:xfrm>
          <a:prstGeom prst="rect">
            <a:avLst/>
          </a:prstGeom>
          <a:noFill/>
          <a:ln/>
        </p:spPr>
        <p:txBody>
          <a:bodyPr wrap="square" lIns="0" tIns="0" rIns="0" bIns="0" rtlCol="0" anchor="b"/>
          <a:lstStyle/>
          <a:p>
            <a:pPr algn="l" indent="0" marL="0">
              <a:buNone/>
            </a:pPr>
            <a:r>
              <a:rPr lang="en-US" sz="5000" b="1" dirty="0">
                <a:solidFill>
                  <a:srgbClr val="F08A24"/>
                </a:solidFill>
                <a:latin typeface="Calibri" pitchFamily="34" charset="0"/>
                <a:ea typeface="Calibri" pitchFamily="34" charset="-122"/>
                <a:cs typeface="Calibri" pitchFamily="34" charset="-120"/>
              </a:rPr>
              <a:t>63.24%</a:t>
            </a:r>
            <a:endParaRPr lang="en-US" sz="5000" dirty="0"/>
          </a:p>
        </p:txBody>
      </p:sp>
      <p:sp>
        <p:nvSpPr>
          <p:cNvPr id="11" name="Text 9"/>
          <p:cNvSpPr txBox="1"/>
          <p:nvPr/>
        </p:nvSpPr>
        <p:spPr>
          <a:xfrm>
            <a:off x="82296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best accuracy on RML2016.10a</a:t>
            </a:r>
            <a:endParaRPr lang="en-US" sz="1900" dirty="0"/>
          </a:p>
        </p:txBody>
      </p:sp>
      <p:sp>
        <p:nvSpPr>
          <p:cNvPr id="12" name="Shape 10"/>
          <p:cNvSpPr/>
          <p:nvPr/>
        </p:nvSpPr>
        <p:spPr>
          <a:xfrm>
            <a:off x="4343400" y="2606040"/>
            <a:ext cx="3520440" cy="2240280"/>
          </a:xfrm>
          <a:prstGeom prst="roundRect">
            <a:avLst>
              <a:gd name="adj" fmla="val 4898"/>
            </a:avLst>
          </a:prstGeom>
          <a:solidFill>
            <a:srgbClr val="EEF2F6"/>
          </a:solidFill>
          <a:ln w="12700">
            <a:solidFill>
              <a:srgbClr val="EEF2F6"/>
            </a:solidFill>
            <a:prstDash val="solid"/>
          </a:ln>
        </p:spPr>
      </p:sp>
      <p:sp>
        <p:nvSpPr>
          <p:cNvPr id="13" name="Text 11"/>
          <p:cNvSpPr txBox="1"/>
          <p:nvPr/>
        </p:nvSpPr>
        <p:spPr>
          <a:xfrm>
            <a:off x="461772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0.79 M</a:t>
            </a:r>
            <a:endParaRPr lang="en-US" sz="5000" dirty="0"/>
          </a:p>
        </p:txBody>
      </p:sp>
      <p:sp>
        <p:nvSpPr>
          <p:cNvPr id="14" name="Text 12"/>
          <p:cNvSpPr txBox="1"/>
          <p:nvPr/>
        </p:nvSpPr>
        <p:spPr>
          <a:xfrm>
            <a:off x="461772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numbers to learn: a small model</a:t>
            </a:r>
            <a:endParaRPr lang="en-US" sz="1900" dirty="0"/>
          </a:p>
        </p:txBody>
      </p:sp>
      <p:sp>
        <p:nvSpPr>
          <p:cNvPr id="15" name="Shape 13"/>
          <p:cNvSpPr/>
          <p:nvPr/>
        </p:nvSpPr>
        <p:spPr>
          <a:xfrm>
            <a:off x="8138160" y="2606040"/>
            <a:ext cx="3520440" cy="2240280"/>
          </a:xfrm>
          <a:prstGeom prst="roundRect">
            <a:avLst>
              <a:gd name="adj" fmla="val 4898"/>
            </a:avLst>
          </a:prstGeom>
          <a:solidFill>
            <a:srgbClr val="EEF2F6"/>
          </a:solidFill>
          <a:ln w="12700">
            <a:solidFill>
              <a:srgbClr val="EEF2F6"/>
            </a:solidFill>
            <a:prstDash val="solid"/>
          </a:ln>
        </p:spPr>
      </p:sp>
      <p:sp>
        <p:nvSpPr>
          <p:cNvPr id="16" name="Text 14"/>
          <p:cNvSpPr txBox="1"/>
          <p:nvPr/>
        </p:nvSpPr>
        <p:spPr>
          <a:xfrm>
            <a:off x="841248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low SNR</a:t>
            </a:r>
            <a:endParaRPr lang="en-US" sz="5000" dirty="0"/>
          </a:p>
        </p:txBody>
      </p:sp>
      <p:sp>
        <p:nvSpPr>
          <p:cNvPr id="17" name="Text 15"/>
          <p:cNvSpPr txBox="1"/>
          <p:nvPr/>
        </p:nvSpPr>
        <p:spPr>
          <a:xfrm>
            <a:off x="841248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claimed to be its strength</a:t>
            </a:r>
            <a:endParaRPr lang="en-US" sz="1900" dirty="0"/>
          </a:p>
        </p:txBody>
      </p:sp>
      <p:sp>
        <p:nvSpPr>
          <p:cNvPr id="18" name="Text 16"/>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what it does, step by step. Then what we checked.</a:t>
            </a:r>
            <a:endParaRPr lang="en-US" sz="2400" dirty="0"/>
          </a:p>
        </p:txBody>
      </p:sp>
      <p:sp>
        <p:nvSpPr>
          <p:cNvPr id="20" name="Text 1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231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WBFM called AM-DSB</a:t>
            </a:r>
            <a:endParaRPr lang="en-US" sz="1900" dirty="0"/>
          </a:p>
        </p:txBody>
      </p:sp>
      <p:sp>
        <p:nvSpPr>
          <p:cNvPr id="8" name="Text 5"/>
          <p:cNvSpPr txBox="1"/>
          <p:nvPr/>
        </p:nvSpPr>
        <p:spPr>
          <a:xfrm>
            <a:off x="6675120" y="3291840"/>
            <a:ext cx="493776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519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QAM16 ↔ QAM64, each way</a:t>
            </a:r>
            <a:endParaRPr lang="en-US" sz="19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block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1440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1460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from attention</a:t>
            </a:r>
            <a:endParaRPr lang="en-US" sz="1900" dirty="0"/>
          </a:p>
        </p:txBody>
      </p:sp>
      <p:sp>
        <p:nvSpPr>
          <p:cNvPr id="7" name="Text 4"/>
          <p:cNvSpPr txBox="1"/>
          <p:nvPr/>
        </p:nvSpPr>
        <p:spPr>
          <a:xfrm>
            <a:off x="8321040" y="3429000"/>
            <a:ext cx="3291840" cy="91440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38912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between BiLSTM alone and the full model</a:t>
            </a:r>
            <a:endParaRPr lang="en-US" sz="19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LSTM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PART 2</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Their code</a:t>
            </a:r>
            <a:endParaRPr lang="en-US" sz="6000" dirty="0"/>
          </a:p>
        </p:txBody>
      </p:sp>
      <p:sp>
        <p:nvSpPr>
          <p:cNvPr id="4" name="Text 2"/>
          <p:cNvSpPr txBox="1"/>
          <p:nvPr/>
        </p:nvSpPr>
        <p:spPr>
          <a:xfrm>
            <a:off x="548640" y="388620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Published on GitHub on 8 August 2026, sixteen months after the paper.</a:t>
            </a:r>
            <a:endParaRPr lang="en-US" sz="24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they published</a:t>
            </a:r>
            <a:endParaRPr lang="en-US" sz="3400" dirty="0"/>
          </a:p>
        </p:txBody>
      </p:sp>
      <p:sp>
        <p:nvSpPr>
          <p:cNvPr id="4" name="Shape 2"/>
          <p:cNvSpPr/>
          <p:nvPr/>
        </p:nvSpPr>
        <p:spPr>
          <a:xfrm>
            <a:off x="548640" y="1417320"/>
            <a:ext cx="11091672" cy="914400"/>
          </a:xfrm>
          <a:prstGeom prst="roundRect">
            <a:avLst>
              <a:gd name="adj" fmla="val 12000"/>
            </a:avLst>
          </a:prstGeom>
          <a:solidFill>
            <a:srgbClr val="EEF2F6"/>
          </a:solidFill>
          <a:ln w="12700">
            <a:solidFill>
              <a:srgbClr val="EEF2F6"/>
            </a:solidFill>
            <a:prstDash val="solid"/>
          </a:ln>
        </p:spPr>
      </p:sp>
      <p:sp>
        <p:nvSpPr>
          <p:cNvPr id="5" name="Text 3"/>
          <p:cNvSpPr txBox="1"/>
          <p:nvPr/>
        </p:nvSpPr>
        <p:spPr>
          <a:xfrm>
            <a:off x="822960" y="1417320"/>
            <a:ext cx="10543032" cy="914400"/>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github.com/noureddine395/mproved-automatic-modulation-recognition-using-deep-learning-with-additive-attention</a:t>
            </a:r>
            <a:endParaRPr lang="en-US" sz="1400" dirty="0"/>
          </a:p>
        </p:txBody>
      </p:sp>
      <p:sp>
        <p:nvSpPr>
          <p:cNvPr id="6" name="Shape 4"/>
          <p:cNvSpPr/>
          <p:nvPr/>
        </p:nvSpPr>
        <p:spPr>
          <a:xfrm>
            <a:off x="548640" y="2560320"/>
            <a:ext cx="5394960" cy="1417320"/>
          </a:xfrm>
          <a:prstGeom prst="roundRect">
            <a:avLst>
              <a:gd name="adj" fmla="val 7742"/>
            </a:avLst>
          </a:prstGeom>
          <a:solidFill>
            <a:srgbClr val="EEF2F6"/>
          </a:solidFill>
          <a:ln w="12700">
            <a:solidFill>
              <a:srgbClr val="EEF2F6"/>
            </a:solidFill>
            <a:prstDash val="solid"/>
          </a:ln>
        </p:spPr>
      </p:sp>
      <p:sp>
        <p:nvSpPr>
          <p:cNvPr id="7" name="Text 5"/>
          <p:cNvSpPr txBox="1"/>
          <p:nvPr/>
        </p:nvSpPr>
        <p:spPr>
          <a:xfrm>
            <a:off x="822960" y="2651760"/>
            <a:ext cx="4572000" cy="365760"/>
          </a:xfrm>
          <a:prstGeom prst="rect">
            <a:avLst/>
          </a:prstGeom>
          <a:noFill/>
          <a:ln/>
        </p:spPr>
        <p:txBody>
          <a:bodyPr wrap="square" lIns="0" tIns="0" rIns="0" bIns="0" rtlCol="0" anchor="t"/>
          <a:lstStyle/>
          <a:p>
            <a:pPr indent="0" marL="0">
              <a:buNone/>
            </a:pPr>
            <a:r>
              <a:rPr lang="en-US" sz="1500" b="1" spc="200" kern="0" dirty="0">
                <a:solidFill>
                  <a:srgbClr val="F08A24"/>
                </a:solidFill>
                <a:latin typeface="Calibri" pitchFamily="34" charset="0"/>
                <a:ea typeface="Calibri" pitchFamily="34" charset="-122"/>
                <a:cs typeface="Calibri" pitchFamily="34" charset="-120"/>
              </a:rPr>
              <a:t>IN IT</a:t>
            </a:r>
            <a:endParaRPr lang="en-US" sz="1500" dirty="0"/>
          </a:p>
        </p:txBody>
      </p:sp>
      <p:sp>
        <p:nvSpPr>
          <p:cNvPr id="8" name="Text 6"/>
          <p:cNvSpPr txBox="1"/>
          <p:nvPr/>
        </p:nvSpPr>
        <p:spPr>
          <a:xfrm>
            <a:off x="822960" y="3017520"/>
            <a:ext cx="4937760" cy="914400"/>
          </a:xfrm>
          <a:prstGeom prst="rect">
            <a:avLst/>
          </a:prstGeom>
          <a:noFill/>
          <a:ln/>
        </p:spPr>
        <p:txBody>
          <a:bodyPr wrap="square" lIns="0" tIns="0" rIns="0" bIns="0" rtlCol="0" anchor="t"/>
          <a:lstStyle/>
          <a:p>
            <a:pPr indent="0" marL="0">
              <a:buNone/>
            </a:pPr>
            <a:r>
              <a:rPr lang="en-US" sz="2000" dirty="0">
                <a:solidFill>
                  <a:srgbClr val="1E293B"/>
                </a:solidFill>
                <a:latin typeface="Calibri" pitchFamily="34" charset="0"/>
                <a:ea typeface="Calibri" pitchFamily="34" charset="-122"/>
                <a:cs typeface="Calibri" pitchFamily="34" charset="-120"/>
              </a:rPr>
              <a:t>two scripts: 2016.10a and 2016.10b</a:t>
            </a:r>
            <a:endParaRPr lang="en-US" sz="2000" dirty="0"/>
          </a:p>
          <a:p>
            <a:pPr indent="0" marL="0">
              <a:buNone/>
            </a:pPr>
            <a:r>
              <a:rPr lang="en-US" sz="2000" dirty="0">
                <a:solidFill>
                  <a:srgbClr val="1E293B"/>
                </a:solidFill>
                <a:latin typeface="Calibri" pitchFamily="34" charset="0"/>
                <a:ea typeface="Calibri" pitchFamily="34" charset="-122"/>
                <a:cs typeface="Calibri" pitchFamily="34" charset="-120"/>
              </a:rPr>
              <a:t>TensorFlow / Keras, MIT licence</a:t>
            </a:r>
            <a:endParaRPr lang="en-US" sz="2000" dirty="0"/>
          </a:p>
        </p:txBody>
      </p:sp>
      <p:sp>
        <p:nvSpPr>
          <p:cNvPr id="9" name="Shape 7"/>
          <p:cNvSpPr/>
          <p:nvPr/>
        </p:nvSpPr>
        <p:spPr>
          <a:xfrm>
            <a:off x="6172200" y="2560320"/>
            <a:ext cx="5394960" cy="1417320"/>
          </a:xfrm>
          <a:prstGeom prst="roundRect">
            <a:avLst>
              <a:gd name="adj" fmla="val 7742"/>
            </a:avLst>
          </a:prstGeom>
          <a:solidFill>
            <a:srgbClr val="0F1B2D"/>
          </a:solidFill>
          <a:ln w="12700">
            <a:solidFill>
              <a:srgbClr val="0F1B2D"/>
            </a:solidFill>
            <a:prstDash val="solid"/>
          </a:ln>
        </p:spPr>
      </p:sp>
      <p:sp>
        <p:nvSpPr>
          <p:cNvPr id="10" name="Text 8"/>
          <p:cNvSpPr txBox="1"/>
          <p:nvPr/>
        </p:nvSpPr>
        <p:spPr>
          <a:xfrm>
            <a:off x="6446520" y="2651760"/>
            <a:ext cx="4572000" cy="365760"/>
          </a:xfrm>
          <a:prstGeom prst="rect">
            <a:avLst/>
          </a:prstGeom>
          <a:noFill/>
          <a:ln/>
        </p:spPr>
        <p:txBody>
          <a:bodyPr wrap="square" lIns="0" tIns="0" rIns="0" bIns="0" rtlCol="0" anchor="t"/>
          <a:lstStyle/>
          <a:p>
            <a:pPr indent="0" marL="0">
              <a:buNone/>
            </a:pPr>
            <a:r>
              <a:rPr lang="en-US" sz="1500" b="1" spc="200" kern="0" dirty="0">
                <a:solidFill>
                  <a:srgbClr val="F08A24"/>
                </a:solidFill>
                <a:latin typeface="Calibri" pitchFamily="34" charset="0"/>
                <a:ea typeface="Calibri" pitchFamily="34" charset="-122"/>
                <a:cs typeface="Calibri" pitchFamily="34" charset="-120"/>
              </a:rPr>
              <a:t>NOT IN IT</a:t>
            </a:r>
            <a:endParaRPr lang="en-US" sz="1500" dirty="0"/>
          </a:p>
        </p:txBody>
      </p:sp>
      <p:sp>
        <p:nvSpPr>
          <p:cNvPr id="11" name="Text 9"/>
          <p:cNvSpPr txBox="1"/>
          <p:nvPr/>
        </p:nvSpPr>
        <p:spPr>
          <a:xfrm>
            <a:off x="6446520" y="3017520"/>
            <a:ext cx="4937760" cy="91440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trained weights</a:t>
            </a:r>
            <a:endParaRPr lang="en-US" sz="2000" dirty="0"/>
          </a:p>
          <a:p>
            <a:pPr indent="0" marL="0">
              <a:buNone/>
            </a:pPr>
            <a:r>
              <a:rPr lang="en-US" sz="2000" dirty="0">
                <a:solidFill>
                  <a:srgbClr val="FFFFFF"/>
                </a:solidFill>
                <a:latin typeface="Calibri" pitchFamily="34" charset="0"/>
                <a:ea typeface="Calibri" pitchFamily="34" charset="-122"/>
                <a:cs typeface="Calibri" pitchFamily="34" charset="-120"/>
              </a:rPr>
              <a:t>more than one run</a:t>
            </a:r>
            <a:endParaRPr lang="en-US" sz="2000" dirty="0"/>
          </a:p>
        </p:txBody>
      </p:sp>
      <p:sp>
        <p:nvSpPr>
          <p:cNvPr id="12" name="Shape 10"/>
          <p:cNvSpPr/>
          <p:nvPr/>
        </p:nvSpPr>
        <p:spPr>
          <a:xfrm>
            <a:off x="548640" y="4251960"/>
            <a:ext cx="1828800" cy="731520"/>
          </a:xfrm>
          <a:prstGeom prst="roundRect">
            <a:avLst>
              <a:gd name="adj" fmla="val 12500"/>
            </a:avLst>
          </a:prstGeom>
          <a:solidFill>
            <a:srgbClr val="EEF2F6"/>
          </a:solidFill>
          <a:ln w="12700">
            <a:solidFill>
              <a:srgbClr val="EEF2F6"/>
            </a:solidFill>
            <a:prstDash val="solid"/>
          </a:ln>
        </p:spPr>
      </p:sp>
      <p:sp>
        <p:nvSpPr>
          <p:cNvPr id="13" name="Text 11"/>
          <p:cNvSpPr txBox="1"/>
          <p:nvPr/>
        </p:nvSpPr>
        <p:spPr>
          <a:xfrm>
            <a:off x="548640" y="4251960"/>
            <a:ext cx="1828800" cy="731520"/>
          </a:xfrm>
          <a:prstGeom prst="rect">
            <a:avLst/>
          </a:prstGeom>
          <a:noFill/>
          <a:ln/>
        </p:spPr>
        <p:txBody>
          <a:bodyPr wrap="square" lIns="0" tIns="0" rIns="0" bIns="0" rtlCol="0" anchor="ctr"/>
          <a:lstStyle/>
          <a:p>
            <a:pPr algn="ctr" indent="0" marL="0">
              <a:buNone/>
            </a:pPr>
            <a:r>
              <a:rPr lang="en-US" sz="1800" b="1" dirty="0">
                <a:solidFill>
                  <a:srgbClr val="1E293B"/>
                </a:solidFill>
                <a:latin typeface="Calibri" pitchFamily="34" charset="0"/>
                <a:ea typeface="Calibri" pitchFamily="34" charset="-122"/>
                <a:cs typeface="Calibri" pitchFamily="34" charset="-120"/>
              </a:rPr>
              <a:t>load the file</a:t>
            </a:r>
            <a:endParaRPr lang="en-US" sz="1800" dirty="0"/>
          </a:p>
        </p:txBody>
      </p:sp>
      <p:sp>
        <p:nvSpPr>
          <p:cNvPr id="14" name="Shape 12"/>
          <p:cNvSpPr/>
          <p:nvPr/>
        </p:nvSpPr>
        <p:spPr>
          <a:xfrm>
            <a:off x="2404872" y="4434840"/>
            <a:ext cx="347472" cy="384048"/>
          </a:xfrm>
          <a:prstGeom prst="rightArrow">
            <a:avLst/>
          </a:prstGeom>
          <a:solidFill>
            <a:srgbClr val="F08A24"/>
          </a:solidFill>
          <a:ln w="12700">
            <a:solidFill>
              <a:srgbClr val="F08A24"/>
            </a:solidFill>
            <a:prstDash val="solid"/>
          </a:ln>
        </p:spPr>
      </p:sp>
      <p:sp>
        <p:nvSpPr>
          <p:cNvPr id="15" name="Shape 13"/>
          <p:cNvSpPr/>
          <p:nvPr/>
        </p:nvSpPr>
        <p:spPr>
          <a:xfrm>
            <a:off x="2788920" y="4251960"/>
            <a:ext cx="1828800" cy="731520"/>
          </a:xfrm>
          <a:prstGeom prst="roundRect">
            <a:avLst>
              <a:gd name="adj" fmla="val 12500"/>
            </a:avLst>
          </a:prstGeom>
          <a:solidFill>
            <a:srgbClr val="EEF2F6"/>
          </a:solidFill>
          <a:ln w="12700">
            <a:solidFill>
              <a:srgbClr val="EEF2F6"/>
            </a:solidFill>
            <a:prstDash val="solid"/>
          </a:ln>
        </p:spPr>
      </p:sp>
      <p:sp>
        <p:nvSpPr>
          <p:cNvPr id="16" name="Text 14"/>
          <p:cNvSpPr txBox="1"/>
          <p:nvPr/>
        </p:nvSpPr>
        <p:spPr>
          <a:xfrm>
            <a:off x="2788920" y="4251960"/>
            <a:ext cx="1828800" cy="731520"/>
          </a:xfrm>
          <a:prstGeom prst="rect">
            <a:avLst/>
          </a:prstGeom>
          <a:noFill/>
          <a:ln/>
        </p:spPr>
        <p:txBody>
          <a:bodyPr wrap="square" lIns="0" tIns="0" rIns="0" bIns="0" rtlCol="0" anchor="ctr"/>
          <a:lstStyle/>
          <a:p>
            <a:pPr algn="ctr" indent="0" marL="0">
              <a:buNone/>
            </a:pPr>
            <a:r>
              <a:rPr lang="en-US" sz="1800" b="1" dirty="0">
                <a:solidFill>
                  <a:srgbClr val="1E293B"/>
                </a:solidFill>
                <a:latin typeface="Calibri" pitchFamily="34" charset="0"/>
                <a:ea typeface="Calibri" pitchFamily="34" charset="-122"/>
                <a:cs typeface="Calibri" pitchFamily="34" charset="-120"/>
              </a:rPr>
              <a:t>normalize</a:t>
            </a:r>
            <a:endParaRPr lang="en-US" sz="1800" dirty="0"/>
          </a:p>
        </p:txBody>
      </p:sp>
      <p:sp>
        <p:nvSpPr>
          <p:cNvPr id="17" name="Shape 15"/>
          <p:cNvSpPr/>
          <p:nvPr/>
        </p:nvSpPr>
        <p:spPr>
          <a:xfrm>
            <a:off x="4645152" y="4434840"/>
            <a:ext cx="347472" cy="384048"/>
          </a:xfrm>
          <a:prstGeom prst="rightArrow">
            <a:avLst/>
          </a:prstGeom>
          <a:solidFill>
            <a:srgbClr val="F08A24"/>
          </a:solidFill>
          <a:ln w="12700">
            <a:solidFill>
              <a:srgbClr val="F08A24"/>
            </a:solidFill>
            <a:prstDash val="solid"/>
          </a:ln>
        </p:spPr>
      </p:sp>
      <p:sp>
        <p:nvSpPr>
          <p:cNvPr id="18" name="Shape 16"/>
          <p:cNvSpPr/>
          <p:nvPr/>
        </p:nvSpPr>
        <p:spPr>
          <a:xfrm>
            <a:off x="5029200" y="4251960"/>
            <a:ext cx="1828800" cy="731520"/>
          </a:xfrm>
          <a:prstGeom prst="roundRect">
            <a:avLst>
              <a:gd name="adj" fmla="val 12500"/>
            </a:avLst>
          </a:prstGeom>
          <a:solidFill>
            <a:srgbClr val="EEF2F6"/>
          </a:solidFill>
          <a:ln w="12700">
            <a:solidFill>
              <a:srgbClr val="EEF2F6"/>
            </a:solidFill>
            <a:prstDash val="solid"/>
          </a:ln>
        </p:spPr>
      </p:sp>
      <p:sp>
        <p:nvSpPr>
          <p:cNvPr id="19" name="Text 17"/>
          <p:cNvSpPr txBox="1"/>
          <p:nvPr/>
        </p:nvSpPr>
        <p:spPr>
          <a:xfrm>
            <a:off x="5029200" y="4251960"/>
            <a:ext cx="1828800" cy="731520"/>
          </a:xfrm>
          <a:prstGeom prst="rect">
            <a:avLst/>
          </a:prstGeom>
          <a:noFill/>
          <a:ln/>
        </p:spPr>
        <p:txBody>
          <a:bodyPr wrap="square" lIns="0" tIns="0" rIns="0" bIns="0" rtlCol="0" anchor="ctr"/>
          <a:lstStyle/>
          <a:p>
            <a:pPr algn="ctr" indent="0" marL="0">
              <a:buNone/>
            </a:pPr>
            <a:r>
              <a:rPr lang="en-US" sz="1800" b="1" dirty="0">
                <a:solidFill>
                  <a:srgbClr val="1E293B"/>
                </a:solidFill>
                <a:latin typeface="Calibri" pitchFamily="34" charset="0"/>
                <a:ea typeface="Calibri" pitchFamily="34" charset="-122"/>
                <a:cs typeface="Calibri" pitchFamily="34" charset="-120"/>
              </a:rPr>
              <a:t>shuffle, split</a:t>
            </a:r>
            <a:endParaRPr lang="en-US" sz="1800" dirty="0"/>
          </a:p>
        </p:txBody>
      </p:sp>
      <p:sp>
        <p:nvSpPr>
          <p:cNvPr id="20" name="Shape 18"/>
          <p:cNvSpPr/>
          <p:nvPr/>
        </p:nvSpPr>
        <p:spPr>
          <a:xfrm>
            <a:off x="6885432" y="4434840"/>
            <a:ext cx="347472" cy="384048"/>
          </a:xfrm>
          <a:prstGeom prst="rightArrow">
            <a:avLst/>
          </a:prstGeom>
          <a:solidFill>
            <a:srgbClr val="F08A24"/>
          </a:solidFill>
          <a:ln w="12700">
            <a:solidFill>
              <a:srgbClr val="F08A24"/>
            </a:solidFill>
            <a:prstDash val="solid"/>
          </a:ln>
        </p:spPr>
      </p:sp>
      <p:sp>
        <p:nvSpPr>
          <p:cNvPr id="21" name="Shape 19"/>
          <p:cNvSpPr/>
          <p:nvPr/>
        </p:nvSpPr>
        <p:spPr>
          <a:xfrm>
            <a:off x="7269480" y="4251960"/>
            <a:ext cx="1828800" cy="731520"/>
          </a:xfrm>
          <a:prstGeom prst="roundRect">
            <a:avLst>
              <a:gd name="adj" fmla="val 12500"/>
            </a:avLst>
          </a:prstGeom>
          <a:solidFill>
            <a:srgbClr val="F08A24"/>
          </a:solidFill>
          <a:ln w="12700">
            <a:solidFill>
              <a:srgbClr val="F08A24"/>
            </a:solidFill>
            <a:prstDash val="solid"/>
          </a:ln>
        </p:spPr>
      </p:sp>
      <p:sp>
        <p:nvSpPr>
          <p:cNvPr id="22" name="Text 20"/>
          <p:cNvSpPr txBox="1"/>
          <p:nvPr/>
        </p:nvSpPr>
        <p:spPr>
          <a:xfrm>
            <a:off x="7269480" y="4251960"/>
            <a:ext cx="182880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train</a:t>
            </a:r>
            <a:endParaRPr lang="en-US" sz="1800" dirty="0"/>
          </a:p>
        </p:txBody>
      </p:sp>
      <p:sp>
        <p:nvSpPr>
          <p:cNvPr id="23" name="Shape 21"/>
          <p:cNvSpPr/>
          <p:nvPr/>
        </p:nvSpPr>
        <p:spPr>
          <a:xfrm>
            <a:off x="9125712" y="4434840"/>
            <a:ext cx="347472" cy="384048"/>
          </a:xfrm>
          <a:prstGeom prst="rightArrow">
            <a:avLst/>
          </a:prstGeom>
          <a:solidFill>
            <a:srgbClr val="F08A24"/>
          </a:solidFill>
          <a:ln w="12700">
            <a:solidFill>
              <a:srgbClr val="F08A24"/>
            </a:solidFill>
            <a:prstDash val="solid"/>
          </a:ln>
        </p:spPr>
      </p:sp>
      <p:sp>
        <p:nvSpPr>
          <p:cNvPr id="24" name="Shape 22"/>
          <p:cNvSpPr/>
          <p:nvPr/>
        </p:nvSpPr>
        <p:spPr>
          <a:xfrm>
            <a:off x="9509760" y="4251960"/>
            <a:ext cx="1828800" cy="731520"/>
          </a:xfrm>
          <a:prstGeom prst="roundRect">
            <a:avLst>
              <a:gd name="adj" fmla="val 12500"/>
            </a:avLst>
          </a:prstGeom>
          <a:solidFill>
            <a:srgbClr val="EEF2F6"/>
          </a:solidFill>
          <a:ln w="12700">
            <a:solidFill>
              <a:srgbClr val="EEF2F6"/>
            </a:solidFill>
            <a:prstDash val="solid"/>
          </a:ln>
        </p:spPr>
      </p:sp>
      <p:sp>
        <p:nvSpPr>
          <p:cNvPr id="25" name="Text 23"/>
          <p:cNvSpPr txBox="1"/>
          <p:nvPr/>
        </p:nvSpPr>
        <p:spPr>
          <a:xfrm>
            <a:off x="9509760" y="4251960"/>
            <a:ext cx="1828800" cy="731520"/>
          </a:xfrm>
          <a:prstGeom prst="rect">
            <a:avLst/>
          </a:prstGeom>
          <a:noFill/>
          <a:ln/>
        </p:spPr>
        <p:txBody>
          <a:bodyPr wrap="square" lIns="0" tIns="0" rIns="0" bIns="0" rtlCol="0" anchor="ctr"/>
          <a:lstStyle/>
          <a:p>
            <a:pPr algn="ctr" indent="0" marL="0">
              <a:buNone/>
            </a:pPr>
            <a:r>
              <a:rPr lang="en-US" sz="1800" b="1" dirty="0">
                <a:solidFill>
                  <a:srgbClr val="1E293B"/>
                </a:solidFill>
                <a:latin typeface="Calibri" pitchFamily="34" charset="0"/>
                <a:ea typeface="Calibri" pitchFamily="34" charset="-122"/>
                <a:cs typeface="Calibri" pitchFamily="34" charset="-120"/>
              </a:rPr>
              <a:t>test, plot</a:t>
            </a:r>
            <a:endParaRPr lang="en-US" sz="1800" dirty="0"/>
          </a:p>
        </p:txBody>
      </p:sp>
      <p:sp>
        <p:nvSpPr>
          <p:cNvPr id="26" name="Text 24"/>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run of their script: these five steps, once.</a:t>
            </a:r>
            <a:endParaRPr lang="en-US" sz="2400" dirty="0"/>
          </a:p>
        </p:txBody>
      </p:sp>
      <p:sp>
        <p:nvSpPr>
          <p:cNvPr id="28" name="Text 2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  ·  THE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in their code</a:t>
            </a:r>
            <a:endParaRPr lang="en-US" sz="3400" dirty="0"/>
          </a:p>
        </p:txBody>
      </p:sp>
      <p:sp>
        <p:nvSpPr>
          <p:cNvPr id="4" name="Shape 2"/>
          <p:cNvSpPr/>
          <p:nvPr/>
        </p:nvSpPr>
        <p:spPr>
          <a:xfrm>
            <a:off x="548640" y="1371600"/>
            <a:ext cx="7818120" cy="402336"/>
          </a:xfrm>
          <a:prstGeom prst="rect">
            <a:avLst/>
          </a:prstGeom>
          <a:solidFill>
            <a:srgbClr val="EEF2F6"/>
          </a:solidFill>
          <a:ln w="12700">
            <a:solidFill>
              <a:srgbClr val="EEF2F6"/>
            </a:solidFill>
            <a:prstDash val="solid"/>
          </a:ln>
        </p:spPr>
      </p:sp>
      <p:sp>
        <p:nvSpPr>
          <p:cNvPr id="5" name="Text 3"/>
          <p:cNvSpPr txBox="1"/>
          <p:nvPr/>
        </p:nvSpPr>
        <p:spPr>
          <a:xfrm>
            <a:off x="685800" y="1371600"/>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Conv1D(64, 3, activation='relu', padding='same')(x)</a:t>
            </a:r>
            <a:endParaRPr lang="en-US" sz="1600" dirty="0"/>
          </a:p>
        </p:txBody>
      </p:sp>
      <p:sp>
        <p:nvSpPr>
          <p:cNvPr id="6" name="Text 4"/>
          <p:cNvSpPr txBox="1"/>
          <p:nvPr/>
        </p:nvSpPr>
        <p:spPr>
          <a:xfrm>
            <a:off x="8503920" y="1371600"/>
            <a:ext cx="1234440" cy="402336"/>
          </a:xfrm>
          <a:prstGeom prst="rect">
            <a:avLst/>
          </a:prstGeom>
          <a:noFill/>
          <a:ln/>
        </p:spPr>
        <p:txBody>
          <a:bodyPr wrap="square" lIns="0" tIns="0" rIns="0" bIns="0" rtlCol="0" anchor="ctr"/>
          <a:lstStyle/>
          <a:p>
            <a:pPr indent="0" marL="0">
              <a:buNone/>
            </a:pPr>
            <a:r>
              <a:rPr lang="en-US" sz="1600" b="1" dirty="0">
                <a:solidFill>
                  <a:srgbClr val="F08A24"/>
                </a:solidFill>
                <a:latin typeface="Calibri" pitchFamily="34" charset="0"/>
                <a:ea typeface="Calibri" pitchFamily="34" charset="-122"/>
                <a:cs typeface="Calibri" pitchFamily="34" charset="-120"/>
              </a:rPr>
              <a:t>CNN</a:t>
            </a:r>
            <a:endParaRPr lang="en-US" sz="1600" dirty="0"/>
          </a:p>
        </p:txBody>
      </p:sp>
      <p:sp>
        <p:nvSpPr>
          <p:cNvPr id="7" name="Text 5"/>
          <p:cNvSpPr txBox="1"/>
          <p:nvPr/>
        </p:nvSpPr>
        <p:spPr>
          <a:xfrm>
            <a:off x="9784080" y="1371600"/>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64 filters, 3 taps</a:t>
            </a:r>
            <a:endParaRPr lang="en-US" sz="1600" dirty="0"/>
          </a:p>
        </p:txBody>
      </p:sp>
      <p:sp>
        <p:nvSpPr>
          <p:cNvPr id="8" name="Shape 6"/>
          <p:cNvSpPr/>
          <p:nvPr/>
        </p:nvSpPr>
        <p:spPr>
          <a:xfrm>
            <a:off x="548640" y="1847088"/>
            <a:ext cx="7818120" cy="402336"/>
          </a:xfrm>
          <a:prstGeom prst="rect">
            <a:avLst/>
          </a:prstGeom>
          <a:solidFill>
            <a:srgbClr val="F6F8FA"/>
          </a:solidFill>
          <a:ln w="12700">
            <a:solidFill>
              <a:srgbClr val="F6F8FA"/>
            </a:solidFill>
            <a:prstDash val="solid"/>
          </a:ln>
        </p:spPr>
      </p:sp>
      <p:sp>
        <p:nvSpPr>
          <p:cNvPr id="9" name="Text 7"/>
          <p:cNvSpPr txBox="1"/>
          <p:nvPr/>
        </p:nvSpPr>
        <p:spPr>
          <a:xfrm>
            <a:off x="685800" y="1847088"/>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Conv1D(128, 3, activation='relu', padding='same')(x)</a:t>
            </a:r>
            <a:endParaRPr lang="en-US" sz="1600" dirty="0"/>
          </a:p>
        </p:txBody>
      </p:sp>
      <p:sp>
        <p:nvSpPr>
          <p:cNvPr id="10" name="Text 8"/>
          <p:cNvSpPr txBox="1"/>
          <p:nvPr/>
        </p:nvSpPr>
        <p:spPr>
          <a:xfrm>
            <a:off x="9784080" y="1847088"/>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128 filters, 3 taps</a:t>
            </a:r>
            <a:endParaRPr lang="en-US" sz="1600" dirty="0"/>
          </a:p>
        </p:txBody>
      </p:sp>
      <p:sp>
        <p:nvSpPr>
          <p:cNvPr id="11" name="Shape 9"/>
          <p:cNvSpPr/>
          <p:nvPr/>
        </p:nvSpPr>
        <p:spPr>
          <a:xfrm>
            <a:off x="548640" y="2322576"/>
            <a:ext cx="7818120" cy="402336"/>
          </a:xfrm>
          <a:prstGeom prst="rect">
            <a:avLst/>
          </a:prstGeom>
          <a:solidFill>
            <a:srgbClr val="EEF2F6"/>
          </a:solidFill>
          <a:ln w="12700">
            <a:solidFill>
              <a:srgbClr val="EEF2F6"/>
            </a:solidFill>
            <a:prstDash val="solid"/>
          </a:ln>
        </p:spPr>
      </p:sp>
      <p:sp>
        <p:nvSpPr>
          <p:cNvPr id="12" name="Text 10"/>
          <p:cNvSpPr txBox="1"/>
          <p:nvPr/>
        </p:nvSpPr>
        <p:spPr>
          <a:xfrm>
            <a:off x="685800" y="2322576"/>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MaxPooling1D(pool_size=2)(x)</a:t>
            </a:r>
            <a:endParaRPr lang="en-US" sz="1600" dirty="0"/>
          </a:p>
        </p:txBody>
      </p:sp>
      <p:sp>
        <p:nvSpPr>
          <p:cNvPr id="13" name="Text 11"/>
          <p:cNvSpPr txBox="1"/>
          <p:nvPr/>
        </p:nvSpPr>
        <p:spPr>
          <a:xfrm>
            <a:off x="9784080" y="2322576"/>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128 steps → 64</a:t>
            </a:r>
            <a:endParaRPr lang="en-US" sz="1600" dirty="0"/>
          </a:p>
        </p:txBody>
      </p:sp>
      <p:sp>
        <p:nvSpPr>
          <p:cNvPr id="14" name="Shape 12"/>
          <p:cNvSpPr/>
          <p:nvPr/>
        </p:nvSpPr>
        <p:spPr>
          <a:xfrm>
            <a:off x="548640" y="2798064"/>
            <a:ext cx="7818120" cy="402336"/>
          </a:xfrm>
          <a:prstGeom prst="rect">
            <a:avLst/>
          </a:prstGeom>
          <a:solidFill>
            <a:srgbClr val="F6F8FA"/>
          </a:solidFill>
          <a:ln w="12700">
            <a:solidFill>
              <a:srgbClr val="F6F8FA"/>
            </a:solidFill>
            <a:prstDash val="solid"/>
          </a:ln>
        </p:spPr>
      </p:sp>
      <p:sp>
        <p:nvSpPr>
          <p:cNvPr id="15" name="Text 13"/>
          <p:cNvSpPr txBox="1"/>
          <p:nvPr/>
        </p:nvSpPr>
        <p:spPr>
          <a:xfrm>
            <a:off x="685800" y="2798064"/>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Bidirectional(LSTM(128, return_sequences=True))(x)</a:t>
            </a:r>
            <a:endParaRPr lang="en-US" sz="1600" dirty="0"/>
          </a:p>
        </p:txBody>
      </p:sp>
      <p:sp>
        <p:nvSpPr>
          <p:cNvPr id="16" name="Text 14"/>
          <p:cNvSpPr txBox="1"/>
          <p:nvPr/>
        </p:nvSpPr>
        <p:spPr>
          <a:xfrm>
            <a:off x="8503920" y="2798064"/>
            <a:ext cx="1234440" cy="402336"/>
          </a:xfrm>
          <a:prstGeom prst="rect">
            <a:avLst/>
          </a:prstGeom>
          <a:noFill/>
          <a:ln/>
        </p:spPr>
        <p:txBody>
          <a:bodyPr wrap="square" lIns="0" tIns="0" rIns="0" bIns="0" rtlCol="0" anchor="ctr"/>
          <a:lstStyle/>
          <a:p>
            <a:pPr indent="0" marL="0">
              <a:buNone/>
            </a:pPr>
            <a:r>
              <a:rPr lang="en-US" sz="1600" b="1" dirty="0">
                <a:solidFill>
                  <a:srgbClr val="F08A24"/>
                </a:solidFill>
                <a:latin typeface="Calibri" pitchFamily="34" charset="0"/>
                <a:ea typeface="Calibri" pitchFamily="34" charset="-122"/>
                <a:cs typeface="Calibri" pitchFamily="34" charset="-120"/>
              </a:rPr>
              <a:t>BiLSTM</a:t>
            </a:r>
            <a:endParaRPr lang="en-US" sz="1600" dirty="0"/>
          </a:p>
        </p:txBody>
      </p:sp>
      <p:sp>
        <p:nvSpPr>
          <p:cNvPr id="17" name="Text 15"/>
          <p:cNvSpPr txBox="1"/>
          <p:nvPr/>
        </p:nvSpPr>
        <p:spPr>
          <a:xfrm>
            <a:off x="9784080" y="2798064"/>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both directions</a:t>
            </a:r>
            <a:endParaRPr lang="en-US" sz="1600" dirty="0"/>
          </a:p>
        </p:txBody>
      </p:sp>
      <p:sp>
        <p:nvSpPr>
          <p:cNvPr id="18" name="Shape 16"/>
          <p:cNvSpPr/>
          <p:nvPr/>
        </p:nvSpPr>
        <p:spPr>
          <a:xfrm>
            <a:off x="548640" y="3273552"/>
            <a:ext cx="7818120" cy="402336"/>
          </a:xfrm>
          <a:prstGeom prst="rect">
            <a:avLst/>
          </a:prstGeom>
          <a:solidFill>
            <a:srgbClr val="EEF2F6"/>
          </a:solidFill>
          <a:ln w="12700">
            <a:solidFill>
              <a:srgbClr val="EEF2F6"/>
            </a:solidFill>
            <a:prstDash val="solid"/>
          </a:ln>
        </p:spPr>
      </p:sp>
      <p:sp>
        <p:nvSpPr>
          <p:cNvPr id="19" name="Text 17"/>
          <p:cNvSpPr txBox="1"/>
          <p:nvPr/>
        </p:nvSpPr>
        <p:spPr>
          <a:xfrm>
            <a:off x="685800" y="3273552"/>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lstm_out = Bidirectional(LSTM(128, return_sequences=True))(x)</a:t>
            </a:r>
            <a:endParaRPr lang="en-US" sz="1600" dirty="0"/>
          </a:p>
        </p:txBody>
      </p:sp>
      <p:sp>
        <p:nvSpPr>
          <p:cNvPr id="20" name="Text 18"/>
          <p:cNvSpPr txBox="1"/>
          <p:nvPr/>
        </p:nvSpPr>
        <p:spPr>
          <a:xfrm>
            <a:off x="9784080" y="3273552"/>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kept for attention</a:t>
            </a:r>
            <a:endParaRPr lang="en-US" sz="1600" dirty="0"/>
          </a:p>
        </p:txBody>
      </p:sp>
      <p:sp>
        <p:nvSpPr>
          <p:cNvPr id="21" name="Shape 19"/>
          <p:cNvSpPr/>
          <p:nvPr/>
        </p:nvSpPr>
        <p:spPr>
          <a:xfrm>
            <a:off x="548640" y="3749040"/>
            <a:ext cx="7818120" cy="402336"/>
          </a:xfrm>
          <a:prstGeom prst="rect">
            <a:avLst/>
          </a:prstGeom>
          <a:solidFill>
            <a:srgbClr val="F6F8FA"/>
          </a:solidFill>
          <a:ln w="12700">
            <a:solidFill>
              <a:srgbClr val="F6F8FA"/>
            </a:solidFill>
            <a:prstDash val="solid"/>
          </a:ln>
        </p:spPr>
      </p:sp>
      <p:sp>
        <p:nvSpPr>
          <p:cNvPr id="22" name="Text 20"/>
          <p:cNvSpPr txBox="1"/>
          <p:nvPr/>
        </p:nvSpPr>
        <p:spPr>
          <a:xfrm>
            <a:off x="685800" y="3749040"/>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attention(x, lstm_out)</a:t>
            </a:r>
            <a:endParaRPr lang="en-US" sz="1600" dirty="0"/>
          </a:p>
        </p:txBody>
      </p:sp>
      <p:sp>
        <p:nvSpPr>
          <p:cNvPr id="23" name="Text 21"/>
          <p:cNvSpPr txBox="1"/>
          <p:nvPr/>
        </p:nvSpPr>
        <p:spPr>
          <a:xfrm>
            <a:off x="8503920" y="3749040"/>
            <a:ext cx="1234440" cy="402336"/>
          </a:xfrm>
          <a:prstGeom prst="rect">
            <a:avLst/>
          </a:prstGeom>
          <a:noFill/>
          <a:ln/>
        </p:spPr>
        <p:txBody>
          <a:bodyPr wrap="square" lIns="0" tIns="0" rIns="0" bIns="0" rtlCol="0" anchor="ctr"/>
          <a:lstStyle/>
          <a:p>
            <a:pPr indent="0" marL="0">
              <a:buNone/>
            </a:pPr>
            <a:r>
              <a:rPr lang="en-US" sz="1600" b="1" dirty="0">
                <a:solidFill>
                  <a:srgbClr val="F08A24"/>
                </a:solidFill>
                <a:latin typeface="Calibri" pitchFamily="34" charset="0"/>
                <a:ea typeface="Calibri" pitchFamily="34" charset="-122"/>
                <a:cs typeface="Calibri" pitchFamily="34" charset="-120"/>
              </a:rPr>
              <a:t>Attention</a:t>
            </a:r>
            <a:endParaRPr lang="en-US" sz="1600" dirty="0"/>
          </a:p>
        </p:txBody>
      </p:sp>
      <p:sp>
        <p:nvSpPr>
          <p:cNvPr id="24" name="Text 22"/>
          <p:cNvSpPr txBox="1"/>
          <p:nvPr/>
        </p:nvSpPr>
        <p:spPr>
          <a:xfrm>
            <a:off x="9784080" y="3749040"/>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weighted average</a:t>
            </a:r>
            <a:endParaRPr lang="en-US" sz="1600" dirty="0"/>
          </a:p>
        </p:txBody>
      </p:sp>
      <p:sp>
        <p:nvSpPr>
          <p:cNvPr id="25" name="Shape 23"/>
          <p:cNvSpPr/>
          <p:nvPr/>
        </p:nvSpPr>
        <p:spPr>
          <a:xfrm>
            <a:off x="548640" y="4224528"/>
            <a:ext cx="7818120" cy="402336"/>
          </a:xfrm>
          <a:prstGeom prst="rect">
            <a:avLst/>
          </a:prstGeom>
          <a:solidFill>
            <a:srgbClr val="EEF2F6"/>
          </a:solidFill>
          <a:ln w="12700">
            <a:solidFill>
              <a:srgbClr val="EEF2F6"/>
            </a:solidFill>
            <a:prstDash val="solid"/>
          </a:ln>
        </p:spPr>
      </p:sp>
      <p:sp>
        <p:nvSpPr>
          <p:cNvPr id="26" name="Text 24"/>
          <p:cNvSpPr txBox="1"/>
          <p:nvPr/>
        </p:nvSpPr>
        <p:spPr>
          <a:xfrm>
            <a:off x="685800" y="4224528"/>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Dense(128, activation='relu')(x)</a:t>
            </a:r>
            <a:endParaRPr lang="en-US" sz="1600" dirty="0"/>
          </a:p>
        </p:txBody>
      </p:sp>
      <p:sp>
        <p:nvSpPr>
          <p:cNvPr id="27" name="Text 25"/>
          <p:cNvSpPr txBox="1"/>
          <p:nvPr/>
        </p:nvSpPr>
        <p:spPr>
          <a:xfrm>
            <a:off x="8503920" y="4224528"/>
            <a:ext cx="1234440" cy="402336"/>
          </a:xfrm>
          <a:prstGeom prst="rect">
            <a:avLst/>
          </a:prstGeom>
          <a:noFill/>
          <a:ln/>
        </p:spPr>
        <p:txBody>
          <a:bodyPr wrap="square" lIns="0" tIns="0" rIns="0" bIns="0" rtlCol="0" anchor="ctr"/>
          <a:lstStyle/>
          <a:p>
            <a:pPr indent="0" marL="0">
              <a:buNone/>
            </a:pPr>
            <a:r>
              <a:rPr lang="en-US" sz="1600" b="1" dirty="0">
                <a:solidFill>
                  <a:srgbClr val="F08A24"/>
                </a:solidFill>
                <a:latin typeface="Calibri" pitchFamily="34" charset="0"/>
                <a:ea typeface="Calibri" pitchFamily="34" charset="-122"/>
                <a:cs typeface="Calibri" pitchFamily="34" charset="-120"/>
              </a:rPr>
              <a:t>Dense</a:t>
            </a:r>
            <a:endParaRPr lang="en-US" sz="1600" dirty="0"/>
          </a:p>
        </p:txBody>
      </p:sp>
      <p:sp>
        <p:nvSpPr>
          <p:cNvPr id="28" name="Text 26"/>
          <p:cNvSpPr txBox="1"/>
          <p:nvPr/>
        </p:nvSpPr>
        <p:spPr>
          <a:xfrm>
            <a:off x="9784080" y="4224528"/>
            <a:ext cx="1856232" cy="402336"/>
          </a:xfrm>
          <a:prstGeom prst="rect">
            <a:avLst/>
          </a:prstGeom>
          <a:noFill/>
          <a:ln/>
        </p:spPr>
        <p:txBody>
          <a:bodyPr wrap="square" lIns="0" tIns="0" rIns="0" bIns="0" rtlCol="0" anchor="ctr"/>
          <a:lstStyle/>
          <a:p>
            <a:pPr indent="0" marL="0">
              <a:buNone/>
            </a:pPr>
            <a:endParaRPr lang="en-US" sz="1600" dirty="0"/>
          </a:p>
        </p:txBody>
      </p:sp>
      <p:sp>
        <p:nvSpPr>
          <p:cNvPr id="29" name="Shape 27"/>
          <p:cNvSpPr/>
          <p:nvPr/>
        </p:nvSpPr>
        <p:spPr>
          <a:xfrm>
            <a:off x="548640" y="4700016"/>
            <a:ext cx="7818120" cy="402336"/>
          </a:xfrm>
          <a:prstGeom prst="rect">
            <a:avLst/>
          </a:prstGeom>
          <a:solidFill>
            <a:srgbClr val="F6F8FA"/>
          </a:solidFill>
          <a:ln w="12700">
            <a:solidFill>
              <a:srgbClr val="F6F8FA"/>
            </a:solidFill>
            <a:prstDash val="solid"/>
          </a:ln>
        </p:spPr>
      </p:sp>
      <p:sp>
        <p:nvSpPr>
          <p:cNvPr id="30" name="Text 28"/>
          <p:cNvSpPr txBox="1"/>
          <p:nvPr/>
        </p:nvSpPr>
        <p:spPr>
          <a:xfrm>
            <a:off x="685800" y="4700016"/>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x = Dense(64, activation='relu')(x)</a:t>
            </a:r>
            <a:endParaRPr lang="en-US" sz="1600" dirty="0"/>
          </a:p>
        </p:txBody>
      </p:sp>
      <p:sp>
        <p:nvSpPr>
          <p:cNvPr id="31" name="Text 29"/>
          <p:cNvSpPr txBox="1"/>
          <p:nvPr/>
        </p:nvSpPr>
        <p:spPr>
          <a:xfrm>
            <a:off x="9784080" y="4700016"/>
            <a:ext cx="1856232" cy="402336"/>
          </a:xfrm>
          <a:prstGeom prst="rect">
            <a:avLst/>
          </a:prstGeom>
          <a:noFill/>
          <a:ln/>
        </p:spPr>
        <p:txBody>
          <a:bodyPr wrap="square" lIns="0" tIns="0" rIns="0" bIns="0" rtlCol="0" anchor="ctr"/>
          <a:lstStyle/>
          <a:p>
            <a:pPr indent="0" marL="0">
              <a:buNone/>
            </a:pPr>
            <a:endParaRPr lang="en-US" sz="1600" dirty="0"/>
          </a:p>
        </p:txBody>
      </p:sp>
      <p:sp>
        <p:nvSpPr>
          <p:cNvPr id="32" name="Shape 30"/>
          <p:cNvSpPr/>
          <p:nvPr/>
        </p:nvSpPr>
        <p:spPr>
          <a:xfrm>
            <a:off x="548640" y="5175504"/>
            <a:ext cx="7818120" cy="402336"/>
          </a:xfrm>
          <a:prstGeom prst="rect">
            <a:avLst/>
          </a:prstGeom>
          <a:solidFill>
            <a:srgbClr val="EEF2F6"/>
          </a:solidFill>
          <a:ln w="12700">
            <a:solidFill>
              <a:srgbClr val="EEF2F6"/>
            </a:solidFill>
            <a:prstDash val="solid"/>
          </a:ln>
        </p:spPr>
      </p:sp>
      <p:sp>
        <p:nvSpPr>
          <p:cNvPr id="33" name="Text 31"/>
          <p:cNvSpPr txBox="1"/>
          <p:nvPr/>
        </p:nvSpPr>
        <p:spPr>
          <a:xfrm>
            <a:off x="685800" y="5175504"/>
            <a:ext cx="7635240" cy="402336"/>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outputs = Dense(num_classes, activation='softmax')(x)</a:t>
            </a:r>
            <a:endParaRPr lang="en-US" sz="1600" dirty="0"/>
          </a:p>
        </p:txBody>
      </p:sp>
      <p:sp>
        <p:nvSpPr>
          <p:cNvPr id="34" name="Text 32"/>
          <p:cNvSpPr txBox="1"/>
          <p:nvPr/>
        </p:nvSpPr>
        <p:spPr>
          <a:xfrm>
            <a:off x="9784080" y="5175504"/>
            <a:ext cx="1856232" cy="402336"/>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11 probabilities</a:t>
            </a:r>
            <a:endParaRPr lang="en-US" sz="1600" dirty="0"/>
          </a:p>
        </p:txBody>
      </p:sp>
      <p:sp>
        <p:nvSpPr>
          <p:cNvPr id="35" name="Text 33"/>
          <p:cNvSpPr txBox="1"/>
          <p:nvPr/>
        </p:nvSpPr>
        <p:spPr>
          <a:xfrm>
            <a:off x="548640" y="5715000"/>
            <a:ext cx="91440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Their lines, with the BatchNormalization, Dropout and L2 arguments left out to fit.</a:t>
            </a:r>
            <a:endParaRPr lang="en-US" sz="1200" dirty="0"/>
          </a:p>
        </p:txBody>
      </p:sp>
      <p:sp>
        <p:nvSpPr>
          <p:cNvPr id="36" name="Text 34"/>
          <p:cNvSpPr txBox="1"/>
          <p:nvPr/>
        </p:nvSpPr>
        <p:spPr>
          <a:xfrm>
            <a:off x="548640" y="51663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Nine lines are the whole model.</a:t>
            </a:r>
            <a:endParaRPr lang="en-US" sz="2400" dirty="0"/>
          </a:p>
        </p:txBody>
      </p:sp>
      <p:sp>
        <p:nvSpPr>
          <p:cNvPr id="38"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  ·  THE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attention, in their code</a:t>
            </a:r>
            <a:endParaRPr lang="en-US" sz="3400" dirty="0"/>
          </a:p>
        </p:txBody>
      </p:sp>
      <p:sp>
        <p:nvSpPr>
          <p:cNvPr id="4" name="Shape 2"/>
          <p:cNvSpPr/>
          <p:nvPr/>
        </p:nvSpPr>
        <p:spPr>
          <a:xfrm>
            <a:off x="548640" y="1417320"/>
            <a:ext cx="7589520" cy="475488"/>
          </a:xfrm>
          <a:prstGeom prst="rect">
            <a:avLst/>
          </a:prstGeom>
          <a:solidFill>
            <a:srgbClr val="EEF2F6"/>
          </a:solidFill>
          <a:ln w="12700">
            <a:solidFill>
              <a:srgbClr val="EEF2F6"/>
            </a:solidFill>
            <a:prstDash val="solid"/>
          </a:ln>
        </p:spPr>
      </p:sp>
      <p:sp>
        <p:nvSpPr>
          <p:cNvPr id="5" name="Text 3"/>
          <p:cNvSpPr txBox="1"/>
          <p:nvPr/>
        </p:nvSpPr>
        <p:spPr>
          <a:xfrm>
            <a:off x="685800" y="141732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score = self.V(tf.nn.tanh(self.W1(query) + self.W2(value)))</a:t>
            </a:r>
            <a:endParaRPr lang="en-US" sz="1600" dirty="0"/>
          </a:p>
        </p:txBody>
      </p:sp>
      <p:sp>
        <p:nvSpPr>
          <p:cNvPr id="6" name="Text 4"/>
          <p:cNvSpPr txBox="1"/>
          <p:nvPr/>
        </p:nvSpPr>
        <p:spPr>
          <a:xfrm>
            <a:off x="8275320" y="141732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a score per step</a:t>
            </a:r>
            <a:endParaRPr lang="en-US" sz="1600" dirty="0"/>
          </a:p>
        </p:txBody>
      </p:sp>
      <p:sp>
        <p:nvSpPr>
          <p:cNvPr id="7" name="Shape 5"/>
          <p:cNvSpPr/>
          <p:nvPr/>
        </p:nvSpPr>
        <p:spPr>
          <a:xfrm>
            <a:off x="548640" y="1965960"/>
            <a:ext cx="7589520" cy="475488"/>
          </a:xfrm>
          <a:prstGeom prst="rect">
            <a:avLst/>
          </a:prstGeom>
          <a:solidFill>
            <a:srgbClr val="F6F8FA"/>
          </a:solidFill>
          <a:ln w="12700">
            <a:solidFill>
              <a:srgbClr val="F6F8FA"/>
            </a:solidFill>
            <a:prstDash val="solid"/>
          </a:ln>
        </p:spPr>
      </p:sp>
      <p:sp>
        <p:nvSpPr>
          <p:cNvPr id="8" name="Text 6"/>
          <p:cNvSpPr txBox="1"/>
          <p:nvPr/>
        </p:nvSpPr>
        <p:spPr>
          <a:xfrm>
            <a:off x="685800" y="196596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score = score * self.scale</a:t>
            </a:r>
            <a:endParaRPr lang="en-US" sz="1600" dirty="0"/>
          </a:p>
        </p:txBody>
      </p:sp>
      <p:sp>
        <p:nvSpPr>
          <p:cNvPr id="9" name="Text 7"/>
          <p:cNvSpPr txBox="1"/>
          <p:nvPr/>
        </p:nvSpPr>
        <p:spPr>
          <a:xfrm>
            <a:off x="8275320" y="196596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learned scale, starts at 1</a:t>
            </a:r>
            <a:endParaRPr lang="en-US" sz="1600" dirty="0"/>
          </a:p>
        </p:txBody>
      </p:sp>
      <p:sp>
        <p:nvSpPr>
          <p:cNvPr id="10" name="Shape 8"/>
          <p:cNvSpPr/>
          <p:nvPr/>
        </p:nvSpPr>
        <p:spPr>
          <a:xfrm>
            <a:off x="548640" y="2514600"/>
            <a:ext cx="7589520" cy="475488"/>
          </a:xfrm>
          <a:prstGeom prst="rect">
            <a:avLst/>
          </a:prstGeom>
          <a:solidFill>
            <a:srgbClr val="EEF2F6"/>
          </a:solidFill>
          <a:ln w="12700">
            <a:solidFill>
              <a:srgbClr val="EEF2F6"/>
            </a:solidFill>
            <a:prstDash val="solid"/>
          </a:ln>
        </p:spPr>
      </p:sp>
      <p:sp>
        <p:nvSpPr>
          <p:cNvPr id="11" name="Text 9"/>
          <p:cNvSpPr txBox="1"/>
          <p:nvPr/>
        </p:nvSpPr>
        <p:spPr>
          <a:xfrm>
            <a:off x="685800" y="251460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attention_weights = tf.nn.softmax(score, axis=1)</a:t>
            </a:r>
            <a:endParaRPr lang="en-US" sz="1600" dirty="0"/>
          </a:p>
        </p:txBody>
      </p:sp>
      <p:sp>
        <p:nvSpPr>
          <p:cNvPr id="12" name="Text 10"/>
          <p:cNvSpPr txBox="1"/>
          <p:nvPr/>
        </p:nvSpPr>
        <p:spPr>
          <a:xfrm>
            <a:off x="8275320" y="251460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weights over 64 steps, sum to 1</a:t>
            </a:r>
            <a:endParaRPr lang="en-US" sz="1600" dirty="0"/>
          </a:p>
        </p:txBody>
      </p:sp>
      <p:sp>
        <p:nvSpPr>
          <p:cNvPr id="13" name="Shape 11"/>
          <p:cNvSpPr/>
          <p:nvPr/>
        </p:nvSpPr>
        <p:spPr>
          <a:xfrm>
            <a:off x="548640" y="3063240"/>
            <a:ext cx="7589520" cy="475488"/>
          </a:xfrm>
          <a:prstGeom prst="rect">
            <a:avLst/>
          </a:prstGeom>
          <a:solidFill>
            <a:srgbClr val="F6F8FA"/>
          </a:solidFill>
          <a:ln w="12700">
            <a:solidFill>
              <a:srgbClr val="F6F8FA"/>
            </a:solidFill>
            <a:prstDash val="solid"/>
          </a:ln>
        </p:spPr>
      </p:sp>
      <p:sp>
        <p:nvSpPr>
          <p:cNvPr id="14" name="Text 12"/>
          <p:cNvSpPr txBox="1"/>
          <p:nvPr/>
        </p:nvSpPr>
        <p:spPr>
          <a:xfrm>
            <a:off x="685800" y="306324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attention_weights = self.dropout(attention_weights)</a:t>
            </a:r>
            <a:endParaRPr lang="en-US" sz="1600" dirty="0"/>
          </a:p>
        </p:txBody>
      </p:sp>
      <p:sp>
        <p:nvSpPr>
          <p:cNvPr id="15" name="Text 13"/>
          <p:cNvSpPr txBox="1"/>
          <p:nvPr/>
        </p:nvSpPr>
        <p:spPr>
          <a:xfrm>
            <a:off x="8275320" y="306324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10% dropped while training</a:t>
            </a:r>
            <a:endParaRPr lang="en-US" sz="1600" dirty="0"/>
          </a:p>
        </p:txBody>
      </p:sp>
      <p:sp>
        <p:nvSpPr>
          <p:cNvPr id="16" name="Shape 14"/>
          <p:cNvSpPr/>
          <p:nvPr/>
        </p:nvSpPr>
        <p:spPr>
          <a:xfrm>
            <a:off x="548640" y="3611880"/>
            <a:ext cx="7589520" cy="475488"/>
          </a:xfrm>
          <a:prstGeom prst="rect">
            <a:avLst/>
          </a:prstGeom>
          <a:solidFill>
            <a:srgbClr val="EEF2F6"/>
          </a:solidFill>
          <a:ln w="12700">
            <a:solidFill>
              <a:srgbClr val="EEF2F6"/>
            </a:solidFill>
            <a:prstDash val="solid"/>
          </a:ln>
        </p:spPr>
      </p:sp>
      <p:sp>
        <p:nvSpPr>
          <p:cNvPr id="17" name="Text 15"/>
          <p:cNvSpPr txBox="1"/>
          <p:nvPr/>
        </p:nvSpPr>
        <p:spPr>
          <a:xfrm>
            <a:off x="685800" y="361188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context_vector = attention_weights * value</a:t>
            </a:r>
            <a:endParaRPr lang="en-US" sz="1600" dirty="0"/>
          </a:p>
        </p:txBody>
      </p:sp>
      <p:sp>
        <p:nvSpPr>
          <p:cNvPr id="18" name="Text 16"/>
          <p:cNvSpPr txBox="1"/>
          <p:nvPr/>
        </p:nvSpPr>
        <p:spPr>
          <a:xfrm>
            <a:off x="8275320" y="361188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weight each step</a:t>
            </a:r>
            <a:endParaRPr lang="en-US" sz="1600" dirty="0"/>
          </a:p>
        </p:txBody>
      </p:sp>
      <p:sp>
        <p:nvSpPr>
          <p:cNvPr id="19" name="Shape 17"/>
          <p:cNvSpPr/>
          <p:nvPr/>
        </p:nvSpPr>
        <p:spPr>
          <a:xfrm>
            <a:off x="548640" y="4160520"/>
            <a:ext cx="7589520" cy="475488"/>
          </a:xfrm>
          <a:prstGeom prst="rect">
            <a:avLst/>
          </a:prstGeom>
          <a:solidFill>
            <a:srgbClr val="F6F8FA"/>
          </a:solidFill>
          <a:ln w="12700">
            <a:solidFill>
              <a:srgbClr val="F6F8FA"/>
            </a:solidFill>
            <a:prstDash val="solid"/>
          </a:ln>
        </p:spPr>
      </p:sp>
      <p:sp>
        <p:nvSpPr>
          <p:cNvPr id="20" name="Text 18"/>
          <p:cNvSpPr txBox="1"/>
          <p:nvPr/>
        </p:nvSpPr>
        <p:spPr>
          <a:xfrm>
            <a:off x="685800" y="416052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context_vector = tf.reduce_sum(context_vector, axis=1)</a:t>
            </a:r>
            <a:endParaRPr lang="en-US" sz="1600" dirty="0"/>
          </a:p>
        </p:txBody>
      </p:sp>
      <p:sp>
        <p:nvSpPr>
          <p:cNvPr id="21" name="Text 19"/>
          <p:cNvSpPr txBox="1"/>
          <p:nvPr/>
        </p:nvSpPr>
        <p:spPr>
          <a:xfrm>
            <a:off x="8275320" y="416052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add them up: 256 numbers</a:t>
            </a:r>
            <a:endParaRPr lang="en-US" sz="1600" dirty="0"/>
          </a:p>
        </p:txBody>
      </p:sp>
      <p:sp>
        <p:nvSpPr>
          <p:cNvPr id="22" name="Shape 20"/>
          <p:cNvSpPr/>
          <p:nvPr/>
        </p:nvSpPr>
        <p:spPr>
          <a:xfrm>
            <a:off x="548640" y="4709160"/>
            <a:ext cx="7589520" cy="475488"/>
          </a:xfrm>
          <a:prstGeom prst="rect">
            <a:avLst/>
          </a:prstGeom>
          <a:solidFill>
            <a:srgbClr val="EEF2F6"/>
          </a:solidFill>
          <a:ln w="12700">
            <a:solidFill>
              <a:srgbClr val="EEF2F6"/>
            </a:solidFill>
            <a:prstDash val="solid"/>
          </a:ln>
        </p:spPr>
      </p:sp>
      <p:sp>
        <p:nvSpPr>
          <p:cNvPr id="23" name="Text 21"/>
          <p:cNvSpPr txBox="1"/>
          <p:nvPr/>
        </p:nvSpPr>
        <p:spPr>
          <a:xfrm>
            <a:off x="685800" y="4709160"/>
            <a:ext cx="7406640" cy="475488"/>
          </a:xfrm>
          <a:prstGeom prst="rect">
            <a:avLst/>
          </a:prstGeom>
          <a:noFill/>
          <a:ln/>
        </p:spPr>
        <p:txBody>
          <a:bodyPr wrap="square" lIns="0" tIns="0" rIns="0" bIns="0" rtlCol="0" anchor="ctr"/>
          <a:lstStyle/>
          <a:p>
            <a:pPr indent="0" marL="0">
              <a:buNone/>
            </a:pPr>
            <a:r>
              <a:rPr lang="en-US" sz="1600" dirty="0">
                <a:solidFill>
                  <a:srgbClr val="1E293B"/>
                </a:solidFill>
                <a:latin typeface="Courier New" pitchFamily="34" charset="0"/>
                <a:ea typeface="Courier New" pitchFamily="34" charset="-122"/>
                <a:cs typeface="Courier New" pitchFamily="34" charset="-120"/>
              </a:rPr>
              <a:t>context_vector = self.layer_norm(context_vector)</a:t>
            </a:r>
            <a:endParaRPr lang="en-US" sz="1600" dirty="0"/>
          </a:p>
        </p:txBody>
      </p:sp>
      <p:sp>
        <p:nvSpPr>
          <p:cNvPr id="24" name="Text 22"/>
          <p:cNvSpPr txBox="1"/>
          <p:nvPr/>
        </p:nvSpPr>
        <p:spPr>
          <a:xfrm>
            <a:off x="8275320" y="4709160"/>
            <a:ext cx="3364992" cy="475488"/>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normalize the result</a:t>
            </a:r>
            <a:endParaRPr lang="en-US" sz="1600" dirty="0"/>
          </a:p>
        </p:txBody>
      </p:sp>
      <p:sp>
        <p:nvSpPr>
          <p:cNvPr id="25" name="Text 23"/>
          <p:cNvSpPr txBox="1"/>
          <p:nvPr/>
        </p:nvSpPr>
        <p:spPr>
          <a:xfrm>
            <a:off x="548640" y="5257800"/>
            <a:ext cx="100584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Their lines from call(), slightly shortened (the if around the scale, the training flag).</a:t>
            </a:r>
            <a:endParaRPr lang="en-US" sz="1200" dirty="0"/>
          </a:p>
        </p:txBody>
      </p:sp>
      <p:sp>
        <p:nvSpPr>
          <p:cNvPr id="26" name="Shape 24"/>
          <p:cNvSpPr/>
          <p:nvPr/>
        </p:nvSpPr>
        <p:spPr>
          <a:xfrm>
            <a:off x="548640" y="5577840"/>
            <a:ext cx="11091672" cy="685800"/>
          </a:xfrm>
          <a:prstGeom prst="roundRect">
            <a:avLst>
              <a:gd name="adj" fmla="val 16000"/>
            </a:avLst>
          </a:prstGeom>
          <a:solidFill>
            <a:srgbClr val="EEF2F6"/>
          </a:solidFill>
          <a:ln w="12700">
            <a:solidFill>
              <a:srgbClr val="EEF2F6"/>
            </a:solidFill>
            <a:prstDash val="solid"/>
          </a:ln>
        </p:spPr>
      </p:sp>
      <p:sp>
        <p:nvSpPr>
          <p:cNvPr id="27" name="Text 25"/>
          <p:cNvSpPr txBox="1"/>
          <p:nvPr/>
        </p:nvSpPr>
        <p:spPr>
          <a:xfrm>
            <a:off x="822960" y="5577840"/>
            <a:ext cx="10543032" cy="6858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query = the LSTM output after normalization;  value = the same output before it. Each step is scored on its own.</a:t>
            </a:r>
            <a:endParaRPr lang="en-US" sz="18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  ·  THE TRAINING</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training, in their code</a:t>
            </a:r>
            <a:endParaRPr lang="en-US" sz="3400" dirty="0"/>
          </a:p>
        </p:txBody>
      </p:sp>
      <p:sp>
        <p:nvSpPr>
          <p:cNvPr id="4" name="Shape 2"/>
          <p:cNvSpPr/>
          <p:nvPr/>
        </p:nvSpPr>
        <p:spPr>
          <a:xfrm>
            <a:off x="548640" y="1417320"/>
            <a:ext cx="8001000" cy="530352"/>
          </a:xfrm>
          <a:prstGeom prst="rect">
            <a:avLst/>
          </a:prstGeom>
          <a:solidFill>
            <a:srgbClr val="EEF2F6"/>
          </a:solidFill>
          <a:ln w="12700">
            <a:solidFill>
              <a:srgbClr val="EEF2F6"/>
            </a:solidFill>
            <a:prstDash val="solid"/>
          </a:ln>
        </p:spPr>
      </p:sp>
      <p:sp>
        <p:nvSpPr>
          <p:cNvPr id="5" name="Text 3"/>
          <p:cNvSpPr txBox="1"/>
          <p:nvPr/>
        </p:nvSpPr>
        <p:spPr>
          <a:xfrm>
            <a:off x="685800" y="1417320"/>
            <a:ext cx="7818120" cy="530352"/>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train_test_split(X, Y, snrs, test_size=0.3, random_state=2016)</a:t>
            </a:r>
            <a:endParaRPr lang="en-US" sz="1400" dirty="0"/>
          </a:p>
        </p:txBody>
      </p:sp>
      <p:sp>
        <p:nvSpPr>
          <p:cNvPr id="6" name="Text 4"/>
          <p:cNvSpPr txBox="1"/>
          <p:nvPr/>
        </p:nvSpPr>
        <p:spPr>
          <a:xfrm>
            <a:off x="8686800" y="1417320"/>
            <a:ext cx="2953512" cy="530352"/>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70% learn, 30% held out</a:t>
            </a:r>
            <a:endParaRPr lang="en-US" sz="1600" dirty="0"/>
          </a:p>
        </p:txBody>
      </p:sp>
      <p:sp>
        <p:nvSpPr>
          <p:cNvPr id="7" name="Shape 5"/>
          <p:cNvSpPr/>
          <p:nvPr/>
        </p:nvSpPr>
        <p:spPr>
          <a:xfrm>
            <a:off x="548640" y="2020824"/>
            <a:ext cx="8001000" cy="530352"/>
          </a:xfrm>
          <a:prstGeom prst="rect">
            <a:avLst/>
          </a:prstGeom>
          <a:solidFill>
            <a:srgbClr val="F6F8FA"/>
          </a:solidFill>
          <a:ln w="12700">
            <a:solidFill>
              <a:srgbClr val="F6F8FA"/>
            </a:solidFill>
            <a:prstDash val="solid"/>
          </a:ln>
        </p:spPr>
      </p:sp>
      <p:sp>
        <p:nvSpPr>
          <p:cNvPr id="8" name="Text 6"/>
          <p:cNvSpPr txBox="1"/>
          <p:nvPr/>
        </p:nvSpPr>
        <p:spPr>
          <a:xfrm>
            <a:off x="685800" y="2020824"/>
            <a:ext cx="7818120" cy="530352"/>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train_test_split(X_temp, ..., test_size=0.5, random_state=2016)</a:t>
            </a:r>
            <a:endParaRPr lang="en-US" sz="1400" dirty="0"/>
          </a:p>
        </p:txBody>
      </p:sp>
      <p:sp>
        <p:nvSpPr>
          <p:cNvPr id="9" name="Text 7"/>
          <p:cNvSpPr txBox="1"/>
          <p:nvPr/>
        </p:nvSpPr>
        <p:spPr>
          <a:xfrm>
            <a:off x="8686800" y="2020824"/>
            <a:ext cx="2953512" cy="530352"/>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15% watch, 15% test</a:t>
            </a:r>
            <a:endParaRPr lang="en-US" sz="1600" dirty="0"/>
          </a:p>
        </p:txBody>
      </p:sp>
      <p:sp>
        <p:nvSpPr>
          <p:cNvPr id="10" name="Shape 8"/>
          <p:cNvSpPr/>
          <p:nvPr/>
        </p:nvSpPr>
        <p:spPr>
          <a:xfrm>
            <a:off x="548640" y="2624328"/>
            <a:ext cx="8001000" cy="530352"/>
          </a:xfrm>
          <a:prstGeom prst="rect">
            <a:avLst/>
          </a:prstGeom>
          <a:solidFill>
            <a:srgbClr val="EEF2F6"/>
          </a:solidFill>
          <a:ln w="12700">
            <a:solidFill>
              <a:srgbClr val="EEF2F6"/>
            </a:solidFill>
            <a:prstDash val="solid"/>
          </a:ln>
        </p:spPr>
      </p:sp>
      <p:sp>
        <p:nvSpPr>
          <p:cNvPr id="11" name="Text 9"/>
          <p:cNvSpPr txBox="1"/>
          <p:nvPr/>
        </p:nvSpPr>
        <p:spPr>
          <a:xfrm>
            <a:off x="685800" y="2624328"/>
            <a:ext cx="7818120" cy="530352"/>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Adam(learning_rate=0.001, clipnorm=1.0)</a:t>
            </a:r>
            <a:endParaRPr lang="en-US" sz="1400" dirty="0"/>
          </a:p>
        </p:txBody>
      </p:sp>
      <p:sp>
        <p:nvSpPr>
          <p:cNvPr id="12" name="Text 10"/>
          <p:cNvSpPr txBox="1"/>
          <p:nvPr/>
        </p:nvSpPr>
        <p:spPr>
          <a:xfrm>
            <a:off x="8686800" y="2624328"/>
            <a:ext cx="2953512" cy="530352"/>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steps capped: not in the paper</a:t>
            </a:r>
            <a:endParaRPr lang="en-US" sz="1600" dirty="0"/>
          </a:p>
        </p:txBody>
      </p:sp>
      <p:sp>
        <p:nvSpPr>
          <p:cNvPr id="13" name="Shape 11"/>
          <p:cNvSpPr/>
          <p:nvPr/>
        </p:nvSpPr>
        <p:spPr>
          <a:xfrm>
            <a:off x="548640" y="3227832"/>
            <a:ext cx="8001000" cy="530352"/>
          </a:xfrm>
          <a:prstGeom prst="rect">
            <a:avLst/>
          </a:prstGeom>
          <a:solidFill>
            <a:srgbClr val="F6F8FA"/>
          </a:solidFill>
          <a:ln w="12700">
            <a:solidFill>
              <a:srgbClr val="F6F8FA"/>
            </a:solidFill>
            <a:prstDash val="solid"/>
          </a:ln>
        </p:spPr>
      </p:sp>
      <p:sp>
        <p:nvSpPr>
          <p:cNvPr id="14" name="Text 12"/>
          <p:cNvSpPr txBox="1"/>
          <p:nvPr/>
        </p:nvSpPr>
        <p:spPr>
          <a:xfrm>
            <a:off x="685800" y="3227832"/>
            <a:ext cx="7818120" cy="530352"/>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ReduceLROnPlateau(monitor='val_loss', factor=0.2, patience=5)</a:t>
            </a:r>
            <a:endParaRPr lang="en-US" sz="1400" dirty="0"/>
          </a:p>
        </p:txBody>
      </p:sp>
      <p:sp>
        <p:nvSpPr>
          <p:cNvPr id="15" name="Text 13"/>
          <p:cNvSpPr txBox="1"/>
          <p:nvPr/>
        </p:nvSpPr>
        <p:spPr>
          <a:xfrm>
            <a:off x="8686800" y="3227832"/>
            <a:ext cx="2953512" cy="530352"/>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loss flat 5 epochs: rate × 0.2</a:t>
            </a:r>
            <a:endParaRPr lang="en-US" sz="1600" dirty="0"/>
          </a:p>
        </p:txBody>
      </p:sp>
      <p:sp>
        <p:nvSpPr>
          <p:cNvPr id="16" name="Shape 14"/>
          <p:cNvSpPr/>
          <p:nvPr/>
        </p:nvSpPr>
        <p:spPr>
          <a:xfrm>
            <a:off x="548640" y="3831336"/>
            <a:ext cx="8001000" cy="530352"/>
          </a:xfrm>
          <a:prstGeom prst="rect">
            <a:avLst/>
          </a:prstGeom>
          <a:solidFill>
            <a:srgbClr val="EEF2F6"/>
          </a:solidFill>
          <a:ln w="12700">
            <a:solidFill>
              <a:srgbClr val="EEF2F6"/>
            </a:solidFill>
            <a:prstDash val="solid"/>
          </a:ln>
        </p:spPr>
      </p:sp>
      <p:sp>
        <p:nvSpPr>
          <p:cNvPr id="17" name="Text 15"/>
          <p:cNvSpPr txBox="1"/>
          <p:nvPr/>
        </p:nvSpPr>
        <p:spPr>
          <a:xfrm>
            <a:off x="685800" y="3831336"/>
            <a:ext cx="7818120" cy="530352"/>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EarlyStopping(monitor='val_loss', patience=6, restore_best_weights=True)</a:t>
            </a:r>
            <a:endParaRPr lang="en-US" sz="1400" dirty="0"/>
          </a:p>
        </p:txBody>
      </p:sp>
      <p:sp>
        <p:nvSpPr>
          <p:cNvPr id="18" name="Text 16"/>
          <p:cNvSpPr txBox="1"/>
          <p:nvPr/>
        </p:nvSpPr>
        <p:spPr>
          <a:xfrm>
            <a:off x="8686800" y="3831336"/>
            <a:ext cx="2953512" cy="530352"/>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loss flat 6 epochs: stop</a:t>
            </a:r>
            <a:endParaRPr lang="en-US" sz="1600" dirty="0"/>
          </a:p>
        </p:txBody>
      </p:sp>
      <p:sp>
        <p:nvSpPr>
          <p:cNvPr id="19" name="Shape 17"/>
          <p:cNvSpPr/>
          <p:nvPr/>
        </p:nvSpPr>
        <p:spPr>
          <a:xfrm>
            <a:off x="548640" y="4434840"/>
            <a:ext cx="8001000" cy="530352"/>
          </a:xfrm>
          <a:prstGeom prst="rect">
            <a:avLst/>
          </a:prstGeom>
          <a:solidFill>
            <a:srgbClr val="F6F8FA"/>
          </a:solidFill>
          <a:ln w="12700">
            <a:solidFill>
              <a:srgbClr val="F6F8FA"/>
            </a:solidFill>
            <a:prstDash val="solid"/>
          </a:ln>
        </p:spPr>
      </p:sp>
      <p:sp>
        <p:nvSpPr>
          <p:cNvPr id="20" name="Text 18"/>
          <p:cNvSpPr txBox="1"/>
          <p:nvPr/>
        </p:nvSpPr>
        <p:spPr>
          <a:xfrm>
            <a:off x="685800" y="4434840"/>
            <a:ext cx="7818120" cy="530352"/>
          </a:xfrm>
          <a:prstGeom prst="rect">
            <a:avLst/>
          </a:prstGeom>
          <a:noFill/>
          <a:ln/>
        </p:spPr>
        <p:txBody>
          <a:bodyPr wrap="square" lIns="0" tIns="0" rIns="0" bIns="0" rtlCol="0" anchor="ctr"/>
          <a:lstStyle/>
          <a:p>
            <a:pPr indent="0" marL="0">
              <a:buNone/>
            </a:pPr>
            <a:r>
              <a:rPr lang="en-US" sz="1400" dirty="0">
                <a:solidFill>
                  <a:srgbClr val="1E293B"/>
                </a:solidFill>
                <a:latin typeface="Courier New" pitchFamily="34" charset="0"/>
                <a:ea typeface="Courier New" pitchFamily="34" charset="-122"/>
                <a:cs typeface="Courier New" pitchFamily="34" charset="-120"/>
              </a:rPr>
              <a:t>model.fit(X_train, Y_train, epochs=100, batch_size=32, ...)</a:t>
            </a:r>
            <a:endParaRPr lang="en-US" sz="1400" dirty="0"/>
          </a:p>
        </p:txBody>
      </p:sp>
      <p:sp>
        <p:nvSpPr>
          <p:cNvPr id="21" name="Text 19"/>
          <p:cNvSpPr txBox="1"/>
          <p:nvPr/>
        </p:nvSpPr>
        <p:spPr>
          <a:xfrm>
            <a:off x="8686800" y="4434840"/>
            <a:ext cx="2953512" cy="530352"/>
          </a:xfrm>
          <a:prstGeom prst="rect">
            <a:avLst/>
          </a:prstGeom>
          <a:noFill/>
          <a:ln/>
        </p:spPr>
        <p:txBody>
          <a:bodyPr wrap="square" lIns="0" tIns="0" rIns="0" bIns="0" rtlCol="0" anchor="ctr"/>
          <a:lstStyle/>
          <a:p>
            <a:pPr indent="0" marL="0">
              <a:buNone/>
            </a:pPr>
            <a:r>
              <a:rPr lang="en-US" sz="1600" dirty="0">
                <a:solidFill>
                  <a:srgbClr val="5B6B7F"/>
                </a:solidFill>
                <a:latin typeface="Calibri" pitchFamily="34" charset="0"/>
                <a:ea typeface="Calibri" pitchFamily="34" charset="-122"/>
                <a:cs typeface="Calibri" pitchFamily="34" charset="-120"/>
              </a:rPr>
              <a:t>at most 100 epochs</a:t>
            </a:r>
            <a:endParaRPr lang="en-US" sz="1600" dirty="0"/>
          </a:p>
        </p:txBody>
      </p:sp>
      <p:sp>
        <p:nvSpPr>
          <p:cNvPr id="22" name="Text 20"/>
          <p:cNvSpPr txBox="1"/>
          <p:nvPr/>
        </p:nvSpPr>
        <p:spPr>
          <a:xfrm>
            <a:off x="548640" y="5120640"/>
            <a:ext cx="100584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Their lines, slightly shortened (mode='min', min_lr=1e-6 and the checkpoint callback left out).</a:t>
            </a:r>
            <a:endParaRPr lang="en-US" sz="1200" dirty="0"/>
          </a:p>
        </p:txBody>
      </p:sp>
      <p:sp>
        <p:nvSpPr>
          <p:cNvPr id="23" name="Text 21"/>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paper's “58 epochs” is where this stopping rule fired.</a:t>
            </a:r>
            <a:endParaRPr lang="en-US" sz="2400" dirty="0"/>
          </a:p>
        </p:txBody>
      </p:sp>
      <p:sp>
        <p:nvSpPr>
          <p:cNvPr id="25" name="Text 2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code tells us that the paper didn't</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2743200"/>
                <a:gridCol w="5971032"/>
              </a:tblGrid>
              <a:tr h="512064">
                <a:tc>
                  <a:txBody>
                    <a:bodyPr/>
                    <a:lstStyle/>
                    <a:p>
                      <a:pPr indent="0" marL="0">
                        <a:buNone/>
                      </a:pP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the paper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their code</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epochs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58</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up to 100; stop when val loss is flat 6 epochs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optimizer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not named</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Adam, with gradient clipping</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input scaling</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“normalization”</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per time index, over the whole dataset</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pooling</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unclear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one max-pool, after the 2nd conv</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attention scale</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“if enabled”</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learned, starts at 1</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runs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not stated</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one run, one split</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weights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5B6B7F"/>
                          </a:solidFill>
                          <a:latin typeface="Calibri" pitchFamily="34" charset="0"/>
                          <a:ea typeface="Calibri" pitchFamily="34" charset="-122"/>
                          <a:cs typeface="Calibri" pitchFamily="34" charset="-120"/>
                        </a:rPr>
                        <a:t>not published</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800" dirty="0">
                          <a:solidFill>
                            <a:srgbClr val="1E293B"/>
                          </a:solidFill>
                          <a:latin typeface="Calibri" pitchFamily="34" charset="0"/>
                          <a:ea typeface="Calibri" pitchFamily="34" charset="-122"/>
                          <a:cs typeface="Calibri" pitchFamily="34" charset="-120"/>
                        </a:rPr>
                        <a:t>still not published</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what the paper left open, the code settles.</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Two problems in their code</a:t>
            </a:r>
            <a:endParaRPr lang="en-US" sz="3400" dirty="0"/>
          </a:p>
        </p:txBody>
      </p:sp>
      <p:sp>
        <p:nvSpPr>
          <p:cNvPr id="4" name="Shape 2"/>
          <p:cNvSpPr/>
          <p:nvPr/>
        </p:nvSpPr>
        <p:spPr>
          <a:xfrm>
            <a:off x="548640" y="1463040"/>
            <a:ext cx="11091672" cy="1645920"/>
          </a:xfrm>
          <a:prstGeom prst="roundRect">
            <a:avLst>
              <a:gd name="adj" fmla="val 6667"/>
            </a:avLst>
          </a:prstGeom>
          <a:solidFill>
            <a:srgbClr val="EEF2F6"/>
          </a:solidFill>
          <a:ln w="12700">
            <a:solidFill>
              <a:srgbClr val="EEF2F6"/>
            </a:solidFill>
            <a:prstDash val="solid"/>
          </a:ln>
        </p:spPr>
      </p:sp>
      <p:sp>
        <p:nvSpPr>
          <p:cNvPr id="5" name="Shape 3"/>
          <p:cNvSpPr/>
          <p:nvPr/>
        </p:nvSpPr>
        <p:spPr>
          <a:xfrm>
            <a:off x="82296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600200" y="1600200"/>
            <a:ext cx="9720072" cy="50292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The split changes every run</a:t>
            </a:r>
            <a:endParaRPr lang="en-US" sz="2300" dirty="0"/>
          </a:p>
        </p:txBody>
      </p:sp>
      <p:sp>
        <p:nvSpPr>
          <p:cNvPr id="8" name="Text 6"/>
          <p:cNvSpPr txBox="1"/>
          <p:nvPr/>
        </p:nvSpPr>
        <p:spPr>
          <a:xfrm>
            <a:off x="1600200" y="2103120"/>
            <a:ext cx="9720072" cy="96012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The class list comes from a Python set, whose order changes between runs. The data are put together in that order, then shuffled with seed 2016: a different train/test split each time, despite the fixed seed.</a:t>
            </a:r>
            <a:endParaRPr lang="en-US" sz="1800" dirty="0"/>
          </a:p>
        </p:txBody>
      </p:sp>
      <p:sp>
        <p:nvSpPr>
          <p:cNvPr id="9" name="Shape 7"/>
          <p:cNvSpPr/>
          <p:nvPr/>
        </p:nvSpPr>
        <p:spPr>
          <a:xfrm>
            <a:off x="548640" y="3337560"/>
            <a:ext cx="11091672" cy="1645920"/>
          </a:xfrm>
          <a:prstGeom prst="roundRect">
            <a:avLst>
              <a:gd name="adj" fmla="val 6667"/>
            </a:avLst>
          </a:prstGeom>
          <a:solidFill>
            <a:srgbClr val="EEF2F6"/>
          </a:solidFill>
          <a:ln w="12700">
            <a:solidFill>
              <a:srgbClr val="EEF2F6"/>
            </a:solidFill>
            <a:prstDash val="solid"/>
          </a:ln>
        </p:spPr>
      </p:sp>
      <p:sp>
        <p:nvSpPr>
          <p:cNvPr id="10" name="Shape 8"/>
          <p:cNvSpPr/>
          <p:nvPr/>
        </p:nvSpPr>
        <p:spPr>
          <a:xfrm>
            <a:off x="822960" y="3611880"/>
            <a:ext cx="548640" cy="548640"/>
          </a:xfrm>
          <a:prstGeom prst="ellipse">
            <a:avLst/>
          </a:prstGeom>
          <a:solidFill>
            <a:srgbClr val="F08A24"/>
          </a:solidFill>
          <a:ln w="12700">
            <a:solidFill>
              <a:srgbClr val="F08A24"/>
            </a:solidFill>
            <a:prstDash val="solid"/>
          </a:ln>
        </p:spPr>
      </p:sp>
      <p:sp>
        <p:nvSpPr>
          <p:cNvPr id="11" name="Text 9"/>
          <p:cNvSpPr txBox="1"/>
          <p:nvPr/>
        </p:nvSpPr>
        <p:spPr>
          <a:xfrm>
            <a:off x="822960" y="36118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600200" y="3474720"/>
            <a:ext cx="9720072" cy="50292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The scaling sees the test set</a:t>
            </a:r>
            <a:endParaRPr lang="en-US" sz="2300" dirty="0"/>
          </a:p>
        </p:txBody>
      </p:sp>
      <p:sp>
        <p:nvSpPr>
          <p:cNvPr id="13" name="Text 11"/>
          <p:cNvSpPr txBox="1"/>
          <p:nvPr/>
        </p:nvSpPr>
        <p:spPr>
          <a:xfrm>
            <a:off x="1600200" y="3977640"/>
            <a:ext cx="9720072" cy="96012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The normalization statistics are computed on all 220,000 frames before the split. Probably a small effect, but the test frames are not untouched.</a:t>
            </a:r>
            <a:endParaRPr lang="en-US" sz="1800" dirty="0"/>
          </a:p>
        </p:txBody>
      </p:sp>
      <p:sp>
        <p:nvSpPr>
          <p:cNvPr id="14" name="Text 1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Neither changes the model; both make one run harder to repeat.</a:t>
            </a:r>
            <a:endParaRPr lang="en-US" sz="2400" dirty="0"/>
          </a:p>
        </p:txBody>
      </p:sp>
      <p:sp>
        <p:nvSpPr>
          <p:cNvPr id="16"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PART 3</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What we checked</a:t>
            </a:r>
            <a:endParaRPr lang="en-US" sz="6000" dirty="0"/>
          </a:p>
        </p:txBody>
      </p:sp>
      <p:sp>
        <p:nvSpPr>
          <p:cNvPr id="4" name="Text 2"/>
          <p:cNvSpPr txBox="1"/>
          <p:nvPr/>
        </p:nvSpPr>
        <p:spPr>
          <a:xfrm>
            <a:off x="548640" y="388620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Our rebuild from the paper, their own code, and their own tables.</a:t>
            </a:r>
            <a:endParaRPr lang="en-US" sz="24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One protocol for every model</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3 seeds for every model.</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377440"/>
                <a:gridCol w="2103120"/>
                <a:gridCol w="267919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their Table 3</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(our version)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61.42%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60.58%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the top four are within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CNN → BiLSTM → attention → classifier; the LSTM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63.24% is reproducible: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lead over other models is about one point.</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backbone, not a clearly better one.</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27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2026-10-13T04:11:15Z</dcterms:created>
  <dcterms:modified xsi:type="dcterms:W3CDTF">2026-10-13T04:11:15Z</dcterms:modified>
</cp:coreProperties>
</file>