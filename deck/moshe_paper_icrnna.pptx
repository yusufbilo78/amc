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numbers</c:v>
                </c:pt>
              </c:strCache>
            </c:strRef>
          </c:tx>
          <c:spPr>
            <a:solidFill>
              <a:schemeClr val="accent1"/>
            </a:solidFill>
            <a:ln w="9525" cap="flat">
              <a:solidFill>
                <a:srgbClr val="F9F9F9"/>
              </a:solidFill>
              <a:prstDash val="solid"/>
              <a:round/>
            </a:ln>
            <a:effectLst/>
          </c:spPr>
          <c:dPt>
            <c:idx val="0"/>
            <c:bubble3D val="0"/>
            <c:spPr>
              <a:solidFill>
                <a:srgbClr val="F08A24"/>
              </a:solidFill>
              <a:effectLst/>
            </c:spPr>
          </c:dPt>
          <c:dPt>
            <c:idx val="1"/>
            <c:bubble3D val="0"/>
            <c:spPr>
              <a:solidFill>
                <a:srgbClr val="0F1B2D"/>
              </a:solidFill>
              <a:effectLst/>
            </c:spPr>
          </c:dPt>
          <c:dPt>
            <c:idx val="2"/>
            <c:bubble3D val="0"/>
            <c:spPr>
              <a:solidFill>
                <a:srgbClr val="8FA0B5"/>
              </a:solidFill>
              <a:effectLst/>
            </c:spPr>
          </c:dPt>
          <c:dPt>
            <c:idx val="3"/>
            <c:bubble3D val="0"/>
            <c:spPr>
              <a:solidFill>
                <a:srgbClr val="C9D3E0"/>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BiLSTM</c:v>
                </c:pt>
                <c:pt idx="1">
                  <c:v>Attention</c:v>
                </c:pt>
                <c:pt idx="2">
                  <c:v>Dense</c:v>
                </c:pt>
                <c:pt idx="3">
                  <c:v>CNN</c:v>
                </c:pt>
              </c:strCache>
            </c:strRef>
          </c:cat>
          <c:val>
            <c:numRef>
              <c:f>Sheet1!$B$2:$B$5</c:f>
              <c:numCache>
                <c:ptCount val="4"/>
                <c:pt idx="0">
                  <c:v>659456</c:v>
                </c:pt>
                <c:pt idx="1">
                  <c:v>66177</c:v>
                </c:pt>
                <c:pt idx="2">
                  <c:v>42635</c:v>
                </c:pt>
                <c:pt idx="3">
                  <c:v>25920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0F1B2D"/>
              </a:solidFill>
              <a:effectLst/>
            </c:spPr>
          </c:dPt>
          <c:dPt>
            <c:idx val="5"/>
            <c:invertIfNegative val="0"/>
            <c:bubble3D val="0"/>
            <c:spPr>
              <a:solidFill>
                <a:srgbClr val="0F1B2D"/>
              </a:solidFill>
              <a:effectLst/>
            </c:spPr>
          </c:dPt>
          <c:dPt>
            <c:idx val="6"/>
            <c:invertIfNegative val="0"/>
            <c:bubble3D val="0"/>
            <c:spPr>
              <a:solidFill>
                <a:srgbClr val="0F1B2D"/>
              </a:solidFill>
              <a:effectLst/>
            </c:spPr>
          </c:dPt>
          <c:dPt>
            <c:idx val="7"/>
            <c:invertIfNegative val="0"/>
            <c:bubble3D val="0"/>
            <c:spPr>
              <a:solidFill>
                <a:srgbClr val="0F1B2D"/>
              </a:solidFill>
              <a:effectLst/>
            </c:spPr>
          </c:dPt>
          <c:dPt>
            <c:idx val="8"/>
            <c:invertIfNegative val="0"/>
            <c:bubble3D val="0"/>
            <c:spPr>
              <a:solidFill>
                <a:srgbClr val="0F1B2D"/>
              </a:solidFill>
              <a:effectLst/>
            </c:spPr>
          </c:dPt>
          <c:dPt>
            <c:idx val="9"/>
            <c:invertIfNegative val="0"/>
            <c:bubble3D val="0"/>
            <c:spPr>
              <a:solidFill>
                <a:srgbClr val="0F1B2D"/>
              </a:solidFill>
              <a:effectLst/>
            </c:spPr>
          </c:dPt>
          <c:dPt>
            <c:idx val="10"/>
            <c:invertIfNegative val="0"/>
            <c:bubble3D val="0"/>
            <c:spPr>
              <a:solidFill>
                <a:srgbClr val="8FA0B5"/>
              </a:solidFill>
              <a:effectLst/>
            </c:spPr>
          </c:dPt>
          <c:dPt>
            <c:idx val="11"/>
            <c:invertIfNegative val="0"/>
            <c:bubble3D val="0"/>
            <c:spPr>
              <a:solidFill>
                <a:srgbClr val="F08A24"/>
              </a:solidFill>
              <a:effectLst/>
            </c:spPr>
          </c:dPt>
          <c:cat>
            <c:multiLvlStrRef>
              <c:f>Sheet1!$A$2:$A$13</c:f>
              <c:multiLvlStrCache>
                <c:ptCount val="12"/>
                <c:lvl>
                  <c:pt idx="0">
                    <c:v>Transformer</c:v>
                  </c:pt>
                  <c:pt idx="1">
                    <c:v>MCNet</c:v>
                  </c:pt>
                  <c:pt idx="2">
                    <c:v>CGDNet</c:v>
                  </c:pt>
                  <c:pt idx="3">
                    <c:v>IC-AMCNet</c:v>
                  </c:pt>
                  <c:pt idx="4">
                    <c:v>CVCNN</c:v>
                  </c:pt>
                  <c:pt idx="5">
                    <c:v>ResNet</c:v>
                  </c:pt>
                  <c:pt idx="6">
                    <c:v>DAE</c:v>
                  </c:pt>
                  <c:pt idx="7">
                    <c:v>PET-CGDNN</c:v>
                  </c:pt>
                  <c:pt idx="8">
                    <c:v>MAMCA</c:v>
                  </c:pt>
                  <c:pt idx="9">
                    <c:v>MCLDNN</c:v>
                  </c:pt>
                  <c:pt idx="10">
                    <c:v>CNN-BiLSTM-DNN</c:v>
                  </c:pt>
                  <c:pt idx="11">
                    <c:v>ICRNNA</c:v>
                  </c:pt>
                </c:lvl>
              </c:multiLvlStrCache>
            </c:multiLvlStrRef>
          </c:cat>
          <c:val>
            <c:numRef>
              <c:f>Sheet1!$B$2:$B$13</c:f>
              <c:numCache>
                <c:formatCode>General</c:formatCode>
                <c:ptCount val="12"/>
                <c:pt idx="0">
                  <c:v>55.34</c:v>
                </c:pt>
                <c:pt idx="1">
                  <c:v>56.2</c:v>
                </c:pt>
                <c:pt idx="2">
                  <c:v>56.21</c:v>
                </c:pt>
                <c:pt idx="3">
                  <c:v>56.3</c:v>
                </c:pt>
                <c:pt idx="4">
                  <c:v>56.37</c:v>
                </c:pt>
                <c:pt idx="5">
                  <c:v>57.1</c:v>
                </c:pt>
                <c:pt idx="6">
                  <c:v>60.22</c:v>
                </c:pt>
                <c:pt idx="7">
                  <c:v>60.58</c:v>
                </c:pt>
                <c:pt idx="8">
                  <c:v>60.79</c:v>
                </c:pt>
                <c:pt idx="9">
                  <c:v>61.42</c:v>
                </c:pt>
                <c:pt idx="10">
                  <c:v>62.73</c:v>
                </c:pt>
                <c:pt idx="11">
                  <c:v>63.24</c:v>
                </c:pt>
              </c:numCache>
            </c:numRef>
          </c:val>
        </c:ser>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F08A24"/>
              </a:solidFill>
              <a:effectLst/>
            </c:spPr>
          </c:dPt>
          <c:dPt>
            <c:idx val="2"/>
            <c:invertIfNegative val="0"/>
            <c:bubble3D val="0"/>
            <c:spPr>
              <a:solidFill>
                <a:srgbClr val="0F1B2D"/>
              </a:solidFill>
              <a:effectLst/>
            </c:spPr>
          </c:dPt>
          <c:dPt>
            <c:idx val="3"/>
            <c:invertIfNegative val="0"/>
            <c:bubble3D val="0"/>
            <c:spPr>
              <a:solidFill>
                <a:srgbClr val="0F1B2D"/>
              </a:solidFill>
              <a:effectLst/>
            </c:spPr>
          </c:dPt>
          <c:cat>
            <c:multiLvlStrRef>
              <c:f>Sheet1!$A$2:$A$5</c:f>
              <c:multiLvlStrCache>
                <c:ptCount val="4"/>
                <c:lvl>
                  <c:pt idx="0">
                    <c:v>CNN only</c:v>
                  </c:pt>
                  <c:pt idx="1">
                    <c:v>BiLSTM only</c:v>
                  </c:pt>
                  <c:pt idx="2">
                    <c:v>No attention</c:v>
                  </c:pt>
                  <c:pt idx="3">
                    <c:v>Full ICRNNA</c:v>
                  </c:pt>
                </c:lvl>
              </c:multiLvlStrCache>
            </c:multiLvlStrRef>
          </c:cat>
          <c:val>
            <c:numRef>
              <c:f>Sheet1!$B$2:$B$5</c:f>
              <c:numCache>
                <c:formatCode>General</c:formatCode>
                <c:ptCount val="4"/>
                <c:pt idx="0">
                  <c:v>59.9</c:v>
                </c:pt>
                <c:pt idx="1">
                  <c:v>63.1</c:v>
                </c:pt>
                <c:pt idx="2">
                  <c:v>62.8</c:v>
                </c:pt>
                <c:pt idx="3">
                  <c:v>63.2</c:v>
                </c:pt>
              </c:numCache>
            </c:numRef>
          </c:val>
        </c:ser>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present the paper our detector comes from: ICRNNA, by El-Haryqy and colleagues, Results in Engineering, 2025. First I'll go through what the paper does, step by step: the data, the model block by block, how it is trained, and what it reports. Then what we checked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paper? Because our detector is built on it. Esmer re-implemented it, and our code comes from that version. The paper makes three claims. The best accuracy on RML2016.10a, 63.24 percent. A small model: 0.79 million numbers to learn. And it says it is especially good at low SNR.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same dataset we use: RML2016.10a. Eleven modulation types, twenty SNR labels, 220,000 frames. Each frame is 128 complex samples, written as two rows: I and Q. So the input to the model is a 2 by 128 array. That is all the model ever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model. A frame of 2 by 128 goes in. Four blocks process it. Eleven probabilities come out, one per modulation, and the largest is the answer. Below each block I wrote the size of what comes out of it, so you can follow one frame through. I'll now take the blocks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one: two convolution layers. A convolution here is a short filter, three samples long, slid along the frame, like an FIR filter whose taps are learned instead of designed. The first layer has 64 such filters, the second 128. So every time step is now described by 128 numbers. Then a pooling step keeps the larger of each pair of neighbours, so 128 time steps become 64. Each of the 64 steps summarizes about 6 samples, less than one symbol.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two: two bidirectional LSTM layers. An LSTM reads the 64 steps in order, one at a time, and carries a memory from step to step. Bidirectional means a second LSTM reads the same steps backwards. So at every step, the output knows what came before and what comes after: 128 numbers from each direction, 256 in total. This block holds 83 percent of the model's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three: attention. Each of the 64 steps gets a score from a small learned network. A softmax turns the scores into weights that add up to one. The output is the weighted average of the 64 steps: one vector of 256 numbers for the whole frame. The paper calls it improved because of three additions. From their code we now know exactly what they are: a learned scale on the scores, dropout on the weights, and a normalization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four: the decision. Two ordinary layers, 128 and 64 numbers, and then 11 outputs. A softmax turns them into probabilities, and the largest one is the answer. In total the model has 794 thousand numbers. The pie shows where they are: almost all in the LSTM.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is trained. Seventy percent of the frames to learn from, fifteen to watch, fifteen to test. Batches of 32 frames; the loss is cross-entropy; the optimizer is Adam with learning rate 0.001. When the validation loss stops improving for 5 epochs, the learning rate is cut by five. When it stops improving for 6 epochs, training stops and the best weights are restored. The paper's table says 58 epochs. From their code we now know that 58 is where this stopping rule fired, not a number they chose. They trained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main result, on 2016.10a. ICRNNA is first, at 63.24 percent. The runner-up, CNN-BiLSTM-DNN, is half a point behind. MCLDNN and PET-CGDNN, the well-known ones, are two to three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against SNR. Below minus 10 dB it is about 9 percent, which is chance with eleven classes. It climbs between minus 10 and 0 dB, and from 0 dB up it stays around 93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it still fail? Their matrix at 0 dB. Two problems are left. WBFM is called AM-DSB 58 percent of the time. And QAM16 and QAM64 are mixed up, about 6 percent each way. These are the same two problems we see in our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block matters? They removed blocks one at a time. CNN alone: 59.9. BiLSTM alone: 63.1. Everything but the attention: 62.8. The full model: 63.2. So the LSTM does almost all the work, and attention adds less than half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what we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knew any code existed, I rebuilt the model from the paper's text alone. Its size matched: 794,827 numbers. In August the authors released their code, and it confirms our reading: one pooling step, normalization after each LSTM, dropout on the attention weights. We missed a few details: the exact form of the attention, the input normalization, and gradient clipping. Trained until it stopped improving, our rebuild reached 63.21 percent, against their 63.24.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detail about the 58 epochs. Their stopping rule watches the validation loss, and the loss had flattened. But the validation accuracy, in their own figure on the right, is still rising at 58. When I trained our rebuild for a fixed 58 epochs, I got 61.75 percent. Letting it continue, it peaked at epoch 107 at 63.21. So their number is real, but it sits where the accuracy was still climbing.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their tables closely, three statements in the text don't match their own numbers. Best at low SNR: in their Table 5, other models are higher at minus 10, minus 8 and minus 6 dB. Highest precision: in Table 6, the LSTM-only model is higher. And MCLDNN is listed with 406 million parameters; it has 406 thousand. So ICRNNA is about twice the size of MCLDNN, not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three things the paper doesn't tell us. It reports one training run, with no spread; across seeds we see up to a point of variation, so a half-point lead may not be real. It doesn't say whether the other models were retrained or copied from their papers. And it treats the SNR label as a true SNR; in this data, at label 0 dB, QAM16 has about 9 dB more signal than QPSK.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trained five models ourselves under one protocol: same data, same split, three seeds. Our MCLDNN and PET-CGDNN numbers match their table within half a point. ICRNNA is first, but the top four are within about one point, and above 10 dB they all stop near 91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ICRNNA is a CNN, then a bidirectional LSTM, then attention, then a small classifier, and the LSTM does most of the work. Its 63.24 percent is reproducible: we got 63.21 from the paper alone. Its lead over other models is about one point. For us, it is a solid backbone, not a clearly better one.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914400"/>
            <a:ext cx="5486400" cy="365760"/>
          </a:xfrm>
          <a:prstGeom prst="rect">
            <a:avLst/>
          </a:prstGeom>
          <a:noFill/>
          <a:ln/>
        </p:spPr>
        <p:txBody>
          <a:bodyPr wrap="square" lIns="0" tIns="0" rIns="0" bIns="0" rtlCol="0" anchor="t"/>
          <a:lstStyle/>
          <a:p>
            <a:pPr indent="0" marL="0">
              <a:buNone/>
            </a:pPr>
            <a:r>
              <a:rPr lang="en-US" sz="1600" b="1" spc="400" kern="0" dirty="0">
                <a:solidFill>
                  <a:srgbClr val="F08A24"/>
                </a:solidFill>
                <a:latin typeface="Calibri" pitchFamily="34" charset="0"/>
                <a:ea typeface="Calibri" pitchFamily="34" charset="-122"/>
                <a:cs typeface="Calibri" pitchFamily="34" charset="-120"/>
              </a:rPr>
              <a:t>PAPER PRESENTATION</a:t>
            </a:r>
            <a:endParaRPr lang="en-US" sz="1600" dirty="0"/>
          </a:p>
        </p:txBody>
      </p:sp>
      <p:sp>
        <p:nvSpPr>
          <p:cNvPr id="3" name="Text 1"/>
          <p:cNvSpPr txBox="1"/>
          <p:nvPr/>
        </p:nvSpPr>
        <p:spPr>
          <a:xfrm>
            <a:off x="548640" y="1325880"/>
            <a:ext cx="10972800" cy="109728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ICRNNA</a:t>
            </a:r>
            <a:endParaRPr lang="en-US" sz="6600" dirty="0"/>
          </a:p>
        </p:txBody>
      </p:sp>
      <p:sp>
        <p:nvSpPr>
          <p:cNvPr id="4" name="Text 2"/>
          <p:cNvSpPr txBox="1"/>
          <p:nvPr/>
        </p:nvSpPr>
        <p:spPr>
          <a:xfrm>
            <a:off x="548640" y="2468880"/>
            <a:ext cx="10515600" cy="91440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Improved automatic modulation recognition using deep learning with additive attention</a:t>
            </a:r>
            <a:endParaRPr lang="en-US" sz="2600" dirty="0"/>
          </a:p>
        </p:txBody>
      </p:sp>
      <p:sp>
        <p:nvSpPr>
          <p:cNvPr id="5" name="Text 3"/>
          <p:cNvSpPr txBox="1"/>
          <p:nvPr/>
        </p:nvSpPr>
        <p:spPr>
          <a:xfrm>
            <a:off x="548640" y="3520440"/>
            <a:ext cx="11155680" cy="457200"/>
          </a:xfrm>
          <a:prstGeom prst="rect">
            <a:avLst/>
          </a:prstGeom>
          <a:noFill/>
          <a:ln/>
        </p:spPr>
        <p:txBody>
          <a:bodyPr wrap="square" lIns="0" tIns="0" rIns="0" bIns="0" rtlCol="0" anchor="t"/>
          <a:lstStyle/>
          <a:p>
            <a:pPr indent="0" marL="0">
              <a:buNone/>
            </a:pPr>
            <a:r>
              <a:rPr lang="en-US" sz="1700" dirty="0">
                <a:solidFill>
                  <a:srgbClr val="9AA8BA"/>
                </a:solidFill>
                <a:latin typeface="Calibri" pitchFamily="34" charset="0"/>
                <a:ea typeface="Calibri" pitchFamily="34" charset="-122"/>
                <a:cs typeface="Calibri" pitchFamily="34" charset="-120"/>
              </a:rPr>
              <a:t>El-Haryqy, Kharbouche, Ouamna, Madini, Zouine  ·  Ibn Tofail University, Morocco  ·  Results in Engineering 26 (2025) 104783</a:t>
            </a:r>
            <a:endParaRPr lang="en-US" sz="1700" dirty="0"/>
          </a:p>
        </p:txBody>
      </p:sp>
      <p:sp>
        <p:nvSpPr>
          <p:cNvPr id="6" name="Shape 4"/>
          <p:cNvSpPr/>
          <p:nvPr/>
        </p:nvSpPr>
        <p:spPr>
          <a:xfrm>
            <a:off x="548640" y="4434840"/>
            <a:ext cx="1920240" cy="594360"/>
          </a:xfrm>
          <a:prstGeom prst="roundRect">
            <a:avLst>
              <a:gd name="adj" fmla="val 18462"/>
            </a:avLst>
          </a:prstGeom>
          <a:solidFill>
            <a:srgbClr val="F08A24"/>
          </a:solidFill>
          <a:ln w="12700">
            <a:solidFill>
              <a:srgbClr val="F08A24"/>
            </a:solidFill>
            <a:prstDash val="solid"/>
          </a:ln>
        </p:spPr>
      </p:sp>
      <p:sp>
        <p:nvSpPr>
          <p:cNvPr id="7" name="Text 5"/>
          <p:cNvSpPr txBox="1"/>
          <p:nvPr/>
        </p:nvSpPr>
        <p:spPr>
          <a:xfrm>
            <a:off x="54864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CNN</a:t>
            </a:r>
            <a:endParaRPr lang="en-US" sz="2000" dirty="0"/>
          </a:p>
        </p:txBody>
      </p:sp>
      <p:sp>
        <p:nvSpPr>
          <p:cNvPr id="8" name="Shape 6"/>
          <p:cNvSpPr/>
          <p:nvPr/>
        </p:nvSpPr>
        <p:spPr>
          <a:xfrm>
            <a:off x="2514600" y="4544568"/>
            <a:ext cx="365760" cy="384048"/>
          </a:xfrm>
          <a:prstGeom prst="rightArrow">
            <a:avLst/>
          </a:prstGeom>
          <a:solidFill>
            <a:srgbClr val="F08A24"/>
          </a:solidFill>
          <a:ln w="12700">
            <a:solidFill>
              <a:srgbClr val="F08A24"/>
            </a:solidFill>
            <a:prstDash val="solid"/>
          </a:ln>
        </p:spPr>
      </p:sp>
      <p:sp>
        <p:nvSpPr>
          <p:cNvPr id="9" name="Shape 7"/>
          <p:cNvSpPr/>
          <p:nvPr/>
        </p:nvSpPr>
        <p:spPr>
          <a:xfrm>
            <a:off x="2926080" y="4434840"/>
            <a:ext cx="1920240" cy="594360"/>
          </a:xfrm>
          <a:prstGeom prst="roundRect">
            <a:avLst>
              <a:gd name="adj" fmla="val 18462"/>
            </a:avLst>
          </a:prstGeom>
          <a:solidFill>
            <a:srgbClr val="F08A24"/>
          </a:solidFill>
          <a:ln w="12700">
            <a:solidFill>
              <a:srgbClr val="F08A24"/>
            </a:solidFill>
            <a:prstDash val="solid"/>
          </a:ln>
        </p:spPr>
      </p:sp>
      <p:sp>
        <p:nvSpPr>
          <p:cNvPr id="10" name="Text 8"/>
          <p:cNvSpPr txBox="1"/>
          <p:nvPr/>
        </p:nvSpPr>
        <p:spPr>
          <a:xfrm>
            <a:off x="292608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BiLSTM</a:t>
            </a:r>
            <a:endParaRPr lang="en-US" sz="2000" dirty="0"/>
          </a:p>
        </p:txBody>
      </p:sp>
      <p:sp>
        <p:nvSpPr>
          <p:cNvPr id="11" name="Shape 9"/>
          <p:cNvSpPr/>
          <p:nvPr/>
        </p:nvSpPr>
        <p:spPr>
          <a:xfrm>
            <a:off x="4892040" y="4544568"/>
            <a:ext cx="365760" cy="384048"/>
          </a:xfrm>
          <a:prstGeom prst="rightArrow">
            <a:avLst/>
          </a:prstGeom>
          <a:solidFill>
            <a:srgbClr val="F08A24"/>
          </a:solidFill>
          <a:ln w="12700">
            <a:solidFill>
              <a:srgbClr val="F08A24"/>
            </a:solidFill>
            <a:prstDash val="solid"/>
          </a:ln>
        </p:spPr>
      </p:sp>
      <p:sp>
        <p:nvSpPr>
          <p:cNvPr id="12" name="Shape 10"/>
          <p:cNvSpPr/>
          <p:nvPr/>
        </p:nvSpPr>
        <p:spPr>
          <a:xfrm>
            <a:off x="5303520" y="4434840"/>
            <a:ext cx="1920240" cy="594360"/>
          </a:xfrm>
          <a:prstGeom prst="roundRect">
            <a:avLst>
              <a:gd name="adj" fmla="val 18462"/>
            </a:avLst>
          </a:prstGeom>
          <a:solidFill>
            <a:srgbClr val="F08A24"/>
          </a:solidFill>
          <a:ln w="12700">
            <a:solidFill>
              <a:srgbClr val="F08A24"/>
            </a:solidFill>
            <a:prstDash val="solid"/>
          </a:ln>
        </p:spPr>
      </p:sp>
      <p:sp>
        <p:nvSpPr>
          <p:cNvPr id="13" name="Text 11"/>
          <p:cNvSpPr txBox="1"/>
          <p:nvPr/>
        </p:nvSpPr>
        <p:spPr>
          <a:xfrm>
            <a:off x="530352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Attention</a:t>
            </a:r>
            <a:endParaRPr lang="en-US" sz="2000" dirty="0"/>
          </a:p>
        </p:txBody>
      </p:sp>
      <p:sp>
        <p:nvSpPr>
          <p:cNvPr id="14" name="Shape 12"/>
          <p:cNvSpPr/>
          <p:nvPr/>
        </p:nvSpPr>
        <p:spPr>
          <a:xfrm>
            <a:off x="7269480" y="4544568"/>
            <a:ext cx="365760" cy="384048"/>
          </a:xfrm>
          <a:prstGeom prst="rightArrow">
            <a:avLst/>
          </a:prstGeom>
          <a:solidFill>
            <a:srgbClr val="F08A24"/>
          </a:solidFill>
          <a:ln w="12700">
            <a:solidFill>
              <a:srgbClr val="F08A24"/>
            </a:solidFill>
            <a:prstDash val="solid"/>
          </a:ln>
        </p:spPr>
      </p:sp>
      <p:sp>
        <p:nvSpPr>
          <p:cNvPr id="15" name="Shape 13"/>
          <p:cNvSpPr/>
          <p:nvPr/>
        </p:nvSpPr>
        <p:spPr>
          <a:xfrm>
            <a:off x="7680960" y="4434840"/>
            <a:ext cx="1920240" cy="594360"/>
          </a:xfrm>
          <a:prstGeom prst="roundRect">
            <a:avLst>
              <a:gd name="adj" fmla="val 18462"/>
            </a:avLst>
          </a:prstGeom>
          <a:solidFill>
            <a:srgbClr val="F08A24"/>
          </a:solidFill>
          <a:ln w="12700">
            <a:solidFill>
              <a:srgbClr val="F08A24"/>
            </a:solidFill>
            <a:prstDash val="solid"/>
          </a:ln>
        </p:spPr>
      </p:sp>
      <p:sp>
        <p:nvSpPr>
          <p:cNvPr id="16" name="Text 14"/>
          <p:cNvSpPr txBox="1"/>
          <p:nvPr/>
        </p:nvSpPr>
        <p:spPr>
          <a:xfrm>
            <a:off x="768096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Dense</a:t>
            </a:r>
            <a:endParaRPr lang="en-US" sz="2000" dirty="0"/>
          </a:p>
        </p:txBody>
      </p:sp>
      <p:sp>
        <p:nvSpPr>
          <p:cNvPr id="17" name="Text 15"/>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Yusuf Bilal Cetinkaya  ·  Moshe Kam's research group  ·  NJIT  ·  October 2026</a:t>
            </a:r>
            <a:endParaRPr lang="en-US" sz="16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Why this paper, and what it claims</a:t>
            </a:r>
            <a:endParaRPr lang="en-US" sz="3400" dirty="0"/>
          </a:p>
        </p:txBody>
      </p:sp>
      <p:sp>
        <p:nvSpPr>
          <p:cNvPr id="4" name="Shape 2"/>
          <p:cNvSpPr/>
          <p:nvPr/>
        </p:nvSpPr>
        <p:spPr>
          <a:xfrm>
            <a:off x="548640" y="1463040"/>
            <a:ext cx="3246120" cy="822960"/>
          </a:xfrm>
          <a:prstGeom prst="roundRect">
            <a:avLst>
              <a:gd name="adj" fmla="val 13333"/>
            </a:avLst>
          </a:prstGeom>
          <a:solidFill>
            <a:srgbClr val="EEF2F6"/>
          </a:solidFill>
          <a:ln w="12700">
            <a:solidFill>
              <a:srgbClr val="EEF2F6"/>
            </a:solidFill>
            <a:prstDash val="solid"/>
          </a:ln>
        </p:spPr>
      </p:sp>
      <p:sp>
        <p:nvSpPr>
          <p:cNvPr id="5" name="Text 3"/>
          <p:cNvSpPr txBox="1"/>
          <p:nvPr/>
        </p:nvSpPr>
        <p:spPr>
          <a:xfrm>
            <a:off x="548640" y="1463040"/>
            <a:ext cx="3246120" cy="822960"/>
          </a:xfrm>
          <a:prstGeom prst="rect">
            <a:avLst/>
          </a:prstGeom>
          <a:noFill/>
          <a:ln/>
        </p:spPr>
        <p:txBody>
          <a:bodyPr wrap="square" lIns="0" tIns="0" rIns="0" bIns="0" rtlCol="0" anchor="ctr"/>
          <a:lstStyle/>
          <a:p>
            <a:pPr algn="ctr" indent="0" marL="0">
              <a:buNone/>
            </a:pPr>
            <a:r>
              <a:rPr lang="en-US" sz="2200" b="1" dirty="0">
                <a:solidFill>
                  <a:srgbClr val="1E293B"/>
                </a:solidFill>
                <a:latin typeface="Calibri" pitchFamily="34" charset="0"/>
                <a:ea typeface="Calibri" pitchFamily="34" charset="-122"/>
                <a:cs typeface="Calibri" pitchFamily="34" charset="-120"/>
              </a:rPr>
              <a:t>This paper (2025)</a:t>
            </a:r>
            <a:endParaRPr lang="en-US" sz="2200" dirty="0"/>
          </a:p>
        </p:txBody>
      </p:sp>
      <p:sp>
        <p:nvSpPr>
          <p:cNvPr id="6" name="Shape 4"/>
          <p:cNvSpPr/>
          <p:nvPr/>
        </p:nvSpPr>
        <p:spPr>
          <a:xfrm>
            <a:off x="3840480" y="1691640"/>
            <a:ext cx="457200" cy="384048"/>
          </a:xfrm>
          <a:prstGeom prst="rightArrow">
            <a:avLst/>
          </a:prstGeom>
          <a:solidFill>
            <a:srgbClr val="F08A24"/>
          </a:solidFill>
          <a:ln w="12700">
            <a:solidFill>
              <a:srgbClr val="F08A24"/>
            </a:solidFill>
            <a:prstDash val="solid"/>
          </a:ln>
        </p:spPr>
      </p:sp>
      <p:sp>
        <p:nvSpPr>
          <p:cNvPr id="7" name="Shape 5"/>
          <p:cNvSpPr/>
          <p:nvPr/>
        </p:nvSpPr>
        <p:spPr>
          <a:xfrm>
            <a:off x="4343400" y="1463040"/>
            <a:ext cx="3246120" cy="822960"/>
          </a:xfrm>
          <a:prstGeom prst="roundRect">
            <a:avLst>
              <a:gd name="adj" fmla="val 13333"/>
            </a:avLst>
          </a:prstGeom>
          <a:solidFill>
            <a:srgbClr val="EEF2F6"/>
          </a:solidFill>
          <a:ln w="12700">
            <a:solidFill>
              <a:srgbClr val="EEF2F6"/>
            </a:solidFill>
            <a:prstDash val="solid"/>
          </a:ln>
        </p:spPr>
      </p:sp>
      <p:sp>
        <p:nvSpPr>
          <p:cNvPr id="8" name="Text 6"/>
          <p:cNvSpPr txBox="1"/>
          <p:nvPr/>
        </p:nvSpPr>
        <p:spPr>
          <a:xfrm>
            <a:off x="4343400" y="1463040"/>
            <a:ext cx="3246120" cy="822960"/>
          </a:xfrm>
          <a:prstGeom prst="rect">
            <a:avLst/>
          </a:prstGeom>
          <a:noFill/>
          <a:ln/>
        </p:spPr>
        <p:txBody>
          <a:bodyPr wrap="square" lIns="0" tIns="0" rIns="0" bIns="0" rtlCol="0" anchor="ctr"/>
          <a:lstStyle/>
          <a:p>
            <a:pPr algn="ctr" indent="0" marL="0">
              <a:buNone/>
            </a:pPr>
            <a:r>
              <a:rPr lang="en-US" sz="2200" b="1" dirty="0">
                <a:solidFill>
                  <a:srgbClr val="1E293B"/>
                </a:solidFill>
                <a:latin typeface="Calibri" pitchFamily="34" charset="0"/>
                <a:ea typeface="Calibri" pitchFamily="34" charset="-122"/>
                <a:cs typeface="Calibri" pitchFamily="34" charset="-120"/>
              </a:rPr>
              <a:t>Esmer's version</a:t>
            </a:r>
            <a:endParaRPr lang="en-US" sz="2200" dirty="0"/>
          </a:p>
        </p:txBody>
      </p:sp>
      <p:sp>
        <p:nvSpPr>
          <p:cNvPr id="9" name="Shape 7"/>
          <p:cNvSpPr/>
          <p:nvPr/>
        </p:nvSpPr>
        <p:spPr>
          <a:xfrm>
            <a:off x="7635240" y="1691640"/>
            <a:ext cx="457200" cy="384048"/>
          </a:xfrm>
          <a:prstGeom prst="rightArrow">
            <a:avLst/>
          </a:prstGeom>
          <a:solidFill>
            <a:srgbClr val="F08A24"/>
          </a:solidFill>
          <a:ln w="12700">
            <a:solidFill>
              <a:srgbClr val="F08A24"/>
            </a:solidFill>
            <a:prstDash val="solid"/>
          </a:ln>
        </p:spPr>
      </p:sp>
      <p:sp>
        <p:nvSpPr>
          <p:cNvPr id="10" name="Shape 8"/>
          <p:cNvSpPr/>
          <p:nvPr/>
        </p:nvSpPr>
        <p:spPr>
          <a:xfrm>
            <a:off x="8138160" y="1463040"/>
            <a:ext cx="3246120" cy="822960"/>
          </a:xfrm>
          <a:prstGeom prst="roundRect">
            <a:avLst>
              <a:gd name="adj" fmla="val 13333"/>
            </a:avLst>
          </a:prstGeom>
          <a:solidFill>
            <a:srgbClr val="0F1B2D"/>
          </a:solidFill>
          <a:ln w="12700">
            <a:solidFill>
              <a:srgbClr val="0F1B2D"/>
            </a:solidFill>
            <a:prstDash val="solid"/>
          </a:ln>
        </p:spPr>
      </p:sp>
      <p:sp>
        <p:nvSpPr>
          <p:cNvPr id="11" name="Text 9"/>
          <p:cNvSpPr txBox="1"/>
          <p:nvPr/>
        </p:nvSpPr>
        <p:spPr>
          <a:xfrm>
            <a:off x="8138160" y="1463040"/>
            <a:ext cx="324612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Our detector</a:t>
            </a:r>
            <a:endParaRPr lang="en-US" sz="2200" dirty="0"/>
          </a:p>
        </p:txBody>
      </p:sp>
      <p:sp>
        <p:nvSpPr>
          <p:cNvPr id="12" name="Shape 10"/>
          <p:cNvSpPr/>
          <p:nvPr/>
        </p:nvSpPr>
        <p:spPr>
          <a:xfrm>
            <a:off x="548640" y="2606040"/>
            <a:ext cx="3520440" cy="2240280"/>
          </a:xfrm>
          <a:prstGeom prst="roundRect">
            <a:avLst>
              <a:gd name="adj" fmla="val 4898"/>
            </a:avLst>
          </a:prstGeom>
          <a:solidFill>
            <a:srgbClr val="EEF2F6"/>
          </a:solidFill>
          <a:ln w="12700">
            <a:solidFill>
              <a:srgbClr val="EEF2F6"/>
            </a:solidFill>
            <a:prstDash val="solid"/>
          </a:ln>
        </p:spPr>
      </p:sp>
      <p:sp>
        <p:nvSpPr>
          <p:cNvPr id="13" name="Text 11"/>
          <p:cNvSpPr txBox="1"/>
          <p:nvPr/>
        </p:nvSpPr>
        <p:spPr>
          <a:xfrm>
            <a:off x="822960" y="2743200"/>
            <a:ext cx="3017520" cy="914400"/>
          </a:xfrm>
          <a:prstGeom prst="rect">
            <a:avLst/>
          </a:prstGeom>
          <a:noFill/>
          <a:ln/>
        </p:spPr>
        <p:txBody>
          <a:bodyPr wrap="square" lIns="0" tIns="0" rIns="0" bIns="0" rtlCol="0" anchor="b"/>
          <a:lstStyle/>
          <a:p>
            <a:pPr algn="l" indent="0" marL="0">
              <a:buNone/>
            </a:pPr>
            <a:r>
              <a:rPr lang="en-US" sz="5000" b="1" dirty="0">
                <a:solidFill>
                  <a:srgbClr val="F08A24"/>
                </a:solidFill>
                <a:latin typeface="Calibri" pitchFamily="34" charset="0"/>
                <a:ea typeface="Calibri" pitchFamily="34" charset="-122"/>
                <a:cs typeface="Calibri" pitchFamily="34" charset="-120"/>
              </a:rPr>
              <a:t>63.24%</a:t>
            </a:r>
            <a:endParaRPr lang="en-US" sz="5000" dirty="0"/>
          </a:p>
        </p:txBody>
      </p:sp>
      <p:sp>
        <p:nvSpPr>
          <p:cNvPr id="14" name="Text 12"/>
          <p:cNvSpPr txBox="1"/>
          <p:nvPr/>
        </p:nvSpPr>
        <p:spPr>
          <a:xfrm>
            <a:off x="82296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best accuracy on RML2016.10a</a:t>
            </a:r>
            <a:endParaRPr lang="en-US" sz="1900" dirty="0"/>
          </a:p>
        </p:txBody>
      </p:sp>
      <p:sp>
        <p:nvSpPr>
          <p:cNvPr id="15" name="Shape 13"/>
          <p:cNvSpPr/>
          <p:nvPr/>
        </p:nvSpPr>
        <p:spPr>
          <a:xfrm>
            <a:off x="4343400" y="2606040"/>
            <a:ext cx="3520440" cy="2240280"/>
          </a:xfrm>
          <a:prstGeom prst="roundRect">
            <a:avLst>
              <a:gd name="adj" fmla="val 4898"/>
            </a:avLst>
          </a:prstGeom>
          <a:solidFill>
            <a:srgbClr val="EEF2F6"/>
          </a:solidFill>
          <a:ln w="12700">
            <a:solidFill>
              <a:srgbClr val="EEF2F6"/>
            </a:solidFill>
            <a:prstDash val="solid"/>
          </a:ln>
        </p:spPr>
      </p:sp>
      <p:sp>
        <p:nvSpPr>
          <p:cNvPr id="16" name="Text 14"/>
          <p:cNvSpPr txBox="1"/>
          <p:nvPr/>
        </p:nvSpPr>
        <p:spPr>
          <a:xfrm>
            <a:off x="4617720" y="274320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0.79 M</a:t>
            </a:r>
            <a:endParaRPr lang="en-US" sz="5000" dirty="0"/>
          </a:p>
        </p:txBody>
      </p:sp>
      <p:sp>
        <p:nvSpPr>
          <p:cNvPr id="17" name="Text 15"/>
          <p:cNvSpPr txBox="1"/>
          <p:nvPr/>
        </p:nvSpPr>
        <p:spPr>
          <a:xfrm>
            <a:off x="461772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numbers to learn: a small model</a:t>
            </a:r>
            <a:endParaRPr lang="en-US" sz="1900" dirty="0"/>
          </a:p>
        </p:txBody>
      </p:sp>
      <p:sp>
        <p:nvSpPr>
          <p:cNvPr id="18" name="Shape 16"/>
          <p:cNvSpPr/>
          <p:nvPr/>
        </p:nvSpPr>
        <p:spPr>
          <a:xfrm>
            <a:off x="8138160" y="2606040"/>
            <a:ext cx="3520440" cy="2240280"/>
          </a:xfrm>
          <a:prstGeom prst="roundRect">
            <a:avLst>
              <a:gd name="adj" fmla="val 4898"/>
            </a:avLst>
          </a:prstGeom>
          <a:solidFill>
            <a:srgbClr val="EEF2F6"/>
          </a:solidFill>
          <a:ln w="12700">
            <a:solidFill>
              <a:srgbClr val="EEF2F6"/>
            </a:solidFill>
            <a:prstDash val="solid"/>
          </a:ln>
        </p:spPr>
      </p:sp>
      <p:sp>
        <p:nvSpPr>
          <p:cNvPr id="19" name="Text 17"/>
          <p:cNvSpPr txBox="1"/>
          <p:nvPr/>
        </p:nvSpPr>
        <p:spPr>
          <a:xfrm>
            <a:off x="8412480" y="274320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low SNR</a:t>
            </a:r>
            <a:endParaRPr lang="en-US" sz="5000" dirty="0"/>
          </a:p>
        </p:txBody>
      </p:sp>
      <p:sp>
        <p:nvSpPr>
          <p:cNvPr id="20" name="Text 18"/>
          <p:cNvSpPr txBox="1"/>
          <p:nvPr/>
        </p:nvSpPr>
        <p:spPr>
          <a:xfrm>
            <a:off x="841248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claimed to be its strength</a:t>
            </a:r>
            <a:endParaRPr lang="en-US" sz="1900" dirty="0"/>
          </a:p>
        </p:txBody>
      </p:sp>
      <p:sp>
        <p:nvSpPr>
          <p:cNvPr id="21" name="Text 19"/>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Today: what it does, step by step. Then what we checked.</a:t>
            </a:r>
            <a:endParaRPr lang="en-US" sz="2400" dirty="0"/>
          </a:p>
        </p:txBody>
      </p:sp>
      <p:sp>
        <p:nvSpPr>
          <p:cNvPr id="23" name="Text 20"/>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DATA</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data: what the model sees</a:t>
            </a:r>
            <a:endParaRPr lang="en-US" sz="3400" dirty="0"/>
          </a:p>
        </p:txBody>
      </p:sp>
      <p:sp>
        <p:nvSpPr>
          <p:cNvPr id="4" name="Text 2"/>
          <p:cNvSpPr txBox="1"/>
          <p:nvPr/>
        </p:nvSpPr>
        <p:spPr>
          <a:xfrm>
            <a:off x="5486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11</a:t>
            </a:r>
            <a:endParaRPr lang="en-US" sz="5000" dirty="0"/>
          </a:p>
        </p:txBody>
      </p:sp>
      <p:sp>
        <p:nvSpPr>
          <p:cNvPr id="5" name="Text 3"/>
          <p:cNvSpPr txBox="1"/>
          <p:nvPr/>
        </p:nvSpPr>
        <p:spPr>
          <a:xfrm>
            <a:off x="5486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modulation types</a:t>
            </a:r>
            <a:endParaRPr lang="en-US" sz="1900" dirty="0"/>
          </a:p>
        </p:txBody>
      </p:sp>
      <p:sp>
        <p:nvSpPr>
          <p:cNvPr id="6" name="Text 4"/>
          <p:cNvSpPr txBox="1"/>
          <p:nvPr/>
        </p:nvSpPr>
        <p:spPr>
          <a:xfrm>
            <a:off x="32918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20</a:t>
            </a:r>
            <a:endParaRPr lang="en-US" sz="5000" dirty="0"/>
          </a:p>
        </p:txBody>
      </p:sp>
      <p:sp>
        <p:nvSpPr>
          <p:cNvPr id="7" name="Text 5"/>
          <p:cNvSpPr txBox="1"/>
          <p:nvPr/>
        </p:nvSpPr>
        <p:spPr>
          <a:xfrm>
            <a:off x="32918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SNR labels, −20 to 18 dB</a:t>
            </a:r>
            <a:endParaRPr lang="en-US" sz="1900" dirty="0"/>
          </a:p>
        </p:txBody>
      </p:sp>
      <p:sp>
        <p:nvSpPr>
          <p:cNvPr id="8" name="Text 6"/>
          <p:cNvSpPr txBox="1"/>
          <p:nvPr/>
        </p:nvSpPr>
        <p:spPr>
          <a:xfrm>
            <a:off x="60350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220,000</a:t>
            </a:r>
            <a:endParaRPr lang="en-US" sz="5000" dirty="0"/>
          </a:p>
        </p:txBody>
      </p:sp>
      <p:sp>
        <p:nvSpPr>
          <p:cNvPr id="9" name="Text 7"/>
          <p:cNvSpPr txBox="1"/>
          <p:nvPr/>
        </p:nvSpPr>
        <p:spPr>
          <a:xfrm>
            <a:off x="60350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a:t>
            </a:r>
            <a:endParaRPr lang="en-US" sz="1900" dirty="0"/>
          </a:p>
        </p:txBody>
      </p:sp>
      <p:pic>
        <p:nvPicPr>
          <p:cNvPr id="10" name="Image 0" descr="simple/frame.png">    </p:cNvPr>
          <p:cNvPicPr>
            <a:picLocks noChangeAspect="1"/>
          </p:cNvPicPr>
          <p:nvPr/>
        </p:nvPicPr>
        <p:blipFill>
          <a:blip r:embed="rId1"/>
          <a:stretch>
            <a:fillRect/>
          </a:stretch>
        </p:blipFill>
        <p:spPr>
          <a:xfrm>
            <a:off x="8503920" y="1417320"/>
            <a:ext cx="3154680" cy="1121664"/>
          </a:xfrm>
          <a:prstGeom prst="rect">
            <a:avLst/>
          </a:prstGeom>
        </p:spPr>
      </p:pic>
      <p:sp>
        <p:nvSpPr>
          <p:cNvPr id="11" name="Text 8"/>
          <p:cNvSpPr txBox="1"/>
          <p:nvPr/>
        </p:nvSpPr>
        <p:spPr>
          <a:xfrm>
            <a:off x="8503920" y="2606040"/>
            <a:ext cx="31546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frame: I (orange), Q (blue)</a:t>
            </a:r>
            <a:endParaRPr lang="en-US" sz="1500" dirty="0"/>
          </a:p>
        </p:txBody>
      </p:sp>
      <p:sp>
        <p:nvSpPr>
          <p:cNvPr id="12" name="Shape 9"/>
          <p:cNvSpPr/>
          <p:nvPr/>
        </p:nvSpPr>
        <p:spPr>
          <a:xfrm>
            <a:off x="548640" y="3337560"/>
            <a:ext cx="11091672" cy="1554480"/>
          </a:xfrm>
          <a:prstGeom prst="roundRect">
            <a:avLst>
              <a:gd name="adj" fmla="val 7059"/>
            </a:avLst>
          </a:prstGeom>
          <a:solidFill>
            <a:srgbClr val="0F1B2D"/>
          </a:solidFill>
          <a:ln w="12700">
            <a:solidFill>
              <a:srgbClr val="0F1B2D"/>
            </a:solidFill>
            <a:prstDash val="solid"/>
          </a:ln>
        </p:spPr>
      </p:sp>
      <p:sp>
        <p:nvSpPr>
          <p:cNvPr id="13" name="Text 10"/>
          <p:cNvSpPr txBox="1"/>
          <p:nvPr/>
        </p:nvSpPr>
        <p:spPr>
          <a:xfrm>
            <a:off x="914400" y="3429000"/>
            <a:ext cx="3657600" cy="1371600"/>
          </a:xfrm>
          <a:prstGeom prst="rect">
            <a:avLst/>
          </a:prstGeom>
          <a:noFill/>
          <a:ln/>
        </p:spPr>
        <p:txBody>
          <a:bodyPr wrap="square" lIns="0" tIns="0" rIns="0" bIns="0" rtlCol="0" anchor="ctr"/>
          <a:lstStyle/>
          <a:p>
            <a:pPr indent="0" marL="0">
              <a:buNone/>
            </a:pPr>
            <a:r>
              <a:rPr lang="en-US" sz="6600" b="1" dirty="0">
                <a:solidFill>
                  <a:srgbClr val="F08A24"/>
                </a:solidFill>
                <a:latin typeface="Calibri" pitchFamily="34" charset="0"/>
                <a:ea typeface="Calibri" pitchFamily="34" charset="-122"/>
                <a:cs typeface="Calibri" pitchFamily="34" charset="-120"/>
              </a:rPr>
              <a:t>2 × 128</a:t>
            </a:r>
            <a:endParaRPr lang="en-US" sz="6600" dirty="0"/>
          </a:p>
        </p:txBody>
      </p:sp>
      <p:sp>
        <p:nvSpPr>
          <p:cNvPr id="14" name="Text 11"/>
          <p:cNvSpPr txBox="1"/>
          <p:nvPr/>
        </p:nvSpPr>
        <p:spPr>
          <a:xfrm>
            <a:off x="4754880" y="3429000"/>
            <a:ext cx="6583680" cy="137160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Each frame: 128 samples of I and 128 of Q.</a:t>
            </a:r>
            <a:endParaRPr lang="en-US" sz="2400" dirty="0"/>
          </a:p>
          <a:p>
            <a:pPr indent="0" marL="0">
              <a:buNone/>
            </a:pPr>
            <a:r>
              <a:rPr lang="en-US" sz="2400" dirty="0">
                <a:solidFill>
                  <a:srgbClr val="FFFFFF"/>
                </a:solidFill>
                <a:latin typeface="Calibri" pitchFamily="34" charset="0"/>
                <a:ea typeface="Calibri" pitchFamily="34" charset="-122"/>
                <a:cs typeface="Calibri" pitchFamily="34" charset="-120"/>
              </a:rPr>
              <a:t>That array is the only input.</a:t>
            </a:r>
            <a:endParaRPr lang="en-US" sz="2400" dirty="0"/>
          </a:p>
        </p:txBody>
      </p:sp>
      <p:sp>
        <p:nvSpPr>
          <p:cNvPr id="15" name="Text 12"/>
          <p:cNvSpPr txBox="1"/>
          <p:nvPr/>
        </p:nvSpPr>
        <p:spPr>
          <a:xfrm>
            <a:off x="548640" y="53035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RML2016.10a, the same dataset we use.</a:t>
            </a:r>
            <a:endParaRPr lang="en-US" sz="2400" dirty="0"/>
          </a:p>
        </p:txBody>
      </p:sp>
      <p:sp>
        <p:nvSpPr>
          <p:cNvPr id="17" name="Text 1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MODEL</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model at a glance</a:t>
            </a:r>
            <a:endParaRPr lang="en-US" sz="3400" dirty="0"/>
          </a:p>
        </p:txBody>
      </p:sp>
      <p:sp>
        <p:nvSpPr>
          <p:cNvPr id="4" name="Shape 2"/>
          <p:cNvSpPr/>
          <p:nvPr/>
        </p:nvSpPr>
        <p:spPr>
          <a:xfrm>
            <a:off x="548640" y="1828800"/>
            <a:ext cx="1481328" cy="1463040"/>
          </a:xfrm>
          <a:prstGeom prst="roundRect">
            <a:avLst>
              <a:gd name="adj" fmla="val 7500"/>
            </a:avLst>
          </a:prstGeom>
          <a:solidFill>
            <a:srgbClr val="EEF2F6"/>
          </a:solidFill>
          <a:ln w="12700">
            <a:solidFill>
              <a:srgbClr val="EEF2F6"/>
            </a:solidFill>
            <a:prstDash val="solid"/>
          </a:ln>
        </p:spPr>
      </p:sp>
      <p:sp>
        <p:nvSpPr>
          <p:cNvPr id="5" name="Text 3"/>
          <p:cNvSpPr txBox="1"/>
          <p:nvPr/>
        </p:nvSpPr>
        <p:spPr>
          <a:xfrm>
            <a:off x="54864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frame</a:t>
            </a:r>
            <a:endParaRPr lang="en-US" sz="2100" dirty="0"/>
          </a:p>
        </p:txBody>
      </p:sp>
      <p:sp>
        <p:nvSpPr>
          <p:cNvPr id="6" name="Text 4"/>
          <p:cNvSpPr txBox="1"/>
          <p:nvPr/>
        </p:nvSpPr>
        <p:spPr>
          <a:xfrm>
            <a:off x="54864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 × 128</a:t>
            </a:r>
            <a:endParaRPr lang="en-US" sz="2000" dirty="0"/>
          </a:p>
        </p:txBody>
      </p:sp>
      <p:sp>
        <p:nvSpPr>
          <p:cNvPr id="7" name="Shape 5"/>
          <p:cNvSpPr/>
          <p:nvPr/>
        </p:nvSpPr>
        <p:spPr>
          <a:xfrm>
            <a:off x="2057400" y="2377440"/>
            <a:ext cx="347472" cy="384048"/>
          </a:xfrm>
          <a:prstGeom prst="rightArrow">
            <a:avLst/>
          </a:prstGeom>
          <a:solidFill>
            <a:srgbClr val="F08A24"/>
          </a:solidFill>
          <a:ln w="12700">
            <a:solidFill>
              <a:srgbClr val="F08A24"/>
            </a:solidFill>
            <a:prstDash val="solid"/>
          </a:ln>
        </p:spPr>
      </p:sp>
      <p:sp>
        <p:nvSpPr>
          <p:cNvPr id="8" name="Shape 6"/>
          <p:cNvSpPr/>
          <p:nvPr/>
        </p:nvSpPr>
        <p:spPr>
          <a:xfrm>
            <a:off x="2432304" y="1828800"/>
            <a:ext cx="1481328" cy="1463040"/>
          </a:xfrm>
          <a:prstGeom prst="roundRect">
            <a:avLst>
              <a:gd name="adj" fmla="val 7500"/>
            </a:avLst>
          </a:prstGeom>
          <a:solidFill>
            <a:srgbClr val="0F1B2D"/>
          </a:solidFill>
          <a:ln w="12700">
            <a:solidFill>
              <a:srgbClr val="0F1B2D"/>
            </a:solidFill>
            <a:prstDash val="solid"/>
          </a:ln>
        </p:spPr>
      </p:sp>
      <p:sp>
        <p:nvSpPr>
          <p:cNvPr id="9" name="Text 7"/>
          <p:cNvSpPr txBox="1"/>
          <p:nvPr/>
        </p:nvSpPr>
        <p:spPr>
          <a:xfrm>
            <a:off x="2432304"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CNN</a:t>
            </a:r>
            <a:endParaRPr lang="en-US" sz="2100" dirty="0"/>
          </a:p>
        </p:txBody>
      </p:sp>
      <p:sp>
        <p:nvSpPr>
          <p:cNvPr id="10" name="Text 8"/>
          <p:cNvSpPr txBox="1"/>
          <p:nvPr/>
        </p:nvSpPr>
        <p:spPr>
          <a:xfrm>
            <a:off x="2432304"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128</a:t>
            </a:r>
            <a:endParaRPr lang="en-US" sz="2000" dirty="0"/>
          </a:p>
        </p:txBody>
      </p:sp>
      <p:sp>
        <p:nvSpPr>
          <p:cNvPr id="11" name="Shape 9"/>
          <p:cNvSpPr/>
          <p:nvPr/>
        </p:nvSpPr>
        <p:spPr>
          <a:xfrm>
            <a:off x="3941064" y="2377440"/>
            <a:ext cx="347472" cy="384048"/>
          </a:xfrm>
          <a:prstGeom prst="rightArrow">
            <a:avLst/>
          </a:prstGeom>
          <a:solidFill>
            <a:srgbClr val="F08A24"/>
          </a:solidFill>
          <a:ln w="12700">
            <a:solidFill>
              <a:srgbClr val="F08A24"/>
            </a:solidFill>
            <a:prstDash val="solid"/>
          </a:ln>
        </p:spPr>
      </p:sp>
      <p:sp>
        <p:nvSpPr>
          <p:cNvPr id="12" name="Shape 10"/>
          <p:cNvSpPr/>
          <p:nvPr/>
        </p:nvSpPr>
        <p:spPr>
          <a:xfrm>
            <a:off x="4315968" y="1828800"/>
            <a:ext cx="1481328" cy="1463040"/>
          </a:xfrm>
          <a:prstGeom prst="roundRect">
            <a:avLst>
              <a:gd name="adj" fmla="val 7500"/>
            </a:avLst>
          </a:prstGeom>
          <a:solidFill>
            <a:srgbClr val="F08A24"/>
          </a:solidFill>
          <a:ln w="12700">
            <a:solidFill>
              <a:srgbClr val="F08A24"/>
            </a:solidFill>
            <a:prstDash val="solid"/>
          </a:ln>
        </p:spPr>
      </p:sp>
      <p:sp>
        <p:nvSpPr>
          <p:cNvPr id="13" name="Text 11"/>
          <p:cNvSpPr txBox="1"/>
          <p:nvPr/>
        </p:nvSpPr>
        <p:spPr>
          <a:xfrm>
            <a:off x="4315968"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BiLSTM</a:t>
            </a:r>
            <a:endParaRPr lang="en-US" sz="2100" dirty="0"/>
          </a:p>
        </p:txBody>
      </p:sp>
      <p:sp>
        <p:nvSpPr>
          <p:cNvPr id="14" name="Text 12"/>
          <p:cNvSpPr txBox="1"/>
          <p:nvPr/>
        </p:nvSpPr>
        <p:spPr>
          <a:xfrm>
            <a:off x="4315968"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256</a:t>
            </a:r>
            <a:endParaRPr lang="en-US" sz="2000" dirty="0"/>
          </a:p>
        </p:txBody>
      </p:sp>
      <p:sp>
        <p:nvSpPr>
          <p:cNvPr id="15" name="Shape 13"/>
          <p:cNvSpPr/>
          <p:nvPr/>
        </p:nvSpPr>
        <p:spPr>
          <a:xfrm>
            <a:off x="5824728" y="2377440"/>
            <a:ext cx="347472" cy="384048"/>
          </a:xfrm>
          <a:prstGeom prst="rightArrow">
            <a:avLst/>
          </a:prstGeom>
          <a:solidFill>
            <a:srgbClr val="F08A24"/>
          </a:solidFill>
          <a:ln w="12700">
            <a:solidFill>
              <a:srgbClr val="F08A24"/>
            </a:solidFill>
            <a:prstDash val="solid"/>
          </a:ln>
        </p:spPr>
      </p:sp>
      <p:sp>
        <p:nvSpPr>
          <p:cNvPr id="16" name="Shape 14"/>
          <p:cNvSpPr/>
          <p:nvPr/>
        </p:nvSpPr>
        <p:spPr>
          <a:xfrm>
            <a:off x="6199632" y="1828800"/>
            <a:ext cx="1481328" cy="1463040"/>
          </a:xfrm>
          <a:prstGeom prst="roundRect">
            <a:avLst>
              <a:gd name="adj" fmla="val 7500"/>
            </a:avLst>
          </a:prstGeom>
          <a:solidFill>
            <a:srgbClr val="0F1B2D"/>
          </a:solidFill>
          <a:ln w="12700">
            <a:solidFill>
              <a:srgbClr val="0F1B2D"/>
            </a:solidFill>
            <a:prstDash val="solid"/>
          </a:ln>
        </p:spPr>
      </p:sp>
      <p:sp>
        <p:nvSpPr>
          <p:cNvPr id="17" name="Text 15"/>
          <p:cNvSpPr txBox="1"/>
          <p:nvPr/>
        </p:nvSpPr>
        <p:spPr>
          <a:xfrm>
            <a:off x="6199632"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Attention</a:t>
            </a:r>
            <a:endParaRPr lang="en-US" sz="2100" dirty="0"/>
          </a:p>
        </p:txBody>
      </p:sp>
      <p:sp>
        <p:nvSpPr>
          <p:cNvPr id="18" name="Text 16"/>
          <p:cNvSpPr txBox="1"/>
          <p:nvPr/>
        </p:nvSpPr>
        <p:spPr>
          <a:xfrm>
            <a:off x="6199632"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256</a:t>
            </a:r>
            <a:endParaRPr lang="en-US" sz="2000" dirty="0"/>
          </a:p>
        </p:txBody>
      </p:sp>
      <p:sp>
        <p:nvSpPr>
          <p:cNvPr id="19" name="Shape 17"/>
          <p:cNvSpPr/>
          <p:nvPr/>
        </p:nvSpPr>
        <p:spPr>
          <a:xfrm>
            <a:off x="7708392" y="2377440"/>
            <a:ext cx="347472" cy="384048"/>
          </a:xfrm>
          <a:prstGeom prst="rightArrow">
            <a:avLst/>
          </a:prstGeom>
          <a:solidFill>
            <a:srgbClr val="F08A24"/>
          </a:solidFill>
          <a:ln w="12700">
            <a:solidFill>
              <a:srgbClr val="F08A24"/>
            </a:solidFill>
            <a:prstDash val="solid"/>
          </a:ln>
        </p:spPr>
      </p:sp>
      <p:sp>
        <p:nvSpPr>
          <p:cNvPr id="20" name="Shape 18"/>
          <p:cNvSpPr/>
          <p:nvPr/>
        </p:nvSpPr>
        <p:spPr>
          <a:xfrm>
            <a:off x="8083296" y="1828800"/>
            <a:ext cx="1481328" cy="1463040"/>
          </a:xfrm>
          <a:prstGeom prst="roundRect">
            <a:avLst>
              <a:gd name="adj" fmla="val 7500"/>
            </a:avLst>
          </a:prstGeom>
          <a:solidFill>
            <a:srgbClr val="0F1B2D"/>
          </a:solidFill>
          <a:ln w="12700">
            <a:solidFill>
              <a:srgbClr val="0F1B2D"/>
            </a:solidFill>
            <a:prstDash val="solid"/>
          </a:ln>
        </p:spPr>
      </p:sp>
      <p:sp>
        <p:nvSpPr>
          <p:cNvPr id="21" name="Text 19"/>
          <p:cNvSpPr txBox="1"/>
          <p:nvPr/>
        </p:nvSpPr>
        <p:spPr>
          <a:xfrm>
            <a:off x="8083296"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Dense</a:t>
            </a:r>
            <a:endParaRPr lang="en-US" sz="2100" dirty="0"/>
          </a:p>
        </p:txBody>
      </p:sp>
      <p:sp>
        <p:nvSpPr>
          <p:cNvPr id="22" name="Text 20"/>
          <p:cNvSpPr txBox="1"/>
          <p:nvPr/>
        </p:nvSpPr>
        <p:spPr>
          <a:xfrm>
            <a:off x="8083296"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128 → 64</a:t>
            </a:r>
            <a:endParaRPr lang="en-US" sz="2000" dirty="0"/>
          </a:p>
        </p:txBody>
      </p:sp>
      <p:sp>
        <p:nvSpPr>
          <p:cNvPr id="23" name="Shape 21"/>
          <p:cNvSpPr/>
          <p:nvPr/>
        </p:nvSpPr>
        <p:spPr>
          <a:xfrm>
            <a:off x="9592056" y="2377440"/>
            <a:ext cx="347472" cy="384048"/>
          </a:xfrm>
          <a:prstGeom prst="rightArrow">
            <a:avLst/>
          </a:prstGeom>
          <a:solidFill>
            <a:srgbClr val="F08A24"/>
          </a:solidFill>
          <a:ln w="12700">
            <a:solidFill>
              <a:srgbClr val="F08A24"/>
            </a:solidFill>
            <a:prstDash val="solid"/>
          </a:ln>
        </p:spPr>
      </p:sp>
      <p:sp>
        <p:nvSpPr>
          <p:cNvPr id="24" name="Shape 22"/>
          <p:cNvSpPr/>
          <p:nvPr/>
        </p:nvSpPr>
        <p:spPr>
          <a:xfrm>
            <a:off x="9966960" y="1828800"/>
            <a:ext cx="1481328" cy="1463040"/>
          </a:xfrm>
          <a:prstGeom prst="roundRect">
            <a:avLst>
              <a:gd name="adj" fmla="val 7500"/>
            </a:avLst>
          </a:prstGeom>
          <a:solidFill>
            <a:srgbClr val="EEF2F6"/>
          </a:solidFill>
          <a:ln w="12700">
            <a:solidFill>
              <a:srgbClr val="EEF2F6"/>
            </a:solidFill>
            <a:prstDash val="solid"/>
          </a:ln>
        </p:spPr>
      </p:sp>
      <p:sp>
        <p:nvSpPr>
          <p:cNvPr id="25" name="Text 23"/>
          <p:cNvSpPr txBox="1"/>
          <p:nvPr/>
        </p:nvSpPr>
        <p:spPr>
          <a:xfrm>
            <a:off x="996696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output</a:t>
            </a:r>
            <a:endParaRPr lang="en-US" sz="2100" dirty="0"/>
          </a:p>
        </p:txBody>
      </p:sp>
      <p:sp>
        <p:nvSpPr>
          <p:cNvPr id="26" name="Text 24"/>
          <p:cNvSpPr txBox="1"/>
          <p:nvPr/>
        </p:nvSpPr>
        <p:spPr>
          <a:xfrm>
            <a:off x="996696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11</a:t>
            </a:r>
            <a:endParaRPr lang="en-US" sz="2000" dirty="0"/>
          </a:p>
        </p:txBody>
      </p:sp>
      <p:sp>
        <p:nvSpPr>
          <p:cNvPr id="27" name="Text 25"/>
          <p:cNvSpPr txBox="1"/>
          <p:nvPr/>
        </p:nvSpPr>
        <p:spPr>
          <a:xfrm>
            <a:off x="548640" y="3977640"/>
            <a:ext cx="5486400" cy="36576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size of what comes out</a:t>
            </a:r>
            <a:endParaRPr lang="en-US" sz="1600" dirty="0"/>
          </a:p>
        </p:txBody>
      </p:sp>
      <p:sp>
        <p:nvSpPr>
          <p:cNvPr id="28" name="Text 26"/>
          <p:cNvSpPr txBox="1"/>
          <p:nvPr/>
        </p:nvSpPr>
        <p:spPr>
          <a:xfrm>
            <a:off x="548640" y="49377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frame in, eleven probabilities out. The largest is the answer.</a:t>
            </a:r>
            <a:endParaRPr lang="en-US" sz="2400" dirty="0"/>
          </a:p>
        </p:txBody>
      </p:sp>
      <p:sp>
        <p:nvSpPr>
          <p:cNvPr id="29" name="Text 27"/>
          <p:cNvSpPr txBox="1"/>
          <p:nvPr/>
        </p:nvSpPr>
        <p:spPr>
          <a:xfrm>
            <a:off x="548640" y="5715000"/>
            <a:ext cx="7315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Redrawn from their Fig. 2; sizes from their code.</a:t>
            </a:r>
            <a:endParaRPr lang="en-US" sz="1200" dirty="0"/>
          </a:p>
        </p:txBody>
      </p:sp>
      <p:sp>
        <p:nvSpPr>
          <p:cNvPr id="31" name="Text 2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CNN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1: short learned filters</a:t>
            </a:r>
            <a:endParaRPr lang="en-US" sz="3400" dirty="0"/>
          </a:p>
        </p:txBody>
      </p:sp>
      <p:sp>
        <p:nvSpPr>
          <p:cNvPr id="4" name="Shape 2"/>
          <p:cNvSpPr/>
          <p:nvPr/>
        </p:nvSpPr>
        <p:spPr>
          <a:xfrm>
            <a:off x="548640" y="1737360"/>
            <a:ext cx="210312" cy="411480"/>
          </a:xfrm>
          <a:prstGeom prst="rect">
            <a:avLst/>
          </a:prstGeom>
          <a:solidFill>
            <a:srgbClr val="EEF2F6"/>
          </a:solidFill>
          <a:ln w="12700">
            <a:solidFill>
              <a:srgbClr val="EEF2F6"/>
            </a:solidFill>
            <a:prstDash val="solid"/>
          </a:ln>
        </p:spPr>
      </p:sp>
      <p:sp>
        <p:nvSpPr>
          <p:cNvPr id="5" name="Shape 3"/>
          <p:cNvSpPr/>
          <p:nvPr/>
        </p:nvSpPr>
        <p:spPr>
          <a:xfrm>
            <a:off x="795528" y="1737360"/>
            <a:ext cx="210312" cy="411480"/>
          </a:xfrm>
          <a:prstGeom prst="rect">
            <a:avLst/>
          </a:prstGeom>
          <a:solidFill>
            <a:srgbClr val="EEF2F6"/>
          </a:solidFill>
          <a:ln w="12700">
            <a:solidFill>
              <a:srgbClr val="EEF2F6"/>
            </a:solidFill>
            <a:prstDash val="solid"/>
          </a:ln>
        </p:spPr>
      </p:sp>
      <p:sp>
        <p:nvSpPr>
          <p:cNvPr id="6" name="Shape 4"/>
          <p:cNvSpPr/>
          <p:nvPr/>
        </p:nvSpPr>
        <p:spPr>
          <a:xfrm>
            <a:off x="1042416" y="1737360"/>
            <a:ext cx="210312" cy="411480"/>
          </a:xfrm>
          <a:prstGeom prst="rect">
            <a:avLst/>
          </a:prstGeom>
          <a:solidFill>
            <a:srgbClr val="EEF2F6"/>
          </a:solidFill>
          <a:ln w="12700">
            <a:solidFill>
              <a:srgbClr val="EEF2F6"/>
            </a:solidFill>
            <a:prstDash val="solid"/>
          </a:ln>
        </p:spPr>
      </p:sp>
      <p:sp>
        <p:nvSpPr>
          <p:cNvPr id="7" name="Shape 5"/>
          <p:cNvSpPr/>
          <p:nvPr/>
        </p:nvSpPr>
        <p:spPr>
          <a:xfrm>
            <a:off x="1289304" y="1737360"/>
            <a:ext cx="210312" cy="411480"/>
          </a:xfrm>
          <a:prstGeom prst="rect">
            <a:avLst/>
          </a:prstGeom>
          <a:solidFill>
            <a:srgbClr val="EEF2F6"/>
          </a:solidFill>
          <a:ln w="12700">
            <a:solidFill>
              <a:srgbClr val="EEF2F6"/>
            </a:solidFill>
            <a:prstDash val="solid"/>
          </a:ln>
        </p:spPr>
      </p:sp>
      <p:sp>
        <p:nvSpPr>
          <p:cNvPr id="8" name="Shape 6"/>
          <p:cNvSpPr/>
          <p:nvPr/>
        </p:nvSpPr>
        <p:spPr>
          <a:xfrm>
            <a:off x="1536192" y="1737360"/>
            <a:ext cx="210312" cy="411480"/>
          </a:xfrm>
          <a:prstGeom prst="rect">
            <a:avLst/>
          </a:prstGeom>
          <a:solidFill>
            <a:srgbClr val="EEF2F6"/>
          </a:solidFill>
          <a:ln w="12700">
            <a:solidFill>
              <a:srgbClr val="EEF2F6"/>
            </a:solidFill>
            <a:prstDash val="solid"/>
          </a:ln>
        </p:spPr>
      </p:sp>
      <p:sp>
        <p:nvSpPr>
          <p:cNvPr id="9" name="Shape 7"/>
          <p:cNvSpPr/>
          <p:nvPr/>
        </p:nvSpPr>
        <p:spPr>
          <a:xfrm>
            <a:off x="1783080" y="1737360"/>
            <a:ext cx="210312" cy="411480"/>
          </a:xfrm>
          <a:prstGeom prst="rect">
            <a:avLst/>
          </a:prstGeom>
          <a:solidFill>
            <a:srgbClr val="EEF2F6"/>
          </a:solidFill>
          <a:ln w="12700">
            <a:solidFill>
              <a:srgbClr val="EEF2F6"/>
            </a:solidFill>
            <a:prstDash val="solid"/>
          </a:ln>
        </p:spPr>
      </p:sp>
      <p:sp>
        <p:nvSpPr>
          <p:cNvPr id="10" name="Shape 8"/>
          <p:cNvSpPr/>
          <p:nvPr/>
        </p:nvSpPr>
        <p:spPr>
          <a:xfrm>
            <a:off x="2029968" y="1737360"/>
            <a:ext cx="210312" cy="411480"/>
          </a:xfrm>
          <a:prstGeom prst="rect">
            <a:avLst/>
          </a:prstGeom>
          <a:solidFill>
            <a:srgbClr val="F08A24"/>
          </a:solidFill>
          <a:ln w="12700">
            <a:solidFill>
              <a:srgbClr val="F08A24"/>
            </a:solidFill>
            <a:prstDash val="solid"/>
          </a:ln>
        </p:spPr>
      </p:sp>
      <p:sp>
        <p:nvSpPr>
          <p:cNvPr id="11" name="Shape 9"/>
          <p:cNvSpPr/>
          <p:nvPr/>
        </p:nvSpPr>
        <p:spPr>
          <a:xfrm>
            <a:off x="2276856" y="1737360"/>
            <a:ext cx="210312" cy="411480"/>
          </a:xfrm>
          <a:prstGeom prst="rect">
            <a:avLst/>
          </a:prstGeom>
          <a:solidFill>
            <a:srgbClr val="F08A24"/>
          </a:solidFill>
          <a:ln w="12700">
            <a:solidFill>
              <a:srgbClr val="F08A24"/>
            </a:solidFill>
            <a:prstDash val="solid"/>
          </a:ln>
        </p:spPr>
      </p:sp>
      <p:sp>
        <p:nvSpPr>
          <p:cNvPr id="12" name="Shape 10"/>
          <p:cNvSpPr/>
          <p:nvPr/>
        </p:nvSpPr>
        <p:spPr>
          <a:xfrm>
            <a:off x="2523744" y="1737360"/>
            <a:ext cx="210312" cy="411480"/>
          </a:xfrm>
          <a:prstGeom prst="rect">
            <a:avLst/>
          </a:prstGeom>
          <a:solidFill>
            <a:srgbClr val="F08A24"/>
          </a:solidFill>
          <a:ln w="12700">
            <a:solidFill>
              <a:srgbClr val="F08A24"/>
            </a:solidFill>
            <a:prstDash val="solid"/>
          </a:ln>
        </p:spPr>
      </p:sp>
      <p:sp>
        <p:nvSpPr>
          <p:cNvPr id="13" name="Shape 11"/>
          <p:cNvSpPr/>
          <p:nvPr/>
        </p:nvSpPr>
        <p:spPr>
          <a:xfrm>
            <a:off x="2770632" y="1737360"/>
            <a:ext cx="210312" cy="411480"/>
          </a:xfrm>
          <a:prstGeom prst="rect">
            <a:avLst/>
          </a:prstGeom>
          <a:solidFill>
            <a:srgbClr val="EEF2F6"/>
          </a:solidFill>
          <a:ln w="12700">
            <a:solidFill>
              <a:srgbClr val="EEF2F6"/>
            </a:solidFill>
            <a:prstDash val="solid"/>
          </a:ln>
        </p:spPr>
      </p:sp>
      <p:sp>
        <p:nvSpPr>
          <p:cNvPr id="14" name="Shape 12"/>
          <p:cNvSpPr/>
          <p:nvPr/>
        </p:nvSpPr>
        <p:spPr>
          <a:xfrm>
            <a:off x="3017520" y="1737360"/>
            <a:ext cx="210312" cy="411480"/>
          </a:xfrm>
          <a:prstGeom prst="rect">
            <a:avLst/>
          </a:prstGeom>
          <a:solidFill>
            <a:srgbClr val="EEF2F6"/>
          </a:solidFill>
          <a:ln w="12700">
            <a:solidFill>
              <a:srgbClr val="EEF2F6"/>
            </a:solidFill>
            <a:prstDash val="solid"/>
          </a:ln>
        </p:spPr>
      </p:sp>
      <p:sp>
        <p:nvSpPr>
          <p:cNvPr id="15" name="Shape 13"/>
          <p:cNvSpPr/>
          <p:nvPr/>
        </p:nvSpPr>
        <p:spPr>
          <a:xfrm>
            <a:off x="3264408" y="1737360"/>
            <a:ext cx="210312" cy="411480"/>
          </a:xfrm>
          <a:prstGeom prst="rect">
            <a:avLst/>
          </a:prstGeom>
          <a:solidFill>
            <a:srgbClr val="EEF2F6"/>
          </a:solidFill>
          <a:ln w="12700">
            <a:solidFill>
              <a:srgbClr val="EEF2F6"/>
            </a:solidFill>
            <a:prstDash val="solid"/>
          </a:ln>
        </p:spPr>
      </p:sp>
      <p:sp>
        <p:nvSpPr>
          <p:cNvPr id="16" name="Shape 14"/>
          <p:cNvSpPr/>
          <p:nvPr/>
        </p:nvSpPr>
        <p:spPr>
          <a:xfrm>
            <a:off x="3511296" y="1737360"/>
            <a:ext cx="210312" cy="411480"/>
          </a:xfrm>
          <a:prstGeom prst="rect">
            <a:avLst/>
          </a:prstGeom>
          <a:solidFill>
            <a:srgbClr val="EEF2F6"/>
          </a:solidFill>
          <a:ln w="12700">
            <a:solidFill>
              <a:srgbClr val="EEF2F6"/>
            </a:solidFill>
            <a:prstDash val="solid"/>
          </a:ln>
        </p:spPr>
      </p:sp>
      <p:sp>
        <p:nvSpPr>
          <p:cNvPr id="17" name="Shape 15"/>
          <p:cNvSpPr/>
          <p:nvPr/>
        </p:nvSpPr>
        <p:spPr>
          <a:xfrm>
            <a:off x="3758184" y="1737360"/>
            <a:ext cx="210312" cy="411480"/>
          </a:xfrm>
          <a:prstGeom prst="rect">
            <a:avLst/>
          </a:prstGeom>
          <a:solidFill>
            <a:srgbClr val="EEF2F6"/>
          </a:solidFill>
          <a:ln w="12700">
            <a:solidFill>
              <a:srgbClr val="EEF2F6"/>
            </a:solidFill>
            <a:prstDash val="solid"/>
          </a:ln>
        </p:spPr>
      </p:sp>
      <p:sp>
        <p:nvSpPr>
          <p:cNvPr id="18" name="Shape 16"/>
          <p:cNvSpPr/>
          <p:nvPr/>
        </p:nvSpPr>
        <p:spPr>
          <a:xfrm>
            <a:off x="4005072" y="1737360"/>
            <a:ext cx="210312" cy="411480"/>
          </a:xfrm>
          <a:prstGeom prst="rect">
            <a:avLst/>
          </a:prstGeom>
          <a:solidFill>
            <a:srgbClr val="EEF2F6"/>
          </a:solidFill>
          <a:ln w="12700">
            <a:solidFill>
              <a:srgbClr val="EEF2F6"/>
            </a:solidFill>
            <a:prstDash val="solid"/>
          </a:ln>
        </p:spPr>
      </p:sp>
      <p:sp>
        <p:nvSpPr>
          <p:cNvPr id="19" name="Shape 17"/>
          <p:cNvSpPr/>
          <p:nvPr/>
        </p:nvSpPr>
        <p:spPr>
          <a:xfrm>
            <a:off x="4251960" y="1737360"/>
            <a:ext cx="210312" cy="411480"/>
          </a:xfrm>
          <a:prstGeom prst="rect">
            <a:avLst/>
          </a:prstGeom>
          <a:solidFill>
            <a:srgbClr val="EEF2F6"/>
          </a:solidFill>
          <a:ln w="12700">
            <a:solidFill>
              <a:srgbClr val="EEF2F6"/>
            </a:solidFill>
            <a:prstDash val="solid"/>
          </a:ln>
        </p:spPr>
      </p:sp>
      <p:sp>
        <p:nvSpPr>
          <p:cNvPr id="20" name="Shape 18"/>
          <p:cNvSpPr/>
          <p:nvPr/>
        </p:nvSpPr>
        <p:spPr>
          <a:xfrm>
            <a:off x="4498848" y="1737360"/>
            <a:ext cx="210312" cy="411480"/>
          </a:xfrm>
          <a:prstGeom prst="rect">
            <a:avLst/>
          </a:prstGeom>
          <a:solidFill>
            <a:srgbClr val="EEF2F6"/>
          </a:solidFill>
          <a:ln w="12700">
            <a:solidFill>
              <a:srgbClr val="EEF2F6"/>
            </a:solidFill>
            <a:prstDash val="solid"/>
          </a:ln>
        </p:spPr>
      </p:sp>
      <p:sp>
        <p:nvSpPr>
          <p:cNvPr id="21" name="Shape 19"/>
          <p:cNvSpPr/>
          <p:nvPr/>
        </p:nvSpPr>
        <p:spPr>
          <a:xfrm>
            <a:off x="4745736" y="1737360"/>
            <a:ext cx="210312" cy="411480"/>
          </a:xfrm>
          <a:prstGeom prst="rect">
            <a:avLst/>
          </a:prstGeom>
          <a:solidFill>
            <a:srgbClr val="EEF2F6"/>
          </a:solidFill>
          <a:ln w="12700">
            <a:solidFill>
              <a:srgbClr val="EEF2F6"/>
            </a:solidFill>
            <a:prstDash val="solid"/>
          </a:ln>
        </p:spPr>
      </p:sp>
      <p:sp>
        <p:nvSpPr>
          <p:cNvPr id="22" name="Shape 20"/>
          <p:cNvSpPr/>
          <p:nvPr/>
        </p:nvSpPr>
        <p:spPr>
          <a:xfrm>
            <a:off x="4992624" y="1737360"/>
            <a:ext cx="210312" cy="411480"/>
          </a:xfrm>
          <a:prstGeom prst="rect">
            <a:avLst/>
          </a:prstGeom>
          <a:solidFill>
            <a:srgbClr val="EEF2F6"/>
          </a:solidFill>
          <a:ln w="12700">
            <a:solidFill>
              <a:srgbClr val="EEF2F6"/>
            </a:solidFill>
            <a:prstDash val="solid"/>
          </a:ln>
        </p:spPr>
      </p:sp>
      <p:sp>
        <p:nvSpPr>
          <p:cNvPr id="23" name="Shape 21"/>
          <p:cNvSpPr/>
          <p:nvPr/>
        </p:nvSpPr>
        <p:spPr>
          <a:xfrm>
            <a:off x="5239512" y="1737360"/>
            <a:ext cx="210312" cy="411480"/>
          </a:xfrm>
          <a:prstGeom prst="rect">
            <a:avLst/>
          </a:prstGeom>
          <a:solidFill>
            <a:srgbClr val="EEF2F6"/>
          </a:solidFill>
          <a:ln w="12700">
            <a:solidFill>
              <a:srgbClr val="EEF2F6"/>
            </a:solidFill>
            <a:prstDash val="solid"/>
          </a:ln>
        </p:spPr>
      </p:sp>
      <p:sp>
        <p:nvSpPr>
          <p:cNvPr id="24" name="Shape 22"/>
          <p:cNvSpPr/>
          <p:nvPr/>
        </p:nvSpPr>
        <p:spPr>
          <a:xfrm>
            <a:off x="5486400" y="1737360"/>
            <a:ext cx="210312" cy="411480"/>
          </a:xfrm>
          <a:prstGeom prst="rect">
            <a:avLst/>
          </a:prstGeom>
          <a:solidFill>
            <a:srgbClr val="EEF2F6"/>
          </a:solidFill>
          <a:ln w="12700">
            <a:solidFill>
              <a:srgbClr val="EEF2F6"/>
            </a:solidFill>
            <a:prstDash val="solid"/>
          </a:ln>
        </p:spPr>
      </p:sp>
      <p:sp>
        <p:nvSpPr>
          <p:cNvPr id="25" name="Shape 23"/>
          <p:cNvSpPr/>
          <p:nvPr/>
        </p:nvSpPr>
        <p:spPr>
          <a:xfrm>
            <a:off x="5733288" y="1737360"/>
            <a:ext cx="210312" cy="411480"/>
          </a:xfrm>
          <a:prstGeom prst="rect">
            <a:avLst/>
          </a:prstGeom>
          <a:solidFill>
            <a:srgbClr val="EEF2F6"/>
          </a:solidFill>
          <a:ln w="12700">
            <a:solidFill>
              <a:srgbClr val="EEF2F6"/>
            </a:solidFill>
            <a:prstDash val="solid"/>
          </a:ln>
        </p:spPr>
      </p:sp>
      <p:sp>
        <p:nvSpPr>
          <p:cNvPr id="26" name="Text 24"/>
          <p:cNvSpPr txBox="1"/>
          <p:nvPr/>
        </p:nvSpPr>
        <p:spPr>
          <a:xfrm>
            <a:off x="548640" y="2194560"/>
            <a:ext cx="27432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samples →</a:t>
            </a:r>
            <a:endParaRPr lang="en-US" sz="1500" dirty="0"/>
          </a:p>
        </p:txBody>
      </p:sp>
      <p:sp>
        <p:nvSpPr>
          <p:cNvPr id="27" name="Shape 25"/>
          <p:cNvSpPr/>
          <p:nvPr/>
        </p:nvSpPr>
        <p:spPr>
          <a:xfrm>
            <a:off x="2231136" y="2240280"/>
            <a:ext cx="457200" cy="457200"/>
          </a:xfrm>
          <a:prstGeom prst="downArrow">
            <a:avLst/>
          </a:prstGeom>
          <a:solidFill>
            <a:srgbClr val="F08A24"/>
          </a:solidFill>
          <a:ln w="12700">
            <a:solidFill>
              <a:srgbClr val="F08A24"/>
            </a:solidFill>
            <a:prstDash val="solid"/>
          </a:ln>
        </p:spPr>
      </p:sp>
      <p:sp>
        <p:nvSpPr>
          <p:cNvPr id="28" name="Shape 26"/>
          <p:cNvSpPr/>
          <p:nvPr/>
        </p:nvSpPr>
        <p:spPr>
          <a:xfrm>
            <a:off x="548640" y="2788920"/>
            <a:ext cx="210312" cy="411480"/>
          </a:xfrm>
          <a:prstGeom prst="rect">
            <a:avLst/>
          </a:prstGeom>
          <a:solidFill>
            <a:srgbClr val="DDE3EA"/>
          </a:solidFill>
          <a:ln w="12700">
            <a:solidFill>
              <a:srgbClr val="DDE3EA"/>
            </a:solidFill>
            <a:prstDash val="solid"/>
          </a:ln>
        </p:spPr>
      </p:sp>
      <p:sp>
        <p:nvSpPr>
          <p:cNvPr id="29" name="Shape 27"/>
          <p:cNvSpPr/>
          <p:nvPr/>
        </p:nvSpPr>
        <p:spPr>
          <a:xfrm>
            <a:off x="795528" y="2788920"/>
            <a:ext cx="210312" cy="411480"/>
          </a:xfrm>
          <a:prstGeom prst="rect">
            <a:avLst/>
          </a:prstGeom>
          <a:solidFill>
            <a:srgbClr val="DDE3EA"/>
          </a:solidFill>
          <a:ln w="12700">
            <a:solidFill>
              <a:srgbClr val="DDE3EA"/>
            </a:solidFill>
            <a:prstDash val="solid"/>
          </a:ln>
        </p:spPr>
      </p:sp>
      <p:sp>
        <p:nvSpPr>
          <p:cNvPr id="30" name="Shape 28"/>
          <p:cNvSpPr/>
          <p:nvPr/>
        </p:nvSpPr>
        <p:spPr>
          <a:xfrm>
            <a:off x="1042416" y="2788920"/>
            <a:ext cx="210312" cy="411480"/>
          </a:xfrm>
          <a:prstGeom prst="rect">
            <a:avLst/>
          </a:prstGeom>
          <a:solidFill>
            <a:srgbClr val="DDE3EA"/>
          </a:solidFill>
          <a:ln w="12700">
            <a:solidFill>
              <a:srgbClr val="DDE3EA"/>
            </a:solidFill>
            <a:prstDash val="solid"/>
          </a:ln>
        </p:spPr>
      </p:sp>
      <p:sp>
        <p:nvSpPr>
          <p:cNvPr id="31" name="Shape 29"/>
          <p:cNvSpPr/>
          <p:nvPr/>
        </p:nvSpPr>
        <p:spPr>
          <a:xfrm>
            <a:off x="1289304" y="2788920"/>
            <a:ext cx="210312" cy="411480"/>
          </a:xfrm>
          <a:prstGeom prst="rect">
            <a:avLst/>
          </a:prstGeom>
          <a:solidFill>
            <a:srgbClr val="DDE3EA"/>
          </a:solidFill>
          <a:ln w="12700">
            <a:solidFill>
              <a:srgbClr val="DDE3EA"/>
            </a:solidFill>
            <a:prstDash val="solid"/>
          </a:ln>
        </p:spPr>
      </p:sp>
      <p:sp>
        <p:nvSpPr>
          <p:cNvPr id="32" name="Shape 30"/>
          <p:cNvSpPr/>
          <p:nvPr/>
        </p:nvSpPr>
        <p:spPr>
          <a:xfrm>
            <a:off x="1536192" y="2788920"/>
            <a:ext cx="210312" cy="411480"/>
          </a:xfrm>
          <a:prstGeom prst="rect">
            <a:avLst/>
          </a:prstGeom>
          <a:solidFill>
            <a:srgbClr val="DDE3EA"/>
          </a:solidFill>
          <a:ln w="12700">
            <a:solidFill>
              <a:srgbClr val="DDE3EA"/>
            </a:solidFill>
            <a:prstDash val="solid"/>
          </a:ln>
        </p:spPr>
      </p:sp>
      <p:sp>
        <p:nvSpPr>
          <p:cNvPr id="33" name="Shape 31"/>
          <p:cNvSpPr/>
          <p:nvPr/>
        </p:nvSpPr>
        <p:spPr>
          <a:xfrm>
            <a:off x="1783080" y="2788920"/>
            <a:ext cx="210312" cy="411480"/>
          </a:xfrm>
          <a:prstGeom prst="rect">
            <a:avLst/>
          </a:prstGeom>
          <a:solidFill>
            <a:srgbClr val="DDE3EA"/>
          </a:solidFill>
          <a:ln w="12700">
            <a:solidFill>
              <a:srgbClr val="DDE3EA"/>
            </a:solidFill>
            <a:prstDash val="solid"/>
          </a:ln>
        </p:spPr>
      </p:sp>
      <p:sp>
        <p:nvSpPr>
          <p:cNvPr id="34" name="Shape 32"/>
          <p:cNvSpPr/>
          <p:nvPr/>
        </p:nvSpPr>
        <p:spPr>
          <a:xfrm>
            <a:off x="2029968" y="2788920"/>
            <a:ext cx="210312" cy="411480"/>
          </a:xfrm>
          <a:prstGeom prst="rect">
            <a:avLst/>
          </a:prstGeom>
          <a:solidFill>
            <a:srgbClr val="DDE3EA"/>
          </a:solidFill>
          <a:ln w="12700">
            <a:solidFill>
              <a:srgbClr val="DDE3EA"/>
            </a:solidFill>
            <a:prstDash val="solid"/>
          </a:ln>
        </p:spPr>
      </p:sp>
      <p:sp>
        <p:nvSpPr>
          <p:cNvPr id="35" name="Shape 33"/>
          <p:cNvSpPr/>
          <p:nvPr/>
        </p:nvSpPr>
        <p:spPr>
          <a:xfrm>
            <a:off x="2276856" y="2788920"/>
            <a:ext cx="210312" cy="411480"/>
          </a:xfrm>
          <a:prstGeom prst="rect">
            <a:avLst/>
          </a:prstGeom>
          <a:solidFill>
            <a:srgbClr val="0F1B2D"/>
          </a:solidFill>
          <a:ln w="12700">
            <a:solidFill>
              <a:srgbClr val="0F1B2D"/>
            </a:solidFill>
            <a:prstDash val="solid"/>
          </a:ln>
        </p:spPr>
      </p:sp>
      <p:sp>
        <p:nvSpPr>
          <p:cNvPr id="36" name="Shape 34"/>
          <p:cNvSpPr/>
          <p:nvPr/>
        </p:nvSpPr>
        <p:spPr>
          <a:xfrm>
            <a:off x="2523744" y="2788920"/>
            <a:ext cx="210312" cy="411480"/>
          </a:xfrm>
          <a:prstGeom prst="rect">
            <a:avLst/>
          </a:prstGeom>
          <a:solidFill>
            <a:srgbClr val="DDE3EA"/>
          </a:solidFill>
          <a:ln w="12700">
            <a:solidFill>
              <a:srgbClr val="DDE3EA"/>
            </a:solidFill>
            <a:prstDash val="solid"/>
          </a:ln>
        </p:spPr>
      </p:sp>
      <p:sp>
        <p:nvSpPr>
          <p:cNvPr id="37" name="Shape 35"/>
          <p:cNvSpPr/>
          <p:nvPr/>
        </p:nvSpPr>
        <p:spPr>
          <a:xfrm>
            <a:off x="2770632" y="2788920"/>
            <a:ext cx="210312" cy="411480"/>
          </a:xfrm>
          <a:prstGeom prst="rect">
            <a:avLst/>
          </a:prstGeom>
          <a:solidFill>
            <a:srgbClr val="DDE3EA"/>
          </a:solidFill>
          <a:ln w="12700">
            <a:solidFill>
              <a:srgbClr val="DDE3EA"/>
            </a:solidFill>
            <a:prstDash val="solid"/>
          </a:ln>
        </p:spPr>
      </p:sp>
      <p:sp>
        <p:nvSpPr>
          <p:cNvPr id="38" name="Shape 36"/>
          <p:cNvSpPr/>
          <p:nvPr/>
        </p:nvSpPr>
        <p:spPr>
          <a:xfrm>
            <a:off x="3017520" y="2788920"/>
            <a:ext cx="210312" cy="411480"/>
          </a:xfrm>
          <a:prstGeom prst="rect">
            <a:avLst/>
          </a:prstGeom>
          <a:solidFill>
            <a:srgbClr val="DDE3EA"/>
          </a:solidFill>
          <a:ln w="12700">
            <a:solidFill>
              <a:srgbClr val="DDE3EA"/>
            </a:solidFill>
            <a:prstDash val="solid"/>
          </a:ln>
        </p:spPr>
      </p:sp>
      <p:sp>
        <p:nvSpPr>
          <p:cNvPr id="39" name="Shape 37"/>
          <p:cNvSpPr/>
          <p:nvPr/>
        </p:nvSpPr>
        <p:spPr>
          <a:xfrm>
            <a:off x="3264408" y="2788920"/>
            <a:ext cx="210312" cy="411480"/>
          </a:xfrm>
          <a:prstGeom prst="rect">
            <a:avLst/>
          </a:prstGeom>
          <a:solidFill>
            <a:srgbClr val="DDE3EA"/>
          </a:solidFill>
          <a:ln w="12700">
            <a:solidFill>
              <a:srgbClr val="DDE3EA"/>
            </a:solidFill>
            <a:prstDash val="solid"/>
          </a:ln>
        </p:spPr>
      </p:sp>
      <p:sp>
        <p:nvSpPr>
          <p:cNvPr id="40" name="Shape 38"/>
          <p:cNvSpPr/>
          <p:nvPr/>
        </p:nvSpPr>
        <p:spPr>
          <a:xfrm>
            <a:off x="3511296" y="2788920"/>
            <a:ext cx="210312" cy="411480"/>
          </a:xfrm>
          <a:prstGeom prst="rect">
            <a:avLst/>
          </a:prstGeom>
          <a:solidFill>
            <a:srgbClr val="DDE3EA"/>
          </a:solidFill>
          <a:ln w="12700">
            <a:solidFill>
              <a:srgbClr val="DDE3EA"/>
            </a:solidFill>
            <a:prstDash val="solid"/>
          </a:ln>
        </p:spPr>
      </p:sp>
      <p:sp>
        <p:nvSpPr>
          <p:cNvPr id="41" name="Shape 39"/>
          <p:cNvSpPr/>
          <p:nvPr/>
        </p:nvSpPr>
        <p:spPr>
          <a:xfrm>
            <a:off x="3758184" y="2788920"/>
            <a:ext cx="210312" cy="411480"/>
          </a:xfrm>
          <a:prstGeom prst="rect">
            <a:avLst/>
          </a:prstGeom>
          <a:solidFill>
            <a:srgbClr val="DDE3EA"/>
          </a:solidFill>
          <a:ln w="12700">
            <a:solidFill>
              <a:srgbClr val="DDE3EA"/>
            </a:solidFill>
            <a:prstDash val="solid"/>
          </a:ln>
        </p:spPr>
      </p:sp>
      <p:sp>
        <p:nvSpPr>
          <p:cNvPr id="42" name="Shape 40"/>
          <p:cNvSpPr/>
          <p:nvPr/>
        </p:nvSpPr>
        <p:spPr>
          <a:xfrm>
            <a:off x="4005072" y="2788920"/>
            <a:ext cx="210312" cy="411480"/>
          </a:xfrm>
          <a:prstGeom prst="rect">
            <a:avLst/>
          </a:prstGeom>
          <a:solidFill>
            <a:srgbClr val="DDE3EA"/>
          </a:solidFill>
          <a:ln w="12700">
            <a:solidFill>
              <a:srgbClr val="DDE3EA"/>
            </a:solidFill>
            <a:prstDash val="solid"/>
          </a:ln>
        </p:spPr>
      </p:sp>
      <p:sp>
        <p:nvSpPr>
          <p:cNvPr id="43" name="Shape 41"/>
          <p:cNvSpPr/>
          <p:nvPr/>
        </p:nvSpPr>
        <p:spPr>
          <a:xfrm>
            <a:off x="4251960" y="2788920"/>
            <a:ext cx="210312" cy="411480"/>
          </a:xfrm>
          <a:prstGeom prst="rect">
            <a:avLst/>
          </a:prstGeom>
          <a:solidFill>
            <a:srgbClr val="DDE3EA"/>
          </a:solidFill>
          <a:ln w="12700">
            <a:solidFill>
              <a:srgbClr val="DDE3EA"/>
            </a:solidFill>
            <a:prstDash val="solid"/>
          </a:ln>
        </p:spPr>
      </p:sp>
      <p:sp>
        <p:nvSpPr>
          <p:cNvPr id="44" name="Shape 42"/>
          <p:cNvSpPr/>
          <p:nvPr/>
        </p:nvSpPr>
        <p:spPr>
          <a:xfrm>
            <a:off x="4498848" y="2788920"/>
            <a:ext cx="210312" cy="411480"/>
          </a:xfrm>
          <a:prstGeom prst="rect">
            <a:avLst/>
          </a:prstGeom>
          <a:solidFill>
            <a:srgbClr val="DDE3EA"/>
          </a:solidFill>
          <a:ln w="12700">
            <a:solidFill>
              <a:srgbClr val="DDE3EA"/>
            </a:solidFill>
            <a:prstDash val="solid"/>
          </a:ln>
        </p:spPr>
      </p:sp>
      <p:sp>
        <p:nvSpPr>
          <p:cNvPr id="45" name="Shape 43"/>
          <p:cNvSpPr/>
          <p:nvPr/>
        </p:nvSpPr>
        <p:spPr>
          <a:xfrm>
            <a:off x="4745736" y="2788920"/>
            <a:ext cx="210312" cy="411480"/>
          </a:xfrm>
          <a:prstGeom prst="rect">
            <a:avLst/>
          </a:prstGeom>
          <a:solidFill>
            <a:srgbClr val="DDE3EA"/>
          </a:solidFill>
          <a:ln w="12700">
            <a:solidFill>
              <a:srgbClr val="DDE3EA"/>
            </a:solidFill>
            <a:prstDash val="solid"/>
          </a:ln>
        </p:spPr>
      </p:sp>
      <p:sp>
        <p:nvSpPr>
          <p:cNvPr id="46" name="Shape 44"/>
          <p:cNvSpPr/>
          <p:nvPr/>
        </p:nvSpPr>
        <p:spPr>
          <a:xfrm>
            <a:off x="4992624" y="2788920"/>
            <a:ext cx="210312" cy="411480"/>
          </a:xfrm>
          <a:prstGeom prst="rect">
            <a:avLst/>
          </a:prstGeom>
          <a:solidFill>
            <a:srgbClr val="DDE3EA"/>
          </a:solidFill>
          <a:ln w="12700">
            <a:solidFill>
              <a:srgbClr val="DDE3EA"/>
            </a:solidFill>
            <a:prstDash val="solid"/>
          </a:ln>
        </p:spPr>
      </p:sp>
      <p:sp>
        <p:nvSpPr>
          <p:cNvPr id="47" name="Shape 45"/>
          <p:cNvSpPr/>
          <p:nvPr/>
        </p:nvSpPr>
        <p:spPr>
          <a:xfrm>
            <a:off x="5239512" y="2788920"/>
            <a:ext cx="210312" cy="411480"/>
          </a:xfrm>
          <a:prstGeom prst="rect">
            <a:avLst/>
          </a:prstGeom>
          <a:solidFill>
            <a:srgbClr val="DDE3EA"/>
          </a:solidFill>
          <a:ln w="12700">
            <a:solidFill>
              <a:srgbClr val="DDE3EA"/>
            </a:solidFill>
            <a:prstDash val="solid"/>
          </a:ln>
        </p:spPr>
      </p:sp>
      <p:sp>
        <p:nvSpPr>
          <p:cNvPr id="48" name="Shape 46"/>
          <p:cNvSpPr/>
          <p:nvPr/>
        </p:nvSpPr>
        <p:spPr>
          <a:xfrm>
            <a:off x="5486400" y="2788920"/>
            <a:ext cx="210312" cy="411480"/>
          </a:xfrm>
          <a:prstGeom prst="rect">
            <a:avLst/>
          </a:prstGeom>
          <a:solidFill>
            <a:srgbClr val="DDE3EA"/>
          </a:solidFill>
          <a:ln w="12700">
            <a:solidFill>
              <a:srgbClr val="DDE3EA"/>
            </a:solidFill>
            <a:prstDash val="solid"/>
          </a:ln>
        </p:spPr>
      </p:sp>
      <p:sp>
        <p:nvSpPr>
          <p:cNvPr id="49" name="Shape 47"/>
          <p:cNvSpPr/>
          <p:nvPr/>
        </p:nvSpPr>
        <p:spPr>
          <a:xfrm>
            <a:off x="5733288" y="2788920"/>
            <a:ext cx="210312" cy="411480"/>
          </a:xfrm>
          <a:prstGeom prst="rect">
            <a:avLst/>
          </a:prstGeom>
          <a:solidFill>
            <a:srgbClr val="DDE3EA"/>
          </a:solidFill>
          <a:ln w="12700">
            <a:solidFill>
              <a:srgbClr val="DDE3EA"/>
            </a:solidFill>
            <a:prstDash val="solid"/>
          </a:ln>
        </p:spPr>
      </p:sp>
      <p:sp>
        <p:nvSpPr>
          <p:cNvPr id="50" name="Text 48"/>
          <p:cNvSpPr txBox="1"/>
          <p:nvPr/>
        </p:nvSpPr>
        <p:spPr>
          <a:xfrm>
            <a:off x="548640" y="3246120"/>
            <a:ext cx="54864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output per sample, per filter</a:t>
            </a:r>
            <a:endParaRPr lang="en-US" sz="1500" dirty="0"/>
          </a:p>
        </p:txBody>
      </p:sp>
      <p:sp>
        <p:nvSpPr>
          <p:cNvPr id="51" name="Text 49"/>
          <p:cNvSpPr txBox="1"/>
          <p:nvPr/>
        </p:nvSpPr>
        <p:spPr>
          <a:xfrm>
            <a:off x="548640" y="35661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52" name="Shape 50"/>
          <p:cNvSpPr/>
          <p:nvPr/>
        </p:nvSpPr>
        <p:spPr>
          <a:xfrm>
            <a:off x="6400800" y="1554480"/>
            <a:ext cx="502920" cy="502920"/>
          </a:xfrm>
          <a:prstGeom prst="ellipse">
            <a:avLst/>
          </a:prstGeom>
          <a:solidFill>
            <a:srgbClr val="0F1B2D"/>
          </a:solidFill>
          <a:ln w="12700">
            <a:solidFill>
              <a:srgbClr val="0F1B2D"/>
            </a:solidFill>
            <a:prstDash val="solid"/>
          </a:ln>
        </p:spPr>
      </p:sp>
      <p:sp>
        <p:nvSpPr>
          <p:cNvPr id="53" name="Text 51"/>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4" name="Text 52"/>
          <p:cNvSpPr txBox="1"/>
          <p:nvPr/>
        </p:nvSpPr>
        <p:spPr>
          <a:xfrm>
            <a:off x="7086600" y="146304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64 filters, 3 taps</a:t>
            </a:r>
            <a:endParaRPr lang="en-US" sz="2100" dirty="0"/>
          </a:p>
        </p:txBody>
      </p:sp>
      <p:sp>
        <p:nvSpPr>
          <p:cNvPr id="55" name="Text 53"/>
          <p:cNvSpPr txBox="1"/>
          <p:nvPr/>
        </p:nvSpPr>
        <p:spPr>
          <a:xfrm>
            <a:off x="7086600" y="187452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2 × 128  →  128 × 64</a:t>
            </a:r>
            <a:endParaRPr lang="en-US" sz="1900" dirty="0"/>
          </a:p>
        </p:txBody>
      </p:sp>
      <p:sp>
        <p:nvSpPr>
          <p:cNvPr id="56" name="Shape 54"/>
          <p:cNvSpPr/>
          <p:nvPr/>
        </p:nvSpPr>
        <p:spPr>
          <a:xfrm>
            <a:off x="6400800" y="2514600"/>
            <a:ext cx="502920" cy="502920"/>
          </a:xfrm>
          <a:prstGeom prst="ellipse">
            <a:avLst/>
          </a:prstGeom>
          <a:solidFill>
            <a:srgbClr val="0F1B2D"/>
          </a:solidFill>
          <a:ln w="12700">
            <a:solidFill>
              <a:srgbClr val="0F1B2D"/>
            </a:solidFill>
            <a:prstDash val="solid"/>
          </a:ln>
        </p:spPr>
      </p:sp>
      <p:sp>
        <p:nvSpPr>
          <p:cNvPr id="57" name="Text 55"/>
          <p:cNvSpPr txBox="1"/>
          <p:nvPr/>
        </p:nvSpPr>
        <p:spPr>
          <a:xfrm>
            <a:off x="640080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58" name="Text 56"/>
          <p:cNvSpPr txBox="1"/>
          <p:nvPr/>
        </p:nvSpPr>
        <p:spPr>
          <a:xfrm>
            <a:off x="7086600" y="242316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128 filters, 3 taps</a:t>
            </a:r>
            <a:endParaRPr lang="en-US" sz="2100" dirty="0"/>
          </a:p>
        </p:txBody>
      </p:sp>
      <p:sp>
        <p:nvSpPr>
          <p:cNvPr id="59" name="Text 57"/>
          <p:cNvSpPr txBox="1"/>
          <p:nvPr/>
        </p:nvSpPr>
        <p:spPr>
          <a:xfrm>
            <a:off x="7086600" y="283464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128 × 128</a:t>
            </a:r>
            <a:endParaRPr lang="en-US" sz="1900" dirty="0"/>
          </a:p>
        </p:txBody>
      </p:sp>
      <p:sp>
        <p:nvSpPr>
          <p:cNvPr id="60" name="Shape 58"/>
          <p:cNvSpPr/>
          <p:nvPr/>
        </p:nvSpPr>
        <p:spPr>
          <a:xfrm>
            <a:off x="6400800" y="3474720"/>
            <a:ext cx="502920" cy="502920"/>
          </a:xfrm>
          <a:prstGeom prst="ellipse">
            <a:avLst/>
          </a:prstGeom>
          <a:solidFill>
            <a:srgbClr val="F08A24"/>
          </a:solidFill>
          <a:ln w="12700">
            <a:solidFill>
              <a:srgbClr val="F08A24"/>
            </a:solidFill>
            <a:prstDash val="solid"/>
          </a:ln>
        </p:spPr>
      </p:sp>
      <p:sp>
        <p:nvSpPr>
          <p:cNvPr id="61" name="Text 59"/>
          <p:cNvSpPr txBox="1"/>
          <p:nvPr/>
        </p:nvSpPr>
        <p:spPr>
          <a:xfrm>
            <a:off x="6400800" y="347472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62" name="Text 60"/>
          <p:cNvSpPr txBox="1"/>
          <p:nvPr/>
        </p:nvSpPr>
        <p:spPr>
          <a:xfrm>
            <a:off x="7086600" y="338328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pool: larger of each pair</a:t>
            </a:r>
            <a:endParaRPr lang="en-US" sz="2100" dirty="0"/>
          </a:p>
        </p:txBody>
      </p:sp>
      <p:sp>
        <p:nvSpPr>
          <p:cNvPr id="63" name="Text 61"/>
          <p:cNvSpPr txBox="1"/>
          <p:nvPr/>
        </p:nvSpPr>
        <p:spPr>
          <a:xfrm>
            <a:off x="7086600" y="379476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64 × 128</a:t>
            </a:r>
            <a:endParaRPr lang="en-US" sz="1900" dirty="0"/>
          </a:p>
        </p:txBody>
      </p:sp>
      <p:sp>
        <p:nvSpPr>
          <p:cNvPr id="64" name="Shape 62"/>
          <p:cNvSpPr/>
          <p:nvPr/>
        </p:nvSpPr>
        <p:spPr>
          <a:xfrm>
            <a:off x="548640" y="4526280"/>
            <a:ext cx="11091672" cy="868680"/>
          </a:xfrm>
          <a:prstGeom prst="roundRect">
            <a:avLst>
              <a:gd name="adj" fmla="val 12632"/>
            </a:avLst>
          </a:prstGeom>
          <a:solidFill>
            <a:srgbClr val="EEF2F6"/>
          </a:solidFill>
          <a:ln w="12700">
            <a:solidFill>
              <a:srgbClr val="EEF2F6"/>
            </a:solidFill>
            <a:prstDash val="solid"/>
          </a:ln>
        </p:spPr>
      </p:sp>
      <p:sp>
        <p:nvSpPr>
          <p:cNvPr id="65" name="Text 63"/>
          <p:cNvSpPr txBox="1"/>
          <p:nvPr/>
        </p:nvSpPr>
        <p:spPr>
          <a:xfrm>
            <a:off x="822960" y="4526280"/>
            <a:ext cx="10543032" cy="86868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Like an FIR filter whose taps are learned instead of designed.</a:t>
            </a:r>
            <a:endParaRPr lang="en-US" sz="2200" dirty="0"/>
          </a:p>
        </p:txBody>
      </p:sp>
      <p:sp>
        <p:nvSpPr>
          <p:cNvPr id="66" name="Text 6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Each of the 64 steps sums up about 6 samples: less than one symbol.</a:t>
            </a:r>
            <a:endParaRPr lang="en-US" sz="2400" dirty="0"/>
          </a:p>
        </p:txBody>
      </p:sp>
      <p:sp>
        <p:nvSpPr>
          <p:cNvPr id="68" name="Text 6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BiLSTM</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2: reading the steps in order</a:t>
            </a:r>
            <a:endParaRPr lang="en-US" sz="3400" dirty="0"/>
          </a:p>
        </p:txBody>
      </p:sp>
      <p:sp>
        <p:nvSpPr>
          <p:cNvPr id="4" name="Shape 2"/>
          <p:cNvSpPr/>
          <p:nvPr/>
        </p:nvSpPr>
        <p:spPr>
          <a:xfrm>
            <a:off x="548640" y="2331720"/>
            <a:ext cx="1143000" cy="822960"/>
          </a:xfrm>
          <a:prstGeom prst="roundRect">
            <a:avLst>
              <a:gd name="adj" fmla="val 11111"/>
            </a:avLst>
          </a:prstGeom>
          <a:solidFill>
            <a:srgbClr val="EEF2F6"/>
          </a:solidFill>
          <a:ln w="12700">
            <a:solidFill>
              <a:srgbClr val="EEF2F6"/>
            </a:solidFill>
            <a:prstDash val="solid"/>
          </a:ln>
        </p:spPr>
      </p:sp>
      <p:sp>
        <p:nvSpPr>
          <p:cNvPr id="5" name="Text 3"/>
          <p:cNvSpPr txBox="1"/>
          <p:nvPr/>
        </p:nvSpPr>
        <p:spPr>
          <a:xfrm>
            <a:off x="5486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1</a:t>
            </a:r>
            <a:endParaRPr lang="en-US" sz="1700" dirty="0"/>
          </a:p>
        </p:txBody>
      </p:sp>
      <p:sp>
        <p:nvSpPr>
          <p:cNvPr id="6" name="Shape 4"/>
          <p:cNvSpPr/>
          <p:nvPr/>
        </p:nvSpPr>
        <p:spPr>
          <a:xfrm>
            <a:off x="1709928" y="1874520"/>
            <a:ext cx="374904" cy="384048"/>
          </a:xfrm>
          <a:prstGeom prst="rightArrow">
            <a:avLst/>
          </a:prstGeom>
          <a:solidFill>
            <a:srgbClr val="0F1B2D"/>
          </a:solidFill>
          <a:ln w="12700">
            <a:solidFill>
              <a:srgbClr val="0F1B2D"/>
            </a:solidFill>
            <a:prstDash val="solid"/>
          </a:ln>
        </p:spPr>
      </p:sp>
      <p:sp>
        <p:nvSpPr>
          <p:cNvPr id="7" name="Shape 5"/>
          <p:cNvSpPr/>
          <p:nvPr/>
        </p:nvSpPr>
        <p:spPr>
          <a:xfrm>
            <a:off x="1709928" y="3246120"/>
            <a:ext cx="374904" cy="384048"/>
          </a:xfrm>
          <a:prstGeom prst="leftArrow">
            <a:avLst/>
          </a:prstGeom>
          <a:solidFill>
            <a:srgbClr val="F08A24"/>
          </a:solidFill>
          <a:ln w="12700">
            <a:solidFill>
              <a:srgbClr val="F08A24"/>
            </a:solidFill>
            <a:prstDash val="solid"/>
          </a:ln>
        </p:spPr>
      </p:sp>
      <p:sp>
        <p:nvSpPr>
          <p:cNvPr id="8" name="Shape 6"/>
          <p:cNvSpPr/>
          <p:nvPr/>
        </p:nvSpPr>
        <p:spPr>
          <a:xfrm>
            <a:off x="2103120" y="2331720"/>
            <a:ext cx="1143000" cy="822960"/>
          </a:xfrm>
          <a:prstGeom prst="roundRect">
            <a:avLst>
              <a:gd name="adj" fmla="val 11111"/>
            </a:avLst>
          </a:prstGeom>
          <a:solidFill>
            <a:srgbClr val="EEF2F6"/>
          </a:solidFill>
          <a:ln w="12700">
            <a:solidFill>
              <a:srgbClr val="EEF2F6"/>
            </a:solidFill>
            <a:prstDash val="solid"/>
          </a:ln>
        </p:spPr>
      </p:sp>
      <p:sp>
        <p:nvSpPr>
          <p:cNvPr id="9" name="Text 7"/>
          <p:cNvSpPr txBox="1"/>
          <p:nvPr/>
        </p:nvSpPr>
        <p:spPr>
          <a:xfrm>
            <a:off x="210312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2</a:t>
            </a:r>
            <a:endParaRPr lang="en-US" sz="1700" dirty="0"/>
          </a:p>
        </p:txBody>
      </p:sp>
      <p:sp>
        <p:nvSpPr>
          <p:cNvPr id="10" name="Shape 8"/>
          <p:cNvSpPr/>
          <p:nvPr/>
        </p:nvSpPr>
        <p:spPr>
          <a:xfrm>
            <a:off x="3264408" y="1874520"/>
            <a:ext cx="374904" cy="384048"/>
          </a:xfrm>
          <a:prstGeom prst="rightArrow">
            <a:avLst/>
          </a:prstGeom>
          <a:solidFill>
            <a:srgbClr val="0F1B2D"/>
          </a:solidFill>
          <a:ln w="12700">
            <a:solidFill>
              <a:srgbClr val="0F1B2D"/>
            </a:solidFill>
            <a:prstDash val="solid"/>
          </a:ln>
        </p:spPr>
      </p:sp>
      <p:sp>
        <p:nvSpPr>
          <p:cNvPr id="11" name="Shape 9"/>
          <p:cNvSpPr/>
          <p:nvPr/>
        </p:nvSpPr>
        <p:spPr>
          <a:xfrm>
            <a:off x="3264408" y="3246120"/>
            <a:ext cx="374904" cy="384048"/>
          </a:xfrm>
          <a:prstGeom prst="leftArrow">
            <a:avLst/>
          </a:prstGeom>
          <a:solidFill>
            <a:srgbClr val="F08A24"/>
          </a:solidFill>
          <a:ln w="12700">
            <a:solidFill>
              <a:srgbClr val="F08A24"/>
            </a:solidFill>
            <a:prstDash val="solid"/>
          </a:ln>
        </p:spPr>
      </p:sp>
      <p:sp>
        <p:nvSpPr>
          <p:cNvPr id="12" name="Shape 10"/>
          <p:cNvSpPr/>
          <p:nvPr/>
        </p:nvSpPr>
        <p:spPr>
          <a:xfrm>
            <a:off x="3657600" y="2331720"/>
            <a:ext cx="1143000" cy="822960"/>
          </a:xfrm>
          <a:prstGeom prst="roundRect">
            <a:avLst>
              <a:gd name="adj" fmla="val 11111"/>
            </a:avLst>
          </a:prstGeom>
          <a:solidFill>
            <a:srgbClr val="EEF2F6"/>
          </a:solidFill>
          <a:ln w="12700">
            <a:solidFill>
              <a:srgbClr val="EEF2F6"/>
            </a:solidFill>
            <a:prstDash val="solid"/>
          </a:ln>
        </p:spPr>
      </p:sp>
      <p:sp>
        <p:nvSpPr>
          <p:cNvPr id="13" name="Text 11"/>
          <p:cNvSpPr txBox="1"/>
          <p:nvPr/>
        </p:nvSpPr>
        <p:spPr>
          <a:xfrm>
            <a:off x="365760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3</a:t>
            </a:r>
            <a:endParaRPr lang="en-US" sz="1700" dirty="0"/>
          </a:p>
        </p:txBody>
      </p:sp>
      <p:sp>
        <p:nvSpPr>
          <p:cNvPr id="14" name="Shape 12"/>
          <p:cNvSpPr/>
          <p:nvPr/>
        </p:nvSpPr>
        <p:spPr>
          <a:xfrm>
            <a:off x="4818888" y="1874520"/>
            <a:ext cx="374904" cy="384048"/>
          </a:xfrm>
          <a:prstGeom prst="rightArrow">
            <a:avLst/>
          </a:prstGeom>
          <a:solidFill>
            <a:srgbClr val="0F1B2D"/>
          </a:solidFill>
          <a:ln w="12700">
            <a:solidFill>
              <a:srgbClr val="0F1B2D"/>
            </a:solidFill>
            <a:prstDash val="solid"/>
          </a:ln>
        </p:spPr>
      </p:sp>
      <p:sp>
        <p:nvSpPr>
          <p:cNvPr id="15" name="Shape 13"/>
          <p:cNvSpPr/>
          <p:nvPr/>
        </p:nvSpPr>
        <p:spPr>
          <a:xfrm>
            <a:off x="4818888" y="3246120"/>
            <a:ext cx="374904" cy="384048"/>
          </a:xfrm>
          <a:prstGeom prst="leftArrow">
            <a:avLst/>
          </a:prstGeom>
          <a:solidFill>
            <a:srgbClr val="F08A24"/>
          </a:solidFill>
          <a:ln w="12700">
            <a:solidFill>
              <a:srgbClr val="F08A24"/>
            </a:solidFill>
            <a:prstDash val="solid"/>
          </a:ln>
        </p:spPr>
      </p:sp>
      <p:sp>
        <p:nvSpPr>
          <p:cNvPr id="16" name="Shape 14"/>
          <p:cNvSpPr/>
          <p:nvPr/>
        </p:nvSpPr>
        <p:spPr>
          <a:xfrm>
            <a:off x="5212080" y="2331720"/>
            <a:ext cx="1143000" cy="822960"/>
          </a:xfrm>
          <a:prstGeom prst="roundRect">
            <a:avLst>
              <a:gd name="adj" fmla="val 11111"/>
            </a:avLst>
          </a:prstGeom>
          <a:solidFill>
            <a:srgbClr val="EEF2F6"/>
          </a:solidFill>
          <a:ln w="12700">
            <a:solidFill>
              <a:srgbClr val="EEF2F6"/>
            </a:solidFill>
            <a:prstDash val="solid"/>
          </a:ln>
        </p:spPr>
      </p:sp>
      <p:sp>
        <p:nvSpPr>
          <p:cNvPr id="17" name="Text 15"/>
          <p:cNvSpPr txBox="1"/>
          <p:nvPr/>
        </p:nvSpPr>
        <p:spPr>
          <a:xfrm>
            <a:off x="521208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a:t>
            </a:r>
            <a:endParaRPr lang="en-US" sz="1700" dirty="0"/>
          </a:p>
        </p:txBody>
      </p:sp>
      <p:sp>
        <p:nvSpPr>
          <p:cNvPr id="18" name="Shape 16"/>
          <p:cNvSpPr/>
          <p:nvPr/>
        </p:nvSpPr>
        <p:spPr>
          <a:xfrm>
            <a:off x="6373368" y="1874520"/>
            <a:ext cx="374904" cy="384048"/>
          </a:xfrm>
          <a:prstGeom prst="rightArrow">
            <a:avLst/>
          </a:prstGeom>
          <a:solidFill>
            <a:srgbClr val="0F1B2D"/>
          </a:solidFill>
          <a:ln w="12700">
            <a:solidFill>
              <a:srgbClr val="0F1B2D"/>
            </a:solidFill>
            <a:prstDash val="solid"/>
          </a:ln>
        </p:spPr>
      </p:sp>
      <p:sp>
        <p:nvSpPr>
          <p:cNvPr id="19" name="Shape 17"/>
          <p:cNvSpPr/>
          <p:nvPr/>
        </p:nvSpPr>
        <p:spPr>
          <a:xfrm>
            <a:off x="6373368" y="3246120"/>
            <a:ext cx="374904" cy="384048"/>
          </a:xfrm>
          <a:prstGeom prst="leftArrow">
            <a:avLst/>
          </a:prstGeom>
          <a:solidFill>
            <a:srgbClr val="F08A24"/>
          </a:solidFill>
          <a:ln w="12700">
            <a:solidFill>
              <a:srgbClr val="F08A24"/>
            </a:solidFill>
            <a:prstDash val="solid"/>
          </a:ln>
        </p:spPr>
      </p:sp>
      <p:sp>
        <p:nvSpPr>
          <p:cNvPr id="20" name="Shape 18"/>
          <p:cNvSpPr/>
          <p:nvPr/>
        </p:nvSpPr>
        <p:spPr>
          <a:xfrm>
            <a:off x="6766560" y="2331720"/>
            <a:ext cx="1143000" cy="822960"/>
          </a:xfrm>
          <a:prstGeom prst="roundRect">
            <a:avLst>
              <a:gd name="adj" fmla="val 11111"/>
            </a:avLst>
          </a:prstGeom>
          <a:solidFill>
            <a:srgbClr val="EEF2F6"/>
          </a:solidFill>
          <a:ln w="12700">
            <a:solidFill>
              <a:srgbClr val="EEF2F6"/>
            </a:solidFill>
            <a:prstDash val="solid"/>
          </a:ln>
        </p:spPr>
      </p:sp>
      <p:sp>
        <p:nvSpPr>
          <p:cNvPr id="21" name="Text 19"/>
          <p:cNvSpPr txBox="1"/>
          <p:nvPr/>
        </p:nvSpPr>
        <p:spPr>
          <a:xfrm>
            <a:off x="676656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63</a:t>
            </a:r>
            <a:endParaRPr lang="en-US" sz="1700" dirty="0"/>
          </a:p>
        </p:txBody>
      </p:sp>
      <p:sp>
        <p:nvSpPr>
          <p:cNvPr id="22" name="Shape 20"/>
          <p:cNvSpPr/>
          <p:nvPr/>
        </p:nvSpPr>
        <p:spPr>
          <a:xfrm>
            <a:off x="7927848" y="1874520"/>
            <a:ext cx="374904" cy="384048"/>
          </a:xfrm>
          <a:prstGeom prst="rightArrow">
            <a:avLst/>
          </a:prstGeom>
          <a:solidFill>
            <a:srgbClr val="0F1B2D"/>
          </a:solidFill>
          <a:ln w="12700">
            <a:solidFill>
              <a:srgbClr val="0F1B2D"/>
            </a:solidFill>
            <a:prstDash val="solid"/>
          </a:ln>
        </p:spPr>
      </p:sp>
      <p:sp>
        <p:nvSpPr>
          <p:cNvPr id="23" name="Shape 21"/>
          <p:cNvSpPr/>
          <p:nvPr/>
        </p:nvSpPr>
        <p:spPr>
          <a:xfrm>
            <a:off x="7927848" y="3246120"/>
            <a:ext cx="374904" cy="384048"/>
          </a:xfrm>
          <a:prstGeom prst="leftArrow">
            <a:avLst/>
          </a:prstGeom>
          <a:solidFill>
            <a:srgbClr val="F08A24"/>
          </a:solidFill>
          <a:ln w="12700">
            <a:solidFill>
              <a:srgbClr val="F08A24"/>
            </a:solidFill>
            <a:prstDash val="solid"/>
          </a:ln>
        </p:spPr>
      </p:sp>
      <p:sp>
        <p:nvSpPr>
          <p:cNvPr id="24" name="Shape 22"/>
          <p:cNvSpPr/>
          <p:nvPr/>
        </p:nvSpPr>
        <p:spPr>
          <a:xfrm>
            <a:off x="8321040" y="2331720"/>
            <a:ext cx="1143000" cy="822960"/>
          </a:xfrm>
          <a:prstGeom prst="roundRect">
            <a:avLst>
              <a:gd name="adj" fmla="val 11111"/>
            </a:avLst>
          </a:prstGeom>
          <a:solidFill>
            <a:srgbClr val="EEF2F6"/>
          </a:solidFill>
          <a:ln w="12700">
            <a:solidFill>
              <a:srgbClr val="EEF2F6"/>
            </a:solidFill>
            <a:prstDash val="solid"/>
          </a:ln>
        </p:spPr>
      </p:sp>
      <p:sp>
        <p:nvSpPr>
          <p:cNvPr id="25" name="Text 23"/>
          <p:cNvSpPr txBox="1"/>
          <p:nvPr/>
        </p:nvSpPr>
        <p:spPr>
          <a:xfrm>
            <a:off x="83210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64</a:t>
            </a:r>
            <a:endParaRPr lang="en-US" sz="1700" dirty="0"/>
          </a:p>
        </p:txBody>
      </p:sp>
      <p:sp>
        <p:nvSpPr>
          <p:cNvPr id="26" name="Text 24"/>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700" b="1" dirty="0">
                <a:solidFill>
                  <a:srgbClr val="0F1B2D"/>
                </a:solidFill>
                <a:latin typeface="Calibri" pitchFamily="34" charset="0"/>
                <a:ea typeface="Calibri" pitchFamily="34" charset="-122"/>
                <a:cs typeface="Calibri" pitchFamily="34" charset="-120"/>
              </a:rPr>
              <a:t>forwards, with a memory</a:t>
            </a:r>
            <a:endParaRPr lang="en-US" sz="1700" dirty="0"/>
          </a:p>
        </p:txBody>
      </p:sp>
      <p:sp>
        <p:nvSpPr>
          <p:cNvPr id="27" name="Text 25"/>
          <p:cNvSpPr txBox="1"/>
          <p:nvPr/>
        </p:nvSpPr>
        <p:spPr>
          <a:xfrm>
            <a:off x="548640" y="3657600"/>
            <a:ext cx="5486400" cy="365760"/>
          </a:xfrm>
          <a:prstGeom prst="rect">
            <a:avLst/>
          </a:prstGeom>
          <a:noFill/>
          <a:ln/>
        </p:spPr>
        <p:txBody>
          <a:bodyPr wrap="square" lIns="0" tIns="0" rIns="0" bIns="0" rtlCol="0" anchor="t"/>
          <a:lstStyle/>
          <a:p>
            <a:pPr indent="0" marL="0">
              <a:buNone/>
            </a:pPr>
            <a:r>
              <a:rPr lang="en-US" sz="1700" b="1" dirty="0">
                <a:solidFill>
                  <a:srgbClr val="F08A24"/>
                </a:solidFill>
                <a:latin typeface="Calibri" pitchFamily="34" charset="0"/>
                <a:ea typeface="Calibri" pitchFamily="34" charset="-122"/>
                <a:cs typeface="Calibri" pitchFamily="34" charset="-120"/>
              </a:rPr>
              <a:t>backwards, a second LSTM</a:t>
            </a:r>
            <a:endParaRPr lang="en-US" sz="1700" dirty="0"/>
          </a:p>
        </p:txBody>
      </p:sp>
      <p:sp>
        <p:nvSpPr>
          <p:cNvPr id="28" name="Shape 26"/>
          <p:cNvSpPr/>
          <p:nvPr/>
        </p:nvSpPr>
        <p:spPr>
          <a:xfrm>
            <a:off x="548640" y="4160520"/>
            <a:ext cx="6583680" cy="1280160"/>
          </a:xfrm>
          <a:prstGeom prst="roundRect">
            <a:avLst>
              <a:gd name="adj" fmla="val 8571"/>
            </a:avLst>
          </a:prstGeom>
          <a:solidFill>
            <a:srgbClr val="EEF2F6"/>
          </a:solidFill>
          <a:ln w="12700">
            <a:solidFill>
              <a:srgbClr val="EEF2F6"/>
            </a:solidFill>
            <a:prstDash val="solid"/>
          </a:ln>
        </p:spPr>
      </p:sp>
      <p:sp>
        <p:nvSpPr>
          <p:cNvPr id="29" name="Text 27"/>
          <p:cNvSpPr txBox="1"/>
          <p:nvPr/>
        </p:nvSpPr>
        <p:spPr>
          <a:xfrm>
            <a:off x="822960" y="4160520"/>
            <a:ext cx="6126480" cy="128016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2 layers, 128 numbers each way</a:t>
            </a:r>
            <a:endParaRPr lang="en-US" sz="2200" dirty="0"/>
          </a:p>
          <a:p>
            <a:pPr indent="0" marL="0">
              <a:buNone/>
            </a:pPr>
            <a:r>
              <a:rPr lang="en-US" sz="2200" b="1" dirty="0">
                <a:solidFill>
                  <a:srgbClr val="5B6B7F"/>
                </a:solidFill>
                <a:latin typeface="Calibri" pitchFamily="34" charset="0"/>
                <a:ea typeface="Calibri" pitchFamily="34" charset="-122"/>
                <a:cs typeface="Calibri" pitchFamily="34" charset="-120"/>
              </a:rPr>
              <a:t>→  64 × 256</a:t>
            </a:r>
            <a:endParaRPr lang="en-US" sz="2200" dirty="0"/>
          </a:p>
        </p:txBody>
      </p:sp>
      <p:sp>
        <p:nvSpPr>
          <p:cNvPr id="30" name="Shape 28"/>
          <p:cNvSpPr/>
          <p:nvPr/>
        </p:nvSpPr>
        <p:spPr>
          <a:xfrm>
            <a:off x="7406640" y="4160520"/>
            <a:ext cx="4233672" cy="1280160"/>
          </a:xfrm>
          <a:prstGeom prst="roundRect">
            <a:avLst>
              <a:gd name="adj" fmla="val 8571"/>
            </a:avLst>
          </a:prstGeom>
          <a:solidFill>
            <a:srgbClr val="0F1B2D"/>
          </a:solidFill>
          <a:ln w="12700">
            <a:solidFill>
              <a:srgbClr val="0F1B2D"/>
            </a:solidFill>
            <a:prstDash val="solid"/>
          </a:ln>
        </p:spPr>
      </p:sp>
      <p:sp>
        <p:nvSpPr>
          <p:cNvPr id="31" name="Text 29"/>
          <p:cNvSpPr txBox="1"/>
          <p:nvPr/>
        </p:nvSpPr>
        <p:spPr>
          <a:xfrm>
            <a:off x="7635240" y="4160520"/>
            <a:ext cx="1828800" cy="1280160"/>
          </a:xfrm>
          <a:prstGeom prst="rect">
            <a:avLst/>
          </a:prstGeom>
          <a:noFill/>
          <a:ln/>
        </p:spPr>
        <p:txBody>
          <a:bodyPr wrap="square" lIns="0" tIns="0" rIns="0" bIns="0" rtlCol="0" anchor="ctr"/>
          <a:lstStyle/>
          <a:p>
            <a:pPr indent="0" marL="0">
              <a:buNone/>
            </a:pPr>
            <a:r>
              <a:rPr lang="en-US" sz="4800" b="1" dirty="0">
                <a:solidFill>
                  <a:srgbClr val="F08A24"/>
                </a:solidFill>
                <a:latin typeface="Calibri" pitchFamily="34" charset="0"/>
                <a:ea typeface="Calibri" pitchFamily="34" charset="-122"/>
                <a:cs typeface="Calibri" pitchFamily="34" charset="-120"/>
              </a:rPr>
              <a:t>83%</a:t>
            </a:r>
            <a:endParaRPr lang="en-US" sz="4800" dirty="0"/>
          </a:p>
        </p:txBody>
      </p:sp>
      <p:sp>
        <p:nvSpPr>
          <p:cNvPr id="32" name="Text 30"/>
          <p:cNvSpPr txBox="1"/>
          <p:nvPr/>
        </p:nvSpPr>
        <p:spPr>
          <a:xfrm>
            <a:off x="9418320" y="4160520"/>
            <a:ext cx="2103120" cy="12801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of the model's numbers are here</a:t>
            </a:r>
            <a:endParaRPr lang="en-US" sz="1800" dirty="0"/>
          </a:p>
        </p:txBody>
      </p:sp>
      <p:sp>
        <p:nvSpPr>
          <p:cNvPr id="33" name="Text 31"/>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After this block, every step knows the whole frame.</a:t>
            </a:r>
            <a:endParaRPr lang="en-US" sz="2400" dirty="0"/>
          </a:p>
        </p:txBody>
      </p:sp>
      <p:sp>
        <p:nvSpPr>
          <p:cNvPr id="35" name="Text 3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ATTENTION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3: a learned weighted average</a:t>
            </a:r>
            <a:endParaRPr lang="en-US" sz="3400" dirty="0"/>
          </a:p>
        </p:txBody>
      </p:sp>
      <p:sp>
        <p:nvSpPr>
          <p:cNvPr id="4" name="Shape 2"/>
          <p:cNvSpPr/>
          <p:nvPr/>
        </p:nvSpPr>
        <p:spPr>
          <a:xfrm>
            <a:off x="685800" y="3337560"/>
            <a:ext cx="237744" cy="228600"/>
          </a:xfrm>
          <a:prstGeom prst="rect">
            <a:avLst/>
          </a:prstGeom>
          <a:solidFill>
            <a:srgbClr val="8FA0B5"/>
          </a:solidFill>
          <a:ln w="12700">
            <a:solidFill>
              <a:srgbClr val="8FA0B5"/>
            </a:solidFill>
            <a:prstDash val="solid"/>
          </a:ln>
        </p:spPr>
      </p:sp>
      <p:sp>
        <p:nvSpPr>
          <p:cNvPr id="5" name="Shape 3"/>
          <p:cNvSpPr/>
          <p:nvPr/>
        </p:nvSpPr>
        <p:spPr>
          <a:xfrm>
            <a:off x="1014984" y="3200400"/>
            <a:ext cx="237744" cy="365760"/>
          </a:xfrm>
          <a:prstGeom prst="rect">
            <a:avLst/>
          </a:prstGeom>
          <a:solidFill>
            <a:srgbClr val="8FA0B5"/>
          </a:solidFill>
          <a:ln w="12700">
            <a:solidFill>
              <a:srgbClr val="8FA0B5"/>
            </a:solidFill>
            <a:prstDash val="solid"/>
          </a:ln>
        </p:spPr>
      </p:sp>
      <p:sp>
        <p:nvSpPr>
          <p:cNvPr id="6" name="Shape 4"/>
          <p:cNvSpPr/>
          <p:nvPr/>
        </p:nvSpPr>
        <p:spPr>
          <a:xfrm>
            <a:off x="1344168" y="3291840"/>
            <a:ext cx="237744" cy="274320"/>
          </a:xfrm>
          <a:prstGeom prst="rect">
            <a:avLst/>
          </a:prstGeom>
          <a:solidFill>
            <a:srgbClr val="8FA0B5"/>
          </a:solidFill>
          <a:ln w="12700">
            <a:solidFill>
              <a:srgbClr val="8FA0B5"/>
            </a:solidFill>
            <a:prstDash val="solid"/>
          </a:ln>
        </p:spPr>
      </p:sp>
      <p:sp>
        <p:nvSpPr>
          <p:cNvPr id="7" name="Shape 5"/>
          <p:cNvSpPr/>
          <p:nvPr/>
        </p:nvSpPr>
        <p:spPr>
          <a:xfrm>
            <a:off x="1673352" y="2743200"/>
            <a:ext cx="237744" cy="822960"/>
          </a:xfrm>
          <a:prstGeom prst="rect">
            <a:avLst/>
          </a:prstGeom>
          <a:solidFill>
            <a:srgbClr val="8FA0B5"/>
          </a:solidFill>
          <a:ln w="12700">
            <a:solidFill>
              <a:srgbClr val="8FA0B5"/>
            </a:solidFill>
            <a:prstDash val="solid"/>
          </a:ln>
        </p:spPr>
      </p:sp>
      <p:sp>
        <p:nvSpPr>
          <p:cNvPr id="8" name="Shape 6"/>
          <p:cNvSpPr/>
          <p:nvPr/>
        </p:nvSpPr>
        <p:spPr>
          <a:xfrm>
            <a:off x="2002536" y="2103120"/>
            <a:ext cx="237744" cy="1463040"/>
          </a:xfrm>
          <a:prstGeom prst="rect">
            <a:avLst/>
          </a:prstGeom>
          <a:solidFill>
            <a:srgbClr val="F08A24"/>
          </a:solidFill>
          <a:ln w="12700">
            <a:solidFill>
              <a:srgbClr val="F08A24"/>
            </a:solidFill>
            <a:prstDash val="solid"/>
          </a:ln>
        </p:spPr>
      </p:sp>
      <p:sp>
        <p:nvSpPr>
          <p:cNvPr id="9" name="Shape 7"/>
          <p:cNvSpPr/>
          <p:nvPr/>
        </p:nvSpPr>
        <p:spPr>
          <a:xfrm>
            <a:off x="2331720" y="2468880"/>
            <a:ext cx="237744" cy="1097280"/>
          </a:xfrm>
          <a:prstGeom prst="rect">
            <a:avLst/>
          </a:prstGeom>
          <a:solidFill>
            <a:srgbClr val="F08A24"/>
          </a:solidFill>
          <a:ln w="12700">
            <a:solidFill>
              <a:srgbClr val="F08A24"/>
            </a:solidFill>
            <a:prstDash val="solid"/>
          </a:ln>
        </p:spPr>
      </p:sp>
      <p:sp>
        <p:nvSpPr>
          <p:cNvPr id="10" name="Shape 8"/>
          <p:cNvSpPr/>
          <p:nvPr/>
        </p:nvSpPr>
        <p:spPr>
          <a:xfrm>
            <a:off x="2660904" y="3108960"/>
            <a:ext cx="237744" cy="457200"/>
          </a:xfrm>
          <a:prstGeom prst="rect">
            <a:avLst/>
          </a:prstGeom>
          <a:solidFill>
            <a:srgbClr val="8FA0B5"/>
          </a:solidFill>
          <a:ln w="12700">
            <a:solidFill>
              <a:srgbClr val="8FA0B5"/>
            </a:solidFill>
            <a:prstDash val="solid"/>
          </a:ln>
        </p:spPr>
      </p:sp>
      <p:sp>
        <p:nvSpPr>
          <p:cNvPr id="11" name="Shape 9"/>
          <p:cNvSpPr/>
          <p:nvPr/>
        </p:nvSpPr>
        <p:spPr>
          <a:xfrm>
            <a:off x="2990088" y="3246120"/>
            <a:ext cx="237744" cy="320040"/>
          </a:xfrm>
          <a:prstGeom prst="rect">
            <a:avLst/>
          </a:prstGeom>
          <a:solidFill>
            <a:srgbClr val="8FA0B5"/>
          </a:solidFill>
          <a:ln w="12700">
            <a:solidFill>
              <a:srgbClr val="8FA0B5"/>
            </a:solidFill>
            <a:prstDash val="solid"/>
          </a:ln>
        </p:spPr>
      </p:sp>
      <p:sp>
        <p:nvSpPr>
          <p:cNvPr id="12" name="Shape 10"/>
          <p:cNvSpPr/>
          <p:nvPr/>
        </p:nvSpPr>
        <p:spPr>
          <a:xfrm>
            <a:off x="3319272" y="3017520"/>
            <a:ext cx="237744" cy="548640"/>
          </a:xfrm>
          <a:prstGeom prst="rect">
            <a:avLst/>
          </a:prstGeom>
          <a:solidFill>
            <a:srgbClr val="8FA0B5"/>
          </a:solidFill>
          <a:ln w="12700">
            <a:solidFill>
              <a:srgbClr val="8FA0B5"/>
            </a:solidFill>
            <a:prstDash val="solid"/>
          </a:ln>
        </p:spPr>
      </p:sp>
      <p:sp>
        <p:nvSpPr>
          <p:cNvPr id="13" name="Shape 11"/>
          <p:cNvSpPr/>
          <p:nvPr/>
        </p:nvSpPr>
        <p:spPr>
          <a:xfrm>
            <a:off x="3648456" y="2286000"/>
            <a:ext cx="237744" cy="1280160"/>
          </a:xfrm>
          <a:prstGeom prst="rect">
            <a:avLst/>
          </a:prstGeom>
          <a:solidFill>
            <a:srgbClr val="F08A24"/>
          </a:solidFill>
          <a:ln w="12700">
            <a:solidFill>
              <a:srgbClr val="F08A24"/>
            </a:solidFill>
            <a:prstDash val="solid"/>
          </a:ln>
        </p:spPr>
      </p:sp>
      <p:sp>
        <p:nvSpPr>
          <p:cNvPr id="14" name="Shape 12"/>
          <p:cNvSpPr/>
          <p:nvPr/>
        </p:nvSpPr>
        <p:spPr>
          <a:xfrm>
            <a:off x="3977640" y="1920240"/>
            <a:ext cx="237744" cy="1645920"/>
          </a:xfrm>
          <a:prstGeom prst="rect">
            <a:avLst/>
          </a:prstGeom>
          <a:solidFill>
            <a:srgbClr val="F08A24"/>
          </a:solidFill>
          <a:ln w="12700">
            <a:solidFill>
              <a:srgbClr val="F08A24"/>
            </a:solidFill>
            <a:prstDash val="solid"/>
          </a:ln>
        </p:spPr>
      </p:sp>
      <p:sp>
        <p:nvSpPr>
          <p:cNvPr id="15" name="Shape 13"/>
          <p:cNvSpPr/>
          <p:nvPr/>
        </p:nvSpPr>
        <p:spPr>
          <a:xfrm>
            <a:off x="4306824" y="2743200"/>
            <a:ext cx="237744" cy="822960"/>
          </a:xfrm>
          <a:prstGeom prst="rect">
            <a:avLst/>
          </a:prstGeom>
          <a:solidFill>
            <a:srgbClr val="8FA0B5"/>
          </a:solidFill>
          <a:ln w="12700">
            <a:solidFill>
              <a:srgbClr val="8FA0B5"/>
            </a:solidFill>
            <a:prstDash val="solid"/>
          </a:ln>
        </p:spPr>
      </p:sp>
      <p:sp>
        <p:nvSpPr>
          <p:cNvPr id="16" name="Shape 14"/>
          <p:cNvSpPr/>
          <p:nvPr/>
        </p:nvSpPr>
        <p:spPr>
          <a:xfrm>
            <a:off x="4636008" y="3200400"/>
            <a:ext cx="237744" cy="365760"/>
          </a:xfrm>
          <a:prstGeom prst="rect">
            <a:avLst/>
          </a:prstGeom>
          <a:solidFill>
            <a:srgbClr val="8FA0B5"/>
          </a:solidFill>
          <a:ln w="12700">
            <a:solidFill>
              <a:srgbClr val="8FA0B5"/>
            </a:solidFill>
            <a:prstDash val="solid"/>
          </a:ln>
        </p:spPr>
      </p:sp>
      <p:sp>
        <p:nvSpPr>
          <p:cNvPr id="17" name="Shape 15"/>
          <p:cNvSpPr/>
          <p:nvPr/>
        </p:nvSpPr>
        <p:spPr>
          <a:xfrm>
            <a:off x="4965192" y="3291840"/>
            <a:ext cx="237744" cy="274320"/>
          </a:xfrm>
          <a:prstGeom prst="rect">
            <a:avLst/>
          </a:prstGeom>
          <a:solidFill>
            <a:srgbClr val="8FA0B5"/>
          </a:solidFill>
          <a:ln w="12700">
            <a:solidFill>
              <a:srgbClr val="8FA0B5"/>
            </a:solidFill>
            <a:prstDash val="solid"/>
          </a:ln>
        </p:spPr>
      </p:sp>
      <p:sp>
        <p:nvSpPr>
          <p:cNvPr id="18" name="Shape 16"/>
          <p:cNvSpPr/>
          <p:nvPr/>
        </p:nvSpPr>
        <p:spPr>
          <a:xfrm>
            <a:off x="5294376" y="3108960"/>
            <a:ext cx="237744" cy="457200"/>
          </a:xfrm>
          <a:prstGeom prst="rect">
            <a:avLst/>
          </a:prstGeom>
          <a:solidFill>
            <a:srgbClr val="8FA0B5"/>
          </a:solidFill>
          <a:ln w="12700">
            <a:solidFill>
              <a:srgbClr val="8FA0B5"/>
            </a:solidFill>
            <a:prstDash val="solid"/>
          </a:ln>
        </p:spPr>
      </p:sp>
      <p:sp>
        <p:nvSpPr>
          <p:cNvPr id="19" name="Shape 17"/>
          <p:cNvSpPr/>
          <p:nvPr/>
        </p:nvSpPr>
        <p:spPr>
          <a:xfrm>
            <a:off x="5623560" y="2926080"/>
            <a:ext cx="237744" cy="640080"/>
          </a:xfrm>
          <a:prstGeom prst="rect">
            <a:avLst/>
          </a:prstGeom>
          <a:solidFill>
            <a:srgbClr val="8FA0B5"/>
          </a:solidFill>
          <a:ln w="12700">
            <a:solidFill>
              <a:srgbClr val="8FA0B5"/>
            </a:solidFill>
            <a:prstDash val="solid"/>
          </a:ln>
        </p:spPr>
      </p:sp>
      <p:sp>
        <p:nvSpPr>
          <p:cNvPr id="20" name="Text 18"/>
          <p:cNvSpPr txBox="1"/>
          <p:nvPr/>
        </p:nvSpPr>
        <p:spPr>
          <a:xfrm>
            <a:off x="548640" y="3703320"/>
            <a:ext cx="56692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a weight for each of the 64 steps; they add up to 1</a:t>
            </a:r>
            <a:endParaRPr lang="en-US" sz="1500" dirty="0"/>
          </a:p>
        </p:txBody>
      </p:sp>
      <p:sp>
        <p:nvSpPr>
          <p:cNvPr id="21" name="Text 19"/>
          <p:cNvSpPr txBox="1"/>
          <p:nvPr/>
        </p:nvSpPr>
        <p:spPr>
          <a:xfrm>
            <a:off x="548640" y="40233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22" name="Text 20"/>
          <p:cNvSpPr txBox="1"/>
          <p:nvPr/>
        </p:nvSpPr>
        <p:spPr>
          <a:xfrm>
            <a:off x="6172200" y="15087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score</a:t>
            </a:r>
            <a:pPr indent="0" marL="0">
              <a:buNone/>
            </a:pPr>
            <a:r>
              <a:rPr lang="en-US" sz="2400" dirty="0">
                <a:solidFill>
                  <a:srgbClr val="1E293B"/>
                </a:solidFill>
                <a:latin typeface="Cambria" pitchFamily="34" charset="0"/>
                <a:ea typeface="Cambria" pitchFamily="34" charset="-122"/>
                <a:cs typeface="Cambria" pitchFamily="34" charset="-120"/>
              </a:rPr>
              <a:t> = v · tanh(W₁q + W₂k)</a:t>
            </a:r>
            <a:endParaRPr lang="en-US" sz="2400" dirty="0"/>
          </a:p>
        </p:txBody>
      </p:sp>
      <p:sp>
        <p:nvSpPr>
          <p:cNvPr id="23" name="Text 21"/>
          <p:cNvSpPr txBox="1"/>
          <p:nvPr/>
        </p:nvSpPr>
        <p:spPr>
          <a:xfrm>
            <a:off x="6172200" y="21945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weights</a:t>
            </a:r>
            <a:pPr indent="0" marL="0">
              <a:buNone/>
            </a:pPr>
            <a:r>
              <a:rPr lang="en-US" sz="2400" dirty="0">
                <a:solidFill>
                  <a:srgbClr val="1E293B"/>
                </a:solidFill>
                <a:latin typeface="Cambria" pitchFamily="34" charset="0"/>
                <a:ea typeface="Cambria" pitchFamily="34" charset="-122"/>
                <a:cs typeface="Cambria" pitchFamily="34" charset="-120"/>
              </a:rPr>
              <a:t> = softmax(score)</a:t>
            </a:r>
            <a:endParaRPr lang="en-US" sz="2400" dirty="0"/>
          </a:p>
        </p:txBody>
      </p:sp>
      <p:sp>
        <p:nvSpPr>
          <p:cNvPr id="24" name="Text 22"/>
          <p:cNvSpPr txBox="1"/>
          <p:nvPr/>
        </p:nvSpPr>
        <p:spPr>
          <a:xfrm>
            <a:off x="6172200" y="28803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output</a:t>
            </a:r>
            <a:pPr indent="0" marL="0">
              <a:buNone/>
            </a:pPr>
            <a:r>
              <a:rPr lang="en-US" sz="2400" dirty="0">
                <a:solidFill>
                  <a:srgbClr val="1E293B"/>
                </a:solidFill>
                <a:latin typeface="Cambria" pitchFamily="34" charset="0"/>
                <a:ea typeface="Cambria" pitchFamily="34" charset="-122"/>
                <a:cs typeface="Cambria" pitchFamily="34" charset="-120"/>
              </a:rPr>
              <a:t> = Σ weightₜ · stepₜ</a:t>
            </a:r>
            <a:endParaRPr lang="en-US" sz="2400" dirty="0"/>
          </a:p>
        </p:txBody>
      </p:sp>
      <p:sp>
        <p:nvSpPr>
          <p:cNvPr id="25" name="Text 23"/>
          <p:cNvSpPr txBox="1"/>
          <p:nvPr/>
        </p:nvSpPr>
        <p:spPr>
          <a:xfrm>
            <a:off x="6172200" y="3657600"/>
            <a:ext cx="5486400" cy="411480"/>
          </a:xfrm>
          <a:prstGeom prst="rect">
            <a:avLst/>
          </a:prstGeom>
          <a:noFill/>
          <a:ln/>
        </p:spPr>
        <p:txBody>
          <a:bodyPr wrap="square" lIns="0" tIns="0" rIns="0" bIns="0" rtlCol="0" anchor="t"/>
          <a:lstStyle/>
          <a:p>
            <a:pPr indent="0" marL="0">
              <a:buNone/>
            </a:pPr>
            <a:r>
              <a:rPr lang="en-US" sz="1900" b="1" dirty="0">
                <a:solidFill>
                  <a:srgbClr val="1E293B"/>
                </a:solidFill>
                <a:latin typeface="Calibri" pitchFamily="34" charset="0"/>
                <a:ea typeface="Calibri" pitchFamily="34" charset="-122"/>
                <a:cs typeface="Calibri" pitchFamily="34" charset="-120"/>
              </a:rPr>
              <a:t>“Improved” (from their code):</a:t>
            </a:r>
            <a:endParaRPr lang="en-US" sz="1900" dirty="0"/>
          </a:p>
        </p:txBody>
      </p:sp>
      <p:sp>
        <p:nvSpPr>
          <p:cNvPr id="26" name="Text 24"/>
          <p:cNvSpPr txBox="1"/>
          <p:nvPr/>
        </p:nvSpPr>
        <p:spPr>
          <a:xfrm>
            <a:off x="6172200" y="4069080"/>
            <a:ext cx="5486400" cy="82296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a learned scale on the scores · dropout 0.1 on the weights · normalization of the output</a:t>
            </a:r>
            <a:endParaRPr lang="en-US" sz="1800" dirty="0"/>
          </a:p>
        </p:txBody>
      </p:sp>
      <p:sp>
        <p:nvSpPr>
          <p:cNvPr id="27" name="Text 25"/>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64 steps in, one vector of 256 out: the frame's summary.</a:t>
            </a:r>
            <a:endParaRPr lang="en-US" sz="2400" dirty="0"/>
          </a:p>
        </p:txBody>
      </p:sp>
      <p:sp>
        <p:nvSpPr>
          <p:cNvPr id="29" name="Text 2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DENSE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4: the decision</a:t>
            </a:r>
            <a:endParaRPr lang="en-US" sz="3400" dirty="0"/>
          </a:p>
        </p:txBody>
      </p:sp>
      <p:sp>
        <p:nvSpPr>
          <p:cNvPr id="4" name="Text 2"/>
          <p:cNvSpPr txBox="1"/>
          <p:nvPr/>
        </p:nvSpPr>
        <p:spPr>
          <a:xfrm>
            <a:off x="548640" y="141732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8PSK</a:t>
            </a:r>
            <a:endParaRPr lang="en-US" sz="1500" dirty="0"/>
          </a:p>
        </p:txBody>
      </p:sp>
      <p:sp>
        <p:nvSpPr>
          <p:cNvPr id="5" name="Shape 3"/>
          <p:cNvSpPr/>
          <p:nvPr/>
        </p:nvSpPr>
        <p:spPr>
          <a:xfrm>
            <a:off x="1783080" y="1472184"/>
            <a:ext cx="146304" cy="201168"/>
          </a:xfrm>
          <a:prstGeom prst="rect">
            <a:avLst/>
          </a:prstGeom>
          <a:solidFill>
            <a:srgbClr val="8FA0B5"/>
          </a:solidFill>
          <a:ln w="12700">
            <a:solidFill>
              <a:srgbClr val="8FA0B5"/>
            </a:solidFill>
            <a:prstDash val="solid"/>
          </a:ln>
        </p:spPr>
      </p:sp>
      <p:sp>
        <p:nvSpPr>
          <p:cNvPr id="6" name="Text 4"/>
          <p:cNvSpPr txBox="1"/>
          <p:nvPr/>
        </p:nvSpPr>
        <p:spPr>
          <a:xfrm>
            <a:off x="548640" y="175564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AM-DSB</a:t>
            </a:r>
            <a:endParaRPr lang="en-US" sz="1500" dirty="0"/>
          </a:p>
        </p:txBody>
      </p:sp>
      <p:sp>
        <p:nvSpPr>
          <p:cNvPr id="7" name="Shape 5"/>
          <p:cNvSpPr/>
          <p:nvPr/>
        </p:nvSpPr>
        <p:spPr>
          <a:xfrm>
            <a:off x="1783080" y="1810512"/>
            <a:ext cx="73152" cy="201168"/>
          </a:xfrm>
          <a:prstGeom prst="rect">
            <a:avLst/>
          </a:prstGeom>
          <a:solidFill>
            <a:srgbClr val="8FA0B5"/>
          </a:solidFill>
          <a:ln w="12700">
            <a:solidFill>
              <a:srgbClr val="8FA0B5"/>
            </a:solidFill>
            <a:prstDash val="solid"/>
          </a:ln>
        </p:spPr>
      </p:sp>
      <p:sp>
        <p:nvSpPr>
          <p:cNvPr id="8" name="Text 6"/>
          <p:cNvSpPr txBox="1"/>
          <p:nvPr/>
        </p:nvSpPr>
        <p:spPr>
          <a:xfrm>
            <a:off x="548640" y="209397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AM-SSB</a:t>
            </a:r>
            <a:endParaRPr lang="en-US" sz="1500" dirty="0"/>
          </a:p>
        </p:txBody>
      </p:sp>
      <p:sp>
        <p:nvSpPr>
          <p:cNvPr id="9" name="Shape 7"/>
          <p:cNvSpPr/>
          <p:nvPr/>
        </p:nvSpPr>
        <p:spPr>
          <a:xfrm>
            <a:off x="1783080" y="2148840"/>
            <a:ext cx="109728" cy="201168"/>
          </a:xfrm>
          <a:prstGeom prst="rect">
            <a:avLst/>
          </a:prstGeom>
          <a:solidFill>
            <a:srgbClr val="8FA0B5"/>
          </a:solidFill>
          <a:ln w="12700">
            <a:solidFill>
              <a:srgbClr val="8FA0B5"/>
            </a:solidFill>
            <a:prstDash val="solid"/>
          </a:ln>
        </p:spPr>
      </p:sp>
      <p:sp>
        <p:nvSpPr>
          <p:cNvPr id="10" name="Text 8"/>
          <p:cNvSpPr txBox="1"/>
          <p:nvPr/>
        </p:nvSpPr>
        <p:spPr>
          <a:xfrm>
            <a:off x="548640" y="243230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BPSK</a:t>
            </a:r>
            <a:endParaRPr lang="en-US" sz="1500" dirty="0"/>
          </a:p>
        </p:txBody>
      </p:sp>
      <p:sp>
        <p:nvSpPr>
          <p:cNvPr id="11" name="Shape 9"/>
          <p:cNvSpPr/>
          <p:nvPr/>
        </p:nvSpPr>
        <p:spPr>
          <a:xfrm>
            <a:off x="1783080" y="2487168"/>
            <a:ext cx="182880" cy="201168"/>
          </a:xfrm>
          <a:prstGeom prst="rect">
            <a:avLst/>
          </a:prstGeom>
          <a:solidFill>
            <a:srgbClr val="8FA0B5"/>
          </a:solidFill>
          <a:ln w="12700">
            <a:solidFill>
              <a:srgbClr val="8FA0B5"/>
            </a:solidFill>
            <a:prstDash val="solid"/>
          </a:ln>
        </p:spPr>
      </p:sp>
      <p:sp>
        <p:nvSpPr>
          <p:cNvPr id="12" name="Text 10"/>
          <p:cNvSpPr txBox="1"/>
          <p:nvPr/>
        </p:nvSpPr>
        <p:spPr>
          <a:xfrm>
            <a:off x="548640" y="2770632"/>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CPFSK</a:t>
            </a:r>
            <a:endParaRPr lang="en-US" sz="1500" dirty="0"/>
          </a:p>
        </p:txBody>
      </p:sp>
      <p:sp>
        <p:nvSpPr>
          <p:cNvPr id="13" name="Shape 11"/>
          <p:cNvSpPr/>
          <p:nvPr/>
        </p:nvSpPr>
        <p:spPr>
          <a:xfrm>
            <a:off x="1783080" y="2825496"/>
            <a:ext cx="73152" cy="201168"/>
          </a:xfrm>
          <a:prstGeom prst="rect">
            <a:avLst/>
          </a:prstGeom>
          <a:solidFill>
            <a:srgbClr val="8FA0B5"/>
          </a:solidFill>
          <a:ln w="12700">
            <a:solidFill>
              <a:srgbClr val="8FA0B5"/>
            </a:solidFill>
            <a:prstDash val="solid"/>
          </a:ln>
        </p:spPr>
      </p:sp>
      <p:sp>
        <p:nvSpPr>
          <p:cNvPr id="14" name="Text 12"/>
          <p:cNvSpPr txBox="1"/>
          <p:nvPr/>
        </p:nvSpPr>
        <p:spPr>
          <a:xfrm>
            <a:off x="548640" y="310896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GFSK</a:t>
            </a:r>
            <a:endParaRPr lang="en-US" sz="1500" dirty="0"/>
          </a:p>
        </p:txBody>
      </p:sp>
      <p:sp>
        <p:nvSpPr>
          <p:cNvPr id="15" name="Shape 13"/>
          <p:cNvSpPr/>
          <p:nvPr/>
        </p:nvSpPr>
        <p:spPr>
          <a:xfrm>
            <a:off x="1783080" y="3163824"/>
            <a:ext cx="73152" cy="201168"/>
          </a:xfrm>
          <a:prstGeom prst="rect">
            <a:avLst/>
          </a:prstGeom>
          <a:solidFill>
            <a:srgbClr val="8FA0B5"/>
          </a:solidFill>
          <a:ln w="12700">
            <a:solidFill>
              <a:srgbClr val="8FA0B5"/>
            </a:solidFill>
            <a:prstDash val="solid"/>
          </a:ln>
        </p:spPr>
      </p:sp>
      <p:sp>
        <p:nvSpPr>
          <p:cNvPr id="16" name="Text 14"/>
          <p:cNvSpPr txBox="1"/>
          <p:nvPr/>
        </p:nvSpPr>
        <p:spPr>
          <a:xfrm>
            <a:off x="548640" y="344728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PAM4</a:t>
            </a:r>
            <a:endParaRPr lang="en-US" sz="1500" dirty="0"/>
          </a:p>
        </p:txBody>
      </p:sp>
      <p:sp>
        <p:nvSpPr>
          <p:cNvPr id="17" name="Shape 15"/>
          <p:cNvSpPr/>
          <p:nvPr/>
        </p:nvSpPr>
        <p:spPr>
          <a:xfrm>
            <a:off x="1783080" y="3502152"/>
            <a:ext cx="109728" cy="201168"/>
          </a:xfrm>
          <a:prstGeom prst="rect">
            <a:avLst/>
          </a:prstGeom>
          <a:solidFill>
            <a:srgbClr val="8FA0B5"/>
          </a:solidFill>
          <a:ln w="12700">
            <a:solidFill>
              <a:srgbClr val="8FA0B5"/>
            </a:solidFill>
            <a:prstDash val="solid"/>
          </a:ln>
        </p:spPr>
      </p:sp>
      <p:sp>
        <p:nvSpPr>
          <p:cNvPr id="18" name="Text 16"/>
          <p:cNvSpPr txBox="1"/>
          <p:nvPr/>
        </p:nvSpPr>
        <p:spPr>
          <a:xfrm>
            <a:off x="548640" y="378561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QAM16</a:t>
            </a:r>
            <a:endParaRPr lang="en-US" sz="1500" dirty="0"/>
          </a:p>
        </p:txBody>
      </p:sp>
      <p:sp>
        <p:nvSpPr>
          <p:cNvPr id="19" name="Shape 17"/>
          <p:cNvSpPr/>
          <p:nvPr/>
        </p:nvSpPr>
        <p:spPr>
          <a:xfrm>
            <a:off x="1783080" y="3840480"/>
            <a:ext cx="329184" cy="201168"/>
          </a:xfrm>
          <a:prstGeom prst="rect">
            <a:avLst/>
          </a:prstGeom>
          <a:solidFill>
            <a:srgbClr val="8FA0B5"/>
          </a:solidFill>
          <a:ln w="12700">
            <a:solidFill>
              <a:srgbClr val="8FA0B5"/>
            </a:solidFill>
            <a:prstDash val="solid"/>
          </a:ln>
        </p:spPr>
      </p:sp>
      <p:sp>
        <p:nvSpPr>
          <p:cNvPr id="20" name="Text 18"/>
          <p:cNvSpPr txBox="1"/>
          <p:nvPr/>
        </p:nvSpPr>
        <p:spPr>
          <a:xfrm>
            <a:off x="548640" y="412394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QAM64</a:t>
            </a:r>
            <a:endParaRPr lang="en-US" sz="1500" dirty="0"/>
          </a:p>
        </p:txBody>
      </p:sp>
      <p:sp>
        <p:nvSpPr>
          <p:cNvPr id="21" name="Shape 19"/>
          <p:cNvSpPr/>
          <p:nvPr/>
        </p:nvSpPr>
        <p:spPr>
          <a:xfrm>
            <a:off x="1783080" y="4178808"/>
            <a:ext cx="146304" cy="201168"/>
          </a:xfrm>
          <a:prstGeom prst="rect">
            <a:avLst/>
          </a:prstGeom>
          <a:solidFill>
            <a:srgbClr val="8FA0B5"/>
          </a:solidFill>
          <a:ln w="12700">
            <a:solidFill>
              <a:srgbClr val="8FA0B5"/>
            </a:solidFill>
            <a:prstDash val="solid"/>
          </a:ln>
        </p:spPr>
      </p:sp>
      <p:sp>
        <p:nvSpPr>
          <p:cNvPr id="22" name="Text 20"/>
          <p:cNvSpPr txBox="1"/>
          <p:nvPr/>
        </p:nvSpPr>
        <p:spPr>
          <a:xfrm>
            <a:off x="548640" y="4462272"/>
            <a:ext cx="1188720" cy="301752"/>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QPSK</a:t>
            </a:r>
            <a:endParaRPr lang="en-US" sz="1500" dirty="0"/>
          </a:p>
        </p:txBody>
      </p:sp>
      <p:sp>
        <p:nvSpPr>
          <p:cNvPr id="23" name="Shape 21"/>
          <p:cNvSpPr/>
          <p:nvPr/>
        </p:nvSpPr>
        <p:spPr>
          <a:xfrm>
            <a:off x="1783080" y="4517136"/>
            <a:ext cx="2670048" cy="201168"/>
          </a:xfrm>
          <a:prstGeom prst="rect">
            <a:avLst/>
          </a:prstGeom>
          <a:solidFill>
            <a:srgbClr val="F08A24"/>
          </a:solidFill>
          <a:ln w="12700">
            <a:solidFill>
              <a:srgbClr val="F08A24"/>
            </a:solidFill>
            <a:prstDash val="solid"/>
          </a:ln>
        </p:spPr>
      </p:sp>
      <p:sp>
        <p:nvSpPr>
          <p:cNvPr id="24" name="Text 22"/>
          <p:cNvSpPr txBox="1"/>
          <p:nvPr/>
        </p:nvSpPr>
        <p:spPr>
          <a:xfrm>
            <a:off x="548640" y="480060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WBFM</a:t>
            </a:r>
            <a:endParaRPr lang="en-US" sz="1500" dirty="0"/>
          </a:p>
        </p:txBody>
      </p:sp>
      <p:sp>
        <p:nvSpPr>
          <p:cNvPr id="25" name="Shape 23"/>
          <p:cNvSpPr/>
          <p:nvPr/>
        </p:nvSpPr>
        <p:spPr>
          <a:xfrm>
            <a:off x="1783080" y="4855464"/>
            <a:ext cx="146304" cy="201168"/>
          </a:xfrm>
          <a:prstGeom prst="rect">
            <a:avLst/>
          </a:prstGeom>
          <a:solidFill>
            <a:srgbClr val="8FA0B5"/>
          </a:solidFill>
          <a:ln w="12700">
            <a:solidFill>
              <a:srgbClr val="8FA0B5"/>
            </a:solidFill>
            <a:prstDash val="solid"/>
          </a:ln>
        </p:spPr>
      </p:sp>
      <p:sp>
        <p:nvSpPr>
          <p:cNvPr id="26" name="Text 24"/>
          <p:cNvSpPr txBox="1"/>
          <p:nvPr/>
        </p:nvSpPr>
        <p:spPr>
          <a:xfrm>
            <a:off x="548640" y="5166360"/>
            <a:ext cx="576072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256 → 128 → 64 → 11 probabilities; the largest wins (illustration)</a:t>
            </a:r>
            <a:endParaRPr lang="en-US" sz="1500" dirty="0"/>
          </a:p>
        </p:txBody>
      </p:sp>
      <p:graphicFrame>
        <p:nvGraphicFramePr>
          <p:cNvPr id="27" name="Chart 0" descr=""/>
          <p:cNvGraphicFramePr/>
          <p:nvPr/>
        </p:nvGraphicFramePr>
        <p:xfrm>
          <a:off x="6309360" y="1280160"/>
          <a:ext cx="3108960" cy="3291840"/>
        </p:xfrm>
        <a:graphic xmlns:a="http://schemas.openxmlformats.org/drawingml/2006/main">
          <a:graphicData uri="http://schemas.openxmlformats.org/drawingml/2006/chart">
            <c:chart xmlns:c="http://schemas.openxmlformats.org/drawingml/2006/chart" r:id="rId1"/>
          </a:graphicData>
        </a:graphic>
      </p:graphicFrame>
      <p:sp>
        <p:nvSpPr>
          <p:cNvPr id="28" name="Shape 25"/>
          <p:cNvSpPr/>
          <p:nvPr/>
        </p:nvSpPr>
        <p:spPr>
          <a:xfrm>
            <a:off x="9555480" y="1847088"/>
            <a:ext cx="274320" cy="274320"/>
          </a:xfrm>
          <a:prstGeom prst="rect">
            <a:avLst/>
          </a:prstGeom>
          <a:solidFill>
            <a:srgbClr val="F08A24"/>
          </a:solidFill>
          <a:ln w="12700">
            <a:solidFill>
              <a:srgbClr val="F08A24"/>
            </a:solidFill>
            <a:prstDash val="solid"/>
          </a:ln>
        </p:spPr>
      </p:sp>
      <p:sp>
        <p:nvSpPr>
          <p:cNvPr id="29" name="Text 26"/>
          <p:cNvSpPr txBox="1"/>
          <p:nvPr/>
        </p:nvSpPr>
        <p:spPr>
          <a:xfrm>
            <a:off x="9966960" y="1737360"/>
            <a:ext cx="1828800" cy="502920"/>
          </a:xfrm>
          <a:prstGeom prst="rect">
            <a:avLst/>
          </a:prstGeom>
          <a:noFill/>
          <a:ln/>
        </p:spPr>
        <p:txBody>
          <a:bodyPr wrap="square" lIns="0" tIns="0" rIns="0" bIns="0" rtlCol="0" anchor="ctr"/>
          <a:lstStyle/>
          <a:p>
            <a:pPr indent="0" marL="0">
              <a:buNone/>
            </a:pPr>
            <a:r>
              <a:rPr lang="en-US" sz="1900" b="1" dirty="0">
                <a:solidFill>
                  <a:srgbClr val="1E293B"/>
                </a:solidFill>
                <a:latin typeface="Calibri" pitchFamily="34" charset="0"/>
                <a:ea typeface="Calibri" pitchFamily="34" charset="-122"/>
                <a:cs typeface="Calibri" pitchFamily="34" charset="-120"/>
              </a:rPr>
              <a:t>BiLSTM  83%</a:t>
            </a:r>
            <a:endParaRPr lang="en-US" sz="1900" dirty="0"/>
          </a:p>
        </p:txBody>
      </p:sp>
      <p:sp>
        <p:nvSpPr>
          <p:cNvPr id="30" name="Shape 27"/>
          <p:cNvSpPr/>
          <p:nvPr/>
        </p:nvSpPr>
        <p:spPr>
          <a:xfrm>
            <a:off x="9555480" y="2414016"/>
            <a:ext cx="274320" cy="274320"/>
          </a:xfrm>
          <a:prstGeom prst="rect">
            <a:avLst/>
          </a:prstGeom>
          <a:solidFill>
            <a:srgbClr val="0F1B2D"/>
          </a:solidFill>
          <a:ln w="12700">
            <a:solidFill>
              <a:srgbClr val="0F1B2D"/>
            </a:solidFill>
            <a:prstDash val="solid"/>
          </a:ln>
        </p:spPr>
      </p:sp>
      <p:sp>
        <p:nvSpPr>
          <p:cNvPr id="31" name="Text 28"/>
          <p:cNvSpPr txBox="1"/>
          <p:nvPr/>
        </p:nvSpPr>
        <p:spPr>
          <a:xfrm>
            <a:off x="9966960" y="2304288"/>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Attention  8%</a:t>
            </a:r>
            <a:endParaRPr lang="en-US" sz="1900" dirty="0"/>
          </a:p>
        </p:txBody>
      </p:sp>
      <p:sp>
        <p:nvSpPr>
          <p:cNvPr id="32" name="Shape 29"/>
          <p:cNvSpPr/>
          <p:nvPr/>
        </p:nvSpPr>
        <p:spPr>
          <a:xfrm>
            <a:off x="9555480" y="2980944"/>
            <a:ext cx="274320" cy="274320"/>
          </a:xfrm>
          <a:prstGeom prst="rect">
            <a:avLst/>
          </a:prstGeom>
          <a:solidFill>
            <a:srgbClr val="8FA0B5"/>
          </a:solidFill>
          <a:ln w="12700">
            <a:solidFill>
              <a:srgbClr val="8FA0B5"/>
            </a:solidFill>
            <a:prstDash val="solid"/>
          </a:ln>
        </p:spPr>
      </p:sp>
      <p:sp>
        <p:nvSpPr>
          <p:cNvPr id="33" name="Text 30"/>
          <p:cNvSpPr txBox="1"/>
          <p:nvPr/>
        </p:nvSpPr>
        <p:spPr>
          <a:xfrm>
            <a:off x="9966960" y="2871216"/>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Dense  5%</a:t>
            </a:r>
            <a:endParaRPr lang="en-US" sz="1900" dirty="0"/>
          </a:p>
        </p:txBody>
      </p:sp>
      <p:sp>
        <p:nvSpPr>
          <p:cNvPr id="34" name="Shape 31"/>
          <p:cNvSpPr/>
          <p:nvPr/>
        </p:nvSpPr>
        <p:spPr>
          <a:xfrm>
            <a:off x="9555480" y="3547872"/>
            <a:ext cx="274320" cy="274320"/>
          </a:xfrm>
          <a:prstGeom prst="rect">
            <a:avLst/>
          </a:prstGeom>
          <a:solidFill>
            <a:srgbClr val="B7C3D0"/>
          </a:solidFill>
          <a:ln w="12700">
            <a:solidFill>
              <a:srgbClr val="B7C3D0"/>
            </a:solidFill>
            <a:prstDash val="solid"/>
          </a:ln>
        </p:spPr>
      </p:sp>
      <p:sp>
        <p:nvSpPr>
          <p:cNvPr id="35" name="Text 32"/>
          <p:cNvSpPr txBox="1"/>
          <p:nvPr/>
        </p:nvSpPr>
        <p:spPr>
          <a:xfrm>
            <a:off x="9966960" y="3438144"/>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CNN  3%</a:t>
            </a:r>
            <a:endParaRPr lang="en-US" sz="1900" dirty="0"/>
          </a:p>
        </p:txBody>
      </p:sp>
      <p:sp>
        <p:nvSpPr>
          <p:cNvPr id="36" name="Text 33"/>
          <p:cNvSpPr txBox="1"/>
          <p:nvPr/>
        </p:nvSpPr>
        <p:spPr>
          <a:xfrm>
            <a:off x="6309360" y="4663440"/>
            <a:ext cx="5486400" cy="457200"/>
          </a:xfrm>
          <a:prstGeom prst="rect">
            <a:avLst/>
          </a:prstGeom>
          <a:noFill/>
          <a:ln/>
        </p:spPr>
        <p:txBody>
          <a:bodyPr wrap="square" lIns="0" tIns="0" rIns="0" bIns="0" rtlCol="0" anchor="t"/>
          <a:lstStyle/>
          <a:p>
            <a:pPr indent="0" marL="0">
              <a:buNone/>
            </a:pPr>
            <a:r>
              <a:rPr lang="en-US" sz="2000" b="1" dirty="0">
                <a:solidFill>
                  <a:srgbClr val="1E293B"/>
                </a:solidFill>
                <a:latin typeface="Calibri" pitchFamily="34" charset="0"/>
                <a:ea typeface="Calibri" pitchFamily="34" charset="-122"/>
                <a:cs typeface="Calibri" pitchFamily="34" charset="-120"/>
              </a:rPr>
              <a:t>794,188 numbers in total</a:t>
            </a:r>
            <a:endParaRPr lang="en-US" sz="2000" dirty="0"/>
          </a:p>
        </p:txBody>
      </p:sp>
      <p:sp>
        <p:nvSpPr>
          <p:cNvPr id="37" name="Text 3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Most of the model is the LSTM.</a:t>
            </a:r>
            <a:endParaRPr lang="en-US" sz="2400" dirty="0"/>
          </a:p>
        </p:txBody>
      </p:sp>
      <p:sp>
        <p:nvSpPr>
          <p:cNvPr id="39" name="Text 3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2 AND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it is trained</a:t>
            </a:r>
            <a:endParaRPr lang="en-US" sz="3400" dirty="0"/>
          </a:p>
        </p:txBody>
      </p:sp>
      <p:sp>
        <p:nvSpPr>
          <p:cNvPr id="4" name="Shape 2"/>
          <p:cNvSpPr/>
          <p:nvPr/>
        </p:nvSpPr>
        <p:spPr>
          <a:xfrm>
            <a:off x="548640" y="1463040"/>
            <a:ext cx="3520440" cy="3566160"/>
          </a:xfrm>
          <a:prstGeom prst="roundRect">
            <a:avLst>
              <a:gd name="adj" fmla="val 3117"/>
            </a:avLst>
          </a:prstGeom>
          <a:solidFill>
            <a:srgbClr val="EEF2F6"/>
          </a:solidFill>
          <a:ln w="12700">
            <a:solidFill>
              <a:srgbClr val="EEF2F6"/>
            </a:solidFill>
            <a:prstDash val="solid"/>
          </a:ln>
        </p:spPr>
      </p:sp>
      <p:sp>
        <p:nvSpPr>
          <p:cNvPr id="5" name="Text 3"/>
          <p:cNvSpPr txBox="1"/>
          <p:nvPr/>
        </p:nvSpPr>
        <p:spPr>
          <a:xfrm>
            <a:off x="82296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DATA</a:t>
            </a:r>
            <a:endParaRPr lang="en-US" sz="1600" dirty="0"/>
          </a:p>
        </p:txBody>
      </p:sp>
      <p:sp>
        <p:nvSpPr>
          <p:cNvPr id="6" name="Text 4"/>
          <p:cNvSpPr txBox="1"/>
          <p:nvPr/>
        </p:nvSpPr>
        <p:spPr>
          <a:xfrm>
            <a:off x="82296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70% learn: 154,000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watch: 33,000</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test: 33,000</a:t>
            </a:r>
            <a:endParaRPr lang="en-US" sz="2000" dirty="0"/>
          </a:p>
        </p:txBody>
      </p:sp>
      <p:sp>
        <p:nvSpPr>
          <p:cNvPr id="7" name="Shape 5"/>
          <p:cNvSpPr/>
          <p:nvPr/>
        </p:nvSpPr>
        <p:spPr>
          <a:xfrm>
            <a:off x="4343400" y="1463040"/>
            <a:ext cx="3520440" cy="3566160"/>
          </a:xfrm>
          <a:prstGeom prst="roundRect">
            <a:avLst>
              <a:gd name="adj" fmla="val 3117"/>
            </a:avLst>
          </a:prstGeom>
          <a:solidFill>
            <a:srgbClr val="EEF2F6"/>
          </a:solidFill>
          <a:ln w="12700">
            <a:solidFill>
              <a:srgbClr val="EEF2F6"/>
            </a:solidFill>
            <a:prstDash val="solid"/>
          </a:ln>
        </p:spPr>
      </p:sp>
      <p:sp>
        <p:nvSpPr>
          <p:cNvPr id="8" name="Text 6"/>
          <p:cNvSpPr txBox="1"/>
          <p:nvPr/>
        </p:nvSpPr>
        <p:spPr>
          <a:xfrm>
            <a:off x="461772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LOOP</a:t>
            </a:r>
            <a:endParaRPr lang="en-US" sz="1600" dirty="0"/>
          </a:p>
        </p:txBody>
      </p:sp>
      <p:sp>
        <p:nvSpPr>
          <p:cNvPr id="9" name="Text 7"/>
          <p:cNvSpPr txBox="1"/>
          <p:nvPr/>
        </p:nvSpPr>
        <p:spPr>
          <a:xfrm>
            <a:off x="461772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batches of 32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4,813 steps per epoch</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loss: cross-entropy</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Adam, learning rate 0.001</a:t>
            </a:r>
            <a:endParaRPr lang="en-US" sz="2000" dirty="0"/>
          </a:p>
        </p:txBody>
      </p:sp>
      <p:sp>
        <p:nvSpPr>
          <p:cNvPr id="10" name="Shape 8"/>
          <p:cNvSpPr/>
          <p:nvPr/>
        </p:nvSpPr>
        <p:spPr>
          <a:xfrm>
            <a:off x="8138160" y="1463040"/>
            <a:ext cx="3502152" cy="3566160"/>
          </a:xfrm>
          <a:prstGeom prst="roundRect">
            <a:avLst>
              <a:gd name="adj" fmla="val 3133"/>
            </a:avLst>
          </a:prstGeom>
          <a:solidFill>
            <a:srgbClr val="0F1B2D"/>
          </a:solidFill>
          <a:ln w="12700">
            <a:solidFill>
              <a:srgbClr val="0F1B2D"/>
            </a:solidFill>
            <a:prstDash val="solid"/>
          </a:ln>
        </p:spPr>
      </p:sp>
      <p:sp>
        <p:nvSpPr>
          <p:cNvPr id="11" name="Text 9"/>
          <p:cNvSpPr txBox="1"/>
          <p:nvPr/>
        </p:nvSpPr>
        <p:spPr>
          <a:xfrm>
            <a:off x="8412480" y="1600200"/>
            <a:ext cx="274320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STOPPING</a:t>
            </a:r>
            <a:endParaRPr lang="en-US" sz="1600" dirty="0"/>
          </a:p>
        </p:txBody>
      </p:sp>
      <p:sp>
        <p:nvSpPr>
          <p:cNvPr id="12" name="Text 10"/>
          <p:cNvSpPr txBox="1"/>
          <p:nvPr/>
        </p:nvSpPr>
        <p:spPr>
          <a:xfrm>
            <a:off x="8412480" y="2103120"/>
            <a:ext cx="3291840" cy="146304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5 epochs: rate × 0.2</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6 epochs: stop</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at most 100 epochs</a:t>
            </a:r>
            <a:endParaRPr lang="en-US" sz="1800" dirty="0"/>
          </a:p>
        </p:txBody>
      </p:sp>
      <p:sp>
        <p:nvSpPr>
          <p:cNvPr id="13" name="Text 11"/>
          <p:cNvSpPr txBox="1"/>
          <p:nvPr/>
        </p:nvSpPr>
        <p:spPr>
          <a:xfrm>
            <a:off x="8412480" y="3520440"/>
            <a:ext cx="1463040" cy="914400"/>
          </a:xfrm>
          <a:prstGeom prst="rect">
            <a:avLst/>
          </a:prstGeom>
          <a:noFill/>
          <a:ln/>
        </p:spPr>
        <p:txBody>
          <a:bodyPr wrap="square" lIns="0" tIns="0" rIns="0" bIns="0" rtlCol="0" anchor="ctr"/>
          <a:lstStyle/>
          <a:p>
            <a:pPr indent="0" marL="0">
              <a:buNone/>
            </a:pPr>
            <a:r>
              <a:rPr lang="en-US" sz="5400" b="1" dirty="0">
                <a:solidFill>
                  <a:srgbClr val="F08A24"/>
                </a:solidFill>
                <a:latin typeface="Calibri" pitchFamily="34" charset="0"/>
                <a:ea typeface="Calibri" pitchFamily="34" charset="-122"/>
                <a:cs typeface="Calibri" pitchFamily="34" charset="-120"/>
              </a:rPr>
              <a:t>58</a:t>
            </a:r>
            <a:endParaRPr lang="en-US" sz="5400" dirty="0"/>
          </a:p>
        </p:txBody>
      </p:sp>
      <p:sp>
        <p:nvSpPr>
          <p:cNvPr id="14" name="Text 12"/>
          <p:cNvSpPr txBox="1"/>
          <p:nvPr/>
        </p:nvSpPr>
        <p:spPr>
          <a:xfrm>
            <a:off x="9875520" y="3520440"/>
            <a:ext cx="1828800" cy="914400"/>
          </a:xfrm>
          <a:prstGeom prst="rect">
            <a:avLst/>
          </a:prstGeom>
          <a:noFill/>
          <a:ln/>
        </p:spPr>
        <p:txBody>
          <a:bodyPr wrap="square" lIns="0" tIns="0" rIns="0" bIns="0" rtlCol="0" anchor="ctr"/>
          <a:lstStyle/>
          <a:p>
            <a:pPr indent="0" marL="0">
              <a:buNone/>
            </a:pPr>
            <a:r>
              <a:rPr lang="en-US" sz="1800" dirty="0">
                <a:solidFill>
                  <a:srgbClr val="C9D3E0"/>
                </a:solidFill>
                <a:latin typeface="Calibri" pitchFamily="34" charset="0"/>
                <a:ea typeface="Calibri" pitchFamily="34" charset="-122"/>
                <a:cs typeface="Calibri" pitchFamily="34" charset="-120"/>
              </a:rPr>
              <a:t>where it stopped</a:t>
            </a:r>
            <a:endParaRPr lang="en-US" sz="1800" dirty="0"/>
          </a:p>
        </p:txBody>
      </p:sp>
      <p:sp>
        <p:nvSpPr>
          <p:cNvPr id="15" name="Text 13"/>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Trained once: one split, one run.</a:t>
            </a:r>
            <a:endParaRPr lang="en-US" sz="2400" dirty="0"/>
          </a:p>
        </p:txBody>
      </p:sp>
      <p:sp>
        <p:nvSpPr>
          <p:cNvPr id="17" name="Text 1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3</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main table: first by half a point</a:t>
            </a:r>
            <a:endParaRPr lang="en-US" sz="3400" dirty="0"/>
          </a:p>
        </p:txBody>
      </p:sp>
      <p:graphicFrame>
        <p:nvGraphicFramePr>
          <p:cNvPr id="4" name="Chart 0" descr=""/>
          <p:cNvGraphicFramePr/>
          <p:nvPr/>
        </p:nvGraphicFramePr>
        <p:xfrm>
          <a:off x="548640" y="1325880"/>
          <a:ext cx="11091672"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63.24 vs 62.73: the runner-up is half a point behind.</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8</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Accuracy against SNR</a:t>
            </a:r>
            <a:endParaRPr lang="en-US" sz="3400" dirty="0"/>
          </a:p>
        </p:txBody>
      </p:sp>
      <p:pic>
        <p:nvPicPr>
          <p:cNvPr id="4" name="Image 0" descr="paper/fig8_accuracy_snr.jpg">    </p:cNvPr>
          <p:cNvPicPr>
            <a:picLocks noChangeAspect="1"/>
          </p:cNvPicPr>
          <p:nvPr/>
        </p:nvPicPr>
        <p:blipFill>
          <a:blip r:embed="rId1"/>
          <a:stretch>
            <a:fillRect/>
          </a:stretch>
        </p:blipFill>
        <p:spPr>
          <a:xfrm>
            <a:off x="548640" y="1325880"/>
            <a:ext cx="6309360" cy="4134834"/>
          </a:xfrm>
          <a:prstGeom prst="rect">
            <a:avLst/>
          </a:prstGeom>
        </p:spPr>
      </p:pic>
      <p:sp>
        <p:nvSpPr>
          <p:cNvPr id="5" name="Text 2"/>
          <p:cNvSpPr txBox="1"/>
          <p:nvPr/>
        </p:nvSpPr>
        <p:spPr>
          <a:xfrm>
            <a:off x="548640" y="548640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7406640" y="1554480"/>
            <a:ext cx="420624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9%</a:t>
            </a:r>
            <a:endParaRPr lang="en-US" sz="6000" dirty="0"/>
          </a:p>
        </p:txBody>
      </p:sp>
      <p:sp>
        <p:nvSpPr>
          <p:cNvPr id="7" name="Text 4"/>
          <p:cNvSpPr txBox="1"/>
          <p:nvPr/>
        </p:nvSpPr>
        <p:spPr>
          <a:xfrm>
            <a:off x="7406640" y="251460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at −20 dB: chance</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(1 in 11)</a:t>
            </a:r>
            <a:endParaRPr lang="en-US" sz="1900" dirty="0"/>
          </a:p>
        </p:txBody>
      </p:sp>
      <p:sp>
        <p:nvSpPr>
          <p:cNvPr id="8" name="Text 5"/>
          <p:cNvSpPr txBox="1"/>
          <p:nvPr/>
        </p:nvSpPr>
        <p:spPr>
          <a:xfrm>
            <a:off x="7406640" y="3429000"/>
            <a:ext cx="420624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~93%</a:t>
            </a:r>
            <a:endParaRPr lang="en-US" sz="6000" dirty="0"/>
          </a:p>
        </p:txBody>
      </p:sp>
      <p:sp>
        <p:nvSpPr>
          <p:cNvPr id="9" name="Text 6"/>
          <p:cNvSpPr txBox="1"/>
          <p:nvPr/>
        </p:nvSpPr>
        <p:spPr>
          <a:xfrm>
            <a:off x="7406640" y="438912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from 0 dB up</a:t>
            </a:r>
            <a:endParaRPr lang="en-US" sz="19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11</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Where it still fails, at 0 dB</a:t>
            </a:r>
            <a:endParaRPr lang="en-US" sz="3400" dirty="0"/>
          </a:p>
        </p:txBody>
      </p:sp>
      <p:pic>
        <p:nvPicPr>
          <p:cNvPr id="4" name="Image 0" descr="paper/fig11_icrnna_0db.jpg">    </p:cNvPr>
          <p:cNvPicPr>
            <a:picLocks noChangeAspect="1"/>
          </p:cNvPicPr>
          <p:nvPr/>
        </p:nvPicPr>
        <p:blipFill>
          <a:blip r:embed="rId1"/>
          <a:stretch>
            <a:fillRect/>
          </a:stretch>
        </p:blipFill>
        <p:spPr>
          <a:xfrm>
            <a:off x="548640" y="1325880"/>
            <a:ext cx="4480560" cy="3823411"/>
          </a:xfrm>
          <a:prstGeom prst="rect">
            <a:avLst/>
          </a:prstGeom>
        </p:spPr>
      </p:pic>
      <p:sp>
        <p:nvSpPr>
          <p:cNvPr id="5" name="Text 2"/>
          <p:cNvSpPr txBox="1"/>
          <p:nvPr/>
        </p:nvSpPr>
        <p:spPr>
          <a:xfrm>
            <a:off x="548640" y="521208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6675120" y="1463040"/>
            <a:ext cx="493776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57.9%</a:t>
            </a:r>
            <a:endParaRPr lang="en-US" sz="6000" dirty="0"/>
          </a:p>
        </p:txBody>
      </p:sp>
      <p:sp>
        <p:nvSpPr>
          <p:cNvPr id="7" name="Text 4"/>
          <p:cNvSpPr txBox="1"/>
          <p:nvPr/>
        </p:nvSpPr>
        <p:spPr>
          <a:xfrm>
            <a:off x="6675120" y="24231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of WBFM called AM-DSB</a:t>
            </a:r>
            <a:endParaRPr lang="en-US" sz="1900" dirty="0"/>
          </a:p>
        </p:txBody>
      </p:sp>
      <p:sp>
        <p:nvSpPr>
          <p:cNvPr id="8" name="Text 5"/>
          <p:cNvSpPr txBox="1"/>
          <p:nvPr/>
        </p:nvSpPr>
        <p:spPr>
          <a:xfrm>
            <a:off x="6675120" y="3291840"/>
            <a:ext cx="493776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~6%</a:t>
            </a:r>
            <a:endParaRPr lang="en-US" sz="6000" dirty="0"/>
          </a:p>
        </p:txBody>
      </p:sp>
      <p:sp>
        <p:nvSpPr>
          <p:cNvPr id="9" name="Text 6"/>
          <p:cNvSpPr txBox="1"/>
          <p:nvPr/>
        </p:nvSpPr>
        <p:spPr>
          <a:xfrm>
            <a:off x="6675120" y="42519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QAM16 ↔ QAM64, each way</a:t>
            </a:r>
            <a:endParaRPr lang="en-US" sz="1900" dirty="0"/>
          </a:p>
        </p:txBody>
      </p:sp>
      <p:sp>
        <p:nvSpPr>
          <p:cNvPr id="10" name="Text 7"/>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same two problems we see in our runs.</a:t>
            </a:r>
            <a:endParaRPr lang="en-US" sz="2400" dirty="0"/>
          </a:p>
        </p:txBody>
      </p:sp>
      <p:sp>
        <p:nvSpPr>
          <p:cNvPr id="12" name="Text 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6</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Which block matters?</a:t>
            </a:r>
            <a:endParaRPr lang="en-US" sz="3400" dirty="0"/>
          </a:p>
        </p:txBody>
      </p:sp>
      <p:graphicFrame>
        <p:nvGraphicFramePr>
          <p:cNvPr id="4" name="Chart 0" descr=""/>
          <p:cNvGraphicFramePr/>
          <p:nvPr/>
        </p:nvGraphicFramePr>
        <p:xfrm>
          <a:off x="548640" y="132588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321040" y="1554480"/>
            <a:ext cx="3291840" cy="914400"/>
          </a:xfrm>
          <a:prstGeom prst="rect">
            <a:avLst/>
          </a:prstGeom>
          <a:noFill/>
          <a:ln/>
        </p:spPr>
        <p:txBody>
          <a:bodyPr wrap="square" lIns="0" tIns="0" rIns="0" bIns="0" rtlCol="0" anchor="b"/>
          <a:lstStyle/>
          <a:p>
            <a:pPr algn="l" indent="0" marL="0">
              <a:buNone/>
            </a:pPr>
            <a:r>
              <a:rPr lang="en-US" sz="5400" b="1" dirty="0">
                <a:solidFill>
                  <a:srgbClr val="1E293B"/>
                </a:solidFill>
                <a:latin typeface="Calibri" pitchFamily="34" charset="0"/>
                <a:ea typeface="Calibri" pitchFamily="34" charset="-122"/>
                <a:cs typeface="Calibri" pitchFamily="34" charset="-120"/>
              </a:rPr>
              <a:t>+0.4</a:t>
            </a:r>
            <a:endParaRPr lang="en-US" sz="5400" dirty="0"/>
          </a:p>
        </p:txBody>
      </p:sp>
      <p:sp>
        <p:nvSpPr>
          <p:cNvPr id="6" name="Text 3"/>
          <p:cNvSpPr txBox="1"/>
          <p:nvPr/>
        </p:nvSpPr>
        <p:spPr>
          <a:xfrm>
            <a:off x="8321040" y="251460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from attention</a:t>
            </a:r>
            <a:endParaRPr lang="en-US" sz="1900" dirty="0"/>
          </a:p>
        </p:txBody>
      </p:sp>
      <p:sp>
        <p:nvSpPr>
          <p:cNvPr id="7" name="Text 4"/>
          <p:cNvSpPr txBox="1"/>
          <p:nvPr/>
        </p:nvSpPr>
        <p:spPr>
          <a:xfrm>
            <a:off x="8321040" y="3429000"/>
            <a:ext cx="3291840" cy="914400"/>
          </a:xfrm>
          <a:prstGeom prst="rect">
            <a:avLst/>
          </a:prstGeom>
          <a:noFill/>
          <a:ln/>
        </p:spPr>
        <p:txBody>
          <a:bodyPr wrap="square" lIns="0" tIns="0" rIns="0" bIns="0" rtlCol="0" anchor="b"/>
          <a:lstStyle/>
          <a:p>
            <a:pPr algn="l" indent="0" marL="0">
              <a:buNone/>
            </a:pPr>
            <a:r>
              <a:rPr lang="en-US" sz="5400" b="1" dirty="0">
                <a:solidFill>
                  <a:srgbClr val="F08A24"/>
                </a:solidFill>
                <a:latin typeface="Calibri" pitchFamily="34" charset="0"/>
                <a:ea typeface="Calibri" pitchFamily="34" charset="-122"/>
                <a:cs typeface="Calibri" pitchFamily="34" charset="-120"/>
              </a:rPr>
              <a:t>0.1</a:t>
            </a:r>
            <a:endParaRPr lang="en-US" sz="5400" dirty="0"/>
          </a:p>
        </p:txBody>
      </p:sp>
      <p:sp>
        <p:nvSpPr>
          <p:cNvPr id="8" name="Text 5"/>
          <p:cNvSpPr txBox="1"/>
          <p:nvPr/>
        </p:nvSpPr>
        <p:spPr>
          <a:xfrm>
            <a:off x="8321040" y="438912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between BiLSTM alone and the full model</a:t>
            </a:r>
            <a:endParaRPr lang="en-US" sz="1900" dirty="0"/>
          </a:p>
        </p:txBody>
      </p:sp>
      <p:sp>
        <p:nvSpPr>
          <p:cNvPr id="9" name="Text 6"/>
          <p:cNvSpPr txBox="1"/>
          <p:nvPr/>
        </p:nvSpPr>
        <p:spPr>
          <a:xfrm>
            <a:off x="548640" y="5715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LSTM does almost all the work.</a:t>
            </a:r>
            <a:endParaRPr lang="en-US" sz="24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2194560"/>
            <a:ext cx="5486400" cy="457200"/>
          </a:xfrm>
          <a:prstGeom prst="rect">
            <a:avLst/>
          </a:prstGeom>
          <a:noFill/>
          <a:ln/>
        </p:spPr>
        <p:txBody>
          <a:bodyPr wrap="square" lIns="0" tIns="0" rIns="0" bIns="0" rtlCol="0" anchor="t"/>
          <a:lstStyle/>
          <a:p>
            <a:pPr indent="0" marL="0">
              <a:buNone/>
            </a:pPr>
            <a:r>
              <a:rPr lang="en-US" sz="2000" b="1" spc="400" kern="0" dirty="0">
                <a:solidFill>
                  <a:srgbClr val="F08A24"/>
                </a:solidFill>
                <a:latin typeface="Calibri" pitchFamily="34" charset="0"/>
                <a:ea typeface="Calibri" pitchFamily="34" charset="-122"/>
                <a:cs typeface="Calibri" pitchFamily="34" charset="-120"/>
              </a:rPr>
              <a:t>PART 2</a:t>
            </a:r>
            <a:endParaRPr lang="en-US" sz="2000" dirty="0"/>
          </a:p>
        </p:txBody>
      </p:sp>
      <p:sp>
        <p:nvSpPr>
          <p:cNvPr id="3" name="Text 1"/>
          <p:cNvSpPr txBox="1"/>
          <p:nvPr/>
        </p:nvSpPr>
        <p:spPr>
          <a:xfrm>
            <a:off x="548640" y="2697480"/>
            <a:ext cx="1097280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What we checked</a:t>
            </a:r>
            <a:endParaRPr lang="en-US" sz="6000" dirty="0"/>
          </a:p>
        </p:txBody>
      </p:sp>
      <p:sp>
        <p:nvSpPr>
          <p:cNvPr id="4" name="Text 2"/>
          <p:cNvSpPr txBox="1"/>
          <p:nvPr/>
        </p:nvSpPr>
        <p:spPr>
          <a:xfrm>
            <a:off x="548640" y="3886200"/>
            <a:ext cx="10972800" cy="548640"/>
          </a:xfrm>
          <a:prstGeom prst="rect">
            <a:avLst/>
          </a:prstGeom>
          <a:noFill/>
          <a:ln/>
        </p:spPr>
        <p:txBody>
          <a:bodyPr wrap="square" lIns="0" tIns="0" rIns="0" bIns="0" rtlCol="0" anchor="t"/>
          <a:lstStyle/>
          <a:p>
            <a:pPr indent="0" marL="0">
              <a:buNone/>
            </a:pPr>
            <a:r>
              <a:rPr lang="en-US" sz="2400" dirty="0">
                <a:solidFill>
                  <a:srgbClr val="C9D3E0"/>
                </a:solidFill>
                <a:latin typeface="Calibri" pitchFamily="34" charset="0"/>
                <a:ea typeface="Calibri" pitchFamily="34" charset="-122"/>
                <a:cs typeface="Calibri" pitchFamily="34" charset="-120"/>
              </a:rPr>
              <a:t>Our rebuild from the paper, their own code, and their own tables.</a:t>
            </a:r>
            <a:endParaRPr lang="en-US" sz="2400" dirty="0"/>
          </a:p>
        </p:txBody>
      </p:sp>
      <p:sp>
        <p:nvSpPr>
          <p:cNvPr id="6"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We rebuilt it; their code agrees</a:t>
            </a:r>
            <a:endParaRPr lang="en-US" sz="3400" dirty="0"/>
          </a:p>
        </p:txBody>
      </p:sp>
      <p:sp>
        <p:nvSpPr>
          <p:cNvPr id="4" name="Shape 2"/>
          <p:cNvSpPr/>
          <p:nvPr/>
        </p:nvSpPr>
        <p:spPr>
          <a:xfrm>
            <a:off x="548640" y="1417320"/>
            <a:ext cx="3520440" cy="960120"/>
          </a:xfrm>
          <a:prstGeom prst="roundRect">
            <a:avLst>
              <a:gd name="adj" fmla="val 11429"/>
            </a:avLst>
          </a:prstGeom>
          <a:solidFill>
            <a:srgbClr val="EEF2F6"/>
          </a:solidFill>
          <a:ln w="12700">
            <a:solidFill>
              <a:srgbClr val="EEF2F6"/>
            </a:solidFill>
            <a:prstDash val="solid"/>
          </a:ln>
        </p:spPr>
      </p:sp>
      <p:sp>
        <p:nvSpPr>
          <p:cNvPr id="5" name="Text 3"/>
          <p:cNvSpPr txBox="1"/>
          <p:nvPr/>
        </p:nvSpPr>
        <p:spPr>
          <a:xfrm>
            <a:off x="77724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Apr 2025</a:t>
            </a:r>
            <a:endParaRPr lang="en-US" sz="2000" dirty="0"/>
          </a:p>
        </p:txBody>
      </p:sp>
      <p:sp>
        <p:nvSpPr>
          <p:cNvPr id="6" name="Text 4"/>
          <p:cNvSpPr txBox="1"/>
          <p:nvPr/>
        </p:nvSpPr>
        <p:spPr>
          <a:xfrm>
            <a:off x="77724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paper, no code</a:t>
            </a:r>
            <a:endParaRPr lang="en-US" sz="1700" dirty="0"/>
          </a:p>
        </p:txBody>
      </p:sp>
      <p:sp>
        <p:nvSpPr>
          <p:cNvPr id="7" name="Shape 5"/>
          <p:cNvSpPr/>
          <p:nvPr/>
        </p:nvSpPr>
        <p:spPr>
          <a:xfrm>
            <a:off x="4343400" y="1417320"/>
            <a:ext cx="3520440" cy="960120"/>
          </a:xfrm>
          <a:prstGeom prst="roundRect">
            <a:avLst>
              <a:gd name="adj" fmla="val 11429"/>
            </a:avLst>
          </a:prstGeom>
          <a:solidFill>
            <a:srgbClr val="EEF2F6"/>
          </a:solidFill>
          <a:ln w="12700">
            <a:solidFill>
              <a:srgbClr val="EEF2F6"/>
            </a:solidFill>
            <a:prstDash val="solid"/>
          </a:ln>
        </p:spPr>
      </p:sp>
      <p:sp>
        <p:nvSpPr>
          <p:cNvPr id="8" name="Text 6"/>
          <p:cNvSpPr txBox="1"/>
          <p:nvPr/>
        </p:nvSpPr>
        <p:spPr>
          <a:xfrm>
            <a:off x="457200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Aug 2026</a:t>
            </a:r>
            <a:endParaRPr lang="en-US" sz="2000" dirty="0"/>
          </a:p>
        </p:txBody>
      </p:sp>
      <p:sp>
        <p:nvSpPr>
          <p:cNvPr id="9" name="Text 7"/>
          <p:cNvSpPr txBox="1"/>
          <p:nvPr/>
        </p:nvSpPr>
        <p:spPr>
          <a:xfrm>
            <a:off x="457200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their code on GitHub, no weights</a:t>
            </a:r>
            <a:endParaRPr lang="en-US" sz="1700" dirty="0"/>
          </a:p>
        </p:txBody>
      </p:sp>
      <p:sp>
        <p:nvSpPr>
          <p:cNvPr id="10" name="Shape 8"/>
          <p:cNvSpPr/>
          <p:nvPr/>
        </p:nvSpPr>
        <p:spPr>
          <a:xfrm>
            <a:off x="8138160" y="1417320"/>
            <a:ext cx="3520440" cy="960120"/>
          </a:xfrm>
          <a:prstGeom prst="roundRect">
            <a:avLst>
              <a:gd name="adj" fmla="val 11429"/>
            </a:avLst>
          </a:prstGeom>
          <a:solidFill>
            <a:srgbClr val="0F1B2D"/>
          </a:solidFill>
          <a:ln w="12700">
            <a:solidFill>
              <a:srgbClr val="0F1B2D"/>
            </a:solidFill>
            <a:prstDash val="solid"/>
          </a:ln>
        </p:spPr>
      </p:sp>
      <p:sp>
        <p:nvSpPr>
          <p:cNvPr id="11" name="Text 9"/>
          <p:cNvSpPr txBox="1"/>
          <p:nvPr/>
        </p:nvSpPr>
        <p:spPr>
          <a:xfrm>
            <a:off x="836676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Sep 2026</a:t>
            </a:r>
            <a:endParaRPr lang="en-US" sz="2000" dirty="0"/>
          </a:p>
        </p:txBody>
      </p:sp>
      <p:sp>
        <p:nvSpPr>
          <p:cNvPr id="12" name="Text 10"/>
          <p:cNvSpPr txBox="1"/>
          <p:nvPr/>
        </p:nvSpPr>
        <p:spPr>
          <a:xfrm>
            <a:off x="8366760" y="1874520"/>
            <a:ext cx="3200400" cy="45720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our rebuild from the paper alone</a:t>
            </a:r>
            <a:endParaRPr lang="en-US" sz="1700" dirty="0"/>
          </a:p>
        </p:txBody>
      </p:sp>
      <p:sp>
        <p:nvSpPr>
          <p:cNvPr id="13" name="Shape 11"/>
          <p:cNvSpPr/>
          <p:nvPr/>
        </p:nvSpPr>
        <p:spPr>
          <a:xfrm>
            <a:off x="548640" y="2651760"/>
            <a:ext cx="3520440" cy="2514600"/>
          </a:xfrm>
          <a:prstGeom prst="roundRect">
            <a:avLst>
              <a:gd name="adj" fmla="val 4364"/>
            </a:avLst>
          </a:prstGeom>
          <a:solidFill>
            <a:srgbClr val="EEF2F6"/>
          </a:solidFill>
          <a:ln w="12700">
            <a:solidFill>
              <a:srgbClr val="EEF2F6"/>
            </a:solidFill>
            <a:prstDash val="solid"/>
          </a:ln>
        </p:spPr>
      </p:sp>
      <p:sp>
        <p:nvSpPr>
          <p:cNvPr id="14" name="Text 12"/>
          <p:cNvSpPr txBox="1"/>
          <p:nvPr/>
        </p:nvSpPr>
        <p:spPr>
          <a:xfrm>
            <a:off x="822960" y="2743200"/>
            <a:ext cx="310896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15" name="Text 13"/>
          <p:cNvSpPr txBox="1"/>
          <p:nvPr/>
        </p:nvSpPr>
        <p:spPr>
          <a:xfrm>
            <a:off x="822960" y="3703320"/>
            <a:ext cx="31089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trained to the end (paper: 63.24%)</a:t>
            </a:r>
            <a:endParaRPr lang="en-US" sz="1900" dirty="0"/>
          </a:p>
        </p:txBody>
      </p:sp>
      <p:sp>
        <p:nvSpPr>
          <p:cNvPr id="16" name="Shape 14"/>
          <p:cNvSpPr/>
          <p:nvPr/>
        </p:nvSpPr>
        <p:spPr>
          <a:xfrm>
            <a:off x="4343400" y="2651760"/>
            <a:ext cx="3520440" cy="2514600"/>
          </a:xfrm>
          <a:prstGeom prst="roundRect">
            <a:avLst>
              <a:gd name="adj" fmla="val 4364"/>
            </a:avLst>
          </a:prstGeom>
          <a:solidFill>
            <a:srgbClr val="EEF2F6"/>
          </a:solidFill>
          <a:ln w="12700">
            <a:solidFill>
              <a:srgbClr val="EEF2F6"/>
            </a:solidFill>
            <a:prstDash val="solid"/>
          </a:ln>
        </p:spPr>
      </p:sp>
      <p:sp>
        <p:nvSpPr>
          <p:cNvPr id="17" name="Text 15"/>
          <p:cNvSpPr txBox="1"/>
          <p:nvPr/>
        </p:nvSpPr>
        <p:spPr>
          <a:xfrm>
            <a:off x="461772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MATCHED THEIR CODE</a:t>
            </a:r>
            <a:endParaRPr lang="en-US" sz="1500" dirty="0"/>
          </a:p>
        </p:txBody>
      </p:sp>
      <p:sp>
        <p:nvSpPr>
          <p:cNvPr id="18" name="Text 16"/>
          <p:cNvSpPr txBox="1"/>
          <p:nvPr/>
        </p:nvSpPr>
        <p:spPr>
          <a:xfrm>
            <a:off x="461772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one pooling step</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normalization after each LSTM</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dropout on attention weights</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size: 794,827 vs 794,188</a:t>
            </a:r>
            <a:endParaRPr lang="en-US" sz="1700" dirty="0"/>
          </a:p>
        </p:txBody>
      </p:sp>
      <p:sp>
        <p:nvSpPr>
          <p:cNvPr id="19" name="Shape 17"/>
          <p:cNvSpPr/>
          <p:nvPr/>
        </p:nvSpPr>
        <p:spPr>
          <a:xfrm>
            <a:off x="8138160" y="2651760"/>
            <a:ext cx="3502152" cy="2514600"/>
          </a:xfrm>
          <a:prstGeom prst="roundRect">
            <a:avLst>
              <a:gd name="adj" fmla="val 4364"/>
            </a:avLst>
          </a:prstGeom>
          <a:solidFill>
            <a:srgbClr val="EEF2F6"/>
          </a:solidFill>
          <a:ln w="12700">
            <a:solidFill>
              <a:srgbClr val="EEF2F6"/>
            </a:solidFill>
            <a:prstDash val="solid"/>
          </a:ln>
        </p:spPr>
      </p:sp>
      <p:sp>
        <p:nvSpPr>
          <p:cNvPr id="20" name="Text 18"/>
          <p:cNvSpPr txBox="1"/>
          <p:nvPr/>
        </p:nvSpPr>
        <p:spPr>
          <a:xfrm>
            <a:off x="841248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MISSED</a:t>
            </a:r>
            <a:endParaRPr lang="en-US" sz="1500" dirty="0"/>
          </a:p>
        </p:txBody>
      </p:sp>
      <p:sp>
        <p:nvSpPr>
          <p:cNvPr id="21" name="Text 19"/>
          <p:cNvSpPr txBox="1"/>
          <p:nvPr/>
        </p:nvSpPr>
        <p:spPr>
          <a:xfrm>
            <a:off x="841248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exact attention form and its learned scale</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input normalization</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gradient clipping</a:t>
            </a:r>
            <a:endParaRPr lang="en-US" sz="1700" dirty="0"/>
          </a:p>
        </p:txBody>
      </p:sp>
      <p:sp>
        <p:nvSpPr>
          <p:cNvPr id="22" name="Text 20"/>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63.24% is reproducible from the paper alone.</a:t>
            </a:r>
            <a:endParaRPr lang="en-US" sz="2400" dirty="0"/>
          </a:p>
        </p:txBody>
      </p:sp>
      <p:sp>
        <p:nvSpPr>
          <p:cNvPr id="24" name="Text 2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“58 epochs” means</a:t>
            </a:r>
            <a:endParaRPr lang="en-US" sz="3400" dirty="0"/>
          </a:p>
        </p:txBody>
      </p:sp>
      <p:sp>
        <p:nvSpPr>
          <p:cNvPr id="4" name="Text 2"/>
          <p:cNvSpPr txBox="1"/>
          <p:nvPr/>
        </p:nvSpPr>
        <p:spPr>
          <a:xfrm>
            <a:off x="548640" y="1371600"/>
            <a:ext cx="5120640" cy="914400"/>
          </a:xfrm>
          <a:prstGeom prst="rect">
            <a:avLst/>
          </a:prstGeom>
          <a:noFill/>
          <a:ln/>
        </p:spPr>
        <p:txBody>
          <a:bodyPr wrap="square" lIns="0" tIns="0" rIns="0" bIns="0" rtlCol="0" anchor="b"/>
          <a:lstStyle/>
          <a:p>
            <a:pPr algn="l" indent="0" marL="0">
              <a:buNone/>
            </a:pPr>
            <a:r>
              <a:rPr lang="en-US" sz="4800" b="1" dirty="0">
                <a:solidFill>
                  <a:srgbClr val="1E293B"/>
                </a:solidFill>
                <a:latin typeface="Calibri" pitchFamily="34" charset="0"/>
                <a:ea typeface="Calibri" pitchFamily="34" charset="-122"/>
                <a:cs typeface="Calibri" pitchFamily="34" charset="-120"/>
              </a:rPr>
              <a:t>61.75%</a:t>
            </a:r>
            <a:endParaRPr lang="en-US" sz="4800" dirty="0"/>
          </a:p>
        </p:txBody>
      </p:sp>
      <p:sp>
        <p:nvSpPr>
          <p:cNvPr id="5" name="Text 3"/>
          <p:cNvSpPr txBox="1"/>
          <p:nvPr/>
        </p:nvSpPr>
        <p:spPr>
          <a:xfrm>
            <a:off x="548640" y="233172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at a fixed 58 epochs (3 runs)</a:t>
            </a:r>
            <a:endParaRPr lang="en-US" sz="1900" dirty="0"/>
          </a:p>
        </p:txBody>
      </p:sp>
      <p:sp>
        <p:nvSpPr>
          <p:cNvPr id="6" name="Text 4"/>
          <p:cNvSpPr txBox="1"/>
          <p:nvPr/>
        </p:nvSpPr>
        <p:spPr>
          <a:xfrm>
            <a:off x="548640" y="3108960"/>
            <a:ext cx="512064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7" name="Text 5"/>
          <p:cNvSpPr txBox="1"/>
          <p:nvPr/>
        </p:nvSpPr>
        <p:spPr>
          <a:xfrm>
            <a:off x="548640" y="406908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the same, left to run: best at epoch 107</a:t>
            </a:r>
            <a:endParaRPr lang="en-US" sz="1900" dirty="0"/>
          </a:p>
        </p:txBody>
      </p:sp>
      <p:pic>
        <p:nvPicPr>
          <p:cNvPr id="8" name="Image 0" descr="paper/fig7_accuracy_epochs.jpg">    </p:cNvPr>
          <p:cNvPicPr>
            <a:picLocks noChangeAspect="1"/>
          </p:cNvPicPr>
          <p:nvPr/>
        </p:nvPicPr>
        <p:blipFill>
          <a:blip r:embed="rId1"/>
          <a:stretch>
            <a:fillRect/>
          </a:stretch>
        </p:blipFill>
        <p:spPr>
          <a:xfrm>
            <a:off x="5989320" y="1371600"/>
            <a:ext cx="5623560" cy="3559967"/>
          </a:xfrm>
          <a:prstGeom prst="rect">
            <a:avLst/>
          </a:prstGeom>
        </p:spPr>
      </p:pic>
      <p:sp>
        <p:nvSpPr>
          <p:cNvPr id="9" name="Text 6"/>
          <p:cNvSpPr txBox="1"/>
          <p:nvPr/>
        </p:nvSpPr>
        <p:spPr>
          <a:xfrm>
            <a:off x="5989320" y="4983480"/>
            <a:ext cx="5623560" cy="36576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Their Fig. 7: accuracy still rising at 58</a:t>
            </a:r>
            <a:endParaRPr lang="en-US" sz="1800" dirty="0"/>
          </a:p>
        </p:txBody>
      </p:sp>
      <p:sp>
        <p:nvSpPr>
          <p:cNvPr id="10" name="Text 7"/>
          <p:cNvSpPr txBox="1"/>
          <p:nvPr/>
        </p:nvSpPr>
        <p:spPr>
          <a:xfrm>
            <a:off x="5989320" y="5349240"/>
            <a:ext cx="562356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11" name="Text 8"/>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rule stopped on the loss; the accuracy was still climbing.</a:t>
            </a:r>
            <a:endParaRPr lang="en-US" sz="2400" dirty="0"/>
          </a:p>
        </p:txBody>
      </p:sp>
      <p:sp>
        <p:nvSpPr>
          <p:cNvPr id="13" name="Text 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Three claims their own tables don't support</a:t>
            </a:r>
            <a:endParaRPr lang="en-US" sz="3400" dirty="0"/>
          </a:p>
        </p:txBody>
      </p:sp>
      <p:sp>
        <p:nvSpPr>
          <p:cNvPr id="4" name="Shape 2"/>
          <p:cNvSpPr/>
          <p:nvPr/>
        </p:nvSpPr>
        <p:spPr>
          <a:xfrm>
            <a:off x="548640" y="1463040"/>
            <a:ext cx="11091672" cy="1097280"/>
          </a:xfrm>
          <a:prstGeom prst="roundRect">
            <a:avLst>
              <a:gd name="adj" fmla="val 10000"/>
            </a:avLst>
          </a:prstGeom>
          <a:solidFill>
            <a:srgbClr val="EEF2F6"/>
          </a:solidFill>
          <a:ln w="12700">
            <a:solidFill>
              <a:srgbClr val="EEF2F6"/>
            </a:solidFill>
            <a:prstDash val="solid"/>
          </a:ln>
        </p:spPr>
      </p:sp>
      <p:sp>
        <p:nvSpPr>
          <p:cNvPr id="5" name="Shape 3"/>
          <p:cNvSpPr/>
          <p:nvPr/>
        </p:nvSpPr>
        <p:spPr>
          <a:xfrm>
            <a:off x="777240" y="1737360"/>
            <a:ext cx="548640" cy="548640"/>
          </a:xfrm>
          <a:prstGeom prst="ellipse">
            <a:avLst/>
          </a:prstGeom>
          <a:solidFill>
            <a:srgbClr val="F08A24"/>
          </a:solidFill>
          <a:ln w="12700">
            <a:solidFill>
              <a:srgbClr val="F08A24"/>
            </a:solidFill>
            <a:prstDash val="solid"/>
          </a:ln>
        </p:spPr>
      </p:sp>
      <p:sp>
        <p:nvSpPr>
          <p:cNvPr id="6" name="Text 4"/>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1554480" y="146304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“Best at low SNR”</a:t>
            </a:r>
            <a:endParaRPr lang="en-US" sz="2100" dirty="0"/>
          </a:p>
        </p:txBody>
      </p:sp>
      <p:sp>
        <p:nvSpPr>
          <p:cNvPr id="8" name="Text 6"/>
          <p:cNvSpPr txBox="1"/>
          <p:nvPr/>
        </p:nvSpPr>
        <p:spPr>
          <a:xfrm>
            <a:off x="6217920" y="146304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5: beaten at −10, −8 and −6 dB</a:t>
            </a:r>
            <a:endParaRPr lang="en-US" sz="2200" dirty="0"/>
          </a:p>
        </p:txBody>
      </p:sp>
      <p:sp>
        <p:nvSpPr>
          <p:cNvPr id="9" name="Shape 7"/>
          <p:cNvSpPr/>
          <p:nvPr/>
        </p:nvSpPr>
        <p:spPr>
          <a:xfrm>
            <a:off x="548640" y="2743200"/>
            <a:ext cx="11091672" cy="1097280"/>
          </a:xfrm>
          <a:prstGeom prst="roundRect">
            <a:avLst>
              <a:gd name="adj" fmla="val 10000"/>
            </a:avLst>
          </a:prstGeom>
          <a:solidFill>
            <a:srgbClr val="EEF2F6"/>
          </a:solidFill>
          <a:ln w="12700">
            <a:solidFill>
              <a:srgbClr val="EEF2F6"/>
            </a:solidFill>
            <a:prstDash val="solid"/>
          </a:ln>
        </p:spPr>
      </p:sp>
      <p:sp>
        <p:nvSpPr>
          <p:cNvPr id="10" name="Shape 8"/>
          <p:cNvSpPr/>
          <p:nvPr/>
        </p:nvSpPr>
        <p:spPr>
          <a:xfrm>
            <a:off x="777240" y="3017520"/>
            <a:ext cx="548640" cy="548640"/>
          </a:xfrm>
          <a:prstGeom prst="ellipse">
            <a:avLst/>
          </a:prstGeom>
          <a:solidFill>
            <a:srgbClr val="F08A24"/>
          </a:solidFill>
          <a:ln w="12700">
            <a:solidFill>
              <a:srgbClr val="F08A24"/>
            </a:solidFill>
            <a:prstDash val="solid"/>
          </a:ln>
        </p:spPr>
      </p:sp>
      <p:sp>
        <p:nvSpPr>
          <p:cNvPr id="11" name="Text 9"/>
          <p:cNvSpPr txBox="1"/>
          <p:nvPr/>
        </p:nvSpPr>
        <p:spPr>
          <a:xfrm>
            <a:off x="777240" y="3017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1554480" y="274320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“Full model has the highest precision”</a:t>
            </a:r>
            <a:endParaRPr lang="en-US" sz="2100" dirty="0"/>
          </a:p>
        </p:txBody>
      </p:sp>
      <p:sp>
        <p:nvSpPr>
          <p:cNvPr id="13" name="Text 11"/>
          <p:cNvSpPr txBox="1"/>
          <p:nvPr/>
        </p:nvSpPr>
        <p:spPr>
          <a:xfrm>
            <a:off x="6217920" y="274320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6: LSTM alone is higher, 0.768 vs 0.754</a:t>
            </a:r>
            <a:endParaRPr lang="en-US" sz="2200" dirty="0"/>
          </a:p>
        </p:txBody>
      </p:sp>
      <p:sp>
        <p:nvSpPr>
          <p:cNvPr id="14" name="Shape 12"/>
          <p:cNvSpPr/>
          <p:nvPr/>
        </p:nvSpPr>
        <p:spPr>
          <a:xfrm>
            <a:off x="548640" y="4023360"/>
            <a:ext cx="11091672" cy="1097280"/>
          </a:xfrm>
          <a:prstGeom prst="roundRect">
            <a:avLst>
              <a:gd name="adj" fmla="val 10000"/>
            </a:avLst>
          </a:prstGeom>
          <a:solidFill>
            <a:srgbClr val="EEF2F6"/>
          </a:solidFill>
          <a:ln w="12700">
            <a:solidFill>
              <a:srgbClr val="EEF2F6"/>
            </a:solidFill>
            <a:prstDash val="solid"/>
          </a:ln>
        </p:spPr>
      </p:sp>
      <p:sp>
        <p:nvSpPr>
          <p:cNvPr id="15" name="Shape 13"/>
          <p:cNvSpPr/>
          <p:nvPr/>
        </p:nvSpPr>
        <p:spPr>
          <a:xfrm>
            <a:off x="777240" y="4297680"/>
            <a:ext cx="548640" cy="548640"/>
          </a:xfrm>
          <a:prstGeom prst="ellipse">
            <a:avLst/>
          </a:prstGeom>
          <a:solidFill>
            <a:srgbClr val="F08A24"/>
          </a:solidFill>
          <a:ln w="12700">
            <a:solidFill>
              <a:srgbClr val="F08A24"/>
            </a:solidFill>
            <a:prstDash val="solid"/>
          </a:ln>
        </p:spPr>
      </p:sp>
      <p:sp>
        <p:nvSpPr>
          <p:cNvPr id="16" name="Text 14"/>
          <p:cNvSpPr txBox="1"/>
          <p:nvPr/>
        </p:nvSpPr>
        <p:spPr>
          <a:xfrm>
            <a:off x="777240" y="42976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txBox="1"/>
          <p:nvPr/>
        </p:nvSpPr>
        <p:spPr>
          <a:xfrm>
            <a:off x="1554480" y="402336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“MCLDNN: 406 million parameters”</a:t>
            </a:r>
            <a:endParaRPr lang="en-US" sz="2100" dirty="0"/>
          </a:p>
        </p:txBody>
      </p:sp>
      <p:sp>
        <p:nvSpPr>
          <p:cNvPr id="18" name="Text 16"/>
          <p:cNvSpPr txBox="1"/>
          <p:nvPr/>
        </p:nvSpPr>
        <p:spPr>
          <a:xfrm>
            <a:off x="6217920" y="402336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It has 406,199: 0.41 million</a:t>
            </a:r>
            <a:endParaRPr lang="en-US" sz="22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ICRNNA is about twice MCLDNN's size, not smaller.</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 paper doesn't tell us</a:t>
            </a:r>
            <a:endParaRPr lang="en-US" sz="3400" dirty="0"/>
          </a:p>
        </p:txBody>
      </p:sp>
      <p:sp>
        <p:nvSpPr>
          <p:cNvPr id="4" name="Shape 2"/>
          <p:cNvSpPr/>
          <p:nvPr/>
        </p:nvSpPr>
        <p:spPr>
          <a:xfrm>
            <a:off x="548640" y="1554480"/>
            <a:ext cx="548640" cy="548640"/>
          </a:xfrm>
          <a:prstGeom prst="ellipse">
            <a:avLst/>
          </a:prstGeom>
          <a:solidFill>
            <a:srgbClr val="0F1B2D"/>
          </a:solidFill>
          <a:ln w="12700">
            <a:solidFill>
              <a:srgbClr val="0F1B2D"/>
            </a:solidFill>
            <a:prstDash val="solid"/>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325880" y="150876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One run</a:t>
            </a:r>
            <a:endParaRPr lang="en-US" sz="2400" dirty="0"/>
          </a:p>
        </p:txBody>
      </p:sp>
      <p:sp>
        <p:nvSpPr>
          <p:cNvPr id="7" name="Text 5"/>
          <p:cNvSpPr txBox="1"/>
          <p:nvPr/>
        </p:nvSpPr>
        <p:spPr>
          <a:xfrm>
            <a:off x="3520440" y="150876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no spread; our seeds vary by up to a point</a:t>
            </a:r>
            <a:endParaRPr lang="en-US" sz="2000" dirty="0"/>
          </a:p>
        </p:txBody>
      </p:sp>
      <p:sp>
        <p:nvSpPr>
          <p:cNvPr id="8" name="Shape 6"/>
          <p:cNvSpPr/>
          <p:nvPr/>
        </p:nvSpPr>
        <p:spPr>
          <a:xfrm>
            <a:off x="548640" y="2743200"/>
            <a:ext cx="548640" cy="548640"/>
          </a:xfrm>
          <a:prstGeom prst="ellipse">
            <a:avLst/>
          </a:prstGeom>
          <a:solidFill>
            <a:srgbClr val="0F1B2D"/>
          </a:solidFill>
          <a:ln w="12700">
            <a:solidFill>
              <a:srgbClr val="0F1B2D"/>
            </a:solidFill>
            <a:prstDash val="solid"/>
          </a:ln>
        </p:spPr>
      </p:sp>
      <p:sp>
        <p:nvSpPr>
          <p:cNvPr id="9" name="Text 7"/>
          <p:cNvSpPr txBox="1"/>
          <p:nvPr/>
        </p:nvSpPr>
        <p:spPr>
          <a:xfrm>
            <a:off x="548640" y="2743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325880" y="269748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Baselines</a:t>
            </a:r>
            <a:endParaRPr lang="en-US" sz="2400" dirty="0"/>
          </a:p>
        </p:txBody>
      </p:sp>
      <p:sp>
        <p:nvSpPr>
          <p:cNvPr id="11" name="Text 9"/>
          <p:cNvSpPr txBox="1"/>
          <p:nvPr/>
        </p:nvSpPr>
        <p:spPr>
          <a:xfrm>
            <a:off x="3520440" y="269748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retrained on the same split, or copied from their papers?</a:t>
            </a:r>
            <a:endParaRPr lang="en-US" sz="2000" dirty="0"/>
          </a:p>
        </p:txBody>
      </p:sp>
      <p:sp>
        <p:nvSpPr>
          <p:cNvPr id="12" name="Shape 10"/>
          <p:cNvSpPr/>
          <p:nvPr/>
        </p:nvSpPr>
        <p:spPr>
          <a:xfrm>
            <a:off x="548640" y="3931920"/>
            <a:ext cx="548640" cy="548640"/>
          </a:xfrm>
          <a:prstGeom prst="ellipse">
            <a:avLst/>
          </a:prstGeom>
          <a:solidFill>
            <a:srgbClr val="0F1B2D"/>
          </a:solidFill>
          <a:ln w="12700">
            <a:solidFill>
              <a:srgbClr val="0F1B2D"/>
            </a:solidFill>
            <a:prstDash val="solid"/>
          </a:ln>
        </p:spPr>
      </p:sp>
      <p:sp>
        <p:nvSpPr>
          <p:cNvPr id="13" name="Text 11"/>
          <p:cNvSpPr txBox="1"/>
          <p:nvPr/>
        </p:nvSpPr>
        <p:spPr>
          <a:xfrm>
            <a:off x="548640" y="39319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325880" y="388620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SNR label</a:t>
            </a:r>
            <a:endParaRPr lang="en-US" sz="2400" dirty="0"/>
          </a:p>
        </p:txBody>
      </p:sp>
      <p:sp>
        <p:nvSpPr>
          <p:cNvPr id="15" name="Text 13"/>
          <p:cNvSpPr txBox="1"/>
          <p:nvPr/>
        </p:nvSpPr>
        <p:spPr>
          <a:xfrm>
            <a:off x="3520440" y="388620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taken as the true SNR</a:t>
            </a:r>
            <a:endParaRPr lang="en-US" sz="2000" dirty="0"/>
          </a:p>
        </p:txBody>
      </p:sp>
      <p:sp>
        <p:nvSpPr>
          <p:cNvPr id="16" name="Shape 14"/>
          <p:cNvSpPr/>
          <p:nvPr/>
        </p:nvSpPr>
        <p:spPr>
          <a:xfrm>
            <a:off x="7955280" y="1463040"/>
            <a:ext cx="3685032" cy="3520440"/>
          </a:xfrm>
          <a:prstGeom prst="roundRect">
            <a:avLst>
              <a:gd name="adj" fmla="val 3117"/>
            </a:avLst>
          </a:prstGeom>
          <a:solidFill>
            <a:srgbClr val="EEF2F6"/>
          </a:solidFill>
          <a:ln w="12700">
            <a:solidFill>
              <a:srgbClr val="EEF2F6"/>
            </a:solidFill>
            <a:prstDash val="solid"/>
          </a:ln>
        </p:spPr>
      </p:sp>
      <p:sp>
        <p:nvSpPr>
          <p:cNvPr id="17" name="Text 15"/>
          <p:cNvSpPr txBox="1"/>
          <p:nvPr/>
        </p:nvSpPr>
        <p:spPr>
          <a:xfrm>
            <a:off x="8183880" y="1645920"/>
            <a:ext cx="329184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+9 dB</a:t>
            </a:r>
            <a:endParaRPr lang="en-US" sz="6000" dirty="0"/>
          </a:p>
        </p:txBody>
      </p:sp>
      <p:sp>
        <p:nvSpPr>
          <p:cNvPr id="18" name="Text 16"/>
          <p:cNvSpPr txBox="1"/>
          <p:nvPr/>
        </p:nvSpPr>
        <p:spPr>
          <a:xfrm>
            <a:off x="8183880" y="2697480"/>
            <a:ext cx="3200400" cy="14630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more signal in QAM16 than in QPSK, both labelled 0 dB (measured in the file)</a:t>
            </a:r>
            <a:endParaRPr lang="en-US" sz="19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 half-point lead from one run may not be real.</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One protocol for every model</a:t>
            </a:r>
            <a:endParaRPr lang="en-US" sz="3400" dirty="0"/>
          </a:p>
        </p:txBody>
      </p:sp>
      <p:sp>
        <p:nvSpPr>
          <p:cNvPr id="4" name="Text 2"/>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All 11 types. Same data, split and 3 seeds for every model.</a:t>
            </a:r>
            <a:endParaRPr lang="en-US" sz="2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3931920"/>
                <a:gridCol w="2377440"/>
                <a:gridCol w="2103120"/>
                <a:gridCol w="2679192"/>
              </a:tblGrid>
              <a:tr h="566928">
                <a:tc>
                  <a:txBody>
                    <a:bodyPr/>
                    <a:lstStyle/>
                    <a:p>
                      <a:pPr algn="l" indent="0" marL="0">
                        <a:buNone/>
                      </a:pPr>
                      <a:r>
                        <a:rPr lang="en-US" sz="1800" b="1" dirty="0">
                          <a:solidFill>
                            <a:srgbClr val="1E293B"/>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their Table 3</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 ≥ 10 dB</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algn="l" indent="0" marL="0">
                        <a:buNone/>
                      </a:pPr>
                      <a:r>
                        <a:rPr lang="en-US" sz="2200" b="1" dirty="0">
                          <a:solidFill>
                            <a:srgbClr val="F08A24"/>
                          </a:solidFill>
                          <a:latin typeface="Calibri" pitchFamily="34" charset="0"/>
                          <a:ea typeface="Calibri" pitchFamily="34" charset="-122"/>
                          <a:cs typeface="Calibri" pitchFamily="34" charset="-120"/>
                        </a:rPr>
                        <a:t>ICRNNA (Esmer's version)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63.24%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62.2%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LSTM2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MCLDNN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61.42%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PET-CGDNN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60.58%</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VT-CNN2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56.1%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82.0%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3"/>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First, but the top four are within about one point.</a:t>
            </a:r>
            <a:endParaRPr lang="en-US" sz="24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CNN → BiLSTM → attention → classifier; the LSTM does most of the work.</a:t>
            </a:r>
            <a:endParaRPr lang="en-US" sz="27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63.24% is reproducible: 63.21% from the paper alone.</a:t>
            </a:r>
            <a:endParaRPr lang="en-US" sz="27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Its lead over other models is about one point.</a:t>
            </a:r>
            <a:endParaRPr lang="en-US" sz="27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600" b="1" dirty="0">
                <a:solidFill>
                  <a:srgbClr val="F08A24"/>
                </a:solidFill>
                <a:latin typeface="Calibri" pitchFamily="34" charset="0"/>
                <a:ea typeface="Calibri" pitchFamily="34" charset="-122"/>
                <a:cs typeface="Calibri" pitchFamily="34" charset="-120"/>
              </a:rPr>
              <a:t>For us: </a:t>
            </a:r>
            <a:pPr indent="0" marL="0">
              <a:buNone/>
            </a:pPr>
            <a:r>
              <a:rPr lang="en-US" sz="2600" dirty="0">
                <a:solidFill>
                  <a:srgbClr val="C9D3E0"/>
                </a:solidFill>
                <a:latin typeface="Calibri" pitchFamily="34" charset="0"/>
                <a:ea typeface="Calibri" pitchFamily="34" charset="-122"/>
                <a:cs typeface="Calibri" pitchFamily="34" charset="-120"/>
              </a:rPr>
              <a:t>a solid backbone, not a clearly better one.</a:t>
            </a:r>
            <a:endParaRPr lang="en-US" sz="26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ICRNNA: the paper, step by step</dc:title>
  <dc:subject>PptxGenJS Presentation</dc:subject>
  <dc:creator>Yusuf Bilal Cetinkaya</dc:creator>
  <cp:lastModifiedBy>Yusuf Bilal Cetinkaya</cp:lastModifiedBy>
  <cp:revision>1</cp:revision>
  <dcterms:created xsi:type="dcterms:W3CDTF">2026-10-13T04:00:11Z</dcterms:created>
  <dcterms:modified xsi:type="dcterms:W3CDTF">2026-10-13T04:00:11Z</dcterms:modified>
</cp:coreProperties>
</file>